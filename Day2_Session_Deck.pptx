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93" r:id="rId2"/>
    <p:sldId id="294" r:id="rId3"/>
    <p:sldId id="277" r:id="rId4"/>
    <p:sldId id="278" r:id="rId5"/>
    <p:sldId id="279" r:id="rId6"/>
    <p:sldId id="280" r:id="rId7"/>
    <p:sldId id="281" r:id="rId8"/>
    <p:sldId id="282" r:id="rId9"/>
    <p:sldId id="295" r:id="rId10"/>
    <p:sldId id="284" r:id="rId11"/>
    <p:sldId id="296" r:id="rId12"/>
    <p:sldId id="286" r:id="rId13"/>
    <p:sldId id="287" r:id="rId14"/>
    <p:sldId id="297" r:id="rId15"/>
    <p:sldId id="298" r:id="rId16"/>
    <p:sldId id="29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3"/>
    <p:restoredTop sz="94610"/>
  </p:normalViewPr>
  <p:slideViewPr>
    <p:cSldViewPr snapToGrid="0" snapToObjects="1">
      <p:cViewPr varScale="1">
        <p:scale>
          <a:sx n="244" d="100"/>
          <a:sy n="244" d="100"/>
        </p:scale>
        <p:origin x="208"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2154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opening yesterday's page in a browser and clicking something. Nothing happens. Say: 'that is what we fix in the next ninety minutes — and then we make it talk to a language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last line clearly. Setting up tomorrow's motivation today is what makes Wednesday's server block land as a relief instead of a chore.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'if you are not green, say so now' line seriously and pause for five seconds. Fifty students on their own laptops means a handful will have broken something overnight.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cohort has done a Web Technologies lab — pitch it as 'you know these, here is the job each one has in YOUR app'. Do not teach syntax from zero; ask the room to explain .map() to you instead.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array and the screen side by side on the whiteboard, with one arrow going array → screen and nothing coming back. That one-way arrow is the whole lesson.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break something live — remove a # from a selector — and walk the room through reading the error rather than fixing it. Then let them tell you the fix.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forgotten-await bug on purpose: show '[object Promise]' rendering on the page. They will all hit it in the lab and will now recognise it in five seconds instead of fifteen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hit a deliberately wrong URL first so they see a 404 sail straight past a missing res.ok check. The bug is far more memorable than the rule.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does your phone do when the network is slow?' Collect three answers. Every one of them is a loading state they already know by feel.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'no memory'. Students consistently assume the API remembers the last message, then cannot explain why their follow-up question failed.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on the projector — paste a key, call the API, open Network, point at the Authorization header. Let it land in silence for a beat before you say anything. This is the hook for the whole of Day 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take one student's actual record, run a lazy prompt, then apply the four moves one at a time in front of the room. Four visible improvements beats any explanation.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it to fail on purpose — ask for JSON with temperature high, or in a chatty prompt — so the room sees the fences and the preamble with their own eyes. That memory is what makes Wednesday's validation block make sense.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everyone to the mock server first so the lab works even if the network does not. Switch to the live proxy only once the code is right — it saves the shared quota and removes network flakiness from debugging.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or three answers. Someone will say 'hide the key' — push back gently: you cannot hide anything in a browser. The answer is 'move the call somewhere the user cannot see'.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key. 'You made a computer summarise your own writing today — and you also created a problem you cannot fix. See you at nine.'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5" name="Text 3"/>
          <p:cNvSpPr/>
          <p:nvPr/>
        </p:nvSpPr>
        <p:spPr>
          <a:xfrm>
            <a:off x="457200" y="960120"/>
            <a:ext cx="6035040" cy="713232"/>
          </a:xfrm>
          <a:prstGeom prst="rect">
            <a:avLst/>
          </a:prstGeom>
          <a:noFill/>
          <a:ln/>
        </p:spPr>
        <p:txBody>
          <a:bodyPr wrap="square" lIns="0" tIns="0" rIns="0" bIns="0" rtlCol="0" anchor="ctr"/>
          <a:lstStyle/>
          <a:p>
            <a:pPr marL="0" indent="0">
              <a:buNone/>
            </a:pPr>
            <a:r>
              <a:rPr lang="en-US" sz="4000" b="1" dirty="0">
                <a:solidFill>
                  <a:srgbClr val="0B2B3C"/>
                </a:solidFill>
                <a:latin typeface="Arial Black" pitchFamily="34" charset="0"/>
                <a:ea typeface="Arial Black" pitchFamily="34" charset="-122"/>
                <a:cs typeface="Arial Black" pitchFamily="34" charset="-120"/>
              </a:rPr>
              <a:t>MAKE IT</a:t>
            </a:r>
            <a:endParaRPr lang="en-US" sz="4000" dirty="0"/>
          </a:p>
        </p:txBody>
      </p:sp>
      <p:sp>
        <p:nvSpPr>
          <p:cNvPr id="6" name="Text 4"/>
          <p:cNvSpPr/>
          <p:nvPr/>
        </p:nvSpPr>
        <p:spPr>
          <a:xfrm>
            <a:off x="457200" y="1664208"/>
            <a:ext cx="6035040" cy="713232"/>
          </a:xfrm>
          <a:prstGeom prst="rect">
            <a:avLst/>
          </a:prstGeom>
          <a:noFill/>
          <a:ln/>
        </p:spPr>
        <p:txBody>
          <a:bodyPr wrap="square" lIns="0" tIns="0" rIns="0" bIns="0" rtlCol="0" anchor="ctr"/>
          <a:lstStyle/>
          <a:p>
            <a:pPr marL="0" indent="0">
              <a:buNone/>
            </a:pPr>
            <a:r>
              <a:rPr lang="en-US" sz="4000" b="1" dirty="0">
                <a:solidFill>
                  <a:srgbClr val="0087C8"/>
                </a:solidFill>
                <a:latin typeface="Arial Black" pitchFamily="34" charset="0"/>
                <a:ea typeface="Arial Black" pitchFamily="34" charset="-122"/>
                <a:cs typeface="Arial Black" pitchFamily="34" charset="-120"/>
              </a:rPr>
              <a:t>MOVE</a:t>
            </a:r>
            <a:endParaRPr lang="en-US" sz="4000" dirty="0"/>
          </a:p>
        </p:txBody>
      </p:sp>
      <p:sp>
        <p:nvSpPr>
          <p:cNvPr id="7" name="Shape 5"/>
          <p:cNvSpPr/>
          <p:nvPr/>
        </p:nvSpPr>
        <p:spPr>
          <a:xfrm>
            <a:off x="457200" y="2615184"/>
            <a:ext cx="2194560" cy="10973"/>
          </a:xfrm>
          <a:prstGeom prst="rect">
            <a:avLst/>
          </a:prstGeom>
          <a:solidFill>
            <a:srgbClr val="9FD8F2"/>
          </a:solidFill>
          <a:ln w="12700">
            <a:solidFill>
              <a:srgbClr val="9FD8F2"/>
            </a:solidFill>
            <a:prstDash val="solid"/>
          </a:ln>
        </p:spPr>
        <p:txBody>
          <a:bodyPr/>
          <a:lstStyle/>
          <a:p>
            <a:endParaRPr lang="en-US"/>
          </a:p>
        </p:txBody>
      </p:sp>
      <p:sp>
        <p:nvSpPr>
          <p:cNvPr id="8" name="Text 6"/>
          <p:cNvSpPr/>
          <p:nvPr/>
        </p:nvSpPr>
        <p:spPr>
          <a:xfrm>
            <a:off x="457200" y="2761488"/>
            <a:ext cx="6858000" cy="256032"/>
          </a:xfrm>
          <a:prstGeom prst="rect">
            <a:avLst/>
          </a:prstGeom>
          <a:noFill/>
          <a:ln/>
        </p:spPr>
        <p:txBody>
          <a:bodyPr wrap="square" lIns="0" tIns="0" rIns="0" bIns="0" rtlCol="0" anchor="ctr"/>
          <a:lstStyle/>
          <a:p>
            <a:pPr marL="0" indent="0">
              <a:buNone/>
            </a:pPr>
            <a:r>
              <a:rPr lang="en-US" sz="1300" dirty="0">
                <a:solidFill>
                  <a:srgbClr val="123C52"/>
                </a:solidFill>
                <a:latin typeface="Calibri" pitchFamily="34" charset="0"/>
                <a:ea typeface="Calibri" pitchFamily="34" charset="-122"/>
                <a:cs typeface="Calibri" pitchFamily="34" charset="-120"/>
              </a:rPr>
              <a:t>Full Stack Development with Gen-AI  ·  5-Day Intensive</a:t>
            </a:r>
            <a:endParaRPr lang="en-US" sz="1300" dirty="0"/>
          </a:p>
        </p:txBody>
      </p:sp>
      <p:sp>
        <p:nvSpPr>
          <p:cNvPr id="9" name="Text 7"/>
          <p:cNvSpPr/>
          <p:nvPr/>
        </p:nvSpPr>
        <p:spPr>
          <a:xfrm>
            <a:off x="457200" y="3090672"/>
            <a:ext cx="7772400" cy="237744"/>
          </a:xfrm>
          <a:prstGeom prst="rect">
            <a:avLst/>
          </a:prstGeom>
          <a:noFill/>
          <a:ln/>
        </p:spPr>
        <p:txBody>
          <a:bodyPr wrap="square" lIns="0" tIns="0" rIns="0" bIns="0" rtlCol="0" anchor="ctr"/>
          <a:lstStyle/>
          <a:p>
            <a:pPr marL="0" indent="0">
              <a:buNone/>
            </a:pPr>
            <a:r>
              <a:rPr lang="en-US" sz="900" b="1" kern="0" spc="140" dirty="0">
                <a:solidFill>
                  <a:srgbClr val="0077A8"/>
                </a:solidFill>
                <a:latin typeface="Calibri" pitchFamily="34" charset="0"/>
                <a:ea typeface="Calibri" pitchFamily="34" charset="-122"/>
                <a:cs typeface="Calibri" pitchFamily="34" charset="-120"/>
              </a:rPr>
              <a:t>DAY 2  —  JAVASCRIPT, THE NETWORK &amp; YOUR FIRST LLM CALL</a:t>
            </a:r>
            <a:endParaRPr lang="en-US" sz="900" dirty="0"/>
          </a:p>
        </p:txBody>
      </p:sp>
    </p:spTree>
    <p:extLst>
      <p:ext uri="{BB962C8B-B14F-4D97-AF65-F5344CB8AC3E}">
        <p14:creationId xmlns:p14="http://schemas.microsoft.com/office/powerpoint/2010/main" val="1213984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C8"/>
          </a:solidFill>
          <a:ln w="12700">
            <a:solidFill>
              <a:srgbClr val="0087C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TODAY'S AGENDA</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JavaScript, the Network &amp; Your First LLM Call</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024128"/>
            <a:ext cx="4005072" cy="932688"/>
          </a:xfrm>
          <a:prstGeom prst="rect">
            <a:avLst/>
          </a:prstGeom>
          <a:solidFill>
            <a:srgbClr val="FFFFFF"/>
          </a:solidFill>
          <a:ln w="9525">
            <a:solidFill>
              <a:srgbClr val="E3E9F0"/>
            </a:solidFill>
            <a:prstDash val="solid"/>
          </a:ln>
        </p:spPr>
        <p:txBody>
          <a:bodyPr/>
          <a:lstStyle/>
          <a:p>
            <a:endParaRPr lang="en-US"/>
          </a:p>
        </p:txBody>
      </p:sp>
      <p:sp>
        <p:nvSpPr>
          <p:cNvPr id="7" name="Shape 5"/>
          <p:cNvSpPr/>
          <p:nvPr/>
        </p:nvSpPr>
        <p:spPr>
          <a:xfrm>
            <a:off x="457200" y="1024128"/>
            <a:ext cx="54864" cy="932688"/>
          </a:xfrm>
          <a:prstGeom prst="rect">
            <a:avLst/>
          </a:prstGeom>
          <a:solidFill>
            <a:srgbClr val="0087C8"/>
          </a:solidFill>
          <a:ln w="12700">
            <a:solidFill>
              <a:srgbClr val="0087C8"/>
            </a:solidFill>
            <a:prstDash val="solid"/>
          </a:ln>
        </p:spPr>
        <p:txBody>
          <a:bodyPr/>
          <a:lstStyle/>
          <a:p>
            <a:endParaRPr lang="en-US"/>
          </a:p>
        </p:txBody>
      </p:sp>
      <p:sp>
        <p:nvSpPr>
          <p:cNvPr id="8" name="Shape 6"/>
          <p:cNvSpPr/>
          <p:nvPr/>
        </p:nvSpPr>
        <p:spPr>
          <a:xfrm>
            <a:off x="603504" y="1316736"/>
            <a:ext cx="329184" cy="329184"/>
          </a:xfrm>
          <a:prstGeom prst="rect">
            <a:avLst/>
          </a:prstGeom>
          <a:solidFill>
            <a:srgbClr val="0087C8"/>
          </a:solidFill>
          <a:ln w="12700">
            <a:solidFill>
              <a:srgbClr val="0087C8"/>
            </a:solidFill>
            <a:prstDash val="solid"/>
          </a:ln>
        </p:spPr>
        <p:txBody>
          <a:bodyPr/>
          <a:lstStyle/>
          <a:p>
            <a:endParaRPr lang="en-US"/>
          </a:p>
        </p:txBody>
      </p:sp>
      <p:sp>
        <p:nvSpPr>
          <p:cNvPr id="9" name="Text 7"/>
          <p:cNvSpPr/>
          <p:nvPr/>
        </p:nvSpPr>
        <p:spPr>
          <a:xfrm>
            <a:off x="603504"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1042416" y="1152144"/>
            <a:ext cx="3273552" cy="402336"/>
          </a:xfrm>
          <a:prstGeom prst="rect">
            <a:avLst/>
          </a:prstGeom>
          <a:noFill/>
          <a:ln/>
        </p:spPr>
        <p:txBody>
          <a:bodyPr wrap="square" lIns="0" tIns="0" rIns="0" bIns="0" rtlCol="0" anchor="ctr"/>
          <a:lstStyle/>
          <a:p>
            <a:pPr marL="0" indent="0">
              <a:buNone/>
            </a:pPr>
            <a:r>
              <a:rPr lang="en-US" sz="1100" b="1" dirty="0">
                <a:solidFill>
                  <a:srgbClr val="0B2B3C"/>
                </a:solidFill>
                <a:latin typeface="Calibri" pitchFamily="34" charset="0"/>
                <a:ea typeface="Calibri" pitchFamily="34" charset="-122"/>
                <a:cs typeface="Calibri" pitchFamily="34" charset="-120"/>
              </a:rPr>
              <a:t>JavaScript &amp; the DOM</a:t>
            </a:r>
            <a:endParaRPr lang="en-US" sz="1100" dirty="0"/>
          </a:p>
        </p:txBody>
      </p:sp>
      <p:sp>
        <p:nvSpPr>
          <p:cNvPr id="11" name="Text 9"/>
          <p:cNvSpPr/>
          <p:nvPr/>
        </p:nvSpPr>
        <p:spPr>
          <a:xfrm>
            <a:off x="1042416"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E6E7D"/>
                </a:solidFill>
                <a:latin typeface="Calibri" pitchFamily="34" charset="0"/>
                <a:ea typeface="Calibri" pitchFamily="34" charset="-122"/>
                <a:cs typeface="Calibri" pitchFamily="34" charset="-120"/>
              </a:rPr>
              <a:t>The six things this app actually needs, rendering your records from an array, and how to read an error properly</a:t>
            </a:r>
            <a:endParaRPr lang="en-US" sz="750" dirty="0"/>
          </a:p>
        </p:txBody>
      </p:sp>
      <p:sp>
        <p:nvSpPr>
          <p:cNvPr id="12" name="Shape 10"/>
          <p:cNvSpPr/>
          <p:nvPr/>
        </p:nvSpPr>
        <p:spPr>
          <a:xfrm>
            <a:off x="4681728" y="1024128"/>
            <a:ext cx="4005072" cy="932688"/>
          </a:xfrm>
          <a:prstGeom prst="rect">
            <a:avLst/>
          </a:prstGeom>
          <a:solidFill>
            <a:srgbClr val="FFFFFF"/>
          </a:solidFill>
          <a:ln w="9525">
            <a:solidFill>
              <a:srgbClr val="E3E9F0"/>
            </a:solidFill>
            <a:prstDash val="solid"/>
          </a:ln>
        </p:spPr>
        <p:txBody>
          <a:bodyPr/>
          <a:lstStyle/>
          <a:p>
            <a:endParaRPr lang="en-US"/>
          </a:p>
        </p:txBody>
      </p:sp>
      <p:sp>
        <p:nvSpPr>
          <p:cNvPr id="13" name="Shape 11"/>
          <p:cNvSpPr/>
          <p:nvPr/>
        </p:nvSpPr>
        <p:spPr>
          <a:xfrm>
            <a:off x="4681728" y="1024128"/>
            <a:ext cx="54864" cy="932688"/>
          </a:xfrm>
          <a:prstGeom prst="rect">
            <a:avLst/>
          </a:prstGeom>
          <a:solidFill>
            <a:srgbClr val="00849B"/>
          </a:solidFill>
          <a:ln w="12700">
            <a:solidFill>
              <a:srgbClr val="00849B"/>
            </a:solidFill>
            <a:prstDash val="solid"/>
          </a:ln>
        </p:spPr>
        <p:txBody>
          <a:bodyPr/>
          <a:lstStyle/>
          <a:p>
            <a:endParaRPr lang="en-US"/>
          </a:p>
        </p:txBody>
      </p:sp>
      <p:sp>
        <p:nvSpPr>
          <p:cNvPr id="14" name="Shape 12"/>
          <p:cNvSpPr/>
          <p:nvPr/>
        </p:nvSpPr>
        <p:spPr>
          <a:xfrm>
            <a:off x="4828032" y="1316736"/>
            <a:ext cx="329184" cy="329184"/>
          </a:xfrm>
          <a:prstGeom prst="rect">
            <a:avLst/>
          </a:prstGeom>
          <a:solidFill>
            <a:srgbClr val="00849B"/>
          </a:solidFill>
          <a:ln w="12700">
            <a:solidFill>
              <a:srgbClr val="00849B"/>
            </a:solidFill>
            <a:prstDash val="solid"/>
          </a:ln>
        </p:spPr>
        <p:txBody>
          <a:bodyPr/>
          <a:lstStyle/>
          <a:p>
            <a:endParaRPr lang="en-US"/>
          </a:p>
        </p:txBody>
      </p:sp>
      <p:sp>
        <p:nvSpPr>
          <p:cNvPr id="15" name="Text 13"/>
          <p:cNvSpPr/>
          <p:nvPr/>
        </p:nvSpPr>
        <p:spPr>
          <a:xfrm>
            <a:off x="4828032"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5266944" y="1152144"/>
            <a:ext cx="3273552" cy="402336"/>
          </a:xfrm>
          <a:prstGeom prst="rect">
            <a:avLst/>
          </a:prstGeom>
          <a:noFill/>
          <a:ln/>
        </p:spPr>
        <p:txBody>
          <a:bodyPr wrap="square" lIns="0" tIns="0" rIns="0" bIns="0" rtlCol="0" anchor="ctr"/>
          <a:lstStyle/>
          <a:p>
            <a:pPr marL="0" indent="0">
              <a:buNone/>
            </a:pPr>
            <a:r>
              <a:rPr lang="en-US" sz="1100" b="1" dirty="0">
                <a:solidFill>
                  <a:srgbClr val="0B2B3C"/>
                </a:solidFill>
                <a:latin typeface="Calibri" pitchFamily="34" charset="0"/>
                <a:ea typeface="Calibri" pitchFamily="34" charset="-122"/>
                <a:cs typeface="Calibri" pitchFamily="34" charset="-120"/>
              </a:rPr>
              <a:t>Talking to the Internet</a:t>
            </a:r>
            <a:endParaRPr lang="en-US" sz="1100" dirty="0"/>
          </a:p>
        </p:txBody>
      </p:sp>
      <p:sp>
        <p:nvSpPr>
          <p:cNvPr id="17" name="Text 15"/>
          <p:cNvSpPr/>
          <p:nvPr/>
        </p:nvSpPr>
        <p:spPr>
          <a:xfrm>
            <a:off x="5266944"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E6E7D"/>
                </a:solidFill>
                <a:latin typeface="Calibri" pitchFamily="34" charset="0"/>
                <a:ea typeface="Calibri" pitchFamily="34" charset="-122"/>
                <a:cs typeface="Calibri" pitchFamily="34" charset="-120"/>
              </a:rPr>
              <a:t>async and await, fetch, JSON, and the loading and error states every real request needs</a:t>
            </a:r>
            <a:endParaRPr lang="en-US" sz="750" dirty="0"/>
          </a:p>
        </p:txBody>
      </p:sp>
      <p:sp>
        <p:nvSpPr>
          <p:cNvPr id="18" name="Shape 16"/>
          <p:cNvSpPr/>
          <p:nvPr/>
        </p:nvSpPr>
        <p:spPr>
          <a:xfrm>
            <a:off x="457200" y="2084832"/>
            <a:ext cx="4005072" cy="932688"/>
          </a:xfrm>
          <a:prstGeom prst="rect">
            <a:avLst/>
          </a:prstGeom>
          <a:solidFill>
            <a:srgbClr val="FFFFFF"/>
          </a:solidFill>
          <a:ln w="9525">
            <a:solidFill>
              <a:srgbClr val="E3E9F0"/>
            </a:solidFill>
            <a:prstDash val="solid"/>
          </a:ln>
        </p:spPr>
        <p:txBody>
          <a:bodyPr/>
          <a:lstStyle/>
          <a:p>
            <a:endParaRPr lang="en-US"/>
          </a:p>
        </p:txBody>
      </p:sp>
      <p:sp>
        <p:nvSpPr>
          <p:cNvPr id="19" name="Shape 17"/>
          <p:cNvSpPr/>
          <p:nvPr/>
        </p:nvSpPr>
        <p:spPr>
          <a:xfrm>
            <a:off x="457200" y="2084832"/>
            <a:ext cx="54864" cy="932688"/>
          </a:xfrm>
          <a:prstGeom prst="rect">
            <a:avLst/>
          </a:prstGeom>
          <a:solidFill>
            <a:srgbClr val="006494"/>
          </a:solidFill>
          <a:ln w="12700">
            <a:solidFill>
              <a:srgbClr val="006494"/>
            </a:solidFill>
            <a:prstDash val="solid"/>
          </a:ln>
        </p:spPr>
        <p:txBody>
          <a:bodyPr/>
          <a:lstStyle/>
          <a:p>
            <a:endParaRPr lang="en-US"/>
          </a:p>
        </p:txBody>
      </p:sp>
      <p:sp>
        <p:nvSpPr>
          <p:cNvPr id="20" name="Shape 18"/>
          <p:cNvSpPr/>
          <p:nvPr/>
        </p:nvSpPr>
        <p:spPr>
          <a:xfrm>
            <a:off x="603504" y="2377440"/>
            <a:ext cx="329184" cy="329184"/>
          </a:xfrm>
          <a:prstGeom prst="rect">
            <a:avLst/>
          </a:prstGeom>
          <a:solidFill>
            <a:srgbClr val="006494"/>
          </a:solidFill>
          <a:ln w="12700">
            <a:solidFill>
              <a:srgbClr val="006494"/>
            </a:solidFill>
            <a:prstDash val="solid"/>
          </a:ln>
        </p:spPr>
        <p:txBody>
          <a:bodyPr/>
          <a:lstStyle/>
          <a:p>
            <a:endParaRPr lang="en-US"/>
          </a:p>
        </p:txBody>
      </p:sp>
      <p:sp>
        <p:nvSpPr>
          <p:cNvPr id="21" name="Text 19"/>
          <p:cNvSpPr/>
          <p:nvPr/>
        </p:nvSpPr>
        <p:spPr>
          <a:xfrm>
            <a:off x="603504"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1042416" y="2212848"/>
            <a:ext cx="3273552" cy="402336"/>
          </a:xfrm>
          <a:prstGeom prst="rect">
            <a:avLst/>
          </a:prstGeom>
          <a:noFill/>
          <a:ln/>
        </p:spPr>
        <p:txBody>
          <a:bodyPr wrap="square" lIns="0" tIns="0" rIns="0" bIns="0" rtlCol="0" anchor="ctr"/>
          <a:lstStyle/>
          <a:p>
            <a:pPr marL="0" indent="0">
              <a:buNone/>
            </a:pPr>
            <a:r>
              <a:rPr lang="en-US" sz="1100" b="1" dirty="0">
                <a:solidFill>
                  <a:srgbClr val="0B2B3C"/>
                </a:solidFill>
                <a:latin typeface="Calibri" pitchFamily="34" charset="0"/>
                <a:ea typeface="Calibri" pitchFamily="34" charset="-122"/>
                <a:cs typeface="Calibri" pitchFamily="34" charset="-120"/>
              </a:rPr>
              <a:t>Your First LLM Call</a:t>
            </a:r>
            <a:endParaRPr lang="en-US" sz="1100" dirty="0"/>
          </a:p>
        </p:txBody>
      </p:sp>
      <p:sp>
        <p:nvSpPr>
          <p:cNvPr id="23" name="Text 21"/>
          <p:cNvSpPr/>
          <p:nvPr/>
        </p:nvSpPr>
        <p:spPr>
          <a:xfrm>
            <a:off x="1042416"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E6E7D"/>
                </a:solidFill>
                <a:latin typeface="Calibri" pitchFamily="34" charset="0"/>
                <a:ea typeface="Calibri" pitchFamily="34" charset="-122"/>
                <a:cs typeface="Calibri" pitchFamily="34" charset="-120"/>
              </a:rPr>
              <a:t>Anatomy of a chat completion, prompts that work, and getting structured JSON back out</a:t>
            </a:r>
            <a:endParaRPr lang="en-US" sz="750" dirty="0"/>
          </a:p>
        </p:txBody>
      </p:sp>
      <p:sp>
        <p:nvSpPr>
          <p:cNvPr id="24" name="Shape 22"/>
          <p:cNvSpPr/>
          <p:nvPr/>
        </p:nvSpPr>
        <p:spPr>
          <a:xfrm>
            <a:off x="4681728" y="2084832"/>
            <a:ext cx="4005072" cy="932688"/>
          </a:xfrm>
          <a:prstGeom prst="rect">
            <a:avLst/>
          </a:prstGeom>
          <a:solidFill>
            <a:srgbClr val="FFFFFF"/>
          </a:solidFill>
          <a:ln w="9525">
            <a:solidFill>
              <a:srgbClr val="E3E9F0"/>
            </a:solidFill>
            <a:prstDash val="solid"/>
          </a:ln>
        </p:spPr>
        <p:txBody>
          <a:bodyPr/>
          <a:lstStyle/>
          <a:p>
            <a:endParaRPr lang="en-US"/>
          </a:p>
        </p:txBody>
      </p:sp>
      <p:sp>
        <p:nvSpPr>
          <p:cNvPr id="25" name="Shape 23"/>
          <p:cNvSpPr/>
          <p:nvPr/>
        </p:nvSpPr>
        <p:spPr>
          <a:xfrm>
            <a:off x="4681728" y="2084832"/>
            <a:ext cx="54864" cy="932688"/>
          </a:xfrm>
          <a:prstGeom prst="rect">
            <a:avLst/>
          </a:prstGeom>
          <a:solidFill>
            <a:srgbClr val="00849B"/>
          </a:solidFill>
          <a:ln w="12700">
            <a:solidFill>
              <a:srgbClr val="00849B"/>
            </a:solidFill>
            <a:prstDash val="solid"/>
          </a:ln>
        </p:spPr>
        <p:txBody>
          <a:bodyPr/>
          <a:lstStyle/>
          <a:p>
            <a:endParaRPr lang="en-US"/>
          </a:p>
        </p:txBody>
      </p:sp>
      <p:sp>
        <p:nvSpPr>
          <p:cNvPr id="26" name="Shape 24"/>
          <p:cNvSpPr/>
          <p:nvPr/>
        </p:nvSpPr>
        <p:spPr>
          <a:xfrm>
            <a:off x="4828032" y="2377440"/>
            <a:ext cx="329184" cy="329184"/>
          </a:xfrm>
          <a:prstGeom prst="rect">
            <a:avLst/>
          </a:prstGeom>
          <a:solidFill>
            <a:srgbClr val="00849B"/>
          </a:solidFill>
          <a:ln w="12700">
            <a:solidFill>
              <a:srgbClr val="00849B"/>
            </a:solidFill>
            <a:prstDash val="solid"/>
          </a:ln>
        </p:spPr>
        <p:txBody>
          <a:bodyPr/>
          <a:lstStyle/>
          <a:p>
            <a:endParaRPr lang="en-US"/>
          </a:p>
        </p:txBody>
      </p:sp>
      <p:sp>
        <p:nvSpPr>
          <p:cNvPr id="27" name="Text 25"/>
          <p:cNvSpPr/>
          <p:nvPr/>
        </p:nvSpPr>
        <p:spPr>
          <a:xfrm>
            <a:off x="4828032"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5266944" y="2212848"/>
            <a:ext cx="3273552" cy="402336"/>
          </a:xfrm>
          <a:prstGeom prst="rect">
            <a:avLst/>
          </a:prstGeom>
          <a:noFill/>
          <a:ln/>
        </p:spPr>
        <p:txBody>
          <a:bodyPr wrap="square" lIns="0" tIns="0" rIns="0" bIns="0" rtlCol="0" anchor="ctr"/>
          <a:lstStyle/>
          <a:p>
            <a:pPr marL="0" indent="0">
              <a:buNone/>
            </a:pPr>
            <a:r>
              <a:rPr lang="en-US" sz="1100" b="1" dirty="0">
                <a:solidFill>
                  <a:srgbClr val="0B2B3C"/>
                </a:solidFill>
                <a:latin typeface="Calibri" pitchFamily="34" charset="0"/>
                <a:ea typeface="Calibri" pitchFamily="34" charset="-122"/>
                <a:cs typeface="Calibri" pitchFamily="34" charset="-120"/>
              </a:rPr>
              <a:t>Lab, Demos &amp; Debrief</a:t>
            </a:r>
            <a:endParaRPr lang="en-US" sz="1100" dirty="0"/>
          </a:p>
        </p:txBody>
      </p:sp>
      <p:sp>
        <p:nvSpPr>
          <p:cNvPr id="29" name="Text 27"/>
          <p:cNvSpPr/>
          <p:nvPr/>
        </p:nvSpPr>
        <p:spPr>
          <a:xfrm>
            <a:off x="5266944"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E6E7D"/>
                </a:solidFill>
                <a:latin typeface="Calibri" pitchFamily="34" charset="0"/>
                <a:ea typeface="Calibri" pitchFamily="34" charset="-122"/>
                <a:cs typeface="Calibri" pitchFamily="34" charset="-120"/>
              </a:rPr>
              <a:t>Wire an AI button into your own app, handle it failing, and show the room</a:t>
            </a:r>
            <a:endParaRPr lang="en-US" sz="750" dirty="0"/>
          </a:p>
        </p:txBody>
      </p:sp>
      <p:sp>
        <p:nvSpPr>
          <p:cNvPr id="30" name="Shape 28"/>
          <p:cNvSpPr/>
          <p:nvPr/>
        </p:nvSpPr>
        <p:spPr>
          <a:xfrm>
            <a:off x="457200" y="3255264"/>
            <a:ext cx="8229600" cy="10973"/>
          </a:xfrm>
          <a:prstGeom prst="rect">
            <a:avLst/>
          </a:prstGeom>
          <a:solidFill>
            <a:srgbClr val="CBE7F7"/>
          </a:solidFill>
          <a:ln w="12700">
            <a:solidFill>
              <a:srgbClr val="CBE7F7"/>
            </a:solidFill>
            <a:prstDash val="solid"/>
          </a:ln>
        </p:spPr>
        <p:txBody>
          <a:bodyPr/>
          <a:lstStyle/>
          <a:p>
            <a:endParaRPr lang="en-US"/>
          </a:p>
        </p:txBody>
      </p:sp>
      <p:sp>
        <p:nvSpPr>
          <p:cNvPr id="31" name="Text 29"/>
          <p:cNvSpPr/>
          <p:nvPr/>
        </p:nvSpPr>
        <p:spPr>
          <a:xfrm>
            <a:off x="457200" y="3383280"/>
            <a:ext cx="45720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WHAT YOU WALK OUT WITH TODAY</a:t>
            </a:r>
            <a:endParaRPr lang="en-US" sz="800" dirty="0"/>
          </a:p>
        </p:txBody>
      </p:sp>
      <p:sp>
        <p:nvSpPr>
          <p:cNvPr id="32" name="Text 30"/>
          <p:cNvSpPr/>
          <p:nvPr/>
        </p:nvSpPr>
        <p:spPr>
          <a:xfrm>
            <a:off x="457200" y="3621024"/>
            <a:ext cx="8229600" cy="566928"/>
          </a:xfrm>
          <a:prstGeom prst="rect">
            <a:avLst/>
          </a:prstGeom>
          <a:noFill/>
          <a:ln/>
        </p:spPr>
        <p:txBody>
          <a:bodyPr wrap="square" lIns="0" tIns="0" rIns="0" bIns="0" rtlCol="0" anchor="t"/>
          <a:lstStyle/>
          <a:p>
            <a:pPr marL="0" indent="0">
              <a:lnSpc>
                <a:spcPct val="105000"/>
              </a:lnSpc>
              <a:buNone/>
            </a:pPr>
            <a:r>
              <a:rPr lang="en-US" sz="1100" dirty="0">
                <a:solidFill>
                  <a:srgbClr val="0B2B3C"/>
                </a:solidFill>
                <a:latin typeface="Calibri" pitchFamily="34" charset="0"/>
                <a:ea typeface="Calibri" pitchFamily="34" charset="-122"/>
                <a:cs typeface="Calibri" pitchFamily="34" charset="-120"/>
              </a:rPr>
              <a:t>An app that responds to clicks, fetches from the internet, and sends one of your own records to a language model — which sends back a summary you can actually put on the screen.</a:t>
            </a:r>
            <a:endParaRPr lang="en-US" sz="1100" dirty="0"/>
          </a:p>
        </p:txBody>
      </p:sp>
      <p:sp>
        <p:nvSpPr>
          <p:cNvPr id="33" name="Shape 31"/>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34" name="Shape 32"/>
          <p:cNvSpPr/>
          <p:nvPr/>
        </p:nvSpPr>
        <p:spPr>
          <a:xfrm>
            <a:off x="457200" y="4334256"/>
            <a:ext cx="54864" cy="512064"/>
          </a:xfrm>
          <a:prstGeom prst="rect">
            <a:avLst/>
          </a:prstGeom>
          <a:solidFill>
            <a:srgbClr val="0087C8"/>
          </a:solidFill>
          <a:ln w="12700">
            <a:solidFill>
              <a:srgbClr val="0087C8"/>
            </a:solidFill>
            <a:prstDash val="solid"/>
          </a:ln>
        </p:spPr>
        <p:txBody>
          <a:bodyPr/>
          <a:lstStyle/>
          <a:p>
            <a:endParaRPr lang="en-US"/>
          </a:p>
        </p:txBody>
      </p:sp>
      <p:sp>
        <p:nvSpPr>
          <p:cNvPr id="35" name="Text 3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You will also end today with a security problem you cannot fix. That is deliberate — it is what tomorrow is for.</a:t>
            </a:r>
            <a:endParaRPr lang="en-US" sz="1000" dirty="0"/>
          </a:p>
        </p:txBody>
      </p:sp>
    </p:spTree>
    <p:extLst>
      <p:ext uri="{BB962C8B-B14F-4D97-AF65-F5344CB8AC3E}">
        <p14:creationId xmlns:p14="http://schemas.microsoft.com/office/powerpoint/2010/main" val="3716625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C8"/>
          </a:solidFill>
          <a:ln w="12700">
            <a:solidFill>
              <a:srgbClr val="0087C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Yesterday, and Where Today Takes You</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Text 4"/>
          <p:cNvSpPr/>
          <p:nvPr/>
        </p:nvSpPr>
        <p:spPr>
          <a:xfrm>
            <a:off x="457200" y="969264"/>
            <a:ext cx="45720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YESTERDAY, IN THREE LINES</a:t>
            </a:r>
            <a:endParaRPr lang="en-US" sz="800" dirty="0"/>
          </a:p>
        </p:txBody>
      </p:sp>
      <p:sp>
        <p:nvSpPr>
          <p:cNvPr id="7" name="Shape 5"/>
          <p:cNvSpPr/>
          <p:nvPr/>
        </p:nvSpPr>
        <p:spPr>
          <a:xfrm>
            <a:off x="457200" y="1188720"/>
            <a:ext cx="4023360" cy="347472"/>
          </a:xfrm>
          <a:prstGeom prst="rect">
            <a:avLst/>
          </a:prstGeom>
          <a:solidFill>
            <a:srgbClr val="EAF6FD"/>
          </a:solidFill>
          <a:ln w="6350">
            <a:solidFill>
              <a:srgbClr val="E3E9F0"/>
            </a:solidFill>
            <a:prstDash val="solid"/>
          </a:ln>
        </p:spPr>
        <p:txBody>
          <a:bodyPr/>
          <a:lstStyle/>
          <a:p>
            <a:endParaRPr lang="en-US"/>
          </a:p>
        </p:txBody>
      </p:sp>
      <p:sp>
        <p:nvSpPr>
          <p:cNvPr id="8" name="Text 6"/>
          <p:cNvSpPr/>
          <p:nvPr/>
        </p:nvSpPr>
        <p:spPr>
          <a:xfrm>
            <a:off x="566928" y="1188720"/>
            <a:ext cx="237744" cy="347472"/>
          </a:xfrm>
          <a:prstGeom prst="rect">
            <a:avLst/>
          </a:prstGeom>
          <a:noFill/>
          <a:ln/>
        </p:spPr>
        <p:txBody>
          <a:bodyPr wrap="square" lIns="0" tIns="0" rIns="0" bIns="0" rtlCol="0" anchor="ctr"/>
          <a:lstStyle/>
          <a:p>
            <a:pPr marL="0" indent="0">
              <a:buNone/>
            </a:pPr>
            <a:r>
              <a:rPr lang="en-US" sz="1000" b="1" dirty="0">
                <a:solidFill>
                  <a:srgbClr val="007F73"/>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841248" y="1188720"/>
            <a:ext cx="1645920" cy="347472"/>
          </a:xfrm>
          <a:prstGeom prst="rect">
            <a:avLst/>
          </a:prstGeom>
          <a:noFill/>
          <a:ln/>
        </p:spPr>
        <p:txBody>
          <a:bodyPr wrap="square" lIns="0" tIns="0" rIns="0" bIns="0" rtlCol="0" anchor="ctr"/>
          <a:lstStyle/>
          <a:p>
            <a:pPr marL="0" indent="0">
              <a:buNone/>
            </a:pPr>
            <a:r>
              <a:rPr lang="en-US" sz="900" b="1" dirty="0">
                <a:solidFill>
                  <a:srgbClr val="0B2B3C"/>
                </a:solidFill>
                <a:latin typeface="Calibri" pitchFamily="34" charset="0"/>
                <a:ea typeface="Calibri" pitchFamily="34" charset="-122"/>
                <a:cs typeface="Calibri" pitchFamily="34" charset="-120"/>
              </a:rPr>
              <a:t>You chose a domain</a:t>
            </a:r>
            <a:endParaRPr lang="en-US" sz="900" dirty="0"/>
          </a:p>
        </p:txBody>
      </p:sp>
      <p:sp>
        <p:nvSpPr>
          <p:cNvPr id="10" name="Text 8"/>
          <p:cNvSpPr/>
          <p:nvPr/>
        </p:nvSpPr>
        <p:spPr>
          <a:xfrm>
            <a:off x="2505456" y="1188720"/>
            <a:ext cx="1883664" cy="347472"/>
          </a:xfrm>
          <a:prstGeom prst="rect">
            <a:avLst/>
          </a:prstGeom>
          <a:noFill/>
          <a:ln/>
        </p:spPr>
        <p:txBody>
          <a:bodyPr wrap="square" lIns="0" tIns="0" rIns="0" bIns="0" rtlCol="0" anchor="ctr"/>
          <a:lstStyle/>
          <a:p>
            <a:pPr marL="0" indent="0">
              <a:buNone/>
            </a:pPr>
            <a:r>
              <a:rPr lang="en-US" sz="750" dirty="0">
                <a:solidFill>
                  <a:srgbClr val="4E6E7D"/>
                </a:solidFill>
                <a:latin typeface="Calibri" pitchFamily="34" charset="0"/>
                <a:ea typeface="Calibri" pitchFamily="34" charset="-122"/>
                <a:cs typeface="Calibri" pitchFamily="34" charset="-120"/>
              </a:rPr>
              <a:t>and the one record shape behind it</a:t>
            </a:r>
            <a:endParaRPr lang="en-US" sz="750" dirty="0"/>
          </a:p>
        </p:txBody>
      </p:sp>
      <p:sp>
        <p:nvSpPr>
          <p:cNvPr id="11" name="Shape 9"/>
          <p:cNvSpPr/>
          <p:nvPr/>
        </p:nvSpPr>
        <p:spPr>
          <a:xfrm>
            <a:off x="457200" y="1591056"/>
            <a:ext cx="4023360" cy="347472"/>
          </a:xfrm>
          <a:prstGeom prst="rect">
            <a:avLst/>
          </a:prstGeom>
          <a:solidFill>
            <a:srgbClr val="FFFFFF"/>
          </a:solidFill>
          <a:ln w="6350">
            <a:solidFill>
              <a:srgbClr val="E3E9F0"/>
            </a:solidFill>
            <a:prstDash val="solid"/>
          </a:ln>
        </p:spPr>
        <p:txBody>
          <a:bodyPr/>
          <a:lstStyle/>
          <a:p>
            <a:endParaRPr lang="en-US"/>
          </a:p>
        </p:txBody>
      </p:sp>
      <p:sp>
        <p:nvSpPr>
          <p:cNvPr id="12" name="Text 10"/>
          <p:cNvSpPr/>
          <p:nvPr/>
        </p:nvSpPr>
        <p:spPr>
          <a:xfrm>
            <a:off x="566928" y="1591056"/>
            <a:ext cx="237744" cy="347472"/>
          </a:xfrm>
          <a:prstGeom prst="rect">
            <a:avLst/>
          </a:prstGeom>
          <a:noFill/>
          <a:ln/>
        </p:spPr>
        <p:txBody>
          <a:bodyPr wrap="square" lIns="0" tIns="0" rIns="0" bIns="0" rtlCol="0" anchor="ctr"/>
          <a:lstStyle/>
          <a:p>
            <a:pPr marL="0" indent="0">
              <a:buNone/>
            </a:pPr>
            <a:r>
              <a:rPr lang="en-US" sz="1000" b="1" dirty="0">
                <a:solidFill>
                  <a:srgbClr val="007F73"/>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841248" y="1591056"/>
            <a:ext cx="1645920" cy="347472"/>
          </a:xfrm>
          <a:prstGeom prst="rect">
            <a:avLst/>
          </a:prstGeom>
          <a:noFill/>
          <a:ln/>
        </p:spPr>
        <p:txBody>
          <a:bodyPr wrap="square" lIns="0" tIns="0" rIns="0" bIns="0" rtlCol="0" anchor="ctr"/>
          <a:lstStyle/>
          <a:p>
            <a:pPr marL="0" indent="0">
              <a:buNone/>
            </a:pPr>
            <a:r>
              <a:rPr lang="en-US" sz="900" b="1" dirty="0">
                <a:solidFill>
                  <a:srgbClr val="0B2B3C"/>
                </a:solidFill>
                <a:latin typeface="Calibri" pitchFamily="34" charset="0"/>
                <a:ea typeface="Calibri" pitchFamily="34" charset="-122"/>
                <a:cs typeface="Calibri" pitchFamily="34" charset="-120"/>
              </a:rPr>
              <a:t>You built the shell</a:t>
            </a:r>
            <a:endParaRPr lang="en-US" sz="900" dirty="0"/>
          </a:p>
        </p:txBody>
      </p:sp>
      <p:sp>
        <p:nvSpPr>
          <p:cNvPr id="14" name="Text 12"/>
          <p:cNvSpPr/>
          <p:nvPr/>
        </p:nvSpPr>
        <p:spPr>
          <a:xfrm>
            <a:off x="2505456" y="1591056"/>
            <a:ext cx="1883664" cy="347472"/>
          </a:xfrm>
          <a:prstGeom prst="rect">
            <a:avLst/>
          </a:prstGeom>
          <a:noFill/>
          <a:ln/>
        </p:spPr>
        <p:txBody>
          <a:bodyPr wrap="square" lIns="0" tIns="0" rIns="0" bIns="0" rtlCol="0" anchor="ctr"/>
          <a:lstStyle/>
          <a:p>
            <a:pPr marL="0" indent="0">
              <a:buNone/>
            </a:pPr>
            <a:r>
              <a:rPr lang="en-US" sz="750" dirty="0">
                <a:solidFill>
                  <a:srgbClr val="4E6E7D"/>
                </a:solidFill>
                <a:latin typeface="Calibri" pitchFamily="34" charset="0"/>
                <a:ea typeface="Calibri" pitchFamily="34" charset="-122"/>
                <a:cs typeface="Calibri" pitchFamily="34" charset="-120"/>
              </a:rPr>
              <a:t>header, list, detail, empty state</a:t>
            </a:r>
            <a:endParaRPr lang="en-US" sz="750" dirty="0"/>
          </a:p>
        </p:txBody>
      </p:sp>
      <p:sp>
        <p:nvSpPr>
          <p:cNvPr id="15" name="Shape 13"/>
          <p:cNvSpPr/>
          <p:nvPr/>
        </p:nvSpPr>
        <p:spPr>
          <a:xfrm>
            <a:off x="457200" y="1993392"/>
            <a:ext cx="4023360" cy="347472"/>
          </a:xfrm>
          <a:prstGeom prst="rect">
            <a:avLst/>
          </a:prstGeom>
          <a:solidFill>
            <a:srgbClr val="EAF6FD"/>
          </a:solidFill>
          <a:ln w="6350">
            <a:solidFill>
              <a:srgbClr val="E3E9F0"/>
            </a:solidFill>
            <a:prstDash val="solid"/>
          </a:ln>
        </p:spPr>
        <p:txBody>
          <a:bodyPr/>
          <a:lstStyle/>
          <a:p>
            <a:endParaRPr lang="en-US"/>
          </a:p>
        </p:txBody>
      </p:sp>
      <p:sp>
        <p:nvSpPr>
          <p:cNvPr id="16" name="Text 14"/>
          <p:cNvSpPr/>
          <p:nvPr/>
        </p:nvSpPr>
        <p:spPr>
          <a:xfrm>
            <a:off x="566928" y="1993392"/>
            <a:ext cx="237744" cy="347472"/>
          </a:xfrm>
          <a:prstGeom prst="rect">
            <a:avLst/>
          </a:prstGeom>
          <a:noFill/>
          <a:ln/>
        </p:spPr>
        <p:txBody>
          <a:bodyPr wrap="square" lIns="0" tIns="0" rIns="0" bIns="0" rtlCol="0" anchor="ctr"/>
          <a:lstStyle/>
          <a:p>
            <a:pPr marL="0" indent="0">
              <a:buNone/>
            </a:pPr>
            <a:r>
              <a:rPr lang="en-US" sz="1000" b="1" dirty="0">
                <a:solidFill>
                  <a:srgbClr val="007F73"/>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841248" y="1993392"/>
            <a:ext cx="1645920" cy="347472"/>
          </a:xfrm>
          <a:prstGeom prst="rect">
            <a:avLst/>
          </a:prstGeom>
          <a:noFill/>
          <a:ln/>
        </p:spPr>
        <p:txBody>
          <a:bodyPr wrap="square" lIns="0" tIns="0" rIns="0" bIns="0" rtlCol="0" anchor="ctr"/>
          <a:lstStyle/>
          <a:p>
            <a:pPr marL="0" indent="0">
              <a:buNone/>
            </a:pPr>
            <a:r>
              <a:rPr lang="en-US" sz="900" b="1" dirty="0">
                <a:solidFill>
                  <a:srgbClr val="0B2B3C"/>
                </a:solidFill>
                <a:latin typeface="Calibri" pitchFamily="34" charset="0"/>
                <a:ea typeface="Calibri" pitchFamily="34" charset="-122"/>
                <a:cs typeface="Calibri" pitchFamily="34" charset="-120"/>
              </a:rPr>
              <a:t>You pushed to GitHub</a:t>
            </a:r>
            <a:endParaRPr lang="en-US" sz="900" dirty="0"/>
          </a:p>
        </p:txBody>
      </p:sp>
      <p:sp>
        <p:nvSpPr>
          <p:cNvPr id="18" name="Text 16"/>
          <p:cNvSpPr/>
          <p:nvPr/>
        </p:nvSpPr>
        <p:spPr>
          <a:xfrm>
            <a:off x="2505456" y="1993392"/>
            <a:ext cx="1883664" cy="347472"/>
          </a:xfrm>
          <a:prstGeom prst="rect">
            <a:avLst/>
          </a:prstGeom>
          <a:noFill/>
          <a:ln/>
        </p:spPr>
        <p:txBody>
          <a:bodyPr wrap="square" lIns="0" tIns="0" rIns="0" bIns="0" rtlCol="0" anchor="ctr"/>
          <a:lstStyle/>
          <a:p>
            <a:pPr marL="0" indent="0">
              <a:buNone/>
            </a:pPr>
            <a:r>
              <a:rPr lang="en-US" sz="750" dirty="0">
                <a:solidFill>
                  <a:srgbClr val="4E6E7D"/>
                </a:solidFill>
                <a:latin typeface="Calibri" pitchFamily="34" charset="0"/>
                <a:ea typeface="Calibri" pitchFamily="34" charset="-122"/>
                <a:cs typeface="Calibri" pitchFamily="34" charset="-120"/>
              </a:rPr>
              <a:t>and your machine is green</a:t>
            </a:r>
            <a:endParaRPr lang="en-US" sz="750" dirty="0"/>
          </a:p>
        </p:txBody>
      </p:sp>
      <p:sp>
        <p:nvSpPr>
          <p:cNvPr id="19" name="Text 17"/>
          <p:cNvSpPr/>
          <p:nvPr/>
        </p:nvSpPr>
        <p:spPr>
          <a:xfrm>
            <a:off x="457200" y="2487168"/>
            <a:ext cx="45720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AND ONE HONEST PROBLEM</a:t>
            </a:r>
            <a:endParaRPr lang="en-US" sz="800" dirty="0"/>
          </a:p>
        </p:txBody>
      </p:sp>
      <p:sp>
        <p:nvSpPr>
          <p:cNvPr id="20" name="Text 18"/>
          <p:cNvSpPr/>
          <p:nvPr/>
        </p:nvSpPr>
        <p:spPr>
          <a:xfrm>
            <a:off x="457200" y="2706624"/>
            <a:ext cx="4023360" cy="402336"/>
          </a:xfrm>
          <a:prstGeom prst="rect">
            <a:avLst/>
          </a:prstGeom>
          <a:noFill/>
          <a:ln/>
        </p:spPr>
        <p:txBody>
          <a:bodyPr wrap="square" lIns="0" tIns="0" rIns="0" bIns="0" rtlCol="0" anchor="t"/>
          <a:lstStyle/>
          <a:p>
            <a:pPr marL="0" indent="0">
              <a:lnSpc>
                <a:spcPct val="105000"/>
              </a:lnSpc>
              <a:buNone/>
            </a:pPr>
            <a:r>
              <a:rPr lang="en-US" sz="950" dirty="0">
                <a:solidFill>
                  <a:srgbClr val="0B2B3C"/>
                </a:solidFill>
                <a:latin typeface="Calibri" pitchFamily="34" charset="0"/>
                <a:ea typeface="Calibri" pitchFamily="34" charset="-122"/>
                <a:cs typeface="Calibri" pitchFamily="34" charset="-120"/>
              </a:rPr>
              <a:t>It is a picture. Nothing on that page does anything when you click it. Today we change that — twice.</a:t>
            </a:r>
            <a:endParaRPr lang="en-US" sz="950" dirty="0"/>
          </a:p>
        </p:txBody>
      </p:sp>
      <p:sp>
        <p:nvSpPr>
          <p:cNvPr id="21" name="Text 19"/>
          <p:cNvSpPr/>
          <p:nvPr/>
        </p:nvSpPr>
        <p:spPr>
          <a:xfrm>
            <a:off x="4681728" y="969264"/>
            <a:ext cx="36576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TODAY'S ARC</a:t>
            </a:r>
            <a:endParaRPr lang="en-US" sz="800" dirty="0"/>
          </a:p>
        </p:txBody>
      </p:sp>
      <p:sp>
        <p:nvSpPr>
          <p:cNvPr id="22" name="Shape 20"/>
          <p:cNvSpPr/>
          <p:nvPr/>
        </p:nvSpPr>
        <p:spPr>
          <a:xfrm>
            <a:off x="4681728" y="1188720"/>
            <a:ext cx="4005072" cy="438912"/>
          </a:xfrm>
          <a:prstGeom prst="rect">
            <a:avLst/>
          </a:prstGeom>
          <a:solidFill>
            <a:srgbClr val="FFFFFF"/>
          </a:solidFill>
          <a:ln w="9525">
            <a:solidFill>
              <a:srgbClr val="E3E9F0"/>
            </a:solidFill>
            <a:prstDash val="solid"/>
          </a:ln>
        </p:spPr>
        <p:txBody>
          <a:bodyPr/>
          <a:lstStyle/>
          <a:p>
            <a:endParaRPr lang="en-US"/>
          </a:p>
        </p:txBody>
      </p:sp>
      <p:sp>
        <p:nvSpPr>
          <p:cNvPr id="23" name="Shape 21"/>
          <p:cNvSpPr/>
          <p:nvPr/>
        </p:nvSpPr>
        <p:spPr>
          <a:xfrm>
            <a:off x="4681728" y="1188720"/>
            <a:ext cx="54864" cy="438912"/>
          </a:xfrm>
          <a:prstGeom prst="rect">
            <a:avLst/>
          </a:prstGeom>
          <a:solidFill>
            <a:srgbClr val="6E93A5"/>
          </a:solidFill>
          <a:ln w="12700">
            <a:solidFill>
              <a:srgbClr val="6E93A5"/>
            </a:solidFill>
            <a:prstDash val="solid"/>
          </a:ln>
        </p:spPr>
        <p:txBody>
          <a:bodyPr/>
          <a:lstStyle/>
          <a:p>
            <a:endParaRPr lang="en-US"/>
          </a:p>
        </p:txBody>
      </p:sp>
      <p:sp>
        <p:nvSpPr>
          <p:cNvPr id="24" name="Text 22"/>
          <p:cNvSpPr/>
          <p:nvPr/>
        </p:nvSpPr>
        <p:spPr>
          <a:xfrm>
            <a:off x="4882896" y="1188720"/>
            <a:ext cx="2468880" cy="438912"/>
          </a:xfrm>
          <a:prstGeom prst="rect">
            <a:avLst/>
          </a:prstGeom>
          <a:noFill/>
          <a:ln/>
        </p:spPr>
        <p:txBody>
          <a:bodyPr wrap="square" lIns="0" tIns="0" rIns="0" bIns="0" rtlCol="0" anchor="ctr"/>
          <a:lstStyle/>
          <a:p>
            <a:pPr marL="0" indent="0">
              <a:buNone/>
            </a:pPr>
            <a:r>
              <a:rPr lang="en-US" sz="900" b="1" kern="0" spc="60" dirty="0">
                <a:solidFill>
                  <a:srgbClr val="4E6E7D"/>
                </a:solidFill>
                <a:latin typeface="Calibri" pitchFamily="34" charset="0"/>
                <a:ea typeface="Calibri" pitchFamily="34" charset="-122"/>
                <a:cs typeface="Calibri" pitchFamily="34" charset="-120"/>
              </a:rPr>
              <a:t>A STATIC PAGE</a:t>
            </a:r>
            <a:endParaRPr lang="en-US" sz="900" dirty="0"/>
          </a:p>
        </p:txBody>
      </p:sp>
      <p:sp>
        <p:nvSpPr>
          <p:cNvPr id="25" name="Text 23"/>
          <p:cNvSpPr/>
          <p:nvPr/>
        </p:nvSpPr>
        <p:spPr>
          <a:xfrm>
            <a:off x="7333488" y="1188720"/>
            <a:ext cx="1243584" cy="438912"/>
          </a:xfrm>
          <a:prstGeom prst="rect">
            <a:avLst/>
          </a:prstGeom>
          <a:noFill/>
          <a:ln/>
        </p:spPr>
        <p:txBody>
          <a:bodyPr wrap="square" lIns="0" tIns="0" rIns="0" bIns="0" rtlCol="0" anchor="ctr"/>
          <a:lstStyle/>
          <a:p>
            <a:pPr marL="0" indent="0" algn="r">
              <a:buNone/>
            </a:pPr>
            <a:r>
              <a:rPr lang="en-US" sz="700" dirty="0">
                <a:solidFill>
                  <a:srgbClr val="4E6E7D"/>
                </a:solidFill>
                <a:latin typeface="Calibri" pitchFamily="34" charset="0"/>
                <a:ea typeface="Calibri" pitchFamily="34" charset="-122"/>
                <a:cs typeface="Calibri" pitchFamily="34" charset="-120"/>
              </a:rPr>
              <a:t>where you are now</a:t>
            </a:r>
            <a:endParaRPr lang="en-US" sz="700" dirty="0"/>
          </a:p>
        </p:txBody>
      </p:sp>
      <p:sp>
        <p:nvSpPr>
          <p:cNvPr id="26" name="Shape 24"/>
          <p:cNvSpPr/>
          <p:nvPr/>
        </p:nvSpPr>
        <p:spPr>
          <a:xfrm>
            <a:off x="4681728" y="1700784"/>
            <a:ext cx="4005072" cy="438912"/>
          </a:xfrm>
          <a:prstGeom prst="rect">
            <a:avLst/>
          </a:prstGeom>
          <a:solidFill>
            <a:srgbClr val="FFFFFF"/>
          </a:solidFill>
          <a:ln w="9525">
            <a:solidFill>
              <a:srgbClr val="E3E9F0"/>
            </a:solidFill>
            <a:prstDash val="solid"/>
          </a:ln>
        </p:spPr>
        <p:txBody>
          <a:bodyPr/>
          <a:lstStyle/>
          <a:p>
            <a:endParaRPr lang="en-US"/>
          </a:p>
        </p:txBody>
      </p:sp>
      <p:sp>
        <p:nvSpPr>
          <p:cNvPr id="27" name="Shape 25"/>
          <p:cNvSpPr/>
          <p:nvPr/>
        </p:nvSpPr>
        <p:spPr>
          <a:xfrm>
            <a:off x="4681728" y="1700784"/>
            <a:ext cx="54864" cy="438912"/>
          </a:xfrm>
          <a:prstGeom prst="rect">
            <a:avLst/>
          </a:prstGeom>
          <a:solidFill>
            <a:srgbClr val="0087C8"/>
          </a:solidFill>
          <a:ln w="12700">
            <a:solidFill>
              <a:srgbClr val="0087C8"/>
            </a:solidFill>
            <a:prstDash val="solid"/>
          </a:ln>
        </p:spPr>
        <p:txBody>
          <a:bodyPr/>
          <a:lstStyle/>
          <a:p>
            <a:endParaRPr lang="en-US"/>
          </a:p>
        </p:txBody>
      </p:sp>
      <p:sp>
        <p:nvSpPr>
          <p:cNvPr id="28" name="Text 26"/>
          <p:cNvSpPr/>
          <p:nvPr/>
        </p:nvSpPr>
        <p:spPr>
          <a:xfrm>
            <a:off x="4882896" y="1700784"/>
            <a:ext cx="2468880" cy="438912"/>
          </a:xfrm>
          <a:prstGeom prst="rect">
            <a:avLst/>
          </a:prstGeom>
          <a:noFill/>
          <a:ln/>
        </p:spPr>
        <p:txBody>
          <a:bodyPr wrap="square" lIns="0" tIns="0" rIns="0" bIns="0" rtlCol="0" anchor="ctr"/>
          <a:lstStyle/>
          <a:p>
            <a:pPr marL="0" indent="0">
              <a:buNone/>
            </a:pPr>
            <a:r>
              <a:rPr lang="en-US" sz="900" b="1" kern="0" spc="60" dirty="0">
                <a:solidFill>
                  <a:srgbClr val="0B2B3C"/>
                </a:solidFill>
                <a:latin typeface="Calibri" pitchFamily="34" charset="0"/>
                <a:ea typeface="Calibri" pitchFamily="34" charset="-122"/>
                <a:cs typeface="Calibri" pitchFamily="34" charset="-120"/>
              </a:rPr>
              <a:t>IT RESPONDS TO YOU</a:t>
            </a:r>
            <a:endParaRPr lang="en-US" sz="900" dirty="0"/>
          </a:p>
        </p:txBody>
      </p:sp>
      <p:sp>
        <p:nvSpPr>
          <p:cNvPr id="29" name="Text 27"/>
          <p:cNvSpPr/>
          <p:nvPr/>
        </p:nvSpPr>
        <p:spPr>
          <a:xfrm>
            <a:off x="7333488" y="1700784"/>
            <a:ext cx="1243584" cy="438912"/>
          </a:xfrm>
          <a:prstGeom prst="rect">
            <a:avLst/>
          </a:prstGeom>
          <a:noFill/>
          <a:ln/>
        </p:spPr>
        <p:txBody>
          <a:bodyPr wrap="square" lIns="0" tIns="0" rIns="0" bIns="0" rtlCol="0" anchor="ctr"/>
          <a:lstStyle/>
          <a:p>
            <a:pPr marL="0" indent="0" algn="r">
              <a:buNone/>
            </a:pPr>
            <a:r>
              <a:rPr lang="en-US" sz="700" dirty="0">
                <a:solidFill>
                  <a:srgbClr val="4E6E7D"/>
                </a:solidFill>
                <a:latin typeface="Calibri" pitchFamily="34" charset="0"/>
                <a:ea typeface="Calibri" pitchFamily="34" charset="-122"/>
                <a:cs typeface="Calibri" pitchFamily="34" charset="-120"/>
              </a:rPr>
              <a:t>clicks, typing, re-rendering</a:t>
            </a:r>
            <a:endParaRPr lang="en-US" sz="700" dirty="0"/>
          </a:p>
        </p:txBody>
      </p:sp>
      <p:sp>
        <p:nvSpPr>
          <p:cNvPr id="30" name="Shape 28"/>
          <p:cNvSpPr/>
          <p:nvPr/>
        </p:nvSpPr>
        <p:spPr>
          <a:xfrm>
            <a:off x="4681728" y="2212848"/>
            <a:ext cx="4005072" cy="438912"/>
          </a:xfrm>
          <a:prstGeom prst="rect">
            <a:avLst/>
          </a:prstGeom>
          <a:solidFill>
            <a:srgbClr val="FFFFFF"/>
          </a:solidFill>
          <a:ln w="9525">
            <a:solidFill>
              <a:srgbClr val="E3E9F0"/>
            </a:solidFill>
            <a:prstDash val="solid"/>
          </a:ln>
        </p:spPr>
        <p:txBody>
          <a:bodyPr/>
          <a:lstStyle/>
          <a:p>
            <a:endParaRPr lang="en-US"/>
          </a:p>
        </p:txBody>
      </p:sp>
      <p:sp>
        <p:nvSpPr>
          <p:cNvPr id="31" name="Shape 29"/>
          <p:cNvSpPr/>
          <p:nvPr/>
        </p:nvSpPr>
        <p:spPr>
          <a:xfrm>
            <a:off x="4681728" y="2212848"/>
            <a:ext cx="54864" cy="438912"/>
          </a:xfrm>
          <a:prstGeom prst="rect">
            <a:avLst/>
          </a:prstGeom>
          <a:solidFill>
            <a:srgbClr val="00849B"/>
          </a:solidFill>
          <a:ln w="12700">
            <a:solidFill>
              <a:srgbClr val="00849B"/>
            </a:solidFill>
            <a:prstDash val="solid"/>
          </a:ln>
        </p:spPr>
        <p:txBody>
          <a:bodyPr/>
          <a:lstStyle/>
          <a:p>
            <a:endParaRPr lang="en-US"/>
          </a:p>
        </p:txBody>
      </p:sp>
      <p:sp>
        <p:nvSpPr>
          <p:cNvPr id="32" name="Text 30"/>
          <p:cNvSpPr/>
          <p:nvPr/>
        </p:nvSpPr>
        <p:spPr>
          <a:xfrm>
            <a:off x="4882896" y="2212848"/>
            <a:ext cx="2468880" cy="438912"/>
          </a:xfrm>
          <a:prstGeom prst="rect">
            <a:avLst/>
          </a:prstGeom>
          <a:noFill/>
          <a:ln/>
        </p:spPr>
        <p:txBody>
          <a:bodyPr wrap="square" lIns="0" tIns="0" rIns="0" bIns="0" rtlCol="0" anchor="ctr"/>
          <a:lstStyle/>
          <a:p>
            <a:pPr marL="0" indent="0">
              <a:buNone/>
            </a:pPr>
            <a:r>
              <a:rPr lang="en-US" sz="900" b="1" kern="0" spc="60" dirty="0">
                <a:solidFill>
                  <a:srgbClr val="0B2B3C"/>
                </a:solidFill>
                <a:latin typeface="Calibri" pitchFamily="34" charset="0"/>
                <a:ea typeface="Calibri" pitchFamily="34" charset="-122"/>
                <a:cs typeface="Calibri" pitchFamily="34" charset="-120"/>
              </a:rPr>
              <a:t>IT TALKS TO THE INTERNET</a:t>
            </a:r>
            <a:endParaRPr lang="en-US" sz="900" dirty="0"/>
          </a:p>
        </p:txBody>
      </p:sp>
      <p:sp>
        <p:nvSpPr>
          <p:cNvPr id="33" name="Text 31"/>
          <p:cNvSpPr/>
          <p:nvPr/>
        </p:nvSpPr>
        <p:spPr>
          <a:xfrm>
            <a:off x="7333488" y="2212848"/>
            <a:ext cx="1243584" cy="438912"/>
          </a:xfrm>
          <a:prstGeom prst="rect">
            <a:avLst/>
          </a:prstGeom>
          <a:noFill/>
          <a:ln/>
        </p:spPr>
        <p:txBody>
          <a:bodyPr wrap="square" lIns="0" tIns="0" rIns="0" bIns="0" rtlCol="0" anchor="ctr"/>
          <a:lstStyle/>
          <a:p>
            <a:pPr marL="0" indent="0" algn="r">
              <a:buNone/>
            </a:pPr>
            <a:r>
              <a:rPr lang="en-US" sz="700" dirty="0">
                <a:solidFill>
                  <a:srgbClr val="4E6E7D"/>
                </a:solidFill>
                <a:latin typeface="Calibri" pitchFamily="34" charset="0"/>
                <a:ea typeface="Calibri" pitchFamily="34" charset="-122"/>
                <a:cs typeface="Calibri" pitchFamily="34" charset="-120"/>
              </a:rPr>
              <a:t>fetch, and waiting properly</a:t>
            </a:r>
            <a:endParaRPr lang="en-US" sz="700" dirty="0"/>
          </a:p>
        </p:txBody>
      </p:sp>
      <p:sp>
        <p:nvSpPr>
          <p:cNvPr id="34" name="Shape 32"/>
          <p:cNvSpPr/>
          <p:nvPr/>
        </p:nvSpPr>
        <p:spPr>
          <a:xfrm>
            <a:off x="4681728" y="2724912"/>
            <a:ext cx="4005072" cy="438912"/>
          </a:xfrm>
          <a:prstGeom prst="rect">
            <a:avLst/>
          </a:prstGeom>
          <a:solidFill>
            <a:srgbClr val="FFFFFF"/>
          </a:solidFill>
          <a:ln w="9525">
            <a:solidFill>
              <a:srgbClr val="E3E9F0"/>
            </a:solidFill>
            <a:prstDash val="solid"/>
          </a:ln>
        </p:spPr>
        <p:txBody>
          <a:bodyPr/>
          <a:lstStyle/>
          <a:p>
            <a:endParaRPr lang="en-US"/>
          </a:p>
        </p:txBody>
      </p:sp>
      <p:sp>
        <p:nvSpPr>
          <p:cNvPr id="35" name="Shape 33"/>
          <p:cNvSpPr/>
          <p:nvPr/>
        </p:nvSpPr>
        <p:spPr>
          <a:xfrm>
            <a:off x="4681728" y="2724912"/>
            <a:ext cx="54864" cy="438912"/>
          </a:xfrm>
          <a:prstGeom prst="rect">
            <a:avLst/>
          </a:prstGeom>
          <a:solidFill>
            <a:srgbClr val="006494"/>
          </a:solidFill>
          <a:ln w="12700">
            <a:solidFill>
              <a:srgbClr val="006494"/>
            </a:solidFill>
            <a:prstDash val="solid"/>
          </a:ln>
        </p:spPr>
        <p:txBody>
          <a:bodyPr/>
          <a:lstStyle/>
          <a:p>
            <a:endParaRPr lang="en-US"/>
          </a:p>
        </p:txBody>
      </p:sp>
      <p:sp>
        <p:nvSpPr>
          <p:cNvPr id="36" name="Text 34"/>
          <p:cNvSpPr/>
          <p:nvPr/>
        </p:nvSpPr>
        <p:spPr>
          <a:xfrm>
            <a:off x="4882896" y="2724912"/>
            <a:ext cx="2468880" cy="438912"/>
          </a:xfrm>
          <a:prstGeom prst="rect">
            <a:avLst/>
          </a:prstGeom>
          <a:noFill/>
          <a:ln/>
        </p:spPr>
        <p:txBody>
          <a:bodyPr wrap="square" lIns="0" tIns="0" rIns="0" bIns="0" rtlCol="0" anchor="ctr"/>
          <a:lstStyle/>
          <a:p>
            <a:pPr marL="0" indent="0">
              <a:buNone/>
            </a:pPr>
            <a:r>
              <a:rPr lang="en-US" sz="900" b="1" kern="0" spc="60" dirty="0">
                <a:solidFill>
                  <a:srgbClr val="0B2B3C"/>
                </a:solidFill>
                <a:latin typeface="Calibri" pitchFamily="34" charset="0"/>
                <a:ea typeface="Calibri" pitchFamily="34" charset="-122"/>
                <a:cs typeface="Calibri" pitchFamily="34" charset="-120"/>
              </a:rPr>
              <a:t>IT TALKS TO A MODEL</a:t>
            </a:r>
            <a:endParaRPr lang="en-US" sz="900" dirty="0"/>
          </a:p>
        </p:txBody>
      </p:sp>
      <p:sp>
        <p:nvSpPr>
          <p:cNvPr id="37" name="Text 35"/>
          <p:cNvSpPr/>
          <p:nvPr/>
        </p:nvSpPr>
        <p:spPr>
          <a:xfrm>
            <a:off x="7333488" y="2724912"/>
            <a:ext cx="1243584" cy="438912"/>
          </a:xfrm>
          <a:prstGeom prst="rect">
            <a:avLst/>
          </a:prstGeom>
          <a:noFill/>
          <a:ln/>
        </p:spPr>
        <p:txBody>
          <a:bodyPr wrap="square" lIns="0" tIns="0" rIns="0" bIns="0" rtlCol="0" anchor="ctr"/>
          <a:lstStyle/>
          <a:p>
            <a:pPr marL="0" indent="0" algn="r">
              <a:buNone/>
            </a:pPr>
            <a:r>
              <a:rPr lang="en-US" sz="700" dirty="0">
                <a:solidFill>
                  <a:srgbClr val="4E6E7D"/>
                </a:solidFill>
                <a:latin typeface="Calibri" pitchFamily="34" charset="0"/>
                <a:ea typeface="Calibri" pitchFamily="34" charset="-122"/>
                <a:cs typeface="Calibri" pitchFamily="34" charset="-120"/>
              </a:rPr>
              <a:t>and puts the answer on screen</a:t>
            </a:r>
            <a:endParaRPr lang="en-US" sz="700" dirty="0"/>
          </a:p>
        </p:txBody>
      </p:sp>
      <p:sp>
        <p:nvSpPr>
          <p:cNvPr id="38" name="Shape 36"/>
          <p:cNvSpPr/>
          <p:nvPr/>
        </p:nvSpPr>
        <p:spPr>
          <a:xfrm>
            <a:off x="457200" y="3291840"/>
            <a:ext cx="8229600" cy="274320"/>
          </a:xfrm>
          <a:prstGeom prst="rect">
            <a:avLst/>
          </a:prstGeom>
          <a:solidFill>
            <a:srgbClr val="FDEAEA"/>
          </a:solidFill>
          <a:ln w="12700">
            <a:solidFill>
              <a:srgbClr val="FDEAEA"/>
            </a:solidFill>
            <a:prstDash val="solid"/>
          </a:ln>
        </p:spPr>
        <p:txBody>
          <a:bodyPr/>
          <a:lstStyle/>
          <a:p>
            <a:endParaRPr lang="en-US"/>
          </a:p>
        </p:txBody>
      </p:sp>
      <p:sp>
        <p:nvSpPr>
          <p:cNvPr id="39" name="Text 37"/>
          <p:cNvSpPr/>
          <p:nvPr/>
        </p:nvSpPr>
        <p:spPr>
          <a:xfrm>
            <a:off x="566928" y="3291840"/>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If your machine is not green from yesterday, say so NOW. Today is the last day catching up is cheap.</a:t>
            </a:r>
            <a:endParaRPr lang="en-US" sz="800" dirty="0"/>
          </a:p>
        </p:txBody>
      </p:sp>
      <p:sp>
        <p:nvSpPr>
          <p:cNvPr id="40" name="Text 38"/>
          <p:cNvSpPr/>
          <p:nvPr/>
        </p:nvSpPr>
        <p:spPr>
          <a:xfrm>
            <a:off x="457200" y="3712464"/>
            <a:ext cx="8229600" cy="402336"/>
          </a:xfrm>
          <a:prstGeom prst="rect">
            <a:avLst/>
          </a:prstGeom>
          <a:noFill/>
          <a:ln/>
        </p:spPr>
        <p:txBody>
          <a:bodyPr wrap="square" lIns="0" tIns="0" rIns="0" bIns="0" rtlCol="0" anchor="t"/>
          <a:lstStyle/>
          <a:p>
            <a:pPr marL="0" indent="0">
              <a:lnSpc>
                <a:spcPct val="105000"/>
              </a:lnSpc>
              <a:buNone/>
            </a:pPr>
            <a:r>
              <a:rPr lang="en-US" sz="950" dirty="0">
                <a:solidFill>
                  <a:srgbClr val="4E6E7D"/>
                </a:solidFill>
                <a:latin typeface="Calibri" pitchFamily="34" charset="0"/>
                <a:ea typeface="Calibri" pitchFamily="34" charset="-122"/>
                <a:cs typeface="Calibri" pitchFamily="34" charset="-120"/>
              </a:rPr>
              <a:t>Everything today happens inside your own app, on your own records. There is no separate practice project — the exercises are your project.</a:t>
            </a:r>
            <a:endParaRPr lang="en-US" sz="950" dirty="0"/>
          </a:p>
        </p:txBody>
      </p:sp>
      <p:sp>
        <p:nvSpPr>
          <p:cNvPr id="41" name="Shape 39"/>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42" name="Shape 40"/>
          <p:cNvSpPr/>
          <p:nvPr/>
        </p:nvSpPr>
        <p:spPr>
          <a:xfrm>
            <a:off x="457200" y="4334256"/>
            <a:ext cx="54864" cy="512064"/>
          </a:xfrm>
          <a:prstGeom prst="rect">
            <a:avLst/>
          </a:prstGeom>
          <a:solidFill>
            <a:srgbClr val="0087C8"/>
          </a:solidFill>
          <a:ln w="12700">
            <a:solidFill>
              <a:srgbClr val="0087C8"/>
            </a:solidFill>
            <a:prstDash val="solid"/>
          </a:ln>
        </p:spPr>
        <p:txBody>
          <a:bodyPr/>
          <a:lstStyle/>
          <a:p>
            <a:endParaRPr lang="en-US"/>
          </a:p>
        </p:txBody>
      </p:sp>
      <p:sp>
        <p:nvSpPr>
          <p:cNvPr id="43" name="Text 4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By the end of Block 3 your app does something that would have been a research project ten years ago.</a:t>
            </a:r>
            <a:endParaRPr lang="en-US" sz="1000" dirty="0"/>
          </a:p>
        </p:txBody>
      </p:sp>
    </p:spTree>
    <p:extLst>
      <p:ext uri="{BB962C8B-B14F-4D97-AF65-F5344CB8AC3E}">
        <p14:creationId xmlns:p14="http://schemas.microsoft.com/office/powerpoint/2010/main" val="4077648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C8"/>
          </a:solidFill>
          <a:ln w="12700">
            <a:solidFill>
              <a:srgbClr val="0087C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The JavaScript This App Actually Needs</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Text 4"/>
          <p:cNvSpPr/>
          <p:nvPr/>
        </p:nvSpPr>
        <p:spPr>
          <a:xfrm>
            <a:off x="457200" y="969264"/>
            <a:ext cx="77724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YOU HAVE SEEN ALL OF THESE. HERE IS WHAT EACH ONE IS FOR, TODAY.</a:t>
            </a:r>
            <a:endParaRPr lang="en-US" sz="800" dirty="0"/>
          </a:p>
        </p:txBody>
      </p:sp>
      <p:sp>
        <p:nvSpPr>
          <p:cNvPr id="7" name="Shape 5"/>
          <p:cNvSpPr/>
          <p:nvPr/>
        </p:nvSpPr>
        <p:spPr>
          <a:xfrm>
            <a:off x="457200" y="1207008"/>
            <a:ext cx="2066544" cy="256032"/>
          </a:xfrm>
          <a:prstGeom prst="rect">
            <a:avLst/>
          </a:prstGeom>
          <a:solidFill>
            <a:srgbClr val="123C52"/>
          </a:solidFill>
          <a:ln w="12700">
            <a:solidFill>
              <a:srgbClr val="123C52"/>
            </a:solidFill>
            <a:prstDash val="solid"/>
          </a:ln>
        </p:spPr>
        <p:txBody>
          <a:bodyPr/>
          <a:lstStyle/>
          <a:p>
            <a:endParaRPr lang="en-US"/>
          </a:p>
        </p:txBody>
      </p:sp>
      <p:sp>
        <p:nvSpPr>
          <p:cNvPr id="8" name="Text 6"/>
          <p:cNvSpPr/>
          <p:nvPr/>
        </p:nvSpPr>
        <p:spPr>
          <a:xfrm>
            <a:off x="548640" y="1207008"/>
            <a:ext cx="190195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YOU WRITE</a:t>
            </a:r>
            <a:endParaRPr lang="en-US" sz="700" dirty="0"/>
          </a:p>
        </p:txBody>
      </p:sp>
      <p:sp>
        <p:nvSpPr>
          <p:cNvPr id="9" name="Shape 7"/>
          <p:cNvSpPr/>
          <p:nvPr/>
        </p:nvSpPr>
        <p:spPr>
          <a:xfrm>
            <a:off x="2560320" y="1207008"/>
            <a:ext cx="2798064" cy="256032"/>
          </a:xfrm>
          <a:prstGeom prst="rect">
            <a:avLst/>
          </a:prstGeom>
          <a:solidFill>
            <a:srgbClr val="123C52"/>
          </a:solidFill>
          <a:ln w="12700">
            <a:solidFill>
              <a:srgbClr val="123C52"/>
            </a:solidFill>
            <a:prstDash val="solid"/>
          </a:ln>
        </p:spPr>
        <p:txBody>
          <a:bodyPr/>
          <a:lstStyle/>
          <a:p>
            <a:endParaRPr lang="en-US"/>
          </a:p>
        </p:txBody>
      </p:sp>
      <p:sp>
        <p:nvSpPr>
          <p:cNvPr id="10" name="Text 8"/>
          <p:cNvSpPr/>
          <p:nvPr/>
        </p:nvSpPr>
        <p:spPr>
          <a:xfrm>
            <a:off x="2651760" y="1207008"/>
            <a:ext cx="263347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IT DOES</a:t>
            </a:r>
            <a:endParaRPr lang="en-US" sz="700" dirty="0"/>
          </a:p>
        </p:txBody>
      </p:sp>
      <p:sp>
        <p:nvSpPr>
          <p:cNvPr id="11" name="Shape 9"/>
          <p:cNvSpPr/>
          <p:nvPr/>
        </p:nvSpPr>
        <p:spPr>
          <a:xfrm>
            <a:off x="5394960" y="1207008"/>
            <a:ext cx="3255264" cy="256032"/>
          </a:xfrm>
          <a:prstGeom prst="rect">
            <a:avLst/>
          </a:prstGeom>
          <a:solidFill>
            <a:srgbClr val="123C52"/>
          </a:solidFill>
          <a:ln w="12700">
            <a:solidFill>
              <a:srgbClr val="123C52"/>
            </a:solidFill>
            <a:prstDash val="solid"/>
          </a:ln>
        </p:spPr>
        <p:txBody>
          <a:bodyPr/>
          <a:lstStyle/>
          <a:p>
            <a:endParaRPr lang="en-US"/>
          </a:p>
        </p:txBody>
      </p:sp>
      <p:sp>
        <p:nvSpPr>
          <p:cNvPr id="12" name="Text 10"/>
          <p:cNvSpPr/>
          <p:nvPr/>
        </p:nvSpPr>
        <p:spPr>
          <a:xfrm>
            <a:off x="5486400" y="1207008"/>
            <a:ext cx="309067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WHERE IT SHOWS UP IN YOUR APP</a:t>
            </a:r>
            <a:endParaRPr lang="en-US" sz="700" dirty="0"/>
          </a:p>
        </p:txBody>
      </p:sp>
      <p:sp>
        <p:nvSpPr>
          <p:cNvPr id="13" name="Shape 11"/>
          <p:cNvSpPr/>
          <p:nvPr/>
        </p:nvSpPr>
        <p:spPr>
          <a:xfrm>
            <a:off x="457200" y="1499616"/>
            <a:ext cx="2066544" cy="292608"/>
          </a:xfrm>
          <a:prstGeom prst="rect">
            <a:avLst/>
          </a:prstGeom>
          <a:solidFill>
            <a:srgbClr val="EAF6FD"/>
          </a:solidFill>
          <a:ln w="6350">
            <a:solidFill>
              <a:srgbClr val="E3E9F0"/>
            </a:solidFill>
            <a:prstDash val="solid"/>
          </a:ln>
        </p:spPr>
        <p:txBody>
          <a:bodyPr/>
          <a:lstStyle/>
          <a:p>
            <a:endParaRPr lang="en-US"/>
          </a:p>
        </p:txBody>
      </p:sp>
      <p:sp>
        <p:nvSpPr>
          <p:cNvPr id="14" name="Text 12"/>
          <p:cNvSpPr/>
          <p:nvPr/>
        </p:nvSpPr>
        <p:spPr>
          <a:xfrm>
            <a:off x="548640" y="1499616"/>
            <a:ext cx="1901952" cy="292608"/>
          </a:xfrm>
          <a:prstGeom prst="rect">
            <a:avLst/>
          </a:prstGeom>
          <a:noFill/>
          <a:ln/>
        </p:spPr>
        <p:txBody>
          <a:bodyPr wrap="square" lIns="0" tIns="0" rIns="0" bIns="0" rtlCol="0" anchor="ctr"/>
          <a:lstStyle/>
          <a:p>
            <a:pPr marL="0" indent="0">
              <a:buNone/>
            </a:pPr>
            <a:r>
              <a:rPr lang="en-US" sz="750" b="1" dirty="0">
                <a:solidFill>
                  <a:srgbClr val="0077A8"/>
                </a:solidFill>
                <a:latin typeface="Courier New" pitchFamily="34" charset="0"/>
                <a:ea typeface="Courier New" pitchFamily="34" charset="-122"/>
                <a:cs typeface="Courier New" pitchFamily="34" charset="-120"/>
              </a:rPr>
              <a:t>const / let</a:t>
            </a:r>
            <a:endParaRPr lang="en-US" sz="750" dirty="0"/>
          </a:p>
        </p:txBody>
      </p:sp>
      <p:sp>
        <p:nvSpPr>
          <p:cNvPr id="15" name="Shape 13"/>
          <p:cNvSpPr/>
          <p:nvPr/>
        </p:nvSpPr>
        <p:spPr>
          <a:xfrm>
            <a:off x="2560320" y="1499616"/>
            <a:ext cx="2798064" cy="292608"/>
          </a:xfrm>
          <a:prstGeom prst="rect">
            <a:avLst/>
          </a:prstGeom>
          <a:solidFill>
            <a:srgbClr val="EAF6FD"/>
          </a:solidFill>
          <a:ln w="6350">
            <a:solidFill>
              <a:srgbClr val="E3E9F0"/>
            </a:solidFill>
            <a:prstDash val="solid"/>
          </a:ln>
        </p:spPr>
        <p:txBody>
          <a:bodyPr/>
          <a:lstStyle/>
          <a:p>
            <a:endParaRPr lang="en-US"/>
          </a:p>
        </p:txBody>
      </p:sp>
      <p:sp>
        <p:nvSpPr>
          <p:cNvPr id="16" name="Text 14"/>
          <p:cNvSpPr/>
          <p:nvPr/>
        </p:nvSpPr>
        <p:spPr>
          <a:xfrm>
            <a:off x="2651760" y="1499616"/>
            <a:ext cx="26334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names a value</a:t>
            </a:r>
            <a:endParaRPr lang="en-US" sz="850" dirty="0"/>
          </a:p>
        </p:txBody>
      </p:sp>
      <p:sp>
        <p:nvSpPr>
          <p:cNvPr id="17" name="Shape 15"/>
          <p:cNvSpPr/>
          <p:nvPr/>
        </p:nvSpPr>
        <p:spPr>
          <a:xfrm>
            <a:off x="5394960" y="1499616"/>
            <a:ext cx="3255264" cy="292608"/>
          </a:xfrm>
          <a:prstGeom prst="rect">
            <a:avLst/>
          </a:prstGeom>
          <a:solidFill>
            <a:srgbClr val="EAF6FD"/>
          </a:solidFill>
          <a:ln w="6350">
            <a:solidFill>
              <a:srgbClr val="E3E9F0"/>
            </a:solidFill>
            <a:prstDash val="solid"/>
          </a:ln>
        </p:spPr>
        <p:txBody>
          <a:bodyPr/>
          <a:lstStyle/>
          <a:p>
            <a:endParaRPr lang="en-US"/>
          </a:p>
        </p:txBody>
      </p:sp>
      <p:sp>
        <p:nvSpPr>
          <p:cNvPr id="18" name="Text 16"/>
          <p:cNvSpPr/>
          <p:nvPr/>
        </p:nvSpPr>
        <p:spPr>
          <a:xfrm>
            <a:off x="5486400" y="1499616"/>
            <a:ext cx="30906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const by default. let only when it genuinely changes.</a:t>
            </a:r>
            <a:endParaRPr lang="en-US" sz="850" dirty="0"/>
          </a:p>
        </p:txBody>
      </p:sp>
      <p:sp>
        <p:nvSpPr>
          <p:cNvPr id="19" name="Shape 17"/>
          <p:cNvSpPr/>
          <p:nvPr/>
        </p:nvSpPr>
        <p:spPr>
          <a:xfrm>
            <a:off x="457200" y="1810512"/>
            <a:ext cx="2066544" cy="292608"/>
          </a:xfrm>
          <a:prstGeom prst="rect">
            <a:avLst/>
          </a:prstGeom>
          <a:solidFill>
            <a:srgbClr val="FFFFFF"/>
          </a:solidFill>
          <a:ln w="6350">
            <a:solidFill>
              <a:srgbClr val="E3E9F0"/>
            </a:solidFill>
            <a:prstDash val="solid"/>
          </a:ln>
        </p:spPr>
        <p:txBody>
          <a:bodyPr/>
          <a:lstStyle/>
          <a:p>
            <a:endParaRPr lang="en-US"/>
          </a:p>
        </p:txBody>
      </p:sp>
      <p:sp>
        <p:nvSpPr>
          <p:cNvPr id="20" name="Text 18"/>
          <p:cNvSpPr/>
          <p:nvPr/>
        </p:nvSpPr>
        <p:spPr>
          <a:xfrm>
            <a:off x="548640" y="1810512"/>
            <a:ext cx="1901952" cy="292608"/>
          </a:xfrm>
          <a:prstGeom prst="rect">
            <a:avLst/>
          </a:prstGeom>
          <a:noFill/>
          <a:ln/>
        </p:spPr>
        <p:txBody>
          <a:bodyPr wrap="square" lIns="0" tIns="0" rIns="0" bIns="0" rtlCol="0" anchor="ctr"/>
          <a:lstStyle/>
          <a:p>
            <a:pPr marL="0" indent="0">
              <a:buNone/>
            </a:pPr>
            <a:r>
              <a:rPr lang="en-US" sz="750" b="1" dirty="0">
                <a:solidFill>
                  <a:srgbClr val="0077A8"/>
                </a:solidFill>
                <a:latin typeface="Courier New" pitchFamily="34" charset="0"/>
                <a:ea typeface="Courier New" pitchFamily="34" charset="-122"/>
                <a:cs typeface="Courier New" pitchFamily="34" charset="-120"/>
              </a:rPr>
              <a:t>`${ }` literals</a:t>
            </a:r>
            <a:endParaRPr lang="en-US" sz="750" dirty="0"/>
          </a:p>
        </p:txBody>
      </p:sp>
      <p:sp>
        <p:nvSpPr>
          <p:cNvPr id="21" name="Shape 19"/>
          <p:cNvSpPr/>
          <p:nvPr/>
        </p:nvSpPr>
        <p:spPr>
          <a:xfrm>
            <a:off x="2560320" y="1810512"/>
            <a:ext cx="2798064" cy="292608"/>
          </a:xfrm>
          <a:prstGeom prst="rect">
            <a:avLst/>
          </a:prstGeom>
          <a:solidFill>
            <a:srgbClr val="FFFFFF"/>
          </a:solidFill>
          <a:ln w="6350">
            <a:solidFill>
              <a:srgbClr val="E3E9F0"/>
            </a:solidFill>
            <a:prstDash val="solid"/>
          </a:ln>
        </p:spPr>
        <p:txBody>
          <a:bodyPr/>
          <a:lstStyle/>
          <a:p>
            <a:endParaRPr lang="en-US"/>
          </a:p>
        </p:txBody>
      </p:sp>
      <p:sp>
        <p:nvSpPr>
          <p:cNvPr id="22" name="Text 20"/>
          <p:cNvSpPr/>
          <p:nvPr/>
        </p:nvSpPr>
        <p:spPr>
          <a:xfrm>
            <a:off x="2651760" y="1810512"/>
            <a:ext cx="26334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builds a string from values</a:t>
            </a:r>
            <a:endParaRPr lang="en-US" sz="850" dirty="0"/>
          </a:p>
        </p:txBody>
      </p:sp>
      <p:sp>
        <p:nvSpPr>
          <p:cNvPr id="23" name="Shape 21"/>
          <p:cNvSpPr/>
          <p:nvPr/>
        </p:nvSpPr>
        <p:spPr>
          <a:xfrm>
            <a:off x="5394960" y="1810512"/>
            <a:ext cx="3255264" cy="292608"/>
          </a:xfrm>
          <a:prstGeom prst="rect">
            <a:avLst/>
          </a:prstGeom>
          <a:solidFill>
            <a:srgbClr val="FFFFFF"/>
          </a:solidFill>
          <a:ln w="6350">
            <a:solidFill>
              <a:srgbClr val="E3E9F0"/>
            </a:solidFill>
            <a:prstDash val="solid"/>
          </a:ln>
        </p:spPr>
        <p:txBody>
          <a:bodyPr/>
          <a:lstStyle/>
          <a:p>
            <a:endParaRPr lang="en-US"/>
          </a:p>
        </p:txBody>
      </p:sp>
      <p:sp>
        <p:nvSpPr>
          <p:cNvPr id="24" name="Text 22"/>
          <p:cNvSpPr/>
          <p:nvPr/>
        </p:nvSpPr>
        <p:spPr>
          <a:xfrm>
            <a:off x="5486400" y="1810512"/>
            <a:ext cx="30906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turning one record object into one line of HTML</a:t>
            </a:r>
            <a:endParaRPr lang="en-US" sz="850" dirty="0"/>
          </a:p>
        </p:txBody>
      </p:sp>
      <p:sp>
        <p:nvSpPr>
          <p:cNvPr id="25" name="Shape 23"/>
          <p:cNvSpPr/>
          <p:nvPr/>
        </p:nvSpPr>
        <p:spPr>
          <a:xfrm>
            <a:off x="457200" y="2121408"/>
            <a:ext cx="2066544" cy="292608"/>
          </a:xfrm>
          <a:prstGeom prst="rect">
            <a:avLst/>
          </a:prstGeom>
          <a:solidFill>
            <a:srgbClr val="EAF6FD"/>
          </a:solidFill>
          <a:ln w="6350">
            <a:solidFill>
              <a:srgbClr val="E3E9F0"/>
            </a:solidFill>
            <a:prstDash val="solid"/>
          </a:ln>
        </p:spPr>
        <p:txBody>
          <a:bodyPr/>
          <a:lstStyle/>
          <a:p>
            <a:endParaRPr lang="en-US"/>
          </a:p>
        </p:txBody>
      </p:sp>
      <p:sp>
        <p:nvSpPr>
          <p:cNvPr id="26" name="Text 24"/>
          <p:cNvSpPr/>
          <p:nvPr/>
        </p:nvSpPr>
        <p:spPr>
          <a:xfrm>
            <a:off x="548640" y="2121408"/>
            <a:ext cx="1901952" cy="292608"/>
          </a:xfrm>
          <a:prstGeom prst="rect">
            <a:avLst/>
          </a:prstGeom>
          <a:noFill/>
          <a:ln/>
        </p:spPr>
        <p:txBody>
          <a:bodyPr wrap="square" lIns="0" tIns="0" rIns="0" bIns="0" rtlCol="0" anchor="ctr"/>
          <a:lstStyle/>
          <a:p>
            <a:pPr marL="0" indent="0">
              <a:buNone/>
            </a:pPr>
            <a:r>
              <a:rPr lang="en-US" sz="750" b="1" dirty="0">
                <a:solidFill>
                  <a:srgbClr val="0077A8"/>
                </a:solidFill>
                <a:latin typeface="Courier New" pitchFamily="34" charset="0"/>
                <a:ea typeface="Courier New" pitchFamily="34" charset="-122"/>
                <a:cs typeface="Courier New" pitchFamily="34" charset="-120"/>
              </a:rPr>
              <a:t>.map()</a:t>
            </a:r>
            <a:endParaRPr lang="en-US" sz="750" dirty="0"/>
          </a:p>
        </p:txBody>
      </p:sp>
      <p:sp>
        <p:nvSpPr>
          <p:cNvPr id="27" name="Shape 25"/>
          <p:cNvSpPr/>
          <p:nvPr/>
        </p:nvSpPr>
        <p:spPr>
          <a:xfrm>
            <a:off x="2560320" y="2121408"/>
            <a:ext cx="2798064" cy="292608"/>
          </a:xfrm>
          <a:prstGeom prst="rect">
            <a:avLst/>
          </a:prstGeom>
          <a:solidFill>
            <a:srgbClr val="EAF6FD"/>
          </a:solidFill>
          <a:ln w="6350">
            <a:solidFill>
              <a:srgbClr val="E3E9F0"/>
            </a:solidFill>
            <a:prstDash val="solid"/>
          </a:ln>
        </p:spPr>
        <p:txBody>
          <a:bodyPr/>
          <a:lstStyle/>
          <a:p>
            <a:endParaRPr lang="en-US"/>
          </a:p>
        </p:txBody>
      </p:sp>
      <p:sp>
        <p:nvSpPr>
          <p:cNvPr id="28" name="Text 26"/>
          <p:cNvSpPr/>
          <p:nvPr/>
        </p:nvSpPr>
        <p:spPr>
          <a:xfrm>
            <a:off x="2651760" y="2121408"/>
            <a:ext cx="26334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array in, array out</a:t>
            </a:r>
            <a:endParaRPr lang="en-US" sz="850" dirty="0"/>
          </a:p>
        </p:txBody>
      </p:sp>
      <p:sp>
        <p:nvSpPr>
          <p:cNvPr id="29" name="Shape 27"/>
          <p:cNvSpPr/>
          <p:nvPr/>
        </p:nvSpPr>
        <p:spPr>
          <a:xfrm>
            <a:off x="5394960" y="2121408"/>
            <a:ext cx="3255264" cy="292608"/>
          </a:xfrm>
          <a:prstGeom prst="rect">
            <a:avLst/>
          </a:prstGeom>
          <a:solidFill>
            <a:srgbClr val="EAF6FD"/>
          </a:solidFill>
          <a:ln w="6350">
            <a:solidFill>
              <a:srgbClr val="E3E9F0"/>
            </a:solidFill>
            <a:prstDash val="solid"/>
          </a:ln>
        </p:spPr>
        <p:txBody>
          <a:bodyPr/>
          <a:lstStyle/>
          <a:p>
            <a:endParaRPr lang="en-US"/>
          </a:p>
        </p:txBody>
      </p:sp>
      <p:sp>
        <p:nvSpPr>
          <p:cNvPr id="30" name="Text 28"/>
          <p:cNvSpPr/>
          <p:nvPr/>
        </p:nvSpPr>
        <p:spPr>
          <a:xfrm>
            <a:off x="5486400" y="2121408"/>
            <a:ext cx="30906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your whole list: records → HTML, in one line</a:t>
            </a:r>
            <a:endParaRPr lang="en-US" sz="850" dirty="0"/>
          </a:p>
        </p:txBody>
      </p:sp>
      <p:sp>
        <p:nvSpPr>
          <p:cNvPr id="31" name="Shape 29"/>
          <p:cNvSpPr/>
          <p:nvPr/>
        </p:nvSpPr>
        <p:spPr>
          <a:xfrm>
            <a:off x="457200" y="2432304"/>
            <a:ext cx="2066544" cy="292608"/>
          </a:xfrm>
          <a:prstGeom prst="rect">
            <a:avLst/>
          </a:prstGeom>
          <a:solidFill>
            <a:srgbClr val="FFFFFF"/>
          </a:solidFill>
          <a:ln w="6350">
            <a:solidFill>
              <a:srgbClr val="E3E9F0"/>
            </a:solidFill>
            <a:prstDash val="solid"/>
          </a:ln>
        </p:spPr>
        <p:txBody>
          <a:bodyPr/>
          <a:lstStyle/>
          <a:p>
            <a:endParaRPr lang="en-US"/>
          </a:p>
        </p:txBody>
      </p:sp>
      <p:sp>
        <p:nvSpPr>
          <p:cNvPr id="32" name="Text 30"/>
          <p:cNvSpPr/>
          <p:nvPr/>
        </p:nvSpPr>
        <p:spPr>
          <a:xfrm>
            <a:off x="548640" y="2432304"/>
            <a:ext cx="1901952" cy="292608"/>
          </a:xfrm>
          <a:prstGeom prst="rect">
            <a:avLst/>
          </a:prstGeom>
          <a:noFill/>
          <a:ln/>
        </p:spPr>
        <p:txBody>
          <a:bodyPr wrap="square" lIns="0" tIns="0" rIns="0" bIns="0" rtlCol="0" anchor="ctr"/>
          <a:lstStyle/>
          <a:p>
            <a:pPr marL="0" indent="0">
              <a:buNone/>
            </a:pPr>
            <a:r>
              <a:rPr lang="en-US" sz="750" b="1" dirty="0">
                <a:solidFill>
                  <a:srgbClr val="0077A8"/>
                </a:solidFill>
                <a:latin typeface="Courier New" pitchFamily="34" charset="0"/>
                <a:ea typeface="Courier New" pitchFamily="34" charset="-122"/>
                <a:cs typeface="Courier New" pitchFamily="34" charset="-120"/>
              </a:rPr>
              <a:t>.filter()</a:t>
            </a:r>
            <a:endParaRPr lang="en-US" sz="750" dirty="0"/>
          </a:p>
        </p:txBody>
      </p:sp>
      <p:sp>
        <p:nvSpPr>
          <p:cNvPr id="33" name="Shape 31"/>
          <p:cNvSpPr/>
          <p:nvPr/>
        </p:nvSpPr>
        <p:spPr>
          <a:xfrm>
            <a:off x="2560320" y="2432304"/>
            <a:ext cx="2798064" cy="292608"/>
          </a:xfrm>
          <a:prstGeom prst="rect">
            <a:avLst/>
          </a:prstGeom>
          <a:solidFill>
            <a:srgbClr val="FFFFFF"/>
          </a:solidFill>
          <a:ln w="6350">
            <a:solidFill>
              <a:srgbClr val="E3E9F0"/>
            </a:solidFill>
            <a:prstDash val="solid"/>
          </a:ln>
        </p:spPr>
        <p:txBody>
          <a:bodyPr/>
          <a:lstStyle/>
          <a:p>
            <a:endParaRPr lang="en-US"/>
          </a:p>
        </p:txBody>
      </p:sp>
      <p:sp>
        <p:nvSpPr>
          <p:cNvPr id="34" name="Text 32"/>
          <p:cNvSpPr/>
          <p:nvPr/>
        </p:nvSpPr>
        <p:spPr>
          <a:xfrm>
            <a:off x="2651760" y="2432304"/>
            <a:ext cx="26334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keeps what matches</a:t>
            </a:r>
            <a:endParaRPr lang="en-US" sz="850" dirty="0"/>
          </a:p>
        </p:txBody>
      </p:sp>
      <p:sp>
        <p:nvSpPr>
          <p:cNvPr id="35" name="Shape 33"/>
          <p:cNvSpPr/>
          <p:nvPr/>
        </p:nvSpPr>
        <p:spPr>
          <a:xfrm>
            <a:off x="5394960" y="2432304"/>
            <a:ext cx="3255264" cy="292608"/>
          </a:xfrm>
          <a:prstGeom prst="rect">
            <a:avLst/>
          </a:prstGeom>
          <a:solidFill>
            <a:srgbClr val="FFFFFF"/>
          </a:solidFill>
          <a:ln w="6350">
            <a:solidFill>
              <a:srgbClr val="E3E9F0"/>
            </a:solidFill>
            <a:prstDash val="solid"/>
          </a:ln>
        </p:spPr>
        <p:txBody>
          <a:bodyPr/>
          <a:lstStyle/>
          <a:p>
            <a:endParaRPr lang="en-US"/>
          </a:p>
        </p:txBody>
      </p:sp>
      <p:sp>
        <p:nvSpPr>
          <p:cNvPr id="36" name="Text 34"/>
          <p:cNvSpPr/>
          <p:nvPr/>
        </p:nvSpPr>
        <p:spPr>
          <a:xfrm>
            <a:off x="5486400" y="2432304"/>
            <a:ext cx="30906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the search box, and filtering by tag</a:t>
            </a:r>
            <a:endParaRPr lang="en-US" sz="850" dirty="0"/>
          </a:p>
        </p:txBody>
      </p:sp>
      <p:sp>
        <p:nvSpPr>
          <p:cNvPr id="37" name="Shape 35"/>
          <p:cNvSpPr/>
          <p:nvPr/>
        </p:nvSpPr>
        <p:spPr>
          <a:xfrm>
            <a:off x="457200" y="2743200"/>
            <a:ext cx="2066544" cy="292608"/>
          </a:xfrm>
          <a:prstGeom prst="rect">
            <a:avLst/>
          </a:prstGeom>
          <a:solidFill>
            <a:srgbClr val="EAF6FD"/>
          </a:solidFill>
          <a:ln w="6350">
            <a:solidFill>
              <a:srgbClr val="E3E9F0"/>
            </a:solidFill>
            <a:prstDash val="solid"/>
          </a:ln>
        </p:spPr>
        <p:txBody>
          <a:bodyPr/>
          <a:lstStyle/>
          <a:p>
            <a:endParaRPr lang="en-US"/>
          </a:p>
        </p:txBody>
      </p:sp>
      <p:sp>
        <p:nvSpPr>
          <p:cNvPr id="38" name="Text 36"/>
          <p:cNvSpPr/>
          <p:nvPr/>
        </p:nvSpPr>
        <p:spPr>
          <a:xfrm>
            <a:off x="548640" y="2743200"/>
            <a:ext cx="1901952" cy="292608"/>
          </a:xfrm>
          <a:prstGeom prst="rect">
            <a:avLst/>
          </a:prstGeom>
          <a:noFill/>
          <a:ln/>
        </p:spPr>
        <p:txBody>
          <a:bodyPr wrap="square" lIns="0" tIns="0" rIns="0" bIns="0" rtlCol="0" anchor="ctr"/>
          <a:lstStyle/>
          <a:p>
            <a:pPr marL="0" indent="0">
              <a:buNone/>
            </a:pPr>
            <a:r>
              <a:rPr lang="en-US" sz="750" b="1" dirty="0">
                <a:solidFill>
                  <a:srgbClr val="0077A8"/>
                </a:solidFill>
                <a:latin typeface="Courier New" pitchFamily="34" charset="0"/>
                <a:ea typeface="Courier New" pitchFamily="34" charset="-122"/>
                <a:cs typeface="Courier New" pitchFamily="34" charset="-120"/>
              </a:rPr>
              <a:t>objects &amp; dots</a:t>
            </a:r>
            <a:endParaRPr lang="en-US" sz="750" dirty="0"/>
          </a:p>
        </p:txBody>
      </p:sp>
      <p:sp>
        <p:nvSpPr>
          <p:cNvPr id="39" name="Shape 37"/>
          <p:cNvSpPr/>
          <p:nvPr/>
        </p:nvSpPr>
        <p:spPr>
          <a:xfrm>
            <a:off x="2560320" y="2743200"/>
            <a:ext cx="2798064" cy="292608"/>
          </a:xfrm>
          <a:prstGeom prst="rect">
            <a:avLst/>
          </a:prstGeom>
          <a:solidFill>
            <a:srgbClr val="EAF6FD"/>
          </a:solidFill>
          <a:ln w="6350">
            <a:solidFill>
              <a:srgbClr val="E3E9F0"/>
            </a:solidFill>
            <a:prstDash val="solid"/>
          </a:ln>
        </p:spPr>
        <p:txBody>
          <a:bodyPr/>
          <a:lstStyle/>
          <a:p>
            <a:endParaRPr lang="en-US"/>
          </a:p>
        </p:txBody>
      </p:sp>
      <p:sp>
        <p:nvSpPr>
          <p:cNvPr id="40" name="Text 38"/>
          <p:cNvSpPr/>
          <p:nvPr/>
        </p:nvSpPr>
        <p:spPr>
          <a:xfrm>
            <a:off x="2651760" y="2743200"/>
            <a:ext cx="26334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grouped, named values</a:t>
            </a:r>
            <a:endParaRPr lang="en-US" sz="850" dirty="0"/>
          </a:p>
        </p:txBody>
      </p:sp>
      <p:sp>
        <p:nvSpPr>
          <p:cNvPr id="41" name="Shape 39"/>
          <p:cNvSpPr/>
          <p:nvPr/>
        </p:nvSpPr>
        <p:spPr>
          <a:xfrm>
            <a:off x="5394960" y="2743200"/>
            <a:ext cx="3255264" cy="292608"/>
          </a:xfrm>
          <a:prstGeom prst="rect">
            <a:avLst/>
          </a:prstGeom>
          <a:solidFill>
            <a:srgbClr val="EAF6FD"/>
          </a:solidFill>
          <a:ln w="6350">
            <a:solidFill>
              <a:srgbClr val="E3E9F0"/>
            </a:solidFill>
            <a:prstDash val="solid"/>
          </a:ln>
        </p:spPr>
        <p:txBody>
          <a:bodyPr/>
          <a:lstStyle/>
          <a:p>
            <a:endParaRPr lang="en-US"/>
          </a:p>
        </p:txBody>
      </p:sp>
      <p:sp>
        <p:nvSpPr>
          <p:cNvPr id="42" name="Text 40"/>
          <p:cNvSpPr/>
          <p:nvPr/>
        </p:nvSpPr>
        <p:spPr>
          <a:xfrm>
            <a:off x="5486400" y="2743200"/>
            <a:ext cx="30906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one record IS an object: r.title, r.body, r.tags</a:t>
            </a:r>
            <a:endParaRPr lang="en-US" sz="850" dirty="0"/>
          </a:p>
        </p:txBody>
      </p:sp>
      <p:sp>
        <p:nvSpPr>
          <p:cNvPr id="43" name="Shape 41"/>
          <p:cNvSpPr/>
          <p:nvPr/>
        </p:nvSpPr>
        <p:spPr>
          <a:xfrm>
            <a:off x="457200" y="3054096"/>
            <a:ext cx="2066544" cy="292608"/>
          </a:xfrm>
          <a:prstGeom prst="rect">
            <a:avLst/>
          </a:prstGeom>
          <a:solidFill>
            <a:srgbClr val="FFFFFF"/>
          </a:solidFill>
          <a:ln w="6350">
            <a:solidFill>
              <a:srgbClr val="E3E9F0"/>
            </a:solidFill>
            <a:prstDash val="solid"/>
          </a:ln>
        </p:spPr>
        <p:txBody>
          <a:bodyPr/>
          <a:lstStyle/>
          <a:p>
            <a:endParaRPr lang="en-US"/>
          </a:p>
        </p:txBody>
      </p:sp>
      <p:sp>
        <p:nvSpPr>
          <p:cNvPr id="44" name="Text 42"/>
          <p:cNvSpPr/>
          <p:nvPr/>
        </p:nvSpPr>
        <p:spPr>
          <a:xfrm>
            <a:off x="548640" y="3054096"/>
            <a:ext cx="1901952" cy="292608"/>
          </a:xfrm>
          <a:prstGeom prst="rect">
            <a:avLst/>
          </a:prstGeom>
          <a:noFill/>
          <a:ln/>
        </p:spPr>
        <p:txBody>
          <a:bodyPr wrap="square" lIns="0" tIns="0" rIns="0" bIns="0" rtlCol="0" anchor="ctr"/>
          <a:lstStyle/>
          <a:p>
            <a:pPr marL="0" indent="0">
              <a:buNone/>
            </a:pPr>
            <a:r>
              <a:rPr lang="en-US" sz="750" b="1" dirty="0">
                <a:solidFill>
                  <a:srgbClr val="0077A8"/>
                </a:solidFill>
                <a:latin typeface="Courier New" pitchFamily="34" charset="0"/>
                <a:ea typeface="Courier New" pitchFamily="34" charset="-122"/>
                <a:cs typeface="Courier New" pitchFamily="34" charset="-120"/>
              </a:rPr>
              <a:t>functions</a:t>
            </a:r>
            <a:endParaRPr lang="en-US" sz="750" dirty="0"/>
          </a:p>
        </p:txBody>
      </p:sp>
      <p:sp>
        <p:nvSpPr>
          <p:cNvPr id="45" name="Shape 43"/>
          <p:cNvSpPr/>
          <p:nvPr/>
        </p:nvSpPr>
        <p:spPr>
          <a:xfrm>
            <a:off x="2560320" y="3054096"/>
            <a:ext cx="2798064" cy="292608"/>
          </a:xfrm>
          <a:prstGeom prst="rect">
            <a:avLst/>
          </a:prstGeom>
          <a:solidFill>
            <a:srgbClr val="FFFFFF"/>
          </a:solidFill>
          <a:ln w="6350">
            <a:solidFill>
              <a:srgbClr val="E3E9F0"/>
            </a:solidFill>
            <a:prstDash val="solid"/>
          </a:ln>
        </p:spPr>
        <p:txBody>
          <a:bodyPr/>
          <a:lstStyle/>
          <a:p>
            <a:endParaRPr lang="en-US"/>
          </a:p>
        </p:txBody>
      </p:sp>
      <p:sp>
        <p:nvSpPr>
          <p:cNvPr id="46" name="Text 44"/>
          <p:cNvSpPr/>
          <p:nvPr/>
        </p:nvSpPr>
        <p:spPr>
          <a:xfrm>
            <a:off x="2651760" y="3054096"/>
            <a:ext cx="26334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 named block of work</a:t>
            </a:r>
            <a:endParaRPr lang="en-US" sz="850" dirty="0"/>
          </a:p>
        </p:txBody>
      </p:sp>
      <p:sp>
        <p:nvSpPr>
          <p:cNvPr id="47" name="Shape 45"/>
          <p:cNvSpPr/>
          <p:nvPr/>
        </p:nvSpPr>
        <p:spPr>
          <a:xfrm>
            <a:off x="5394960" y="3054096"/>
            <a:ext cx="3255264" cy="292608"/>
          </a:xfrm>
          <a:prstGeom prst="rect">
            <a:avLst/>
          </a:prstGeom>
          <a:solidFill>
            <a:srgbClr val="FFFFFF"/>
          </a:solidFill>
          <a:ln w="6350">
            <a:solidFill>
              <a:srgbClr val="E3E9F0"/>
            </a:solidFill>
            <a:prstDash val="solid"/>
          </a:ln>
        </p:spPr>
        <p:txBody>
          <a:bodyPr/>
          <a:lstStyle/>
          <a:p>
            <a:endParaRPr lang="en-US"/>
          </a:p>
        </p:txBody>
      </p:sp>
      <p:sp>
        <p:nvSpPr>
          <p:cNvPr id="48" name="Text 46"/>
          <p:cNvSpPr/>
          <p:nvPr/>
        </p:nvSpPr>
        <p:spPr>
          <a:xfrm>
            <a:off x="5486400" y="3054096"/>
            <a:ext cx="3090672"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render(), addRecord(), enrich() — one job each</a:t>
            </a:r>
            <a:endParaRPr lang="en-US" sz="850" dirty="0"/>
          </a:p>
        </p:txBody>
      </p:sp>
      <p:sp>
        <p:nvSpPr>
          <p:cNvPr id="49" name="Text 47"/>
          <p:cNvSpPr/>
          <p:nvPr/>
        </p:nvSpPr>
        <p:spPr>
          <a:xfrm>
            <a:off x="457200" y="3401568"/>
            <a:ext cx="54864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WHAT WE ARE DELIBERATELY NOT DOING TODAY</a:t>
            </a:r>
            <a:endParaRPr lang="en-US" sz="800" dirty="0"/>
          </a:p>
        </p:txBody>
      </p:sp>
      <p:sp>
        <p:nvSpPr>
          <p:cNvPr id="50" name="Text 48"/>
          <p:cNvSpPr/>
          <p:nvPr/>
        </p:nvSpPr>
        <p:spPr>
          <a:xfrm>
            <a:off x="457200" y="3621024"/>
            <a:ext cx="8229600" cy="548640"/>
          </a:xfrm>
          <a:prstGeom prst="rect">
            <a:avLst/>
          </a:prstGeom>
          <a:noFill/>
          <a:ln/>
        </p:spPr>
        <p:txBody>
          <a:bodyPr wrap="square" lIns="0" tIns="0" rIns="0" bIns="0" rtlCol="0" anchor="t"/>
          <a:lstStyle/>
          <a:p>
            <a:pPr marL="0" indent="0">
              <a:lnSpc>
                <a:spcPct val="105000"/>
              </a:lnSpc>
              <a:buNone/>
            </a:pPr>
            <a:r>
              <a:rPr lang="en-US" sz="950" dirty="0">
                <a:solidFill>
                  <a:srgbClr val="0B2B3C"/>
                </a:solidFill>
                <a:latin typeface="Calibri" pitchFamily="34" charset="0"/>
                <a:ea typeface="Calibri" pitchFamily="34" charset="-122"/>
                <a:cs typeface="Calibri" pitchFamily="34" charset="-120"/>
              </a:rPr>
              <a:t>Classes, prototypes, closures, this-binding, modules. All real, all useful, none of them needed to make your app work this week. You will meet them when a problem asks for them — which is the only time they ever make sense.</a:t>
            </a:r>
            <a:endParaRPr lang="en-US" sz="950" dirty="0"/>
          </a:p>
        </p:txBody>
      </p:sp>
      <p:sp>
        <p:nvSpPr>
          <p:cNvPr id="51" name="Shape 49"/>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52" name="Shape 50"/>
          <p:cNvSpPr/>
          <p:nvPr/>
        </p:nvSpPr>
        <p:spPr>
          <a:xfrm>
            <a:off x="457200" y="4334256"/>
            <a:ext cx="54864" cy="512064"/>
          </a:xfrm>
          <a:prstGeom prst="rect">
            <a:avLst/>
          </a:prstGeom>
          <a:solidFill>
            <a:srgbClr val="0087C8"/>
          </a:solidFill>
          <a:ln w="12700">
            <a:solidFill>
              <a:srgbClr val="0087C8"/>
            </a:solidFill>
            <a:prstDash val="solid"/>
          </a:ln>
        </p:spPr>
        <p:txBody>
          <a:bodyPr/>
          <a:lstStyle/>
          <a:p>
            <a:endParaRPr lang="en-US"/>
          </a:p>
        </p:txBody>
      </p:sp>
      <p:sp>
        <p:nvSpPr>
          <p:cNvPr id="53" name="Text 5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Six things. If you can read this table, you can read every line of JavaScript you write this week.</a:t>
            </a:r>
            <a:endParaRPr lang="en-US" sz="1000" dirty="0"/>
          </a:p>
        </p:txBody>
      </p:sp>
    </p:spTree>
    <p:extLst>
      <p:ext uri="{BB962C8B-B14F-4D97-AF65-F5344CB8AC3E}">
        <p14:creationId xmlns:p14="http://schemas.microsoft.com/office/powerpoint/2010/main" val="4274138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C8"/>
          </a:solidFill>
          <a:ln w="12700">
            <a:solidFill>
              <a:srgbClr val="0087C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The DOM: Find, Make, Listen</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024128"/>
            <a:ext cx="8229600" cy="566928"/>
          </a:xfrm>
          <a:prstGeom prst="rect">
            <a:avLst/>
          </a:prstGeom>
          <a:solidFill>
            <a:srgbClr val="FFFFFF"/>
          </a:solidFill>
          <a:ln w="9525">
            <a:solidFill>
              <a:srgbClr val="E3E9F0"/>
            </a:solidFill>
            <a:prstDash val="solid"/>
          </a:ln>
        </p:spPr>
        <p:txBody>
          <a:bodyPr/>
          <a:lstStyle/>
          <a:p>
            <a:endParaRPr lang="en-US"/>
          </a:p>
        </p:txBody>
      </p:sp>
      <p:sp>
        <p:nvSpPr>
          <p:cNvPr id="7" name="Shape 5"/>
          <p:cNvSpPr/>
          <p:nvPr/>
        </p:nvSpPr>
        <p:spPr>
          <a:xfrm>
            <a:off x="457200" y="1024128"/>
            <a:ext cx="1005840" cy="566928"/>
          </a:xfrm>
          <a:prstGeom prst="rect">
            <a:avLst/>
          </a:prstGeom>
          <a:solidFill>
            <a:srgbClr val="0087C8"/>
          </a:solidFill>
          <a:ln w="12700">
            <a:solidFill>
              <a:srgbClr val="0087C8"/>
            </a:solidFill>
            <a:prstDash val="solid"/>
          </a:ln>
        </p:spPr>
        <p:txBody>
          <a:bodyPr/>
          <a:lstStyle/>
          <a:p>
            <a:endParaRPr lang="en-US"/>
          </a:p>
        </p:txBody>
      </p:sp>
      <p:sp>
        <p:nvSpPr>
          <p:cNvPr id="8" name="Text 6"/>
          <p:cNvSpPr/>
          <p:nvPr/>
        </p:nvSpPr>
        <p:spPr>
          <a:xfrm>
            <a:off x="457200" y="1024128"/>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FIND</a:t>
            </a:r>
            <a:endParaRPr lang="en-US" sz="900" dirty="0"/>
          </a:p>
        </p:txBody>
      </p:sp>
      <p:sp>
        <p:nvSpPr>
          <p:cNvPr id="9" name="Text 7"/>
          <p:cNvSpPr/>
          <p:nvPr/>
        </p:nvSpPr>
        <p:spPr>
          <a:xfrm>
            <a:off x="1609344" y="1078992"/>
            <a:ext cx="4206240" cy="237744"/>
          </a:xfrm>
          <a:prstGeom prst="rect">
            <a:avLst/>
          </a:prstGeom>
          <a:noFill/>
          <a:ln/>
        </p:spPr>
        <p:txBody>
          <a:bodyPr wrap="square" lIns="0" tIns="0" rIns="0" bIns="0" rtlCol="0" anchor="ctr"/>
          <a:lstStyle/>
          <a:p>
            <a:pPr marL="0" indent="0">
              <a:buNone/>
            </a:pPr>
            <a:r>
              <a:rPr lang="en-US" sz="850" b="1" dirty="0">
                <a:solidFill>
                  <a:srgbClr val="0077A8"/>
                </a:solidFill>
                <a:latin typeface="Courier New" pitchFamily="34" charset="0"/>
                <a:ea typeface="Courier New" pitchFamily="34" charset="-122"/>
                <a:cs typeface="Courier New" pitchFamily="34" charset="-120"/>
              </a:rPr>
              <a:t>document.querySelector('#list')</a:t>
            </a:r>
            <a:endParaRPr lang="en-US" sz="850" dirty="0"/>
          </a:p>
        </p:txBody>
      </p:sp>
      <p:sp>
        <p:nvSpPr>
          <p:cNvPr id="10" name="Text 8"/>
          <p:cNvSpPr/>
          <p:nvPr/>
        </p:nvSpPr>
        <p:spPr>
          <a:xfrm>
            <a:off x="1609344" y="1298448"/>
            <a:ext cx="4754880" cy="237744"/>
          </a:xfrm>
          <a:prstGeom prst="rect">
            <a:avLst/>
          </a:prstGeom>
          <a:noFill/>
          <a:ln/>
        </p:spPr>
        <p:txBody>
          <a:bodyPr wrap="square" lIns="0" tIns="0" rIns="0" bIns="0" rtlCol="0" anchor="ctr"/>
          <a:lstStyle/>
          <a:p>
            <a:pPr marL="0" indent="0">
              <a:buNone/>
            </a:pPr>
            <a:r>
              <a:rPr lang="en-US" sz="850" dirty="0">
                <a:solidFill>
                  <a:srgbClr val="4E6E7D"/>
                </a:solidFill>
                <a:latin typeface="Calibri" pitchFamily="34" charset="0"/>
                <a:ea typeface="Calibri" pitchFamily="34" charset="-122"/>
                <a:cs typeface="Calibri" pitchFamily="34" charset="-120"/>
              </a:rPr>
              <a:t>Grab an element that already exists in your HTML</a:t>
            </a:r>
            <a:endParaRPr lang="en-US" sz="850" dirty="0"/>
          </a:p>
        </p:txBody>
      </p:sp>
      <p:sp>
        <p:nvSpPr>
          <p:cNvPr id="11" name="Shape 9"/>
          <p:cNvSpPr/>
          <p:nvPr/>
        </p:nvSpPr>
        <p:spPr>
          <a:xfrm>
            <a:off x="457200" y="1682496"/>
            <a:ext cx="8229600" cy="566928"/>
          </a:xfrm>
          <a:prstGeom prst="rect">
            <a:avLst/>
          </a:prstGeom>
          <a:solidFill>
            <a:srgbClr val="FFFFFF"/>
          </a:solidFill>
          <a:ln w="9525">
            <a:solidFill>
              <a:srgbClr val="E3E9F0"/>
            </a:solidFill>
            <a:prstDash val="solid"/>
          </a:ln>
        </p:spPr>
        <p:txBody>
          <a:bodyPr/>
          <a:lstStyle/>
          <a:p>
            <a:endParaRPr lang="en-US"/>
          </a:p>
        </p:txBody>
      </p:sp>
      <p:sp>
        <p:nvSpPr>
          <p:cNvPr id="12" name="Shape 10"/>
          <p:cNvSpPr/>
          <p:nvPr/>
        </p:nvSpPr>
        <p:spPr>
          <a:xfrm>
            <a:off x="457200" y="1682496"/>
            <a:ext cx="1005840" cy="566928"/>
          </a:xfrm>
          <a:prstGeom prst="rect">
            <a:avLst/>
          </a:prstGeom>
          <a:solidFill>
            <a:srgbClr val="00849B"/>
          </a:solidFill>
          <a:ln w="12700">
            <a:solidFill>
              <a:srgbClr val="00849B"/>
            </a:solidFill>
            <a:prstDash val="solid"/>
          </a:ln>
        </p:spPr>
        <p:txBody>
          <a:bodyPr/>
          <a:lstStyle/>
          <a:p>
            <a:endParaRPr lang="en-US"/>
          </a:p>
        </p:txBody>
      </p:sp>
      <p:sp>
        <p:nvSpPr>
          <p:cNvPr id="13" name="Text 11"/>
          <p:cNvSpPr/>
          <p:nvPr/>
        </p:nvSpPr>
        <p:spPr>
          <a:xfrm>
            <a:off x="457200" y="1682496"/>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MAKE</a:t>
            </a:r>
            <a:endParaRPr lang="en-US" sz="900" dirty="0"/>
          </a:p>
        </p:txBody>
      </p:sp>
      <p:sp>
        <p:nvSpPr>
          <p:cNvPr id="14" name="Text 12"/>
          <p:cNvSpPr/>
          <p:nvPr/>
        </p:nvSpPr>
        <p:spPr>
          <a:xfrm>
            <a:off x="1609344" y="1737360"/>
            <a:ext cx="4206240" cy="237744"/>
          </a:xfrm>
          <a:prstGeom prst="rect">
            <a:avLst/>
          </a:prstGeom>
          <a:noFill/>
          <a:ln/>
        </p:spPr>
        <p:txBody>
          <a:bodyPr wrap="square" lIns="0" tIns="0" rIns="0" bIns="0" rtlCol="0" anchor="ctr"/>
          <a:lstStyle/>
          <a:p>
            <a:pPr marL="0" indent="0">
              <a:buNone/>
            </a:pPr>
            <a:r>
              <a:rPr lang="en-US" sz="850" b="1" dirty="0">
                <a:solidFill>
                  <a:srgbClr val="00697E"/>
                </a:solidFill>
                <a:latin typeface="Courier New" pitchFamily="34" charset="0"/>
                <a:ea typeface="Courier New" pitchFamily="34" charset="-122"/>
                <a:cs typeface="Courier New" pitchFamily="34" charset="-120"/>
              </a:rPr>
              <a:t>list.innerHTML = records.map(row).join('')</a:t>
            </a:r>
            <a:endParaRPr lang="en-US" sz="850" dirty="0"/>
          </a:p>
        </p:txBody>
      </p:sp>
      <p:sp>
        <p:nvSpPr>
          <p:cNvPr id="15" name="Text 13"/>
          <p:cNvSpPr/>
          <p:nvPr/>
        </p:nvSpPr>
        <p:spPr>
          <a:xfrm>
            <a:off x="1609344" y="1956816"/>
            <a:ext cx="4754880" cy="237744"/>
          </a:xfrm>
          <a:prstGeom prst="rect">
            <a:avLst/>
          </a:prstGeom>
          <a:noFill/>
          <a:ln/>
        </p:spPr>
        <p:txBody>
          <a:bodyPr wrap="square" lIns="0" tIns="0" rIns="0" bIns="0" rtlCol="0" anchor="ctr"/>
          <a:lstStyle/>
          <a:p>
            <a:pPr marL="0" indent="0">
              <a:buNone/>
            </a:pPr>
            <a:r>
              <a:rPr lang="en-US" sz="850" dirty="0">
                <a:solidFill>
                  <a:srgbClr val="4E6E7D"/>
                </a:solidFill>
                <a:latin typeface="Calibri" pitchFamily="34" charset="0"/>
                <a:ea typeface="Calibri" pitchFamily="34" charset="-122"/>
                <a:cs typeface="Calibri" pitchFamily="34" charset="-120"/>
              </a:rPr>
              <a:t>Replace what is inside it with HTML you built</a:t>
            </a:r>
            <a:endParaRPr lang="en-US" sz="850" dirty="0"/>
          </a:p>
        </p:txBody>
      </p:sp>
      <p:sp>
        <p:nvSpPr>
          <p:cNvPr id="16" name="Shape 14"/>
          <p:cNvSpPr/>
          <p:nvPr/>
        </p:nvSpPr>
        <p:spPr>
          <a:xfrm>
            <a:off x="457200" y="2340864"/>
            <a:ext cx="8229600" cy="566928"/>
          </a:xfrm>
          <a:prstGeom prst="rect">
            <a:avLst/>
          </a:prstGeom>
          <a:solidFill>
            <a:srgbClr val="FFFFFF"/>
          </a:solidFill>
          <a:ln w="9525">
            <a:solidFill>
              <a:srgbClr val="E3E9F0"/>
            </a:solidFill>
            <a:prstDash val="solid"/>
          </a:ln>
        </p:spPr>
        <p:txBody>
          <a:bodyPr/>
          <a:lstStyle/>
          <a:p>
            <a:endParaRPr lang="en-US"/>
          </a:p>
        </p:txBody>
      </p:sp>
      <p:sp>
        <p:nvSpPr>
          <p:cNvPr id="17" name="Shape 15"/>
          <p:cNvSpPr/>
          <p:nvPr/>
        </p:nvSpPr>
        <p:spPr>
          <a:xfrm>
            <a:off x="457200" y="2340864"/>
            <a:ext cx="1005840" cy="566928"/>
          </a:xfrm>
          <a:prstGeom prst="rect">
            <a:avLst/>
          </a:prstGeom>
          <a:solidFill>
            <a:srgbClr val="0077A8"/>
          </a:solidFill>
          <a:ln w="12700">
            <a:solidFill>
              <a:srgbClr val="0077A8"/>
            </a:solidFill>
            <a:prstDash val="solid"/>
          </a:ln>
        </p:spPr>
        <p:txBody>
          <a:bodyPr/>
          <a:lstStyle/>
          <a:p>
            <a:endParaRPr lang="en-US"/>
          </a:p>
        </p:txBody>
      </p:sp>
      <p:sp>
        <p:nvSpPr>
          <p:cNvPr id="18" name="Text 16"/>
          <p:cNvSpPr/>
          <p:nvPr/>
        </p:nvSpPr>
        <p:spPr>
          <a:xfrm>
            <a:off x="457200" y="2340864"/>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LISTEN</a:t>
            </a:r>
            <a:endParaRPr lang="en-US" sz="900" dirty="0"/>
          </a:p>
        </p:txBody>
      </p:sp>
      <p:sp>
        <p:nvSpPr>
          <p:cNvPr id="19" name="Text 17"/>
          <p:cNvSpPr/>
          <p:nvPr/>
        </p:nvSpPr>
        <p:spPr>
          <a:xfrm>
            <a:off x="1609344" y="2395728"/>
            <a:ext cx="4206240" cy="237744"/>
          </a:xfrm>
          <a:prstGeom prst="rect">
            <a:avLst/>
          </a:prstGeom>
          <a:noFill/>
          <a:ln/>
        </p:spPr>
        <p:txBody>
          <a:bodyPr wrap="square" lIns="0" tIns="0" rIns="0" bIns="0" rtlCol="0" anchor="ctr"/>
          <a:lstStyle/>
          <a:p>
            <a:pPr marL="0" indent="0">
              <a:buNone/>
            </a:pPr>
            <a:r>
              <a:rPr lang="en-US" sz="850" b="1" dirty="0">
                <a:solidFill>
                  <a:srgbClr val="0077A8"/>
                </a:solidFill>
                <a:latin typeface="Courier New" pitchFamily="34" charset="0"/>
                <a:ea typeface="Courier New" pitchFamily="34" charset="-122"/>
                <a:cs typeface="Courier New" pitchFamily="34" charset="-120"/>
              </a:rPr>
              <a:t>btn.addEventListener('click', onAdd)</a:t>
            </a:r>
            <a:endParaRPr lang="en-US" sz="850" dirty="0"/>
          </a:p>
        </p:txBody>
      </p:sp>
      <p:sp>
        <p:nvSpPr>
          <p:cNvPr id="20" name="Text 18"/>
          <p:cNvSpPr/>
          <p:nvPr/>
        </p:nvSpPr>
        <p:spPr>
          <a:xfrm>
            <a:off x="1609344" y="2615184"/>
            <a:ext cx="4754880" cy="237744"/>
          </a:xfrm>
          <a:prstGeom prst="rect">
            <a:avLst/>
          </a:prstGeom>
          <a:noFill/>
          <a:ln/>
        </p:spPr>
        <p:txBody>
          <a:bodyPr wrap="square" lIns="0" tIns="0" rIns="0" bIns="0" rtlCol="0" anchor="ctr"/>
          <a:lstStyle/>
          <a:p>
            <a:pPr marL="0" indent="0">
              <a:buNone/>
            </a:pPr>
            <a:r>
              <a:rPr lang="en-US" sz="850" dirty="0">
                <a:solidFill>
                  <a:srgbClr val="4E6E7D"/>
                </a:solidFill>
                <a:latin typeface="Calibri" pitchFamily="34" charset="0"/>
                <a:ea typeface="Calibri" pitchFamily="34" charset="-122"/>
                <a:cs typeface="Calibri" pitchFamily="34" charset="-120"/>
              </a:rPr>
              <a:t>Run a function when the user does something</a:t>
            </a:r>
            <a:endParaRPr lang="en-US" sz="850" dirty="0"/>
          </a:p>
        </p:txBody>
      </p:sp>
      <p:sp>
        <p:nvSpPr>
          <p:cNvPr id="21" name="Shape 19"/>
          <p:cNvSpPr/>
          <p:nvPr/>
        </p:nvSpPr>
        <p:spPr>
          <a:xfrm>
            <a:off x="457200" y="3054096"/>
            <a:ext cx="8229600" cy="713232"/>
          </a:xfrm>
          <a:prstGeom prst="rect">
            <a:avLst/>
          </a:prstGeom>
          <a:solidFill>
            <a:srgbClr val="0B2B3C"/>
          </a:solidFill>
          <a:ln w="12700">
            <a:solidFill>
              <a:srgbClr val="0B2B3C"/>
            </a:solidFill>
            <a:prstDash val="solid"/>
          </a:ln>
        </p:spPr>
        <p:txBody>
          <a:bodyPr/>
          <a:lstStyle/>
          <a:p>
            <a:endParaRPr lang="en-US"/>
          </a:p>
        </p:txBody>
      </p:sp>
      <p:sp>
        <p:nvSpPr>
          <p:cNvPr id="22" name="Shape 20"/>
          <p:cNvSpPr/>
          <p:nvPr/>
        </p:nvSpPr>
        <p:spPr>
          <a:xfrm>
            <a:off x="457200" y="3054096"/>
            <a:ext cx="73152" cy="713232"/>
          </a:xfrm>
          <a:prstGeom prst="rect">
            <a:avLst/>
          </a:prstGeom>
          <a:solidFill>
            <a:srgbClr val="00B0F0"/>
          </a:solidFill>
          <a:ln w="12700">
            <a:solidFill>
              <a:srgbClr val="00B0F0"/>
            </a:solidFill>
            <a:prstDash val="solid"/>
          </a:ln>
        </p:spPr>
        <p:txBody>
          <a:bodyPr/>
          <a:lstStyle/>
          <a:p>
            <a:endParaRPr lang="en-US"/>
          </a:p>
        </p:txBody>
      </p:sp>
      <p:sp>
        <p:nvSpPr>
          <p:cNvPr id="23" name="Text 21"/>
          <p:cNvSpPr/>
          <p:nvPr/>
        </p:nvSpPr>
        <p:spPr>
          <a:xfrm>
            <a:off x="731520" y="3108960"/>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whole model, in one sentence: the array is the truth, the screen is a picture of it.</a:t>
            </a:r>
            <a:endParaRPr lang="en-US" sz="1300" dirty="0"/>
          </a:p>
        </p:txBody>
      </p:sp>
      <p:sp>
        <p:nvSpPr>
          <p:cNvPr id="24" name="Text 22"/>
          <p:cNvSpPr/>
          <p:nvPr/>
        </p:nvSpPr>
        <p:spPr>
          <a:xfrm>
            <a:off x="731520" y="3383280"/>
            <a:ext cx="7772400" cy="310896"/>
          </a:xfrm>
          <a:prstGeom prst="rect">
            <a:avLst/>
          </a:prstGeom>
          <a:noFill/>
          <a:ln/>
        </p:spPr>
        <p:txBody>
          <a:bodyPr wrap="square" lIns="0" tIns="0" rIns="0" bIns="0" rtlCol="0" anchor="ctr"/>
          <a:lstStyle/>
          <a:p>
            <a:pPr marL="0" indent="0">
              <a:buNone/>
            </a:pPr>
            <a:r>
              <a:rPr lang="en-US" sz="900" dirty="0">
                <a:solidFill>
                  <a:srgbClr val="C8D6E2"/>
                </a:solidFill>
                <a:latin typeface="Calibri" pitchFamily="34" charset="0"/>
                <a:ea typeface="Calibri" pitchFamily="34" charset="-122"/>
                <a:cs typeface="Calibri" pitchFamily="34" charset="-120"/>
              </a:rPr>
              <a:t>Change the array, then call render(). Never edit the screen and the array separately — that is how they drift apart and how your bugs start.</a:t>
            </a:r>
            <a:endParaRPr lang="en-US" sz="900" dirty="0"/>
          </a:p>
        </p:txBody>
      </p:sp>
      <p:sp>
        <p:nvSpPr>
          <p:cNvPr id="25" name="Text 23"/>
          <p:cNvSpPr/>
          <p:nvPr/>
        </p:nvSpPr>
        <p:spPr>
          <a:xfrm>
            <a:off x="457200" y="3877056"/>
            <a:ext cx="8229600" cy="329184"/>
          </a:xfrm>
          <a:prstGeom prst="rect">
            <a:avLst/>
          </a:prstGeom>
          <a:noFill/>
          <a:ln/>
        </p:spPr>
        <p:txBody>
          <a:bodyPr wrap="square" lIns="0" tIns="0" rIns="0" bIns="0" rtlCol="0" anchor="t"/>
          <a:lstStyle/>
          <a:p>
            <a:pPr marL="0" indent="0">
              <a:lnSpc>
                <a:spcPct val="105000"/>
              </a:lnSpc>
              <a:buNone/>
            </a:pPr>
            <a:r>
              <a:rPr lang="en-US" sz="950" i="1" dirty="0">
                <a:solidFill>
                  <a:srgbClr val="4E6E7D"/>
                </a:solidFill>
                <a:latin typeface="Calibri" pitchFamily="34" charset="0"/>
                <a:ea typeface="Calibri" pitchFamily="34" charset="-122"/>
                <a:cs typeface="Calibri" pitchFamily="34" charset="-120"/>
              </a:rPr>
              <a:t>Hold on to this idea. It is exactly how React works, and you have just built it yourself in about fifteen lines.</a:t>
            </a:r>
            <a:endParaRPr lang="en-US" sz="950" dirty="0"/>
          </a:p>
        </p:txBody>
      </p:sp>
      <p:sp>
        <p:nvSpPr>
          <p:cNvPr id="26" name="Shape 24"/>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27" name="Shape 25"/>
          <p:cNvSpPr/>
          <p:nvPr/>
        </p:nvSpPr>
        <p:spPr>
          <a:xfrm>
            <a:off x="457200" y="4334256"/>
            <a:ext cx="54864" cy="512064"/>
          </a:xfrm>
          <a:prstGeom prst="rect">
            <a:avLst/>
          </a:prstGeom>
          <a:solidFill>
            <a:srgbClr val="0087C8"/>
          </a:solidFill>
          <a:ln w="12700">
            <a:solidFill>
              <a:srgbClr val="0087C8"/>
            </a:solidFill>
            <a:prstDash val="solid"/>
          </a:ln>
        </p:spPr>
        <p:txBody>
          <a:bodyPr/>
          <a:lstStyle/>
          <a:p>
            <a:endParaRPr lang="en-US"/>
          </a:p>
        </p:txBody>
      </p:sp>
      <p:sp>
        <p:nvSpPr>
          <p:cNvPr id="28" name="Text 2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One render() function that redraws everything from the array. Simple, slightly wasteful, and correct — that trade is almost always the right one.</a:t>
            </a:r>
            <a:endParaRPr lang="en-US" sz="1000" dirty="0"/>
          </a:p>
        </p:txBody>
      </p:sp>
    </p:spTree>
    <p:extLst>
      <p:ext uri="{BB962C8B-B14F-4D97-AF65-F5344CB8AC3E}">
        <p14:creationId xmlns:p14="http://schemas.microsoft.com/office/powerpoint/2010/main" val="1241775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C8"/>
          </a:solidFill>
          <a:ln w="12700">
            <a:solidFill>
              <a:srgbClr val="0087C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How to Read an Error</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969264"/>
            <a:ext cx="8229600" cy="512064"/>
          </a:xfrm>
          <a:prstGeom prst="rect">
            <a:avLst/>
          </a:prstGeom>
          <a:solidFill>
            <a:srgbClr val="0B2B3C"/>
          </a:solidFill>
          <a:ln w="12700">
            <a:solidFill>
              <a:srgbClr val="0B2B3C"/>
            </a:solidFill>
            <a:prstDash val="solid"/>
          </a:ln>
        </p:spPr>
        <p:txBody>
          <a:bodyPr/>
          <a:lstStyle/>
          <a:p>
            <a:endParaRPr lang="en-US"/>
          </a:p>
        </p:txBody>
      </p:sp>
      <p:sp>
        <p:nvSpPr>
          <p:cNvPr id="7" name="Shape 5"/>
          <p:cNvSpPr/>
          <p:nvPr/>
        </p:nvSpPr>
        <p:spPr>
          <a:xfrm>
            <a:off x="457200" y="969264"/>
            <a:ext cx="73152" cy="512064"/>
          </a:xfrm>
          <a:prstGeom prst="rect">
            <a:avLst/>
          </a:prstGeom>
          <a:solidFill>
            <a:srgbClr val="00B0F0"/>
          </a:solidFill>
          <a:ln w="12700">
            <a:solidFill>
              <a:srgbClr val="00B0F0"/>
            </a:solidFill>
            <a:prstDash val="solid"/>
          </a:ln>
        </p:spPr>
        <p:txBody>
          <a:bodyPr/>
          <a:lstStyle/>
          <a:p>
            <a:endParaRPr lang="en-US"/>
          </a:p>
        </p:txBody>
      </p:sp>
      <p:sp>
        <p:nvSpPr>
          <p:cNvPr id="8" name="Text 6"/>
          <p:cNvSpPr/>
          <p:nvPr/>
        </p:nvSpPr>
        <p:spPr>
          <a:xfrm>
            <a:off x="731520" y="987552"/>
            <a:ext cx="49377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Read the FIRST error, not the last one.</a:t>
            </a:r>
            <a:endParaRPr lang="en-US" sz="1400" dirty="0"/>
          </a:p>
        </p:txBody>
      </p:sp>
      <p:sp>
        <p:nvSpPr>
          <p:cNvPr id="9" name="Text 7"/>
          <p:cNvSpPr/>
          <p:nvPr/>
        </p:nvSpPr>
        <p:spPr>
          <a:xfrm>
            <a:off x="731520" y="1225296"/>
            <a:ext cx="4937760" cy="219456"/>
          </a:xfrm>
          <a:prstGeom prst="rect">
            <a:avLst/>
          </a:prstGeom>
          <a:noFill/>
          <a:ln/>
        </p:spPr>
        <p:txBody>
          <a:bodyPr wrap="square" lIns="0" tIns="0" rIns="0" bIns="0" rtlCol="0" anchor="ctr"/>
          <a:lstStyle/>
          <a:p>
            <a:pPr marL="0" indent="0">
              <a:buNone/>
            </a:pPr>
            <a:r>
              <a:rPr lang="en-US" sz="900" dirty="0">
                <a:solidFill>
                  <a:srgbClr val="C8D6E2"/>
                </a:solidFill>
                <a:latin typeface="Calibri" pitchFamily="34" charset="0"/>
                <a:ea typeface="Calibri" pitchFamily="34" charset="-122"/>
                <a:cs typeface="Calibri" pitchFamily="34" charset="-120"/>
              </a:rPr>
              <a:t>Everything after it is usually just the wreckage.</a:t>
            </a:r>
            <a:endParaRPr lang="en-US" sz="900" dirty="0"/>
          </a:p>
        </p:txBody>
      </p:sp>
      <p:sp>
        <p:nvSpPr>
          <p:cNvPr id="10" name="Text 8"/>
          <p:cNvSpPr/>
          <p:nvPr/>
        </p:nvSpPr>
        <p:spPr>
          <a:xfrm>
            <a:off x="5760720" y="969264"/>
            <a:ext cx="2834640" cy="512064"/>
          </a:xfrm>
          <a:prstGeom prst="rect">
            <a:avLst/>
          </a:prstGeom>
          <a:noFill/>
          <a:ln/>
        </p:spPr>
        <p:txBody>
          <a:bodyPr wrap="square" lIns="0" tIns="0" rIns="0" bIns="0" rtlCol="0" anchor="ctr"/>
          <a:lstStyle/>
          <a:p>
            <a:pPr marL="0" indent="0">
              <a:lnSpc>
                <a:spcPct val="105000"/>
              </a:lnSpc>
              <a:buNone/>
            </a:pPr>
            <a:r>
              <a:rPr lang="en-US" sz="800" dirty="0">
                <a:solidFill>
                  <a:srgbClr val="0077A8"/>
                </a:solidFill>
                <a:latin typeface="Calibri" pitchFamily="34" charset="0"/>
                <a:ea typeface="Calibri" pitchFamily="34" charset="-122"/>
                <a:cs typeface="Calibri" pitchFamily="34" charset="-120"/>
              </a:rPr>
              <a:t>Console: what broke</a:t>
            </a:r>
            <a:endParaRPr lang="en-US" sz="800" dirty="0"/>
          </a:p>
          <a:p>
            <a:pPr marL="0" indent="0">
              <a:lnSpc>
                <a:spcPct val="105000"/>
              </a:lnSpc>
              <a:buNone/>
            </a:pPr>
            <a:r>
              <a:rPr lang="en-US" sz="800" dirty="0">
                <a:solidFill>
                  <a:srgbClr val="0077A8"/>
                </a:solidFill>
                <a:latin typeface="Calibri" pitchFamily="34" charset="0"/>
                <a:ea typeface="Calibri" pitchFamily="34" charset="-122"/>
                <a:cs typeface="Calibri" pitchFamily="34" charset="-120"/>
              </a:rPr>
              <a:t>Network: what was sent, and what came back</a:t>
            </a:r>
            <a:endParaRPr lang="en-US" sz="800" dirty="0"/>
          </a:p>
        </p:txBody>
      </p:sp>
      <p:sp>
        <p:nvSpPr>
          <p:cNvPr id="11" name="Text 9"/>
          <p:cNvSpPr/>
          <p:nvPr/>
        </p:nvSpPr>
        <p:spPr>
          <a:xfrm>
            <a:off x="457200" y="1591056"/>
            <a:ext cx="64008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THE FIVE YOU WILL ACTUALLY MEET THIS WEEK</a:t>
            </a:r>
            <a:endParaRPr lang="en-US" sz="800" dirty="0"/>
          </a:p>
        </p:txBody>
      </p:sp>
      <p:sp>
        <p:nvSpPr>
          <p:cNvPr id="12" name="Shape 10"/>
          <p:cNvSpPr/>
          <p:nvPr/>
        </p:nvSpPr>
        <p:spPr>
          <a:xfrm>
            <a:off x="457200" y="1792224"/>
            <a:ext cx="3209544" cy="256032"/>
          </a:xfrm>
          <a:prstGeom prst="rect">
            <a:avLst/>
          </a:prstGeom>
          <a:solidFill>
            <a:srgbClr val="123C52"/>
          </a:solidFill>
          <a:ln w="12700">
            <a:solidFill>
              <a:srgbClr val="123C52"/>
            </a:solidFill>
            <a:prstDash val="solid"/>
          </a:ln>
        </p:spPr>
        <p:txBody>
          <a:bodyPr/>
          <a:lstStyle/>
          <a:p>
            <a:endParaRPr lang="en-US"/>
          </a:p>
        </p:txBody>
      </p:sp>
      <p:sp>
        <p:nvSpPr>
          <p:cNvPr id="13" name="Text 11"/>
          <p:cNvSpPr/>
          <p:nvPr/>
        </p:nvSpPr>
        <p:spPr>
          <a:xfrm>
            <a:off x="548640" y="1792224"/>
            <a:ext cx="304495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WHAT IT SAYS</a:t>
            </a:r>
            <a:endParaRPr lang="en-US" sz="700" dirty="0"/>
          </a:p>
        </p:txBody>
      </p:sp>
      <p:sp>
        <p:nvSpPr>
          <p:cNvPr id="14" name="Shape 12"/>
          <p:cNvSpPr/>
          <p:nvPr/>
        </p:nvSpPr>
        <p:spPr>
          <a:xfrm>
            <a:off x="3703320" y="1792224"/>
            <a:ext cx="4946904" cy="256032"/>
          </a:xfrm>
          <a:prstGeom prst="rect">
            <a:avLst/>
          </a:prstGeom>
          <a:solidFill>
            <a:srgbClr val="123C52"/>
          </a:solidFill>
          <a:ln w="12700">
            <a:solidFill>
              <a:srgbClr val="123C52"/>
            </a:solidFill>
            <a:prstDash val="solid"/>
          </a:ln>
        </p:spPr>
        <p:txBody>
          <a:bodyPr/>
          <a:lstStyle/>
          <a:p>
            <a:endParaRPr lang="en-US"/>
          </a:p>
        </p:txBody>
      </p:sp>
      <p:sp>
        <p:nvSpPr>
          <p:cNvPr id="15" name="Text 13"/>
          <p:cNvSpPr/>
          <p:nvPr/>
        </p:nvSpPr>
        <p:spPr>
          <a:xfrm>
            <a:off x="3794760" y="1792224"/>
            <a:ext cx="478231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WHAT IT ACTUALLY MEANS</a:t>
            </a:r>
            <a:endParaRPr lang="en-US" sz="700" dirty="0"/>
          </a:p>
        </p:txBody>
      </p:sp>
      <p:sp>
        <p:nvSpPr>
          <p:cNvPr id="16" name="Shape 14"/>
          <p:cNvSpPr/>
          <p:nvPr/>
        </p:nvSpPr>
        <p:spPr>
          <a:xfrm>
            <a:off x="457200" y="2084832"/>
            <a:ext cx="3209544" cy="256032"/>
          </a:xfrm>
          <a:prstGeom prst="rect">
            <a:avLst/>
          </a:prstGeom>
          <a:solidFill>
            <a:srgbClr val="EAF6FD"/>
          </a:solidFill>
          <a:ln w="6350">
            <a:solidFill>
              <a:srgbClr val="E3E9F0"/>
            </a:solidFill>
            <a:prstDash val="solid"/>
          </a:ln>
        </p:spPr>
        <p:txBody>
          <a:bodyPr/>
          <a:lstStyle/>
          <a:p>
            <a:endParaRPr lang="en-US"/>
          </a:p>
        </p:txBody>
      </p:sp>
      <p:sp>
        <p:nvSpPr>
          <p:cNvPr id="17" name="Text 15"/>
          <p:cNvSpPr/>
          <p:nvPr/>
        </p:nvSpPr>
        <p:spPr>
          <a:xfrm>
            <a:off x="548640" y="2084832"/>
            <a:ext cx="3044952" cy="256032"/>
          </a:xfrm>
          <a:prstGeom prst="rect">
            <a:avLst/>
          </a:prstGeom>
          <a:noFill/>
          <a:ln/>
        </p:spPr>
        <p:txBody>
          <a:bodyPr wrap="square" lIns="0" tIns="0" rIns="0" bIns="0" rtlCol="0" anchor="ctr"/>
          <a:lstStyle/>
          <a:p>
            <a:pPr marL="0" indent="0">
              <a:buNone/>
            </a:pPr>
            <a:r>
              <a:rPr lang="en-US" sz="750" b="1" dirty="0">
                <a:solidFill>
                  <a:srgbClr val="B83232"/>
                </a:solidFill>
                <a:latin typeface="Courier New" pitchFamily="34" charset="0"/>
                <a:ea typeface="Courier New" pitchFamily="34" charset="-122"/>
                <a:cs typeface="Courier New" pitchFamily="34" charset="-120"/>
              </a:rPr>
              <a:t>Cannot read properties of null</a:t>
            </a:r>
            <a:endParaRPr lang="en-US" sz="750" dirty="0"/>
          </a:p>
        </p:txBody>
      </p:sp>
      <p:sp>
        <p:nvSpPr>
          <p:cNvPr id="18" name="Shape 16"/>
          <p:cNvSpPr/>
          <p:nvPr/>
        </p:nvSpPr>
        <p:spPr>
          <a:xfrm>
            <a:off x="3703320" y="2084832"/>
            <a:ext cx="4946904" cy="256032"/>
          </a:xfrm>
          <a:prstGeom prst="rect">
            <a:avLst/>
          </a:prstGeom>
          <a:solidFill>
            <a:srgbClr val="EAF6FD"/>
          </a:solidFill>
          <a:ln w="6350">
            <a:solidFill>
              <a:srgbClr val="E3E9F0"/>
            </a:solidFill>
            <a:prstDash val="solid"/>
          </a:ln>
        </p:spPr>
        <p:txBody>
          <a:bodyPr/>
          <a:lstStyle/>
          <a:p>
            <a:endParaRPr lang="en-US"/>
          </a:p>
        </p:txBody>
      </p:sp>
      <p:sp>
        <p:nvSpPr>
          <p:cNvPr id="19" name="Text 17"/>
          <p:cNvSpPr/>
          <p:nvPr/>
        </p:nvSpPr>
        <p:spPr>
          <a:xfrm>
            <a:off x="3794760" y="2084832"/>
            <a:ext cx="4782312" cy="256032"/>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querySelector found nothing. Wrong selector, or your script ran before the HTML existed.</a:t>
            </a:r>
            <a:endParaRPr lang="en-US" sz="850" dirty="0"/>
          </a:p>
        </p:txBody>
      </p:sp>
      <p:sp>
        <p:nvSpPr>
          <p:cNvPr id="20" name="Shape 18"/>
          <p:cNvSpPr/>
          <p:nvPr/>
        </p:nvSpPr>
        <p:spPr>
          <a:xfrm>
            <a:off x="457200" y="2359152"/>
            <a:ext cx="3209544" cy="256032"/>
          </a:xfrm>
          <a:prstGeom prst="rect">
            <a:avLst/>
          </a:prstGeom>
          <a:solidFill>
            <a:srgbClr val="FFFFFF"/>
          </a:solidFill>
          <a:ln w="6350">
            <a:solidFill>
              <a:srgbClr val="E3E9F0"/>
            </a:solidFill>
            <a:prstDash val="solid"/>
          </a:ln>
        </p:spPr>
        <p:txBody>
          <a:bodyPr/>
          <a:lstStyle/>
          <a:p>
            <a:endParaRPr lang="en-US"/>
          </a:p>
        </p:txBody>
      </p:sp>
      <p:sp>
        <p:nvSpPr>
          <p:cNvPr id="21" name="Text 19"/>
          <p:cNvSpPr/>
          <p:nvPr/>
        </p:nvSpPr>
        <p:spPr>
          <a:xfrm>
            <a:off x="548640" y="2359152"/>
            <a:ext cx="3044952" cy="256032"/>
          </a:xfrm>
          <a:prstGeom prst="rect">
            <a:avLst/>
          </a:prstGeom>
          <a:noFill/>
          <a:ln/>
        </p:spPr>
        <p:txBody>
          <a:bodyPr wrap="square" lIns="0" tIns="0" rIns="0" bIns="0" rtlCol="0" anchor="ctr"/>
          <a:lstStyle/>
          <a:p>
            <a:pPr marL="0" indent="0">
              <a:buNone/>
            </a:pPr>
            <a:r>
              <a:rPr lang="en-US" sz="750" b="1" dirty="0">
                <a:solidFill>
                  <a:srgbClr val="B83232"/>
                </a:solidFill>
                <a:latin typeface="Courier New" pitchFamily="34" charset="0"/>
                <a:ea typeface="Courier New" pitchFamily="34" charset="-122"/>
                <a:cs typeface="Courier New" pitchFamily="34" charset="-120"/>
              </a:rPr>
              <a:t>x is not a function</a:t>
            </a:r>
            <a:endParaRPr lang="en-US" sz="750" dirty="0"/>
          </a:p>
        </p:txBody>
      </p:sp>
      <p:sp>
        <p:nvSpPr>
          <p:cNvPr id="22" name="Shape 20"/>
          <p:cNvSpPr/>
          <p:nvPr/>
        </p:nvSpPr>
        <p:spPr>
          <a:xfrm>
            <a:off x="3703320" y="2359152"/>
            <a:ext cx="4946904" cy="256032"/>
          </a:xfrm>
          <a:prstGeom prst="rect">
            <a:avLst/>
          </a:prstGeom>
          <a:solidFill>
            <a:srgbClr val="FFFFFF"/>
          </a:solidFill>
          <a:ln w="6350">
            <a:solidFill>
              <a:srgbClr val="E3E9F0"/>
            </a:solidFill>
            <a:prstDash val="solid"/>
          </a:ln>
        </p:spPr>
        <p:txBody>
          <a:bodyPr/>
          <a:lstStyle/>
          <a:p>
            <a:endParaRPr lang="en-US"/>
          </a:p>
        </p:txBody>
      </p:sp>
      <p:sp>
        <p:nvSpPr>
          <p:cNvPr id="23" name="Text 21"/>
          <p:cNvSpPr/>
          <p:nvPr/>
        </p:nvSpPr>
        <p:spPr>
          <a:xfrm>
            <a:off x="3794760" y="2359152"/>
            <a:ext cx="4782312" cy="256032"/>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 typo, or you called it on the wrong kind of thing.</a:t>
            </a:r>
            <a:endParaRPr lang="en-US" sz="850" dirty="0"/>
          </a:p>
        </p:txBody>
      </p:sp>
      <p:sp>
        <p:nvSpPr>
          <p:cNvPr id="24" name="Shape 22"/>
          <p:cNvSpPr/>
          <p:nvPr/>
        </p:nvSpPr>
        <p:spPr>
          <a:xfrm>
            <a:off x="457200" y="2633472"/>
            <a:ext cx="3209544" cy="256032"/>
          </a:xfrm>
          <a:prstGeom prst="rect">
            <a:avLst/>
          </a:prstGeom>
          <a:solidFill>
            <a:srgbClr val="EAF6FD"/>
          </a:solidFill>
          <a:ln w="6350">
            <a:solidFill>
              <a:srgbClr val="E3E9F0"/>
            </a:solidFill>
            <a:prstDash val="solid"/>
          </a:ln>
        </p:spPr>
        <p:txBody>
          <a:bodyPr/>
          <a:lstStyle/>
          <a:p>
            <a:endParaRPr lang="en-US"/>
          </a:p>
        </p:txBody>
      </p:sp>
      <p:sp>
        <p:nvSpPr>
          <p:cNvPr id="25" name="Text 23"/>
          <p:cNvSpPr/>
          <p:nvPr/>
        </p:nvSpPr>
        <p:spPr>
          <a:xfrm>
            <a:off x="548640" y="2633472"/>
            <a:ext cx="3044952" cy="256032"/>
          </a:xfrm>
          <a:prstGeom prst="rect">
            <a:avLst/>
          </a:prstGeom>
          <a:noFill/>
          <a:ln/>
        </p:spPr>
        <p:txBody>
          <a:bodyPr wrap="square" lIns="0" tIns="0" rIns="0" bIns="0" rtlCol="0" anchor="ctr"/>
          <a:lstStyle/>
          <a:p>
            <a:pPr marL="0" indent="0">
              <a:buNone/>
            </a:pPr>
            <a:r>
              <a:rPr lang="en-US" sz="750" b="1" dirty="0">
                <a:solidFill>
                  <a:srgbClr val="B83232"/>
                </a:solidFill>
                <a:latin typeface="Courier New" pitchFamily="34" charset="0"/>
                <a:ea typeface="Courier New" pitchFamily="34" charset="-122"/>
                <a:cs typeface="Courier New" pitchFamily="34" charset="-120"/>
              </a:rPr>
              <a:t>Unexpected token &lt; in JSON</a:t>
            </a:r>
            <a:endParaRPr lang="en-US" sz="750" dirty="0"/>
          </a:p>
        </p:txBody>
      </p:sp>
      <p:sp>
        <p:nvSpPr>
          <p:cNvPr id="26" name="Shape 24"/>
          <p:cNvSpPr/>
          <p:nvPr/>
        </p:nvSpPr>
        <p:spPr>
          <a:xfrm>
            <a:off x="3703320" y="2633472"/>
            <a:ext cx="4946904" cy="256032"/>
          </a:xfrm>
          <a:prstGeom prst="rect">
            <a:avLst/>
          </a:prstGeom>
          <a:solidFill>
            <a:srgbClr val="EAF6FD"/>
          </a:solidFill>
          <a:ln w="6350">
            <a:solidFill>
              <a:srgbClr val="E3E9F0"/>
            </a:solidFill>
            <a:prstDash val="solid"/>
          </a:ln>
        </p:spPr>
        <p:txBody>
          <a:bodyPr/>
          <a:lstStyle/>
          <a:p>
            <a:endParaRPr lang="en-US"/>
          </a:p>
        </p:txBody>
      </p:sp>
      <p:sp>
        <p:nvSpPr>
          <p:cNvPr id="27" name="Text 25"/>
          <p:cNvSpPr/>
          <p:nvPr/>
        </p:nvSpPr>
        <p:spPr>
          <a:xfrm>
            <a:off x="3794760" y="2633472"/>
            <a:ext cx="4782312" cy="256032"/>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The server sent an HTML error page, not JSON. Look at the Network tab.</a:t>
            </a:r>
            <a:endParaRPr lang="en-US" sz="850" dirty="0"/>
          </a:p>
        </p:txBody>
      </p:sp>
      <p:sp>
        <p:nvSpPr>
          <p:cNvPr id="28" name="Shape 26"/>
          <p:cNvSpPr/>
          <p:nvPr/>
        </p:nvSpPr>
        <p:spPr>
          <a:xfrm>
            <a:off x="457200" y="2907792"/>
            <a:ext cx="3209544" cy="256032"/>
          </a:xfrm>
          <a:prstGeom prst="rect">
            <a:avLst/>
          </a:prstGeom>
          <a:solidFill>
            <a:srgbClr val="FFFFFF"/>
          </a:solidFill>
          <a:ln w="6350">
            <a:solidFill>
              <a:srgbClr val="E3E9F0"/>
            </a:solidFill>
            <a:prstDash val="solid"/>
          </a:ln>
        </p:spPr>
        <p:txBody>
          <a:bodyPr/>
          <a:lstStyle/>
          <a:p>
            <a:endParaRPr lang="en-US"/>
          </a:p>
        </p:txBody>
      </p:sp>
      <p:sp>
        <p:nvSpPr>
          <p:cNvPr id="29" name="Text 27"/>
          <p:cNvSpPr/>
          <p:nvPr/>
        </p:nvSpPr>
        <p:spPr>
          <a:xfrm>
            <a:off x="548640" y="2907792"/>
            <a:ext cx="3044952" cy="256032"/>
          </a:xfrm>
          <a:prstGeom prst="rect">
            <a:avLst/>
          </a:prstGeom>
          <a:noFill/>
          <a:ln/>
        </p:spPr>
        <p:txBody>
          <a:bodyPr wrap="square" lIns="0" tIns="0" rIns="0" bIns="0" rtlCol="0" anchor="ctr"/>
          <a:lstStyle/>
          <a:p>
            <a:pPr marL="0" indent="0">
              <a:buNone/>
            </a:pPr>
            <a:r>
              <a:rPr lang="en-US" sz="750" b="1" dirty="0">
                <a:solidFill>
                  <a:srgbClr val="B83232"/>
                </a:solidFill>
                <a:latin typeface="Courier New" pitchFamily="34" charset="0"/>
                <a:ea typeface="Courier New" pitchFamily="34" charset="-122"/>
                <a:cs typeface="Courier New" pitchFamily="34" charset="-120"/>
              </a:rPr>
              <a:t>401 Unauthorized</a:t>
            </a:r>
            <a:endParaRPr lang="en-US" sz="750" dirty="0"/>
          </a:p>
        </p:txBody>
      </p:sp>
      <p:sp>
        <p:nvSpPr>
          <p:cNvPr id="30" name="Shape 28"/>
          <p:cNvSpPr/>
          <p:nvPr/>
        </p:nvSpPr>
        <p:spPr>
          <a:xfrm>
            <a:off x="3703320" y="2907792"/>
            <a:ext cx="4946904" cy="256032"/>
          </a:xfrm>
          <a:prstGeom prst="rect">
            <a:avLst/>
          </a:prstGeom>
          <a:solidFill>
            <a:srgbClr val="FFFFFF"/>
          </a:solidFill>
          <a:ln w="6350">
            <a:solidFill>
              <a:srgbClr val="E3E9F0"/>
            </a:solidFill>
            <a:prstDash val="solid"/>
          </a:ln>
        </p:spPr>
        <p:txBody>
          <a:bodyPr/>
          <a:lstStyle/>
          <a:p>
            <a:endParaRPr lang="en-US"/>
          </a:p>
        </p:txBody>
      </p:sp>
      <p:sp>
        <p:nvSpPr>
          <p:cNvPr id="31" name="Text 29"/>
          <p:cNvSpPr/>
          <p:nvPr/>
        </p:nvSpPr>
        <p:spPr>
          <a:xfrm>
            <a:off x="3794760" y="2907792"/>
            <a:ext cx="4782312" cy="256032"/>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Your API key is missing, wrong, or not being sent in the header.</a:t>
            </a:r>
            <a:endParaRPr lang="en-US" sz="850" dirty="0"/>
          </a:p>
        </p:txBody>
      </p:sp>
      <p:sp>
        <p:nvSpPr>
          <p:cNvPr id="32" name="Shape 30"/>
          <p:cNvSpPr/>
          <p:nvPr/>
        </p:nvSpPr>
        <p:spPr>
          <a:xfrm>
            <a:off x="457200" y="3182112"/>
            <a:ext cx="3209544" cy="256032"/>
          </a:xfrm>
          <a:prstGeom prst="rect">
            <a:avLst/>
          </a:prstGeom>
          <a:solidFill>
            <a:srgbClr val="EAF6FD"/>
          </a:solidFill>
          <a:ln w="6350">
            <a:solidFill>
              <a:srgbClr val="E3E9F0"/>
            </a:solidFill>
            <a:prstDash val="solid"/>
          </a:ln>
        </p:spPr>
        <p:txBody>
          <a:bodyPr/>
          <a:lstStyle/>
          <a:p>
            <a:endParaRPr lang="en-US"/>
          </a:p>
        </p:txBody>
      </p:sp>
      <p:sp>
        <p:nvSpPr>
          <p:cNvPr id="33" name="Text 31"/>
          <p:cNvSpPr/>
          <p:nvPr/>
        </p:nvSpPr>
        <p:spPr>
          <a:xfrm>
            <a:off x="548640" y="3182112"/>
            <a:ext cx="3044952" cy="256032"/>
          </a:xfrm>
          <a:prstGeom prst="rect">
            <a:avLst/>
          </a:prstGeom>
          <a:noFill/>
          <a:ln/>
        </p:spPr>
        <p:txBody>
          <a:bodyPr wrap="square" lIns="0" tIns="0" rIns="0" bIns="0" rtlCol="0" anchor="ctr"/>
          <a:lstStyle/>
          <a:p>
            <a:pPr marL="0" indent="0">
              <a:buNone/>
            </a:pPr>
            <a:r>
              <a:rPr lang="en-US" sz="750" b="1" dirty="0">
                <a:solidFill>
                  <a:srgbClr val="B83232"/>
                </a:solidFill>
                <a:latin typeface="Courier New" pitchFamily="34" charset="0"/>
                <a:ea typeface="Courier New" pitchFamily="34" charset="-122"/>
                <a:cs typeface="Courier New" pitchFamily="34" charset="-120"/>
              </a:rPr>
              <a:t>429 Too Many Requests</a:t>
            </a:r>
            <a:endParaRPr lang="en-US" sz="750" dirty="0"/>
          </a:p>
        </p:txBody>
      </p:sp>
      <p:sp>
        <p:nvSpPr>
          <p:cNvPr id="34" name="Shape 32"/>
          <p:cNvSpPr/>
          <p:nvPr/>
        </p:nvSpPr>
        <p:spPr>
          <a:xfrm>
            <a:off x="3703320" y="3182112"/>
            <a:ext cx="4946904" cy="256032"/>
          </a:xfrm>
          <a:prstGeom prst="rect">
            <a:avLst/>
          </a:prstGeom>
          <a:solidFill>
            <a:srgbClr val="EAF6FD"/>
          </a:solidFill>
          <a:ln w="6350">
            <a:solidFill>
              <a:srgbClr val="E3E9F0"/>
            </a:solidFill>
            <a:prstDash val="solid"/>
          </a:ln>
        </p:spPr>
        <p:txBody>
          <a:bodyPr/>
          <a:lstStyle/>
          <a:p>
            <a:endParaRPr lang="en-US"/>
          </a:p>
        </p:txBody>
      </p:sp>
      <p:sp>
        <p:nvSpPr>
          <p:cNvPr id="35" name="Text 33"/>
          <p:cNvSpPr/>
          <p:nvPr/>
        </p:nvSpPr>
        <p:spPr>
          <a:xfrm>
            <a:off x="3794760" y="3182112"/>
            <a:ext cx="4782312" cy="256032"/>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You hit the rate limit. Slow down, and stop that loop.</a:t>
            </a:r>
            <a:endParaRPr lang="en-US" sz="850" dirty="0"/>
          </a:p>
        </p:txBody>
      </p:sp>
      <p:sp>
        <p:nvSpPr>
          <p:cNvPr id="36" name="Text 34"/>
          <p:cNvSpPr/>
          <p:nvPr/>
        </p:nvSpPr>
        <p:spPr>
          <a:xfrm>
            <a:off x="457200" y="3584448"/>
            <a:ext cx="54864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THE HABIT WORTH BUILDING TODAY</a:t>
            </a:r>
            <a:endParaRPr lang="en-US" sz="800" dirty="0"/>
          </a:p>
        </p:txBody>
      </p:sp>
      <p:sp>
        <p:nvSpPr>
          <p:cNvPr id="37" name="Text 35"/>
          <p:cNvSpPr/>
          <p:nvPr/>
        </p:nvSpPr>
        <p:spPr>
          <a:xfrm>
            <a:off x="457200" y="3785616"/>
            <a:ext cx="8229600" cy="420624"/>
          </a:xfrm>
          <a:prstGeom prst="rect">
            <a:avLst/>
          </a:prstGeom>
          <a:noFill/>
          <a:ln/>
        </p:spPr>
        <p:txBody>
          <a:bodyPr wrap="square" lIns="0" tIns="0" rIns="0" bIns="0" rtlCol="0" anchor="t"/>
          <a:lstStyle/>
          <a:p>
            <a:pPr marL="0" indent="0">
              <a:lnSpc>
                <a:spcPct val="105000"/>
              </a:lnSpc>
              <a:buNone/>
            </a:pPr>
            <a:r>
              <a:rPr lang="en-US" sz="950" dirty="0">
                <a:solidFill>
                  <a:srgbClr val="0B2B3C"/>
                </a:solidFill>
                <a:latin typeface="Calibri" pitchFamily="34" charset="0"/>
                <a:ea typeface="Calibri" pitchFamily="34" charset="-122"/>
                <a:cs typeface="Calibri" pitchFamily="34" charset="-120"/>
              </a:rPr>
              <a:t>Read it. Then say out loud what it means, in your own words, before you change any code. Students who skip that step spend the week guessing — and guessing is much slower than reading.</a:t>
            </a:r>
            <a:endParaRPr lang="en-US" sz="950" dirty="0"/>
          </a:p>
        </p:txBody>
      </p:sp>
      <p:sp>
        <p:nvSpPr>
          <p:cNvPr id="38" name="Shape 36"/>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39" name="Shape 37"/>
          <p:cNvSpPr/>
          <p:nvPr/>
        </p:nvSpPr>
        <p:spPr>
          <a:xfrm>
            <a:off x="457200" y="4334256"/>
            <a:ext cx="54864" cy="512064"/>
          </a:xfrm>
          <a:prstGeom prst="rect">
            <a:avLst/>
          </a:prstGeom>
          <a:solidFill>
            <a:srgbClr val="0087C8"/>
          </a:solidFill>
          <a:ln w="12700">
            <a:solidFill>
              <a:srgbClr val="0087C8"/>
            </a:solidFill>
            <a:prstDash val="solid"/>
          </a:ln>
        </p:spPr>
        <p:txBody>
          <a:bodyPr/>
          <a:lstStyle/>
          <a:p>
            <a:endParaRPr lang="en-US"/>
          </a:p>
        </p:txBody>
      </p:sp>
      <p:sp>
        <p:nvSpPr>
          <p:cNvPr id="40" name="Text 38"/>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This is the single most useful twenty minutes of the week. Every one of these will happen to you before Friday.</a:t>
            </a:r>
            <a:endParaRPr lang="en-US" sz="1000" dirty="0"/>
          </a:p>
        </p:txBody>
      </p:sp>
    </p:spTree>
    <p:extLst>
      <p:ext uri="{BB962C8B-B14F-4D97-AF65-F5344CB8AC3E}">
        <p14:creationId xmlns:p14="http://schemas.microsoft.com/office/powerpoint/2010/main" val="121502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49B"/>
          </a:solidFill>
          <a:ln w="12700">
            <a:solidFill>
              <a:srgbClr val="0084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Waiting Is Normal: async and await</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Text 4"/>
          <p:cNvSpPr/>
          <p:nvPr/>
        </p:nvSpPr>
        <p:spPr>
          <a:xfrm>
            <a:off x="457200" y="969264"/>
            <a:ext cx="36576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THE PROBLEM</a:t>
            </a:r>
            <a:endParaRPr lang="en-US" sz="800" dirty="0"/>
          </a:p>
        </p:txBody>
      </p:sp>
      <p:sp>
        <p:nvSpPr>
          <p:cNvPr id="7" name="Text 5"/>
          <p:cNvSpPr/>
          <p:nvPr/>
        </p:nvSpPr>
        <p:spPr>
          <a:xfrm>
            <a:off x="457200" y="1188720"/>
            <a:ext cx="4023360" cy="475488"/>
          </a:xfrm>
          <a:prstGeom prst="rect">
            <a:avLst/>
          </a:prstGeom>
          <a:noFill/>
          <a:ln/>
        </p:spPr>
        <p:txBody>
          <a:bodyPr wrap="square" lIns="0" tIns="0" rIns="0" bIns="0" rtlCol="0" anchor="t"/>
          <a:lstStyle/>
          <a:p>
            <a:pPr marL="0" indent="0">
              <a:lnSpc>
                <a:spcPct val="105000"/>
              </a:lnSpc>
              <a:buNone/>
            </a:pPr>
            <a:r>
              <a:rPr lang="en-US" sz="950" dirty="0">
                <a:solidFill>
                  <a:srgbClr val="0B2B3C"/>
                </a:solidFill>
                <a:latin typeface="Calibri" pitchFamily="34" charset="0"/>
                <a:ea typeface="Calibri" pitchFamily="34" charset="-122"/>
                <a:cs typeface="Calibri" pitchFamily="34" charset="-120"/>
              </a:rPr>
              <a:t>Asking another computer for something takes time — sometimes a second, sometimes ten. Your code does not stop and wait unless you tell it to.</a:t>
            </a:r>
            <a:endParaRPr lang="en-US" sz="950" dirty="0"/>
          </a:p>
        </p:txBody>
      </p:sp>
      <p:sp>
        <p:nvSpPr>
          <p:cNvPr id="8" name="Shape 6"/>
          <p:cNvSpPr/>
          <p:nvPr/>
        </p:nvSpPr>
        <p:spPr>
          <a:xfrm>
            <a:off x="457200" y="1755648"/>
            <a:ext cx="4023360" cy="1572768"/>
          </a:xfrm>
          <a:prstGeom prst="rect">
            <a:avLst/>
          </a:prstGeom>
          <a:solidFill>
            <a:srgbClr val="0B2B3C"/>
          </a:solidFill>
          <a:ln w="12700">
            <a:solidFill>
              <a:srgbClr val="0B2B3C"/>
            </a:solidFill>
            <a:prstDash val="solid"/>
          </a:ln>
        </p:spPr>
        <p:txBody>
          <a:bodyPr/>
          <a:lstStyle/>
          <a:p>
            <a:endParaRPr lang="en-US"/>
          </a:p>
        </p:txBody>
      </p:sp>
      <p:sp>
        <p:nvSpPr>
          <p:cNvPr id="9" name="Text 7"/>
          <p:cNvSpPr/>
          <p:nvPr/>
        </p:nvSpPr>
        <p:spPr>
          <a:xfrm>
            <a:off x="640080" y="1847088"/>
            <a:ext cx="3694176" cy="1389888"/>
          </a:xfrm>
          <a:prstGeom prst="rect">
            <a:avLst/>
          </a:prstGeom>
          <a:noFill/>
          <a:ln/>
        </p:spPr>
        <p:txBody>
          <a:bodyPr wrap="square" lIns="0" tIns="0" rIns="0" bIns="0" rtlCol="0" anchor="t"/>
          <a:lstStyle/>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async function load()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try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const data = await getData();</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render(data);</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 catch (err)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showError(err);</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a:t>
            </a:r>
            <a:endParaRPr lang="en-US" sz="950" dirty="0"/>
          </a:p>
        </p:txBody>
      </p:sp>
      <p:sp>
        <p:nvSpPr>
          <p:cNvPr id="10" name="Text 8"/>
          <p:cNvSpPr/>
          <p:nvPr/>
        </p:nvSpPr>
        <p:spPr>
          <a:xfrm>
            <a:off x="4681728" y="969264"/>
            <a:ext cx="393192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THREE WORDS, THREE JOBS</a:t>
            </a:r>
            <a:endParaRPr lang="en-US" sz="800" dirty="0"/>
          </a:p>
        </p:txBody>
      </p:sp>
      <p:sp>
        <p:nvSpPr>
          <p:cNvPr id="11" name="Shape 9"/>
          <p:cNvSpPr/>
          <p:nvPr/>
        </p:nvSpPr>
        <p:spPr>
          <a:xfrm>
            <a:off x="4681728" y="1188720"/>
            <a:ext cx="4005072" cy="640080"/>
          </a:xfrm>
          <a:prstGeom prst="rect">
            <a:avLst/>
          </a:prstGeom>
          <a:solidFill>
            <a:srgbClr val="FFFFFF"/>
          </a:solidFill>
          <a:ln w="9525">
            <a:solidFill>
              <a:srgbClr val="E3E9F0"/>
            </a:solidFill>
            <a:prstDash val="solid"/>
          </a:ln>
        </p:spPr>
        <p:txBody>
          <a:bodyPr/>
          <a:lstStyle/>
          <a:p>
            <a:endParaRPr lang="en-US"/>
          </a:p>
        </p:txBody>
      </p:sp>
      <p:sp>
        <p:nvSpPr>
          <p:cNvPr id="12" name="Shape 10"/>
          <p:cNvSpPr/>
          <p:nvPr/>
        </p:nvSpPr>
        <p:spPr>
          <a:xfrm>
            <a:off x="4681728" y="1188720"/>
            <a:ext cx="54864" cy="640080"/>
          </a:xfrm>
          <a:prstGeom prst="rect">
            <a:avLst/>
          </a:prstGeom>
          <a:solidFill>
            <a:srgbClr val="00849B"/>
          </a:solidFill>
          <a:ln w="12700">
            <a:solidFill>
              <a:srgbClr val="00849B"/>
            </a:solidFill>
            <a:prstDash val="solid"/>
          </a:ln>
        </p:spPr>
        <p:txBody>
          <a:bodyPr/>
          <a:lstStyle/>
          <a:p>
            <a:endParaRPr lang="en-US"/>
          </a:p>
        </p:txBody>
      </p:sp>
      <p:sp>
        <p:nvSpPr>
          <p:cNvPr id="13" name="Text 11"/>
          <p:cNvSpPr/>
          <p:nvPr/>
        </p:nvSpPr>
        <p:spPr>
          <a:xfrm>
            <a:off x="4882896" y="1243584"/>
            <a:ext cx="914400" cy="256032"/>
          </a:xfrm>
          <a:prstGeom prst="rect">
            <a:avLst/>
          </a:prstGeom>
          <a:noFill/>
          <a:ln/>
        </p:spPr>
        <p:txBody>
          <a:bodyPr wrap="square" lIns="0" tIns="0" rIns="0" bIns="0" rtlCol="0" anchor="ctr"/>
          <a:lstStyle/>
          <a:p>
            <a:pPr marL="0" indent="0">
              <a:buNone/>
            </a:pPr>
            <a:r>
              <a:rPr lang="en-US" sz="1000" b="1" dirty="0">
                <a:solidFill>
                  <a:srgbClr val="00697E"/>
                </a:solidFill>
                <a:latin typeface="Courier New" pitchFamily="34" charset="0"/>
                <a:ea typeface="Courier New" pitchFamily="34" charset="-122"/>
                <a:cs typeface="Courier New" pitchFamily="34" charset="-120"/>
              </a:rPr>
              <a:t>async</a:t>
            </a:r>
            <a:endParaRPr lang="en-US" sz="1000" dirty="0"/>
          </a:p>
        </p:txBody>
      </p:sp>
      <p:sp>
        <p:nvSpPr>
          <p:cNvPr id="14" name="Text 12"/>
          <p:cNvSpPr/>
          <p:nvPr/>
        </p:nvSpPr>
        <p:spPr>
          <a:xfrm>
            <a:off x="5815584" y="1243584"/>
            <a:ext cx="2761488" cy="256032"/>
          </a:xfrm>
          <a:prstGeom prst="rect">
            <a:avLst/>
          </a:prstGeom>
          <a:noFill/>
          <a:ln/>
        </p:spPr>
        <p:txBody>
          <a:bodyPr wrap="square" lIns="0" tIns="0" rIns="0" bIns="0" rtlCol="0" anchor="ctr"/>
          <a:lstStyle/>
          <a:p>
            <a:pPr marL="0" indent="0">
              <a:buNone/>
            </a:pPr>
            <a:r>
              <a:rPr lang="en-US" sz="850" b="1" dirty="0">
                <a:solidFill>
                  <a:srgbClr val="0B2B3C"/>
                </a:solidFill>
                <a:latin typeface="Calibri" pitchFamily="34" charset="0"/>
                <a:ea typeface="Calibri" pitchFamily="34" charset="-122"/>
                <a:cs typeface="Calibri" pitchFamily="34" charset="-120"/>
              </a:rPr>
              <a:t>"this function contains a wait"</a:t>
            </a:r>
            <a:endParaRPr lang="en-US" sz="850" dirty="0"/>
          </a:p>
        </p:txBody>
      </p:sp>
      <p:sp>
        <p:nvSpPr>
          <p:cNvPr id="15" name="Text 13"/>
          <p:cNvSpPr/>
          <p:nvPr/>
        </p:nvSpPr>
        <p:spPr>
          <a:xfrm>
            <a:off x="4882896" y="1499616"/>
            <a:ext cx="3675888" cy="274320"/>
          </a:xfrm>
          <a:prstGeom prst="rect">
            <a:avLst/>
          </a:prstGeom>
          <a:noFill/>
          <a:ln/>
        </p:spPr>
        <p:txBody>
          <a:bodyPr wrap="square" lIns="0" tIns="0" rIns="0" bIns="0" rtlCol="0" anchor="ctr"/>
          <a:lstStyle/>
          <a:p>
            <a:pPr marL="0" indent="0">
              <a:buNone/>
            </a:pPr>
            <a:r>
              <a:rPr lang="en-US" sz="800" dirty="0">
                <a:solidFill>
                  <a:srgbClr val="4E6E7D"/>
                </a:solidFill>
                <a:latin typeface="Calibri" pitchFamily="34" charset="0"/>
                <a:ea typeface="Calibri" pitchFamily="34" charset="-122"/>
                <a:cs typeface="Calibri" pitchFamily="34" charset="-120"/>
              </a:rPr>
              <a:t>Goes in front of the function. Nothing else.</a:t>
            </a:r>
            <a:endParaRPr lang="en-US" sz="800" dirty="0"/>
          </a:p>
        </p:txBody>
      </p:sp>
      <p:sp>
        <p:nvSpPr>
          <p:cNvPr id="16" name="Shape 14"/>
          <p:cNvSpPr/>
          <p:nvPr/>
        </p:nvSpPr>
        <p:spPr>
          <a:xfrm>
            <a:off x="4681728" y="1920240"/>
            <a:ext cx="4005072" cy="640080"/>
          </a:xfrm>
          <a:prstGeom prst="rect">
            <a:avLst/>
          </a:prstGeom>
          <a:solidFill>
            <a:srgbClr val="FFFFFF"/>
          </a:solidFill>
          <a:ln w="9525">
            <a:solidFill>
              <a:srgbClr val="E3E9F0"/>
            </a:solidFill>
            <a:prstDash val="solid"/>
          </a:ln>
        </p:spPr>
        <p:txBody>
          <a:bodyPr/>
          <a:lstStyle/>
          <a:p>
            <a:endParaRPr lang="en-US"/>
          </a:p>
        </p:txBody>
      </p:sp>
      <p:sp>
        <p:nvSpPr>
          <p:cNvPr id="17" name="Shape 15"/>
          <p:cNvSpPr/>
          <p:nvPr/>
        </p:nvSpPr>
        <p:spPr>
          <a:xfrm>
            <a:off x="4681728" y="1920240"/>
            <a:ext cx="54864" cy="640080"/>
          </a:xfrm>
          <a:prstGeom prst="rect">
            <a:avLst/>
          </a:prstGeom>
          <a:solidFill>
            <a:srgbClr val="0087C8"/>
          </a:solidFill>
          <a:ln w="12700">
            <a:solidFill>
              <a:srgbClr val="0087C8"/>
            </a:solidFill>
            <a:prstDash val="solid"/>
          </a:ln>
        </p:spPr>
        <p:txBody>
          <a:bodyPr/>
          <a:lstStyle/>
          <a:p>
            <a:endParaRPr lang="en-US"/>
          </a:p>
        </p:txBody>
      </p:sp>
      <p:sp>
        <p:nvSpPr>
          <p:cNvPr id="18" name="Text 16"/>
          <p:cNvSpPr/>
          <p:nvPr/>
        </p:nvSpPr>
        <p:spPr>
          <a:xfrm>
            <a:off x="4882896" y="1975104"/>
            <a:ext cx="914400" cy="256032"/>
          </a:xfrm>
          <a:prstGeom prst="rect">
            <a:avLst/>
          </a:prstGeom>
          <a:noFill/>
          <a:ln/>
        </p:spPr>
        <p:txBody>
          <a:bodyPr wrap="square" lIns="0" tIns="0" rIns="0" bIns="0" rtlCol="0" anchor="ctr"/>
          <a:lstStyle/>
          <a:p>
            <a:pPr marL="0" indent="0">
              <a:buNone/>
            </a:pPr>
            <a:r>
              <a:rPr lang="en-US" sz="1000" b="1" dirty="0">
                <a:solidFill>
                  <a:srgbClr val="0077A8"/>
                </a:solidFill>
                <a:latin typeface="Courier New" pitchFamily="34" charset="0"/>
                <a:ea typeface="Courier New" pitchFamily="34" charset="-122"/>
                <a:cs typeface="Courier New" pitchFamily="34" charset="-120"/>
              </a:rPr>
              <a:t>await</a:t>
            </a:r>
            <a:endParaRPr lang="en-US" sz="1000" dirty="0"/>
          </a:p>
        </p:txBody>
      </p:sp>
      <p:sp>
        <p:nvSpPr>
          <p:cNvPr id="19" name="Text 17"/>
          <p:cNvSpPr/>
          <p:nvPr/>
        </p:nvSpPr>
        <p:spPr>
          <a:xfrm>
            <a:off x="5815584" y="1975104"/>
            <a:ext cx="2761488" cy="256032"/>
          </a:xfrm>
          <a:prstGeom prst="rect">
            <a:avLst/>
          </a:prstGeom>
          <a:noFill/>
          <a:ln/>
        </p:spPr>
        <p:txBody>
          <a:bodyPr wrap="square" lIns="0" tIns="0" rIns="0" bIns="0" rtlCol="0" anchor="ctr"/>
          <a:lstStyle/>
          <a:p>
            <a:pPr marL="0" indent="0">
              <a:buNone/>
            </a:pPr>
            <a:r>
              <a:rPr lang="en-US" sz="850" b="1" dirty="0">
                <a:solidFill>
                  <a:srgbClr val="0B2B3C"/>
                </a:solidFill>
                <a:latin typeface="Calibri" pitchFamily="34" charset="0"/>
                <a:ea typeface="Calibri" pitchFamily="34" charset="-122"/>
                <a:cs typeface="Calibri" pitchFamily="34" charset="-120"/>
              </a:rPr>
              <a:t>"stop here until this finishes"</a:t>
            </a:r>
            <a:endParaRPr lang="en-US" sz="850" dirty="0"/>
          </a:p>
        </p:txBody>
      </p:sp>
      <p:sp>
        <p:nvSpPr>
          <p:cNvPr id="20" name="Text 18"/>
          <p:cNvSpPr/>
          <p:nvPr/>
        </p:nvSpPr>
        <p:spPr>
          <a:xfrm>
            <a:off x="4882896" y="2231136"/>
            <a:ext cx="3675888" cy="274320"/>
          </a:xfrm>
          <a:prstGeom prst="rect">
            <a:avLst/>
          </a:prstGeom>
          <a:noFill/>
          <a:ln/>
        </p:spPr>
        <p:txBody>
          <a:bodyPr wrap="square" lIns="0" tIns="0" rIns="0" bIns="0" rtlCol="0" anchor="ctr"/>
          <a:lstStyle/>
          <a:p>
            <a:pPr marL="0" indent="0">
              <a:buNone/>
            </a:pPr>
            <a:r>
              <a:rPr lang="en-US" sz="800" dirty="0">
                <a:solidFill>
                  <a:srgbClr val="4E6E7D"/>
                </a:solidFill>
                <a:latin typeface="Calibri" pitchFamily="34" charset="0"/>
                <a:ea typeface="Calibri" pitchFamily="34" charset="-122"/>
                <a:cs typeface="Calibri" pitchFamily="34" charset="-120"/>
              </a:rPr>
              <a:t>Only legal inside an async function.</a:t>
            </a:r>
            <a:endParaRPr lang="en-US" sz="800" dirty="0"/>
          </a:p>
        </p:txBody>
      </p:sp>
      <p:sp>
        <p:nvSpPr>
          <p:cNvPr id="21" name="Shape 19"/>
          <p:cNvSpPr/>
          <p:nvPr/>
        </p:nvSpPr>
        <p:spPr>
          <a:xfrm>
            <a:off x="4681728" y="2651760"/>
            <a:ext cx="4005072" cy="640080"/>
          </a:xfrm>
          <a:prstGeom prst="rect">
            <a:avLst/>
          </a:prstGeom>
          <a:solidFill>
            <a:srgbClr val="FFFFFF"/>
          </a:solidFill>
          <a:ln w="9525">
            <a:solidFill>
              <a:srgbClr val="E3E9F0"/>
            </a:solidFill>
            <a:prstDash val="solid"/>
          </a:ln>
        </p:spPr>
        <p:txBody>
          <a:bodyPr/>
          <a:lstStyle/>
          <a:p>
            <a:endParaRPr lang="en-US"/>
          </a:p>
        </p:txBody>
      </p:sp>
      <p:sp>
        <p:nvSpPr>
          <p:cNvPr id="22" name="Shape 20"/>
          <p:cNvSpPr/>
          <p:nvPr/>
        </p:nvSpPr>
        <p:spPr>
          <a:xfrm>
            <a:off x="4681728" y="2651760"/>
            <a:ext cx="54864" cy="640080"/>
          </a:xfrm>
          <a:prstGeom prst="rect">
            <a:avLst/>
          </a:prstGeom>
          <a:solidFill>
            <a:srgbClr val="B83232"/>
          </a:solidFill>
          <a:ln w="12700">
            <a:solidFill>
              <a:srgbClr val="B83232"/>
            </a:solidFill>
            <a:prstDash val="solid"/>
          </a:ln>
        </p:spPr>
        <p:txBody>
          <a:bodyPr/>
          <a:lstStyle/>
          <a:p>
            <a:endParaRPr lang="en-US"/>
          </a:p>
        </p:txBody>
      </p:sp>
      <p:sp>
        <p:nvSpPr>
          <p:cNvPr id="23" name="Text 21"/>
          <p:cNvSpPr/>
          <p:nvPr/>
        </p:nvSpPr>
        <p:spPr>
          <a:xfrm>
            <a:off x="4882896" y="2706624"/>
            <a:ext cx="914400" cy="256032"/>
          </a:xfrm>
          <a:prstGeom prst="rect">
            <a:avLst/>
          </a:prstGeom>
          <a:noFill/>
          <a:ln/>
        </p:spPr>
        <p:txBody>
          <a:bodyPr wrap="square" lIns="0" tIns="0" rIns="0" bIns="0" rtlCol="0" anchor="ctr"/>
          <a:lstStyle/>
          <a:p>
            <a:pPr marL="0" indent="0">
              <a:buNone/>
            </a:pPr>
            <a:r>
              <a:rPr lang="en-US" sz="1000" b="1" dirty="0">
                <a:solidFill>
                  <a:srgbClr val="B83232"/>
                </a:solidFill>
                <a:latin typeface="Courier New" pitchFamily="34" charset="0"/>
                <a:ea typeface="Courier New" pitchFamily="34" charset="-122"/>
                <a:cs typeface="Courier New" pitchFamily="34" charset="-120"/>
              </a:rPr>
              <a:t>catch</a:t>
            </a:r>
            <a:endParaRPr lang="en-US" sz="1000" dirty="0"/>
          </a:p>
        </p:txBody>
      </p:sp>
      <p:sp>
        <p:nvSpPr>
          <p:cNvPr id="24" name="Text 22"/>
          <p:cNvSpPr/>
          <p:nvPr/>
        </p:nvSpPr>
        <p:spPr>
          <a:xfrm>
            <a:off x="5815584" y="2706624"/>
            <a:ext cx="2761488" cy="256032"/>
          </a:xfrm>
          <a:prstGeom prst="rect">
            <a:avLst/>
          </a:prstGeom>
          <a:noFill/>
          <a:ln/>
        </p:spPr>
        <p:txBody>
          <a:bodyPr wrap="square" lIns="0" tIns="0" rIns="0" bIns="0" rtlCol="0" anchor="ctr"/>
          <a:lstStyle/>
          <a:p>
            <a:pPr marL="0" indent="0">
              <a:buNone/>
            </a:pPr>
            <a:r>
              <a:rPr lang="en-US" sz="850" b="1" dirty="0">
                <a:solidFill>
                  <a:srgbClr val="0B2B3C"/>
                </a:solidFill>
                <a:latin typeface="Calibri" pitchFamily="34" charset="0"/>
                <a:ea typeface="Calibri" pitchFamily="34" charset="-122"/>
                <a:cs typeface="Calibri" pitchFamily="34" charset="-120"/>
              </a:rPr>
              <a:t>"and if it fails, do this instead"</a:t>
            </a:r>
            <a:endParaRPr lang="en-US" sz="850" dirty="0"/>
          </a:p>
        </p:txBody>
      </p:sp>
      <p:sp>
        <p:nvSpPr>
          <p:cNvPr id="25" name="Text 23"/>
          <p:cNvSpPr/>
          <p:nvPr/>
        </p:nvSpPr>
        <p:spPr>
          <a:xfrm>
            <a:off x="4882896" y="2962656"/>
            <a:ext cx="3675888" cy="274320"/>
          </a:xfrm>
          <a:prstGeom prst="rect">
            <a:avLst/>
          </a:prstGeom>
          <a:noFill/>
          <a:ln/>
        </p:spPr>
        <p:txBody>
          <a:bodyPr wrap="square" lIns="0" tIns="0" rIns="0" bIns="0" rtlCol="0" anchor="ctr"/>
          <a:lstStyle/>
          <a:p>
            <a:pPr marL="0" indent="0">
              <a:buNone/>
            </a:pPr>
            <a:r>
              <a:rPr lang="en-US" sz="800" dirty="0">
                <a:solidFill>
                  <a:srgbClr val="4E6E7D"/>
                </a:solidFill>
                <a:latin typeface="Calibri" pitchFamily="34" charset="0"/>
                <a:ea typeface="Calibri" pitchFamily="34" charset="-122"/>
                <a:cs typeface="Calibri" pitchFamily="34" charset="-120"/>
              </a:rPr>
              <a:t>Networks fail. Without this, your app just freezes.</a:t>
            </a:r>
            <a:endParaRPr lang="en-US" sz="800" dirty="0"/>
          </a:p>
        </p:txBody>
      </p:sp>
      <p:sp>
        <p:nvSpPr>
          <p:cNvPr id="26" name="Text 24"/>
          <p:cNvSpPr/>
          <p:nvPr/>
        </p:nvSpPr>
        <p:spPr>
          <a:xfrm>
            <a:off x="457200" y="3529584"/>
            <a:ext cx="8229600" cy="420624"/>
          </a:xfrm>
          <a:prstGeom prst="rect">
            <a:avLst/>
          </a:prstGeom>
          <a:noFill/>
          <a:ln/>
        </p:spPr>
        <p:txBody>
          <a:bodyPr wrap="square" lIns="0" tIns="0" rIns="0" bIns="0" rtlCol="0" anchor="t"/>
          <a:lstStyle/>
          <a:p>
            <a:pPr marL="0" indent="0">
              <a:lnSpc>
                <a:spcPct val="105000"/>
              </a:lnSpc>
              <a:buNone/>
            </a:pPr>
            <a:r>
              <a:rPr lang="en-US" sz="900" i="1" dirty="0">
                <a:solidFill>
                  <a:srgbClr val="4E6E7D"/>
                </a:solidFill>
                <a:latin typeface="Calibri" pitchFamily="34" charset="0"/>
                <a:ea typeface="Calibri" pitchFamily="34" charset="-122"/>
                <a:cs typeface="Calibri" pitchFamily="34" charset="-120"/>
              </a:rPr>
              <a:t>You will see .then() chains all over Stack Overflow. Same idea, older syntax. Read it, do not write it — await is clearer and it is what your codebase will use this week.</a:t>
            </a:r>
            <a:endParaRPr lang="en-US" sz="900" dirty="0"/>
          </a:p>
        </p:txBody>
      </p:sp>
      <p:sp>
        <p:nvSpPr>
          <p:cNvPr id="27" name="Shape 25"/>
          <p:cNvSpPr/>
          <p:nvPr/>
        </p:nvSpPr>
        <p:spPr>
          <a:xfrm>
            <a:off x="457200" y="3913632"/>
            <a:ext cx="8229600" cy="274320"/>
          </a:xfrm>
          <a:prstGeom prst="rect">
            <a:avLst/>
          </a:prstGeom>
          <a:solidFill>
            <a:srgbClr val="FDEAEA"/>
          </a:solidFill>
          <a:ln w="12700">
            <a:solidFill>
              <a:srgbClr val="FDEAEA"/>
            </a:solidFill>
            <a:prstDash val="solid"/>
          </a:ln>
        </p:spPr>
        <p:txBody>
          <a:bodyPr/>
          <a:lstStyle/>
          <a:p>
            <a:endParaRPr lang="en-US"/>
          </a:p>
        </p:txBody>
      </p:sp>
      <p:sp>
        <p:nvSpPr>
          <p:cNvPr id="28" name="Text 26"/>
          <p:cNvSpPr/>
          <p:nvPr/>
        </p:nvSpPr>
        <p:spPr>
          <a:xfrm>
            <a:off x="566928" y="391363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Forget the word await and you will get a Promise on screen instead of your data. It is the most common mistake in this block — and it looks like nonsense until you know it.</a:t>
            </a:r>
            <a:endParaRPr lang="en-US" sz="800" dirty="0"/>
          </a:p>
        </p:txBody>
      </p:sp>
      <p:sp>
        <p:nvSpPr>
          <p:cNvPr id="29" name="Shape 27"/>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30" name="Shape 28"/>
          <p:cNvSpPr/>
          <p:nvPr/>
        </p:nvSpPr>
        <p:spPr>
          <a:xfrm>
            <a:off x="457200" y="4334256"/>
            <a:ext cx="54864" cy="512064"/>
          </a:xfrm>
          <a:prstGeom prst="rect">
            <a:avLst/>
          </a:prstGeom>
          <a:solidFill>
            <a:srgbClr val="00849B"/>
          </a:solidFill>
          <a:ln w="12700">
            <a:solidFill>
              <a:srgbClr val="00849B"/>
            </a:solidFill>
            <a:prstDash val="solid"/>
          </a:ln>
        </p:spPr>
        <p:txBody>
          <a:bodyPr/>
          <a:lstStyle/>
          <a:p>
            <a:endParaRPr lang="en-US"/>
          </a:p>
        </p:txBody>
      </p:sp>
      <p:sp>
        <p:nvSpPr>
          <p:cNvPr id="31" name="Text 29"/>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Every slow thing in software looks like this. Learn the shape once and databases, files, and payments all read the same.</a:t>
            </a:r>
            <a:endParaRPr lang="en-US" sz="1000" dirty="0"/>
          </a:p>
        </p:txBody>
      </p:sp>
    </p:spTree>
    <p:extLst>
      <p:ext uri="{BB962C8B-B14F-4D97-AF65-F5344CB8AC3E}">
        <p14:creationId xmlns:p14="http://schemas.microsoft.com/office/powerpoint/2010/main" val="4029368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49B"/>
          </a:solidFill>
          <a:ln w="12700">
            <a:solidFill>
              <a:srgbClr val="0084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fetch and JSON — Four Lines You Will Write All Week</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005840"/>
            <a:ext cx="4846320" cy="1024128"/>
          </a:xfrm>
          <a:prstGeom prst="rect">
            <a:avLst/>
          </a:prstGeom>
          <a:solidFill>
            <a:srgbClr val="0B2B3C"/>
          </a:solidFill>
          <a:ln w="12700">
            <a:solidFill>
              <a:srgbClr val="0B2B3C"/>
            </a:solidFill>
            <a:prstDash val="solid"/>
          </a:ln>
        </p:spPr>
        <p:txBody>
          <a:bodyPr/>
          <a:lstStyle/>
          <a:p>
            <a:endParaRPr lang="en-US"/>
          </a:p>
        </p:txBody>
      </p:sp>
      <p:sp>
        <p:nvSpPr>
          <p:cNvPr id="7" name="Text 5"/>
          <p:cNvSpPr/>
          <p:nvPr/>
        </p:nvSpPr>
        <p:spPr>
          <a:xfrm>
            <a:off x="640080" y="1097280"/>
            <a:ext cx="4517136" cy="841248"/>
          </a:xfrm>
          <a:prstGeom prst="rect">
            <a:avLst/>
          </a:prstGeom>
          <a:noFill/>
          <a:ln/>
        </p:spPr>
        <p:txBody>
          <a:bodyPr wrap="square" lIns="0" tIns="0" rIns="0" bIns="0" rtlCol="0" anchor="t"/>
          <a:lstStyle/>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const res  = await fetch(url);</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if (!res.ok) throw new Error(res.status);</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const data = await res.json();</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render(data);</a:t>
            </a:r>
            <a:endParaRPr lang="en-US" sz="950" dirty="0"/>
          </a:p>
        </p:txBody>
      </p:sp>
      <p:sp>
        <p:nvSpPr>
          <p:cNvPr id="8" name="Shape 6"/>
          <p:cNvSpPr/>
          <p:nvPr/>
        </p:nvSpPr>
        <p:spPr>
          <a:xfrm>
            <a:off x="5486400" y="1005840"/>
            <a:ext cx="3200400" cy="329184"/>
          </a:xfrm>
          <a:prstGeom prst="rect">
            <a:avLst/>
          </a:prstGeom>
          <a:solidFill>
            <a:srgbClr val="EAF6FD"/>
          </a:solidFill>
          <a:ln w="6350">
            <a:solidFill>
              <a:srgbClr val="E3E9F0"/>
            </a:solidFill>
            <a:prstDash val="solid"/>
          </a:ln>
        </p:spPr>
        <p:txBody>
          <a:bodyPr/>
          <a:lstStyle/>
          <a:p>
            <a:endParaRPr lang="en-US"/>
          </a:p>
        </p:txBody>
      </p:sp>
      <p:sp>
        <p:nvSpPr>
          <p:cNvPr id="9" name="Shape 7"/>
          <p:cNvSpPr/>
          <p:nvPr/>
        </p:nvSpPr>
        <p:spPr>
          <a:xfrm>
            <a:off x="5541264" y="1051560"/>
            <a:ext cx="237744" cy="237744"/>
          </a:xfrm>
          <a:prstGeom prst="rect">
            <a:avLst/>
          </a:prstGeom>
          <a:solidFill>
            <a:srgbClr val="00849B"/>
          </a:solidFill>
          <a:ln w="12700">
            <a:solidFill>
              <a:srgbClr val="00849B"/>
            </a:solidFill>
            <a:prstDash val="solid"/>
          </a:ln>
        </p:spPr>
        <p:txBody>
          <a:bodyPr/>
          <a:lstStyle/>
          <a:p>
            <a:endParaRPr lang="en-US"/>
          </a:p>
        </p:txBody>
      </p:sp>
      <p:sp>
        <p:nvSpPr>
          <p:cNvPr id="10" name="Text 8"/>
          <p:cNvSpPr/>
          <p:nvPr/>
        </p:nvSpPr>
        <p:spPr>
          <a:xfrm>
            <a:off x="5541264" y="1051560"/>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11" name="Text 9"/>
          <p:cNvSpPr/>
          <p:nvPr/>
        </p:nvSpPr>
        <p:spPr>
          <a:xfrm>
            <a:off x="5852160" y="1005840"/>
            <a:ext cx="694944" cy="329184"/>
          </a:xfrm>
          <a:prstGeom prst="rect">
            <a:avLst/>
          </a:prstGeom>
          <a:noFill/>
          <a:ln/>
        </p:spPr>
        <p:txBody>
          <a:bodyPr wrap="square" lIns="0" tIns="0" rIns="0" bIns="0" rtlCol="0" anchor="ctr"/>
          <a:lstStyle/>
          <a:p>
            <a:pPr marL="0" indent="0">
              <a:buNone/>
            </a:pPr>
            <a:r>
              <a:rPr lang="en-US" sz="850" b="1" dirty="0">
                <a:solidFill>
                  <a:srgbClr val="0B2B3C"/>
                </a:solidFill>
                <a:latin typeface="Calibri" pitchFamily="34" charset="0"/>
                <a:ea typeface="Calibri" pitchFamily="34" charset="-122"/>
                <a:cs typeface="Calibri" pitchFamily="34" charset="-120"/>
              </a:rPr>
              <a:t>Send it</a:t>
            </a:r>
            <a:endParaRPr lang="en-US" sz="850" dirty="0"/>
          </a:p>
        </p:txBody>
      </p:sp>
      <p:sp>
        <p:nvSpPr>
          <p:cNvPr id="12" name="Text 10"/>
          <p:cNvSpPr/>
          <p:nvPr/>
        </p:nvSpPr>
        <p:spPr>
          <a:xfrm>
            <a:off x="6565392" y="1005840"/>
            <a:ext cx="2048256" cy="329184"/>
          </a:xfrm>
          <a:prstGeom prst="rect">
            <a:avLst/>
          </a:prstGeom>
          <a:noFill/>
          <a:ln/>
        </p:spPr>
        <p:txBody>
          <a:bodyPr wrap="square" lIns="0" tIns="0" rIns="0" bIns="0" rtlCol="0" anchor="ctr"/>
          <a:lstStyle/>
          <a:p>
            <a:pPr marL="0" indent="0">
              <a:buNone/>
            </a:pPr>
            <a:r>
              <a:rPr lang="en-US" sz="700" dirty="0">
                <a:solidFill>
                  <a:srgbClr val="4E6E7D"/>
                </a:solidFill>
                <a:latin typeface="Calibri" pitchFamily="34" charset="0"/>
                <a:ea typeface="Calibri" pitchFamily="34" charset="-122"/>
                <a:cs typeface="Calibri" pitchFamily="34" charset="-120"/>
              </a:rPr>
              <a:t>and wait for the response headers</a:t>
            </a:r>
            <a:endParaRPr lang="en-US" sz="700" dirty="0"/>
          </a:p>
        </p:txBody>
      </p:sp>
      <p:sp>
        <p:nvSpPr>
          <p:cNvPr id="13" name="Shape 11"/>
          <p:cNvSpPr/>
          <p:nvPr/>
        </p:nvSpPr>
        <p:spPr>
          <a:xfrm>
            <a:off x="5486400" y="1389888"/>
            <a:ext cx="3200400" cy="329184"/>
          </a:xfrm>
          <a:prstGeom prst="rect">
            <a:avLst/>
          </a:prstGeom>
          <a:solidFill>
            <a:srgbClr val="FFFFFF"/>
          </a:solidFill>
          <a:ln w="6350">
            <a:solidFill>
              <a:srgbClr val="E3E9F0"/>
            </a:solidFill>
            <a:prstDash val="solid"/>
          </a:ln>
        </p:spPr>
        <p:txBody>
          <a:bodyPr/>
          <a:lstStyle/>
          <a:p>
            <a:endParaRPr lang="en-US"/>
          </a:p>
        </p:txBody>
      </p:sp>
      <p:sp>
        <p:nvSpPr>
          <p:cNvPr id="14" name="Shape 12"/>
          <p:cNvSpPr/>
          <p:nvPr/>
        </p:nvSpPr>
        <p:spPr>
          <a:xfrm>
            <a:off x="5541264" y="1435608"/>
            <a:ext cx="237744" cy="237744"/>
          </a:xfrm>
          <a:prstGeom prst="rect">
            <a:avLst/>
          </a:prstGeom>
          <a:solidFill>
            <a:srgbClr val="00849B"/>
          </a:solidFill>
          <a:ln w="12700">
            <a:solidFill>
              <a:srgbClr val="00849B"/>
            </a:solidFill>
            <a:prstDash val="solid"/>
          </a:ln>
        </p:spPr>
        <p:txBody>
          <a:bodyPr/>
          <a:lstStyle/>
          <a:p>
            <a:endParaRPr lang="en-US"/>
          </a:p>
        </p:txBody>
      </p:sp>
      <p:sp>
        <p:nvSpPr>
          <p:cNvPr id="15" name="Text 13"/>
          <p:cNvSpPr/>
          <p:nvPr/>
        </p:nvSpPr>
        <p:spPr>
          <a:xfrm>
            <a:off x="5541264" y="1435608"/>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16" name="Text 14"/>
          <p:cNvSpPr/>
          <p:nvPr/>
        </p:nvSpPr>
        <p:spPr>
          <a:xfrm>
            <a:off x="5852160" y="1389888"/>
            <a:ext cx="694944" cy="329184"/>
          </a:xfrm>
          <a:prstGeom prst="rect">
            <a:avLst/>
          </a:prstGeom>
          <a:noFill/>
          <a:ln/>
        </p:spPr>
        <p:txBody>
          <a:bodyPr wrap="square" lIns="0" tIns="0" rIns="0" bIns="0" rtlCol="0" anchor="ctr"/>
          <a:lstStyle/>
          <a:p>
            <a:pPr marL="0" indent="0">
              <a:buNone/>
            </a:pPr>
            <a:r>
              <a:rPr lang="en-US" sz="850" b="1" dirty="0">
                <a:solidFill>
                  <a:srgbClr val="0B2B3C"/>
                </a:solidFill>
                <a:latin typeface="Calibri" pitchFamily="34" charset="0"/>
                <a:ea typeface="Calibri" pitchFamily="34" charset="-122"/>
                <a:cs typeface="Calibri" pitchFamily="34" charset="-120"/>
              </a:rPr>
              <a:t>Check it</a:t>
            </a:r>
            <a:endParaRPr lang="en-US" sz="850" dirty="0"/>
          </a:p>
        </p:txBody>
      </p:sp>
      <p:sp>
        <p:nvSpPr>
          <p:cNvPr id="17" name="Text 15"/>
          <p:cNvSpPr/>
          <p:nvPr/>
        </p:nvSpPr>
        <p:spPr>
          <a:xfrm>
            <a:off x="6565392" y="1389888"/>
            <a:ext cx="2048256" cy="329184"/>
          </a:xfrm>
          <a:prstGeom prst="rect">
            <a:avLst/>
          </a:prstGeom>
          <a:noFill/>
          <a:ln/>
        </p:spPr>
        <p:txBody>
          <a:bodyPr wrap="square" lIns="0" tIns="0" rIns="0" bIns="0" rtlCol="0" anchor="ctr"/>
          <a:lstStyle/>
          <a:p>
            <a:pPr marL="0" indent="0">
              <a:buNone/>
            </a:pPr>
            <a:r>
              <a:rPr lang="en-US" sz="700" dirty="0">
                <a:solidFill>
                  <a:srgbClr val="4E6E7D"/>
                </a:solidFill>
                <a:latin typeface="Calibri" pitchFamily="34" charset="0"/>
                <a:ea typeface="Calibri" pitchFamily="34" charset="-122"/>
                <a:cs typeface="Calibri" pitchFamily="34" charset="-120"/>
              </a:rPr>
              <a:t>because a 404 is a response, not an error</a:t>
            </a:r>
            <a:endParaRPr lang="en-US" sz="700" dirty="0"/>
          </a:p>
        </p:txBody>
      </p:sp>
      <p:sp>
        <p:nvSpPr>
          <p:cNvPr id="18" name="Shape 16"/>
          <p:cNvSpPr/>
          <p:nvPr/>
        </p:nvSpPr>
        <p:spPr>
          <a:xfrm>
            <a:off x="5486400" y="1773936"/>
            <a:ext cx="3200400" cy="329184"/>
          </a:xfrm>
          <a:prstGeom prst="rect">
            <a:avLst/>
          </a:prstGeom>
          <a:solidFill>
            <a:srgbClr val="EAF6FD"/>
          </a:solidFill>
          <a:ln w="6350">
            <a:solidFill>
              <a:srgbClr val="E3E9F0"/>
            </a:solidFill>
            <a:prstDash val="solid"/>
          </a:ln>
        </p:spPr>
        <p:txBody>
          <a:bodyPr/>
          <a:lstStyle/>
          <a:p>
            <a:endParaRPr lang="en-US"/>
          </a:p>
        </p:txBody>
      </p:sp>
      <p:sp>
        <p:nvSpPr>
          <p:cNvPr id="19" name="Shape 17"/>
          <p:cNvSpPr/>
          <p:nvPr/>
        </p:nvSpPr>
        <p:spPr>
          <a:xfrm>
            <a:off x="5541264" y="1819656"/>
            <a:ext cx="237744" cy="237744"/>
          </a:xfrm>
          <a:prstGeom prst="rect">
            <a:avLst/>
          </a:prstGeom>
          <a:solidFill>
            <a:srgbClr val="00849B"/>
          </a:solidFill>
          <a:ln w="12700">
            <a:solidFill>
              <a:srgbClr val="00849B"/>
            </a:solidFill>
            <a:prstDash val="solid"/>
          </a:ln>
        </p:spPr>
        <p:txBody>
          <a:bodyPr/>
          <a:lstStyle/>
          <a:p>
            <a:endParaRPr lang="en-US"/>
          </a:p>
        </p:txBody>
      </p:sp>
      <p:sp>
        <p:nvSpPr>
          <p:cNvPr id="20" name="Text 18"/>
          <p:cNvSpPr/>
          <p:nvPr/>
        </p:nvSpPr>
        <p:spPr>
          <a:xfrm>
            <a:off x="5541264" y="1819656"/>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21" name="Text 19"/>
          <p:cNvSpPr/>
          <p:nvPr/>
        </p:nvSpPr>
        <p:spPr>
          <a:xfrm>
            <a:off x="5852160" y="1773936"/>
            <a:ext cx="694944" cy="329184"/>
          </a:xfrm>
          <a:prstGeom prst="rect">
            <a:avLst/>
          </a:prstGeom>
          <a:noFill/>
          <a:ln/>
        </p:spPr>
        <p:txBody>
          <a:bodyPr wrap="square" lIns="0" tIns="0" rIns="0" bIns="0" rtlCol="0" anchor="ctr"/>
          <a:lstStyle/>
          <a:p>
            <a:pPr marL="0" indent="0">
              <a:buNone/>
            </a:pPr>
            <a:r>
              <a:rPr lang="en-US" sz="850" b="1" dirty="0">
                <a:solidFill>
                  <a:srgbClr val="0B2B3C"/>
                </a:solidFill>
                <a:latin typeface="Calibri" pitchFamily="34" charset="0"/>
                <a:ea typeface="Calibri" pitchFamily="34" charset="-122"/>
                <a:cs typeface="Calibri" pitchFamily="34" charset="-120"/>
              </a:rPr>
              <a:t>Parse it</a:t>
            </a:r>
            <a:endParaRPr lang="en-US" sz="850" dirty="0"/>
          </a:p>
        </p:txBody>
      </p:sp>
      <p:sp>
        <p:nvSpPr>
          <p:cNvPr id="22" name="Text 20"/>
          <p:cNvSpPr/>
          <p:nvPr/>
        </p:nvSpPr>
        <p:spPr>
          <a:xfrm>
            <a:off x="6565392" y="1773936"/>
            <a:ext cx="2048256" cy="329184"/>
          </a:xfrm>
          <a:prstGeom prst="rect">
            <a:avLst/>
          </a:prstGeom>
          <a:noFill/>
          <a:ln/>
        </p:spPr>
        <p:txBody>
          <a:bodyPr wrap="square" lIns="0" tIns="0" rIns="0" bIns="0" rtlCol="0" anchor="ctr"/>
          <a:lstStyle/>
          <a:p>
            <a:pPr marL="0" indent="0">
              <a:buNone/>
            </a:pPr>
            <a:r>
              <a:rPr lang="en-US" sz="700" dirty="0">
                <a:solidFill>
                  <a:srgbClr val="4E6E7D"/>
                </a:solidFill>
                <a:latin typeface="Calibri" pitchFamily="34" charset="0"/>
                <a:ea typeface="Calibri" pitchFamily="34" charset="-122"/>
                <a:cs typeface="Calibri" pitchFamily="34" charset="-120"/>
              </a:rPr>
              <a:t>JSON arrives as text; .json() makes it an object</a:t>
            </a:r>
            <a:endParaRPr lang="en-US" sz="700" dirty="0"/>
          </a:p>
        </p:txBody>
      </p:sp>
      <p:sp>
        <p:nvSpPr>
          <p:cNvPr id="23" name="Shape 21"/>
          <p:cNvSpPr/>
          <p:nvPr/>
        </p:nvSpPr>
        <p:spPr>
          <a:xfrm>
            <a:off x="5486400" y="2157984"/>
            <a:ext cx="3200400" cy="329184"/>
          </a:xfrm>
          <a:prstGeom prst="rect">
            <a:avLst/>
          </a:prstGeom>
          <a:solidFill>
            <a:srgbClr val="FFFFFF"/>
          </a:solidFill>
          <a:ln w="6350">
            <a:solidFill>
              <a:srgbClr val="E3E9F0"/>
            </a:solidFill>
            <a:prstDash val="solid"/>
          </a:ln>
        </p:spPr>
        <p:txBody>
          <a:bodyPr/>
          <a:lstStyle/>
          <a:p>
            <a:endParaRPr lang="en-US"/>
          </a:p>
        </p:txBody>
      </p:sp>
      <p:sp>
        <p:nvSpPr>
          <p:cNvPr id="24" name="Shape 22"/>
          <p:cNvSpPr/>
          <p:nvPr/>
        </p:nvSpPr>
        <p:spPr>
          <a:xfrm>
            <a:off x="5541264" y="2203704"/>
            <a:ext cx="237744" cy="237744"/>
          </a:xfrm>
          <a:prstGeom prst="rect">
            <a:avLst/>
          </a:prstGeom>
          <a:solidFill>
            <a:srgbClr val="00849B"/>
          </a:solidFill>
          <a:ln w="12700">
            <a:solidFill>
              <a:srgbClr val="00849B"/>
            </a:solidFill>
            <a:prstDash val="solid"/>
          </a:ln>
        </p:spPr>
        <p:txBody>
          <a:bodyPr/>
          <a:lstStyle/>
          <a:p>
            <a:endParaRPr lang="en-US"/>
          </a:p>
        </p:txBody>
      </p:sp>
      <p:sp>
        <p:nvSpPr>
          <p:cNvPr id="25" name="Text 23"/>
          <p:cNvSpPr/>
          <p:nvPr/>
        </p:nvSpPr>
        <p:spPr>
          <a:xfrm>
            <a:off x="5541264" y="2203704"/>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4</a:t>
            </a:r>
            <a:endParaRPr lang="en-US" sz="700" dirty="0"/>
          </a:p>
        </p:txBody>
      </p:sp>
      <p:sp>
        <p:nvSpPr>
          <p:cNvPr id="26" name="Text 24"/>
          <p:cNvSpPr/>
          <p:nvPr/>
        </p:nvSpPr>
        <p:spPr>
          <a:xfrm>
            <a:off x="5852160" y="2157984"/>
            <a:ext cx="694944" cy="329184"/>
          </a:xfrm>
          <a:prstGeom prst="rect">
            <a:avLst/>
          </a:prstGeom>
          <a:noFill/>
          <a:ln/>
        </p:spPr>
        <p:txBody>
          <a:bodyPr wrap="square" lIns="0" tIns="0" rIns="0" bIns="0" rtlCol="0" anchor="ctr"/>
          <a:lstStyle/>
          <a:p>
            <a:pPr marL="0" indent="0">
              <a:buNone/>
            </a:pPr>
            <a:r>
              <a:rPr lang="en-US" sz="850" b="1" dirty="0">
                <a:solidFill>
                  <a:srgbClr val="0B2B3C"/>
                </a:solidFill>
                <a:latin typeface="Calibri" pitchFamily="34" charset="0"/>
                <a:ea typeface="Calibri" pitchFamily="34" charset="-122"/>
                <a:cs typeface="Calibri" pitchFamily="34" charset="-120"/>
              </a:rPr>
              <a:t>Use it</a:t>
            </a:r>
            <a:endParaRPr lang="en-US" sz="850" dirty="0"/>
          </a:p>
        </p:txBody>
      </p:sp>
      <p:sp>
        <p:nvSpPr>
          <p:cNvPr id="27" name="Text 25"/>
          <p:cNvSpPr/>
          <p:nvPr/>
        </p:nvSpPr>
        <p:spPr>
          <a:xfrm>
            <a:off x="6565392" y="2157984"/>
            <a:ext cx="2048256" cy="329184"/>
          </a:xfrm>
          <a:prstGeom prst="rect">
            <a:avLst/>
          </a:prstGeom>
          <a:noFill/>
          <a:ln/>
        </p:spPr>
        <p:txBody>
          <a:bodyPr wrap="square" lIns="0" tIns="0" rIns="0" bIns="0" rtlCol="0" anchor="ctr"/>
          <a:lstStyle/>
          <a:p>
            <a:pPr marL="0" indent="0">
              <a:buNone/>
            </a:pPr>
            <a:r>
              <a:rPr lang="en-US" sz="700" dirty="0">
                <a:solidFill>
                  <a:srgbClr val="4E6E7D"/>
                </a:solidFill>
                <a:latin typeface="Calibri" pitchFamily="34" charset="0"/>
                <a:ea typeface="Calibri" pitchFamily="34" charset="-122"/>
                <a:cs typeface="Calibri" pitchFamily="34" charset="-120"/>
              </a:rPr>
              <a:t>now it is a normal JavaScript object</a:t>
            </a:r>
            <a:endParaRPr lang="en-US" sz="700" dirty="0"/>
          </a:p>
        </p:txBody>
      </p:sp>
      <p:sp>
        <p:nvSpPr>
          <p:cNvPr id="28" name="Shape 26"/>
          <p:cNvSpPr/>
          <p:nvPr/>
        </p:nvSpPr>
        <p:spPr>
          <a:xfrm>
            <a:off x="457200" y="2670048"/>
            <a:ext cx="8229600" cy="658368"/>
          </a:xfrm>
          <a:prstGeom prst="rect">
            <a:avLst/>
          </a:prstGeom>
          <a:solidFill>
            <a:srgbClr val="FDEAEA"/>
          </a:solidFill>
          <a:ln w="12700">
            <a:solidFill>
              <a:srgbClr val="FDEAEA"/>
            </a:solidFill>
            <a:prstDash val="solid"/>
          </a:ln>
        </p:spPr>
        <p:txBody>
          <a:bodyPr/>
          <a:lstStyle/>
          <a:p>
            <a:endParaRPr lang="en-US"/>
          </a:p>
        </p:txBody>
      </p:sp>
      <p:sp>
        <p:nvSpPr>
          <p:cNvPr id="29" name="Shape 27"/>
          <p:cNvSpPr/>
          <p:nvPr/>
        </p:nvSpPr>
        <p:spPr>
          <a:xfrm>
            <a:off x="457200" y="2670048"/>
            <a:ext cx="54864" cy="658368"/>
          </a:xfrm>
          <a:prstGeom prst="rect">
            <a:avLst/>
          </a:prstGeom>
          <a:solidFill>
            <a:srgbClr val="B83232"/>
          </a:solidFill>
          <a:ln w="12700">
            <a:solidFill>
              <a:srgbClr val="B83232"/>
            </a:solidFill>
            <a:prstDash val="solid"/>
          </a:ln>
        </p:spPr>
        <p:txBody>
          <a:bodyPr/>
          <a:lstStyle/>
          <a:p>
            <a:endParaRPr lang="en-US"/>
          </a:p>
        </p:txBody>
      </p:sp>
      <p:sp>
        <p:nvSpPr>
          <p:cNvPr id="30" name="Text 28"/>
          <p:cNvSpPr/>
          <p:nvPr/>
        </p:nvSpPr>
        <p:spPr>
          <a:xfrm>
            <a:off x="658368" y="2743200"/>
            <a:ext cx="45720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THE GOTCHA THAT CATCHES EVERYONE</a:t>
            </a:r>
            <a:endParaRPr lang="en-US" sz="800" dirty="0"/>
          </a:p>
        </p:txBody>
      </p:sp>
      <p:sp>
        <p:nvSpPr>
          <p:cNvPr id="31" name="Text 29"/>
          <p:cNvSpPr/>
          <p:nvPr/>
        </p:nvSpPr>
        <p:spPr>
          <a:xfrm>
            <a:off x="658368" y="2944368"/>
            <a:ext cx="7863840" cy="329184"/>
          </a:xfrm>
          <a:prstGeom prst="rect">
            <a:avLst/>
          </a:prstGeom>
          <a:noFill/>
          <a:ln/>
        </p:spPr>
        <p:txBody>
          <a:bodyPr wrap="square" lIns="0" tIns="0" rIns="0" bIns="0" rtlCol="0" anchor="ctr"/>
          <a:lstStyle/>
          <a:p>
            <a:pPr marL="0" indent="0">
              <a:buNone/>
            </a:pPr>
            <a:r>
              <a:rPr lang="en-US" sz="900" dirty="0">
                <a:solidFill>
                  <a:srgbClr val="B83232"/>
                </a:solidFill>
                <a:latin typeface="Calibri" pitchFamily="34" charset="0"/>
                <a:ea typeface="Calibri" pitchFamily="34" charset="-122"/>
                <a:cs typeface="Calibri" pitchFamily="34" charset="-120"/>
              </a:rPr>
              <a:t>fetch does NOT throw on 404 or 500. It resolves happily and hands you an error page. If you skip the res.ok check, you will spend twenty minutes wondering why data is undefined.</a:t>
            </a:r>
            <a:endParaRPr lang="en-US" sz="900" dirty="0"/>
          </a:p>
        </p:txBody>
      </p:sp>
      <p:sp>
        <p:nvSpPr>
          <p:cNvPr id="32" name="Text 30"/>
          <p:cNvSpPr/>
          <p:nvPr/>
        </p:nvSpPr>
        <p:spPr>
          <a:xfrm>
            <a:off x="457200" y="3456432"/>
            <a:ext cx="45720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TWO AWAITS, NOT ONE</a:t>
            </a:r>
            <a:endParaRPr lang="en-US" sz="800" dirty="0"/>
          </a:p>
        </p:txBody>
      </p:sp>
      <p:sp>
        <p:nvSpPr>
          <p:cNvPr id="33" name="Text 31"/>
          <p:cNvSpPr/>
          <p:nvPr/>
        </p:nvSpPr>
        <p:spPr>
          <a:xfrm>
            <a:off x="457200" y="3675888"/>
            <a:ext cx="8229600" cy="420624"/>
          </a:xfrm>
          <a:prstGeom prst="rect">
            <a:avLst/>
          </a:prstGeom>
          <a:noFill/>
          <a:ln/>
        </p:spPr>
        <p:txBody>
          <a:bodyPr wrap="square" lIns="0" tIns="0" rIns="0" bIns="0" rtlCol="0" anchor="t"/>
          <a:lstStyle/>
          <a:p>
            <a:pPr marL="0" indent="0">
              <a:lnSpc>
                <a:spcPct val="105000"/>
              </a:lnSpc>
              <a:buNone/>
            </a:pPr>
            <a:r>
              <a:rPr lang="en-US" sz="950" dirty="0">
                <a:solidFill>
                  <a:srgbClr val="0B2B3C"/>
                </a:solidFill>
                <a:latin typeface="Calibri" pitchFamily="34" charset="0"/>
                <a:ea typeface="Calibri" pitchFamily="34" charset="-122"/>
                <a:cs typeface="Calibri" pitchFamily="34" charset="-120"/>
              </a:rPr>
              <a:t>One await for the response to arrive, and a second for the body to finish being read and parsed. Miss the second and you get a Promise instead of your object.</a:t>
            </a:r>
            <a:endParaRPr lang="en-US" sz="950" dirty="0"/>
          </a:p>
        </p:txBody>
      </p:sp>
      <p:sp>
        <p:nvSpPr>
          <p:cNvPr id="34" name="Shape 32"/>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35" name="Shape 33"/>
          <p:cNvSpPr/>
          <p:nvPr/>
        </p:nvSpPr>
        <p:spPr>
          <a:xfrm>
            <a:off x="457200" y="4334256"/>
            <a:ext cx="54864" cy="512064"/>
          </a:xfrm>
          <a:prstGeom prst="rect">
            <a:avLst/>
          </a:prstGeom>
          <a:solidFill>
            <a:srgbClr val="00849B"/>
          </a:solidFill>
          <a:ln w="12700">
            <a:solidFill>
              <a:srgbClr val="00849B"/>
            </a:solidFill>
            <a:prstDash val="solid"/>
          </a:ln>
        </p:spPr>
        <p:txBody>
          <a:bodyPr/>
          <a:lstStyle/>
          <a:p>
            <a:endParaRPr lang="en-US"/>
          </a:p>
        </p:txBody>
      </p:sp>
      <p:sp>
        <p:nvSpPr>
          <p:cNvPr id="36" name="Text 34"/>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This exact shape sends your record to a language model in the next block. Nothing new is coming — only a different URL.</a:t>
            </a:r>
            <a:endParaRPr lang="en-US" sz="1000" dirty="0"/>
          </a:p>
        </p:txBody>
      </p:sp>
    </p:spTree>
    <p:extLst>
      <p:ext uri="{BB962C8B-B14F-4D97-AF65-F5344CB8AC3E}">
        <p14:creationId xmlns:p14="http://schemas.microsoft.com/office/powerpoint/2010/main" val="563951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49B"/>
          </a:solidFill>
          <a:ln w="12700">
            <a:solidFill>
              <a:srgbClr val="0084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Every Request Has Four States. Build All Four.</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042416"/>
            <a:ext cx="1883664" cy="1353312"/>
          </a:xfrm>
          <a:prstGeom prst="rect">
            <a:avLst/>
          </a:prstGeom>
          <a:solidFill>
            <a:srgbClr val="FFFFFF"/>
          </a:solidFill>
          <a:ln w="9525">
            <a:solidFill>
              <a:srgbClr val="E3E9F0"/>
            </a:solidFill>
            <a:prstDash val="solid"/>
          </a:ln>
        </p:spPr>
        <p:txBody>
          <a:bodyPr/>
          <a:lstStyle/>
          <a:p>
            <a:endParaRPr lang="en-US"/>
          </a:p>
        </p:txBody>
      </p:sp>
      <p:sp>
        <p:nvSpPr>
          <p:cNvPr id="7" name="Shape 5"/>
          <p:cNvSpPr/>
          <p:nvPr/>
        </p:nvSpPr>
        <p:spPr>
          <a:xfrm>
            <a:off x="457200" y="1042416"/>
            <a:ext cx="1883664" cy="292608"/>
          </a:xfrm>
          <a:prstGeom prst="rect">
            <a:avLst/>
          </a:prstGeom>
          <a:solidFill>
            <a:srgbClr val="6E93A5"/>
          </a:solidFill>
          <a:ln w="12700">
            <a:solidFill>
              <a:srgbClr val="6E93A5"/>
            </a:solidFill>
            <a:prstDash val="solid"/>
          </a:ln>
        </p:spPr>
        <p:txBody>
          <a:bodyPr/>
          <a:lstStyle/>
          <a:p>
            <a:endParaRPr lang="en-US"/>
          </a:p>
        </p:txBody>
      </p:sp>
      <p:sp>
        <p:nvSpPr>
          <p:cNvPr id="8" name="Text 6"/>
          <p:cNvSpPr/>
          <p:nvPr/>
        </p:nvSpPr>
        <p:spPr>
          <a:xfrm>
            <a:off x="457200" y="1042416"/>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IDLE</a:t>
            </a:r>
            <a:endParaRPr lang="en-US" sz="900" dirty="0"/>
          </a:p>
        </p:txBody>
      </p:sp>
      <p:sp>
        <p:nvSpPr>
          <p:cNvPr id="9" name="Text 7"/>
          <p:cNvSpPr/>
          <p:nvPr/>
        </p:nvSpPr>
        <p:spPr>
          <a:xfrm>
            <a:off x="603504" y="1408176"/>
            <a:ext cx="1591056" cy="310896"/>
          </a:xfrm>
          <a:prstGeom prst="rect">
            <a:avLst/>
          </a:prstGeom>
          <a:noFill/>
          <a:ln/>
        </p:spPr>
        <p:txBody>
          <a:bodyPr wrap="square" lIns="0" tIns="0" rIns="0" bIns="0" rtlCol="0" anchor="t"/>
          <a:lstStyle/>
          <a:p>
            <a:pPr marL="0" indent="0">
              <a:lnSpc>
                <a:spcPct val="105000"/>
              </a:lnSpc>
              <a:buNone/>
            </a:pPr>
            <a:r>
              <a:rPr lang="en-US" sz="850" b="1" dirty="0">
                <a:solidFill>
                  <a:srgbClr val="0B2B3C"/>
                </a:solidFill>
                <a:latin typeface="Calibri" pitchFamily="34" charset="0"/>
                <a:ea typeface="Calibri" pitchFamily="34" charset="-122"/>
                <a:cs typeface="Calibri" pitchFamily="34" charset="-120"/>
              </a:rPr>
              <a:t>Nothing asked yet</a:t>
            </a:r>
            <a:endParaRPr lang="en-US" sz="850" dirty="0"/>
          </a:p>
        </p:txBody>
      </p:sp>
      <p:sp>
        <p:nvSpPr>
          <p:cNvPr id="10" name="Text 8"/>
          <p:cNvSpPr/>
          <p:nvPr/>
        </p:nvSpPr>
        <p:spPr>
          <a:xfrm>
            <a:off x="603504" y="1755648"/>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4E6E7D"/>
                </a:solidFill>
                <a:latin typeface="Calibri" pitchFamily="34" charset="0"/>
                <a:ea typeface="Calibri" pitchFamily="34" charset="-122"/>
                <a:cs typeface="Calibri" pitchFamily="34" charset="-120"/>
              </a:rPr>
              <a:t>The button, waiting. Enabled and obvious.</a:t>
            </a:r>
            <a:endParaRPr lang="en-US" sz="800" dirty="0"/>
          </a:p>
        </p:txBody>
      </p:sp>
      <p:sp>
        <p:nvSpPr>
          <p:cNvPr id="11" name="Text 9"/>
          <p:cNvSpPr/>
          <p:nvPr/>
        </p:nvSpPr>
        <p:spPr>
          <a:xfrm>
            <a:off x="2377440" y="162763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560320" y="1042416"/>
            <a:ext cx="1883664" cy="1353312"/>
          </a:xfrm>
          <a:prstGeom prst="rect">
            <a:avLst/>
          </a:prstGeom>
          <a:solidFill>
            <a:srgbClr val="FFFFFF"/>
          </a:solidFill>
          <a:ln w="9525">
            <a:solidFill>
              <a:srgbClr val="E3E9F0"/>
            </a:solidFill>
            <a:prstDash val="solid"/>
          </a:ln>
        </p:spPr>
        <p:txBody>
          <a:bodyPr/>
          <a:lstStyle/>
          <a:p>
            <a:endParaRPr lang="en-US"/>
          </a:p>
        </p:txBody>
      </p:sp>
      <p:sp>
        <p:nvSpPr>
          <p:cNvPr id="13" name="Shape 11"/>
          <p:cNvSpPr/>
          <p:nvPr/>
        </p:nvSpPr>
        <p:spPr>
          <a:xfrm>
            <a:off x="2560320" y="1042416"/>
            <a:ext cx="1883664" cy="292608"/>
          </a:xfrm>
          <a:prstGeom prst="rect">
            <a:avLst/>
          </a:prstGeom>
          <a:solidFill>
            <a:srgbClr val="0087C8"/>
          </a:solidFill>
          <a:ln w="12700">
            <a:solidFill>
              <a:srgbClr val="0087C8"/>
            </a:solidFill>
            <a:prstDash val="solid"/>
          </a:ln>
        </p:spPr>
        <p:txBody>
          <a:bodyPr/>
          <a:lstStyle/>
          <a:p>
            <a:endParaRPr lang="en-US"/>
          </a:p>
        </p:txBody>
      </p:sp>
      <p:sp>
        <p:nvSpPr>
          <p:cNvPr id="14" name="Text 12"/>
          <p:cNvSpPr/>
          <p:nvPr/>
        </p:nvSpPr>
        <p:spPr>
          <a:xfrm>
            <a:off x="2560320" y="1042416"/>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LOADING</a:t>
            </a:r>
            <a:endParaRPr lang="en-US" sz="900" dirty="0"/>
          </a:p>
        </p:txBody>
      </p:sp>
      <p:sp>
        <p:nvSpPr>
          <p:cNvPr id="15" name="Text 13"/>
          <p:cNvSpPr/>
          <p:nvPr/>
        </p:nvSpPr>
        <p:spPr>
          <a:xfrm>
            <a:off x="2706624" y="1408176"/>
            <a:ext cx="1591056" cy="310896"/>
          </a:xfrm>
          <a:prstGeom prst="rect">
            <a:avLst/>
          </a:prstGeom>
          <a:noFill/>
          <a:ln/>
        </p:spPr>
        <p:txBody>
          <a:bodyPr wrap="square" lIns="0" tIns="0" rIns="0" bIns="0" rtlCol="0" anchor="t"/>
          <a:lstStyle/>
          <a:p>
            <a:pPr marL="0" indent="0">
              <a:lnSpc>
                <a:spcPct val="105000"/>
              </a:lnSpc>
              <a:buNone/>
            </a:pPr>
            <a:r>
              <a:rPr lang="en-US" sz="850" b="1" dirty="0">
                <a:solidFill>
                  <a:srgbClr val="0B2B3C"/>
                </a:solidFill>
                <a:latin typeface="Calibri" pitchFamily="34" charset="0"/>
                <a:ea typeface="Calibri" pitchFamily="34" charset="-122"/>
                <a:cs typeface="Calibri" pitchFamily="34" charset="-120"/>
              </a:rPr>
              <a:t>You asked, no answer yet</a:t>
            </a:r>
            <a:endParaRPr lang="en-US" sz="850" dirty="0"/>
          </a:p>
        </p:txBody>
      </p:sp>
      <p:sp>
        <p:nvSpPr>
          <p:cNvPr id="16" name="Text 14"/>
          <p:cNvSpPr/>
          <p:nvPr/>
        </p:nvSpPr>
        <p:spPr>
          <a:xfrm>
            <a:off x="2706624" y="1755648"/>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4E6E7D"/>
                </a:solidFill>
                <a:latin typeface="Calibri" pitchFamily="34" charset="0"/>
                <a:ea typeface="Calibri" pitchFamily="34" charset="-122"/>
                <a:cs typeface="Calibri" pitchFamily="34" charset="-120"/>
              </a:rPr>
              <a:t>Disable the button. Say something. Anything.</a:t>
            </a:r>
            <a:endParaRPr lang="en-US" sz="800" dirty="0"/>
          </a:p>
        </p:txBody>
      </p:sp>
      <p:sp>
        <p:nvSpPr>
          <p:cNvPr id="17" name="Text 15"/>
          <p:cNvSpPr/>
          <p:nvPr/>
        </p:nvSpPr>
        <p:spPr>
          <a:xfrm>
            <a:off x="4480560" y="162763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663440" y="1042416"/>
            <a:ext cx="1883664" cy="1353312"/>
          </a:xfrm>
          <a:prstGeom prst="rect">
            <a:avLst/>
          </a:prstGeom>
          <a:solidFill>
            <a:srgbClr val="FFFFFF"/>
          </a:solidFill>
          <a:ln w="9525">
            <a:solidFill>
              <a:srgbClr val="E3E9F0"/>
            </a:solidFill>
            <a:prstDash val="solid"/>
          </a:ln>
        </p:spPr>
        <p:txBody>
          <a:bodyPr/>
          <a:lstStyle/>
          <a:p>
            <a:endParaRPr lang="en-US"/>
          </a:p>
        </p:txBody>
      </p:sp>
      <p:sp>
        <p:nvSpPr>
          <p:cNvPr id="19" name="Shape 17"/>
          <p:cNvSpPr/>
          <p:nvPr/>
        </p:nvSpPr>
        <p:spPr>
          <a:xfrm>
            <a:off x="4663440" y="1042416"/>
            <a:ext cx="1883664" cy="292608"/>
          </a:xfrm>
          <a:prstGeom prst="rect">
            <a:avLst/>
          </a:prstGeom>
          <a:solidFill>
            <a:srgbClr val="00849B"/>
          </a:solidFill>
          <a:ln w="12700">
            <a:solidFill>
              <a:srgbClr val="00849B"/>
            </a:solidFill>
            <a:prstDash val="solid"/>
          </a:ln>
        </p:spPr>
        <p:txBody>
          <a:bodyPr/>
          <a:lstStyle/>
          <a:p>
            <a:endParaRPr lang="en-US"/>
          </a:p>
        </p:txBody>
      </p:sp>
      <p:sp>
        <p:nvSpPr>
          <p:cNvPr id="20" name="Text 18"/>
          <p:cNvSpPr/>
          <p:nvPr/>
        </p:nvSpPr>
        <p:spPr>
          <a:xfrm>
            <a:off x="4663440" y="1042416"/>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SUCCESS</a:t>
            </a:r>
            <a:endParaRPr lang="en-US" sz="900" dirty="0"/>
          </a:p>
        </p:txBody>
      </p:sp>
      <p:sp>
        <p:nvSpPr>
          <p:cNvPr id="21" name="Text 19"/>
          <p:cNvSpPr/>
          <p:nvPr/>
        </p:nvSpPr>
        <p:spPr>
          <a:xfrm>
            <a:off x="4809744" y="1408176"/>
            <a:ext cx="1591056" cy="310896"/>
          </a:xfrm>
          <a:prstGeom prst="rect">
            <a:avLst/>
          </a:prstGeom>
          <a:noFill/>
          <a:ln/>
        </p:spPr>
        <p:txBody>
          <a:bodyPr wrap="square" lIns="0" tIns="0" rIns="0" bIns="0" rtlCol="0" anchor="t"/>
          <a:lstStyle/>
          <a:p>
            <a:pPr marL="0" indent="0">
              <a:lnSpc>
                <a:spcPct val="105000"/>
              </a:lnSpc>
              <a:buNone/>
            </a:pPr>
            <a:r>
              <a:rPr lang="en-US" sz="850" b="1" dirty="0">
                <a:solidFill>
                  <a:srgbClr val="0B2B3C"/>
                </a:solidFill>
                <a:latin typeface="Calibri" pitchFamily="34" charset="0"/>
                <a:ea typeface="Calibri" pitchFamily="34" charset="-122"/>
                <a:cs typeface="Calibri" pitchFamily="34" charset="-120"/>
              </a:rPr>
              <a:t>It worked</a:t>
            </a:r>
            <a:endParaRPr lang="en-US" sz="850" dirty="0"/>
          </a:p>
        </p:txBody>
      </p:sp>
      <p:sp>
        <p:nvSpPr>
          <p:cNvPr id="22" name="Text 20"/>
          <p:cNvSpPr/>
          <p:nvPr/>
        </p:nvSpPr>
        <p:spPr>
          <a:xfrm>
            <a:off x="4809744" y="1755648"/>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4E6E7D"/>
                </a:solidFill>
                <a:latin typeface="Calibri" pitchFamily="34" charset="0"/>
                <a:ea typeface="Calibri" pitchFamily="34" charset="-122"/>
                <a:cs typeface="Calibri" pitchFamily="34" charset="-120"/>
              </a:rPr>
              <a:t>Show the result. Re-enable the button.</a:t>
            </a:r>
            <a:endParaRPr lang="en-US" sz="800" dirty="0"/>
          </a:p>
        </p:txBody>
      </p:sp>
      <p:sp>
        <p:nvSpPr>
          <p:cNvPr id="23" name="Text 21"/>
          <p:cNvSpPr/>
          <p:nvPr/>
        </p:nvSpPr>
        <p:spPr>
          <a:xfrm>
            <a:off x="6583680" y="162763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766560" y="1042416"/>
            <a:ext cx="1883664" cy="1353312"/>
          </a:xfrm>
          <a:prstGeom prst="rect">
            <a:avLst/>
          </a:prstGeom>
          <a:solidFill>
            <a:srgbClr val="FFFFFF"/>
          </a:solidFill>
          <a:ln w="9525">
            <a:solidFill>
              <a:srgbClr val="E3E9F0"/>
            </a:solidFill>
            <a:prstDash val="solid"/>
          </a:ln>
        </p:spPr>
        <p:txBody>
          <a:bodyPr/>
          <a:lstStyle/>
          <a:p>
            <a:endParaRPr lang="en-US"/>
          </a:p>
        </p:txBody>
      </p:sp>
      <p:sp>
        <p:nvSpPr>
          <p:cNvPr id="25" name="Shape 23"/>
          <p:cNvSpPr/>
          <p:nvPr/>
        </p:nvSpPr>
        <p:spPr>
          <a:xfrm>
            <a:off x="6766560" y="1042416"/>
            <a:ext cx="1883664" cy="292608"/>
          </a:xfrm>
          <a:prstGeom prst="rect">
            <a:avLst/>
          </a:prstGeom>
          <a:solidFill>
            <a:srgbClr val="B83232"/>
          </a:solidFill>
          <a:ln w="12700">
            <a:solidFill>
              <a:srgbClr val="B83232"/>
            </a:solidFill>
            <a:prstDash val="solid"/>
          </a:ln>
        </p:spPr>
        <p:txBody>
          <a:bodyPr/>
          <a:lstStyle/>
          <a:p>
            <a:endParaRPr lang="en-US"/>
          </a:p>
        </p:txBody>
      </p:sp>
      <p:sp>
        <p:nvSpPr>
          <p:cNvPr id="26" name="Text 24"/>
          <p:cNvSpPr/>
          <p:nvPr/>
        </p:nvSpPr>
        <p:spPr>
          <a:xfrm>
            <a:off x="6766560" y="1042416"/>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ERROR</a:t>
            </a:r>
            <a:endParaRPr lang="en-US" sz="900" dirty="0"/>
          </a:p>
        </p:txBody>
      </p:sp>
      <p:sp>
        <p:nvSpPr>
          <p:cNvPr id="27" name="Text 25"/>
          <p:cNvSpPr/>
          <p:nvPr/>
        </p:nvSpPr>
        <p:spPr>
          <a:xfrm>
            <a:off x="6912864" y="1408176"/>
            <a:ext cx="1591056" cy="310896"/>
          </a:xfrm>
          <a:prstGeom prst="rect">
            <a:avLst/>
          </a:prstGeom>
          <a:noFill/>
          <a:ln/>
        </p:spPr>
        <p:txBody>
          <a:bodyPr wrap="square" lIns="0" tIns="0" rIns="0" bIns="0" rtlCol="0" anchor="t"/>
          <a:lstStyle/>
          <a:p>
            <a:pPr marL="0" indent="0">
              <a:lnSpc>
                <a:spcPct val="105000"/>
              </a:lnSpc>
              <a:buNone/>
            </a:pPr>
            <a:r>
              <a:rPr lang="en-US" sz="850" b="1" dirty="0">
                <a:solidFill>
                  <a:srgbClr val="0B2B3C"/>
                </a:solidFill>
                <a:latin typeface="Calibri" pitchFamily="34" charset="0"/>
                <a:ea typeface="Calibri" pitchFamily="34" charset="-122"/>
                <a:cs typeface="Calibri" pitchFamily="34" charset="-120"/>
              </a:rPr>
              <a:t>It failed</a:t>
            </a:r>
            <a:endParaRPr lang="en-US" sz="850" dirty="0"/>
          </a:p>
        </p:txBody>
      </p:sp>
      <p:sp>
        <p:nvSpPr>
          <p:cNvPr id="28" name="Text 26"/>
          <p:cNvSpPr/>
          <p:nvPr/>
        </p:nvSpPr>
        <p:spPr>
          <a:xfrm>
            <a:off x="6912864" y="1755648"/>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4E6E7D"/>
                </a:solidFill>
                <a:latin typeface="Calibri" pitchFamily="34" charset="0"/>
                <a:ea typeface="Calibri" pitchFamily="34" charset="-122"/>
                <a:cs typeface="Calibri" pitchFamily="34" charset="-120"/>
              </a:rPr>
              <a:t>Say what failed in human words. Let them retry.</a:t>
            </a:r>
            <a:endParaRPr lang="en-US" sz="800" dirty="0"/>
          </a:p>
        </p:txBody>
      </p:sp>
      <p:sp>
        <p:nvSpPr>
          <p:cNvPr id="29" name="Shape 27"/>
          <p:cNvSpPr/>
          <p:nvPr/>
        </p:nvSpPr>
        <p:spPr>
          <a:xfrm>
            <a:off x="457200" y="2578608"/>
            <a:ext cx="8229600" cy="621792"/>
          </a:xfrm>
          <a:prstGeom prst="rect">
            <a:avLst/>
          </a:prstGeom>
          <a:solidFill>
            <a:srgbClr val="0B2B3C"/>
          </a:solidFill>
          <a:ln w="12700">
            <a:solidFill>
              <a:srgbClr val="0B2B3C"/>
            </a:solidFill>
            <a:prstDash val="solid"/>
          </a:ln>
        </p:spPr>
        <p:txBody>
          <a:bodyPr/>
          <a:lstStyle/>
          <a:p>
            <a:endParaRPr lang="en-US"/>
          </a:p>
        </p:txBody>
      </p:sp>
      <p:sp>
        <p:nvSpPr>
          <p:cNvPr id="30" name="Shape 28"/>
          <p:cNvSpPr/>
          <p:nvPr/>
        </p:nvSpPr>
        <p:spPr>
          <a:xfrm>
            <a:off x="457200" y="2578608"/>
            <a:ext cx="73152" cy="621792"/>
          </a:xfrm>
          <a:prstGeom prst="rect">
            <a:avLst/>
          </a:prstGeom>
          <a:solidFill>
            <a:srgbClr val="00B0F0"/>
          </a:solidFill>
          <a:ln w="12700">
            <a:solidFill>
              <a:srgbClr val="00B0F0"/>
            </a:solidFill>
            <a:prstDash val="solid"/>
          </a:ln>
        </p:spPr>
        <p:txBody>
          <a:bodyPr/>
          <a:lstStyle/>
          <a:p>
            <a:endParaRPr lang="en-US"/>
          </a:p>
        </p:txBody>
      </p:sp>
      <p:sp>
        <p:nvSpPr>
          <p:cNvPr id="31" name="Text 29"/>
          <p:cNvSpPr/>
          <p:nvPr/>
        </p:nvSpPr>
        <p:spPr>
          <a:xfrm>
            <a:off x="731520" y="2578608"/>
            <a:ext cx="7772400" cy="62179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button that does nothing for three seconds is a broken button, as far as your user is concerned.</a:t>
            </a:r>
            <a:endParaRPr lang="en-US" sz="1200" dirty="0"/>
          </a:p>
        </p:txBody>
      </p:sp>
      <p:sp>
        <p:nvSpPr>
          <p:cNvPr id="32" name="Text 30"/>
          <p:cNvSpPr/>
          <p:nvPr/>
        </p:nvSpPr>
        <p:spPr>
          <a:xfrm>
            <a:off x="457200" y="3529584"/>
            <a:ext cx="54864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WHY THIS MATTERS MORE FROM TODAY ONWARDS</a:t>
            </a:r>
            <a:endParaRPr lang="en-US" sz="800" dirty="0"/>
          </a:p>
        </p:txBody>
      </p:sp>
      <p:sp>
        <p:nvSpPr>
          <p:cNvPr id="33" name="Text 31"/>
          <p:cNvSpPr/>
          <p:nvPr/>
        </p:nvSpPr>
        <p:spPr>
          <a:xfrm>
            <a:off x="457200" y="3749040"/>
            <a:ext cx="8229600" cy="457200"/>
          </a:xfrm>
          <a:prstGeom prst="rect">
            <a:avLst/>
          </a:prstGeom>
          <a:noFill/>
          <a:ln/>
        </p:spPr>
        <p:txBody>
          <a:bodyPr wrap="square" lIns="0" tIns="0" rIns="0" bIns="0" rtlCol="0" anchor="t"/>
          <a:lstStyle/>
          <a:p>
            <a:pPr marL="0" indent="0">
              <a:lnSpc>
                <a:spcPct val="105000"/>
              </a:lnSpc>
              <a:buNone/>
            </a:pPr>
            <a:r>
              <a:rPr lang="en-US" sz="950" dirty="0">
                <a:solidFill>
                  <a:srgbClr val="0B2B3C"/>
                </a:solidFill>
                <a:latin typeface="Calibri" pitchFamily="34" charset="0"/>
                <a:ea typeface="Calibri" pitchFamily="34" charset="-122"/>
                <a:cs typeface="Calibri" pitchFamily="34" charset="-120"/>
              </a:rPr>
              <a:t>A normal API answers in under a second. A language model can take five or more. The waiting you are about to build is not decoration — it is the difference between an app that feels broken and one that feels considered.</a:t>
            </a:r>
            <a:endParaRPr lang="en-US" sz="950" dirty="0"/>
          </a:p>
        </p:txBody>
      </p:sp>
      <p:sp>
        <p:nvSpPr>
          <p:cNvPr id="34" name="Shape 32"/>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35" name="Shape 33"/>
          <p:cNvSpPr/>
          <p:nvPr/>
        </p:nvSpPr>
        <p:spPr>
          <a:xfrm>
            <a:off x="457200" y="4334256"/>
            <a:ext cx="54864" cy="512064"/>
          </a:xfrm>
          <a:prstGeom prst="rect">
            <a:avLst/>
          </a:prstGeom>
          <a:solidFill>
            <a:srgbClr val="00849B"/>
          </a:solidFill>
          <a:ln w="12700">
            <a:solidFill>
              <a:srgbClr val="00849B"/>
            </a:solidFill>
            <a:prstDash val="solid"/>
          </a:ln>
        </p:spPr>
        <p:txBody>
          <a:bodyPr/>
          <a:lstStyle/>
          <a:p>
            <a:endParaRPr lang="en-US"/>
          </a:p>
        </p:txBody>
      </p:sp>
      <p:sp>
        <p:nvSpPr>
          <p:cNvPr id="36" name="Text 34"/>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Loading and error states are assessed. They are the cheapest possible way to make a student project look professional.</a:t>
            </a:r>
            <a:endParaRPr lang="en-US" sz="1000" dirty="0"/>
          </a:p>
        </p:txBody>
      </p:sp>
    </p:spTree>
    <p:extLst>
      <p:ext uri="{BB962C8B-B14F-4D97-AF65-F5344CB8AC3E}">
        <p14:creationId xmlns:p14="http://schemas.microsoft.com/office/powerpoint/2010/main" val="644686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6494"/>
          </a:solidFill>
          <a:ln w="12700">
            <a:solidFill>
              <a:srgbClr val="006494"/>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Anatomy of a Chat Completion</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Text 4"/>
          <p:cNvSpPr/>
          <p:nvPr/>
        </p:nvSpPr>
        <p:spPr>
          <a:xfrm>
            <a:off x="457200" y="969264"/>
            <a:ext cx="36576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WHAT YOU SEND</a:t>
            </a:r>
            <a:endParaRPr lang="en-US" sz="800" dirty="0"/>
          </a:p>
        </p:txBody>
      </p:sp>
      <p:sp>
        <p:nvSpPr>
          <p:cNvPr id="7" name="Shape 5"/>
          <p:cNvSpPr/>
          <p:nvPr/>
        </p:nvSpPr>
        <p:spPr>
          <a:xfrm>
            <a:off x="457200" y="1188720"/>
            <a:ext cx="4206240" cy="1700784"/>
          </a:xfrm>
          <a:prstGeom prst="rect">
            <a:avLst/>
          </a:prstGeom>
          <a:solidFill>
            <a:srgbClr val="0B2B3C"/>
          </a:solidFill>
          <a:ln w="12700">
            <a:solidFill>
              <a:srgbClr val="0B2B3C"/>
            </a:solidFill>
            <a:prstDash val="solid"/>
          </a:ln>
        </p:spPr>
        <p:txBody>
          <a:bodyPr/>
          <a:lstStyle/>
          <a:p>
            <a:endParaRPr lang="en-US"/>
          </a:p>
        </p:txBody>
      </p:sp>
      <p:sp>
        <p:nvSpPr>
          <p:cNvPr id="8" name="Text 6"/>
          <p:cNvSpPr/>
          <p:nvPr/>
        </p:nvSpPr>
        <p:spPr>
          <a:xfrm>
            <a:off x="640080" y="1280160"/>
            <a:ext cx="3877056" cy="1517904"/>
          </a:xfrm>
          <a:prstGeom prst="rect">
            <a:avLst/>
          </a:prstGeom>
          <a:noFill/>
          <a:ln/>
        </p:spPr>
        <p:txBody>
          <a:bodyPr wrap="square" lIns="0" tIns="0" rIns="0" bIns="0" rtlCol="0" anchor="t"/>
          <a:lstStyle/>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model: "...",</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messages: [</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 role: "system", content: "..." },</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 role: "user",   content: "..." }</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temperature: 0.2</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a:t>
            </a:r>
            <a:endParaRPr lang="en-US" sz="950" dirty="0"/>
          </a:p>
        </p:txBody>
      </p:sp>
      <p:sp>
        <p:nvSpPr>
          <p:cNvPr id="9" name="Text 7"/>
          <p:cNvSpPr/>
          <p:nvPr/>
        </p:nvSpPr>
        <p:spPr>
          <a:xfrm>
            <a:off x="4791456" y="969264"/>
            <a:ext cx="384048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THE FIELDS THAT MATTER</a:t>
            </a:r>
            <a:endParaRPr lang="en-US" sz="800" dirty="0"/>
          </a:p>
        </p:txBody>
      </p:sp>
      <p:sp>
        <p:nvSpPr>
          <p:cNvPr id="10" name="Shape 8"/>
          <p:cNvSpPr/>
          <p:nvPr/>
        </p:nvSpPr>
        <p:spPr>
          <a:xfrm>
            <a:off x="4791456" y="1188720"/>
            <a:ext cx="3895344" cy="384048"/>
          </a:xfrm>
          <a:prstGeom prst="rect">
            <a:avLst/>
          </a:prstGeom>
          <a:solidFill>
            <a:srgbClr val="FFFFFF"/>
          </a:solidFill>
          <a:ln w="9525">
            <a:solidFill>
              <a:srgbClr val="E3E9F0"/>
            </a:solidFill>
            <a:prstDash val="solid"/>
          </a:ln>
        </p:spPr>
        <p:txBody>
          <a:bodyPr/>
          <a:lstStyle/>
          <a:p>
            <a:endParaRPr lang="en-US"/>
          </a:p>
        </p:txBody>
      </p:sp>
      <p:sp>
        <p:nvSpPr>
          <p:cNvPr id="11" name="Shape 9"/>
          <p:cNvSpPr/>
          <p:nvPr/>
        </p:nvSpPr>
        <p:spPr>
          <a:xfrm>
            <a:off x="4791456" y="1188720"/>
            <a:ext cx="54864" cy="384048"/>
          </a:xfrm>
          <a:prstGeom prst="rect">
            <a:avLst/>
          </a:prstGeom>
          <a:solidFill>
            <a:srgbClr val="006494"/>
          </a:solidFill>
          <a:ln w="12700">
            <a:solidFill>
              <a:srgbClr val="006494"/>
            </a:solidFill>
            <a:prstDash val="solid"/>
          </a:ln>
        </p:spPr>
        <p:txBody>
          <a:bodyPr/>
          <a:lstStyle/>
          <a:p>
            <a:endParaRPr lang="en-US"/>
          </a:p>
        </p:txBody>
      </p:sp>
      <p:sp>
        <p:nvSpPr>
          <p:cNvPr id="12" name="Text 10"/>
          <p:cNvSpPr/>
          <p:nvPr/>
        </p:nvSpPr>
        <p:spPr>
          <a:xfrm>
            <a:off x="4974336" y="1188720"/>
            <a:ext cx="1060704" cy="384048"/>
          </a:xfrm>
          <a:prstGeom prst="rect">
            <a:avLst/>
          </a:prstGeom>
          <a:noFill/>
          <a:ln/>
        </p:spPr>
        <p:txBody>
          <a:bodyPr wrap="square" lIns="0" tIns="0" rIns="0" bIns="0" rtlCol="0" anchor="ctr"/>
          <a:lstStyle/>
          <a:p>
            <a:pPr marL="0" indent="0">
              <a:buNone/>
            </a:pPr>
            <a:r>
              <a:rPr lang="en-US" sz="800" b="1" dirty="0">
                <a:solidFill>
                  <a:srgbClr val="005479"/>
                </a:solidFill>
                <a:latin typeface="Courier New" pitchFamily="34" charset="0"/>
                <a:ea typeface="Courier New" pitchFamily="34" charset="-122"/>
                <a:cs typeface="Courier New" pitchFamily="34" charset="-120"/>
              </a:rPr>
              <a:t>system</a:t>
            </a:r>
            <a:endParaRPr lang="en-US" sz="800" dirty="0"/>
          </a:p>
        </p:txBody>
      </p:sp>
      <p:sp>
        <p:nvSpPr>
          <p:cNvPr id="13" name="Text 11"/>
          <p:cNvSpPr/>
          <p:nvPr/>
        </p:nvSpPr>
        <p:spPr>
          <a:xfrm>
            <a:off x="6053328" y="1188720"/>
            <a:ext cx="2560320" cy="384048"/>
          </a:xfrm>
          <a:prstGeom prst="rect">
            <a:avLst/>
          </a:prstGeom>
          <a:noFill/>
          <a:ln/>
        </p:spPr>
        <p:txBody>
          <a:bodyPr wrap="square" lIns="0" tIns="0" rIns="0" bIns="0" rtlCol="0" anchor="ctr"/>
          <a:lstStyle/>
          <a:p>
            <a:pPr marL="0" indent="0">
              <a:buNone/>
            </a:pPr>
            <a:r>
              <a:rPr lang="en-US" sz="750" dirty="0">
                <a:solidFill>
                  <a:srgbClr val="4E6E7D"/>
                </a:solidFill>
                <a:latin typeface="Calibri" pitchFamily="34" charset="0"/>
                <a:ea typeface="Calibri" pitchFamily="34" charset="-122"/>
                <a:cs typeface="Calibri" pitchFamily="34" charset="-120"/>
              </a:rPr>
              <a:t>The standing instruction. Who it is, what it must always do.</a:t>
            </a:r>
            <a:endParaRPr lang="en-US" sz="750" dirty="0"/>
          </a:p>
        </p:txBody>
      </p:sp>
      <p:sp>
        <p:nvSpPr>
          <p:cNvPr id="14" name="Shape 12"/>
          <p:cNvSpPr/>
          <p:nvPr/>
        </p:nvSpPr>
        <p:spPr>
          <a:xfrm>
            <a:off x="4791456" y="1627632"/>
            <a:ext cx="3895344" cy="384048"/>
          </a:xfrm>
          <a:prstGeom prst="rect">
            <a:avLst/>
          </a:prstGeom>
          <a:solidFill>
            <a:srgbClr val="FFFFFF"/>
          </a:solidFill>
          <a:ln w="9525">
            <a:solidFill>
              <a:srgbClr val="E3E9F0"/>
            </a:solidFill>
            <a:prstDash val="solid"/>
          </a:ln>
        </p:spPr>
        <p:txBody>
          <a:bodyPr/>
          <a:lstStyle/>
          <a:p>
            <a:endParaRPr lang="en-US"/>
          </a:p>
        </p:txBody>
      </p:sp>
      <p:sp>
        <p:nvSpPr>
          <p:cNvPr id="15" name="Shape 13"/>
          <p:cNvSpPr/>
          <p:nvPr/>
        </p:nvSpPr>
        <p:spPr>
          <a:xfrm>
            <a:off x="4791456" y="1627632"/>
            <a:ext cx="54864" cy="384048"/>
          </a:xfrm>
          <a:prstGeom prst="rect">
            <a:avLst/>
          </a:prstGeom>
          <a:solidFill>
            <a:srgbClr val="0087C8"/>
          </a:solidFill>
          <a:ln w="12700">
            <a:solidFill>
              <a:srgbClr val="0087C8"/>
            </a:solidFill>
            <a:prstDash val="solid"/>
          </a:ln>
        </p:spPr>
        <p:txBody>
          <a:bodyPr/>
          <a:lstStyle/>
          <a:p>
            <a:endParaRPr lang="en-US"/>
          </a:p>
        </p:txBody>
      </p:sp>
      <p:sp>
        <p:nvSpPr>
          <p:cNvPr id="16" name="Text 14"/>
          <p:cNvSpPr/>
          <p:nvPr/>
        </p:nvSpPr>
        <p:spPr>
          <a:xfrm>
            <a:off x="4974336" y="1627632"/>
            <a:ext cx="1060704" cy="384048"/>
          </a:xfrm>
          <a:prstGeom prst="rect">
            <a:avLst/>
          </a:prstGeom>
          <a:noFill/>
          <a:ln/>
        </p:spPr>
        <p:txBody>
          <a:bodyPr wrap="square" lIns="0" tIns="0" rIns="0" bIns="0" rtlCol="0" anchor="ctr"/>
          <a:lstStyle/>
          <a:p>
            <a:pPr marL="0" indent="0">
              <a:buNone/>
            </a:pPr>
            <a:r>
              <a:rPr lang="en-US" sz="800" b="1" dirty="0">
                <a:solidFill>
                  <a:srgbClr val="0077A8"/>
                </a:solidFill>
                <a:latin typeface="Courier New" pitchFamily="34" charset="0"/>
                <a:ea typeface="Courier New" pitchFamily="34" charset="-122"/>
                <a:cs typeface="Courier New" pitchFamily="34" charset="-120"/>
              </a:rPr>
              <a:t>user</a:t>
            </a:r>
            <a:endParaRPr lang="en-US" sz="800" dirty="0"/>
          </a:p>
        </p:txBody>
      </p:sp>
      <p:sp>
        <p:nvSpPr>
          <p:cNvPr id="17" name="Text 15"/>
          <p:cNvSpPr/>
          <p:nvPr/>
        </p:nvSpPr>
        <p:spPr>
          <a:xfrm>
            <a:off x="6053328" y="1627632"/>
            <a:ext cx="2560320" cy="384048"/>
          </a:xfrm>
          <a:prstGeom prst="rect">
            <a:avLst/>
          </a:prstGeom>
          <a:noFill/>
          <a:ln/>
        </p:spPr>
        <p:txBody>
          <a:bodyPr wrap="square" lIns="0" tIns="0" rIns="0" bIns="0" rtlCol="0" anchor="ctr"/>
          <a:lstStyle/>
          <a:p>
            <a:pPr marL="0" indent="0">
              <a:buNone/>
            </a:pPr>
            <a:r>
              <a:rPr lang="en-US" sz="750" dirty="0">
                <a:solidFill>
                  <a:srgbClr val="4E6E7D"/>
                </a:solidFill>
                <a:latin typeface="Calibri" pitchFamily="34" charset="0"/>
                <a:ea typeface="Calibri" pitchFamily="34" charset="-122"/>
                <a:cs typeface="Calibri" pitchFamily="34" charset="-120"/>
              </a:rPr>
              <a:t>This one request. Your record's text goes here.</a:t>
            </a:r>
            <a:endParaRPr lang="en-US" sz="750" dirty="0"/>
          </a:p>
        </p:txBody>
      </p:sp>
      <p:sp>
        <p:nvSpPr>
          <p:cNvPr id="18" name="Shape 16"/>
          <p:cNvSpPr/>
          <p:nvPr/>
        </p:nvSpPr>
        <p:spPr>
          <a:xfrm>
            <a:off x="4791456" y="2066544"/>
            <a:ext cx="3895344" cy="384048"/>
          </a:xfrm>
          <a:prstGeom prst="rect">
            <a:avLst/>
          </a:prstGeom>
          <a:solidFill>
            <a:srgbClr val="FFFFFF"/>
          </a:solidFill>
          <a:ln w="9525">
            <a:solidFill>
              <a:srgbClr val="E3E9F0"/>
            </a:solidFill>
            <a:prstDash val="solid"/>
          </a:ln>
        </p:spPr>
        <p:txBody>
          <a:bodyPr/>
          <a:lstStyle/>
          <a:p>
            <a:endParaRPr lang="en-US"/>
          </a:p>
        </p:txBody>
      </p:sp>
      <p:sp>
        <p:nvSpPr>
          <p:cNvPr id="19" name="Shape 17"/>
          <p:cNvSpPr/>
          <p:nvPr/>
        </p:nvSpPr>
        <p:spPr>
          <a:xfrm>
            <a:off x="4791456" y="2066544"/>
            <a:ext cx="54864" cy="384048"/>
          </a:xfrm>
          <a:prstGeom prst="rect">
            <a:avLst/>
          </a:prstGeom>
          <a:solidFill>
            <a:srgbClr val="00849B"/>
          </a:solidFill>
          <a:ln w="12700">
            <a:solidFill>
              <a:srgbClr val="00849B"/>
            </a:solidFill>
            <a:prstDash val="solid"/>
          </a:ln>
        </p:spPr>
        <p:txBody>
          <a:bodyPr/>
          <a:lstStyle/>
          <a:p>
            <a:endParaRPr lang="en-US"/>
          </a:p>
        </p:txBody>
      </p:sp>
      <p:sp>
        <p:nvSpPr>
          <p:cNvPr id="20" name="Text 18"/>
          <p:cNvSpPr/>
          <p:nvPr/>
        </p:nvSpPr>
        <p:spPr>
          <a:xfrm>
            <a:off x="4974336" y="2066544"/>
            <a:ext cx="1060704" cy="384048"/>
          </a:xfrm>
          <a:prstGeom prst="rect">
            <a:avLst/>
          </a:prstGeom>
          <a:noFill/>
          <a:ln/>
        </p:spPr>
        <p:txBody>
          <a:bodyPr wrap="square" lIns="0" tIns="0" rIns="0" bIns="0" rtlCol="0" anchor="ctr"/>
          <a:lstStyle/>
          <a:p>
            <a:pPr marL="0" indent="0">
              <a:buNone/>
            </a:pPr>
            <a:r>
              <a:rPr lang="en-US" sz="800" b="1" dirty="0">
                <a:solidFill>
                  <a:srgbClr val="00697E"/>
                </a:solidFill>
                <a:latin typeface="Courier New" pitchFamily="34" charset="0"/>
                <a:ea typeface="Courier New" pitchFamily="34" charset="-122"/>
                <a:cs typeface="Courier New" pitchFamily="34" charset="-120"/>
              </a:rPr>
              <a:t>temperature</a:t>
            </a:r>
            <a:endParaRPr lang="en-US" sz="800" dirty="0"/>
          </a:p>
        </p:txBody>
      </p:sp>
      <p:sp>
        <p:nvSpPr>
          <p:cNvPr id="21" name="Text 19"/>
          <p:cNvSpPr/>
          <p:nvPr/>
        </p:nvSpPr>
        <p:spPr>
          <a:xfrm>
            <a:off x="6053328" y="2066544"/>
            <a:ext cx="2560320" cy="384048"/>
          </a:xfrm>
          <a:prstGeom prst="rect">
            <a:avLst/>
          </a:prstGeom>
          <a:noFill/>
          <a:ln/>
        </p:spPr>
        <p:txBody>
          <a:bodyPr wrap="square" lIns="0" tIns="0" rIns="0" bIns="0" rtlCol="0" anchor="ctr"/>
          <a:lstStyle/>
          <a:p>
            <a:pPr marL="0" indent="0">
              <a:buNone/>
            </a:pPr>
            <a:r>
              <a:rPr lang="en-US" sz="750" dirty="0">
                <a:solidFill>
                  <a:srgbClr val="4E6E7D"/>
                </a:solidFill>
                <a:latin typeface="Calibri" pitchFamily="34" charset="0"/>
                <a:ea typeface="Calibri" pitchFamily="34" charset="-122"/>
                <a:cs typeface="Calibri" pitchFamily="34" charset="-120"/>
              </a:rPr>
              <a:t>0 for extraction and tagging. Higher only for writing.</a:t>
            </a:r>
            <a:endParaRPr lang="en-US" sz="750" dirty="0"/>
          </a:p>
        </p:txBody>
      </p:sp>
      <p:sp>
        <p:nvSpPr>
          <p:cNvPr id="22" name="Shape 20"/>
          <p:cNvSpPr/>
          <p:nvPr/>
        </p:nvSpPr>
        <p:spPr>
          <a:xfrm>
            <a:off x="4791456" y="2505456"/>
            <a:ext cx="3895344" cy="384048"/>
          </a:xfrm>
          <a:prstGeom prst="rect">
            <a:avLst/>
          </a:prstGeom>
          <a:solidFill>
            <a:srgbClr val="FFFFFF"/>
          </a:solidFill>
          <a:ln w="9525">
            <a:solidFill>
              <a:srgbClr val="E3E9F0"/>
            </a:solidFill>
            <a:prstDash val="solid"/>
          </a:ln>
        </p:spPr>
        <p:txBody>
          <a:bodyPr/>
          <a:lstStyle/>
          <a:p>
            <a:endParaRPr lang="en-US"/>
          </a:p>
        </p:txBody>
      </p:sp>
      <p:sp>
        <p:nvSpPr>
          <p:cNvPr id="23" name="Shape 21"/>
          <p:cNvSpPr/>
          <p:nvPr/>
        </p:nvSpPr>
        <p:spPr>
          <a:xfrm>
            <a:off x="4791456" y="2505456"/>
            <a:ext cx="54864" cy="384048"/>
          </a:xfrm>
          <a:prstGeom prst="rect">
            <a:avLst/>
          </a:prstGeom>
          <a:solidFill>
            <a:srgbClr val="0077A8"/>
          </a:solidFill>
          <a:ln w="12700">
            <a:solidFill>
              <a:srgbClr val="0077A8"/>
            </a:solidFill>
            <a:prstDash val="solid"/>
          </a:ln>
        </p:spPr>
        <p:txBody>
          <a:bodyPr/>
          <a:lstStyle/>
          <a:p>
            <a:endParaRPr lang="en-US"/>
          </a:p>
        </p:txBody>
      </p:sp>
      <p:sp>
        <p:nvSpPr>
          <p:cNvPr id="24" name="Text 22"/>
          <p:cNvSpPr/>
          <p:nvPr/>
        </p:nvSpPr>
        <p:spPr>
          <a:xfrm>
            <a:off x="4974336" y="2505456"/>
            <a:ext cx="1060704" cy="384048"/>
          </a:xfrm>
          <a:prstGeom prst="rect">
            <a:avLst/>
          </a:prstGeom>
          <a:noFill/>
          <a:ln/>
        </p:spPr>
        <p:txBody>
          <a:bodyPr wrap="square" lIns="0" tIns="0" rIns="0" bIns="0" rtlCol="0" anchor="ctr"/>
          <a:lstStyle/>
          <a:p>
            <a:pPr marL="0" indent="0">
              <a:buNone/>
            </a:pPr>
            <a:r>
              <a:rPr lang="en-US" sz="800" b="1" dirty="0">
                <a:solidFill>
                  <a:srgbClr val="0077A8"/>
                </a:solidFill>
                <a:latin typeface="Courier New" pitchFamily="34" charset="0"/>
                <a:ea typeface="Courier New" pitchFamily="34" charset="-122"/>
                <a:cs typeface="Courier New" pitchFamily="34" charset="-120"/>
              </a:rPr>
              <a:t>max_tokens</a:t>
            </a:r>
            <a:endParaRPr lang="en-US" sz="800" dirty="0"/>
          </a:p>
        </p:txBody>
      </p:sp>
      <p:sp>
        <p:nvSpPr>
          <p:cNvPr id="25" name="Text 23"/>
          <p:cNvSpPr/>
          <p:nvPr/>
        </p:nvSpPr>
        <p:spPr>
          <a:xfrm>
            <a:off x="6053328" y="2505456"/>
            <a:ext cx="2560320" cy="384048"/>
          </a:xfrm>
          <a:prstGeom prst="rect">
            <a:avLst/>
          </a:prstGeom>
          <a:noFill/>
          <a:ln/>
        </p:spPr>
        <p:txBody>
          <a:bodyPr wrap="square" lIns="0" tIns="0" rIns="0" bIns="0" rtlCol="0" anchor="ctr"/>
          <a:lstStyle/>
          <a:p>
            <a:pPr marL="0" indent="0">
              <a:buNone/>
            </a:pPr>
            <a:r>
              <a:rPr lang="en-US" sz="750" dirty="0">
                <a:solidFill>
                  <a:srgbClr val="4E6E7D"/>
                </a:solidFill>
                <a:latin typeface="Calibri" pitchFamily="34" charset="0"/>
                <a:ea typeface="Calibri" pitchFamily="34" charset="-122"/>
                <a:cs typeface="Calibri" pitchFamily="34" charset="-120"/>
              </a:rPr>
              <a:t>A ceiling on the answer — and on what you pay.</a:t>
            </a:r>
            <a:endParaRPr lang="en-US" sz="750" dirty="0"/>
          </a:p>
        </p:txBody>
      </p:sp>
      <p:sp>
        <p:nvSpPr>
          <p:cNvPr id="26" name="Text 24"/>
          <p:cNvSpPr/>
          <p:nvPr/>
        </p:nvSpPr>
        <p:spPr>
          <a:xfrm>
            <a:off x="457200" y="3017520"/>
            <a:ext cx="36576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WHAT COMES BACK</a:t>
            </a:r>
            <a:endParaRPr lang="en-US" sz="800" dirty="0"/>
          </a:p>
        </p:txBody>
      </p:sp>
      <p:sp>
        <p:nvSpPr>
          <p:cNvPr id="27" name="Text 25"/>
          <p:cNvSpPr/>
          <p:nvPr/>
        </p:nvSpPr>
        <p:spPr>
          <a:xfrm>
            <a:off x="457200" y="3236976"/>
            <a:ext cx="4206240" cy="274320"/>
          </a:xfrm>
          <a:prstGeom prst="rect">
            <a:avLst/>
          </a:prstGeom>
          <a:noFill/>
          <a:ln/>
        </p:spPr>
        <p:txBody>
          <a:bodyPr wrap="square" lIns="0" tIns="0" rIns="0" bIns="0" rtlCol="0" anchor="ctr"/>
          <a:lstStyle/>
          <a:p>
            <a:pPr marL="0" indent="0">
              <a:buNone/>
            </a:pPr>
            <a:r>
              <a:rPr lang="en-US" sz="1000" b="1" dirty="0">
                <a:solidFill>
                  <a:srgbClr val="005479"/>
                </a:solidFill>
                <a:latin typeface="Courier New" pitchFamily="34" charset="0"/>
                <a:ea typeface="Courier New" pitchFamily="34" charset="-122"/>
                <a:cs typeface="Courier New" pitchFamily="34" charset="-120"/>
              </a:rPr>
              <a:t>res.choices[0].message.content</a:t>
            </a:r>
            <a:endParaRPr lang="en-US" sz="1000" dirty="0"/>
          </a:p>
        </p:txBody>
      </p:sp>
      <p:sp>
        <p:nvSpPr>
          <p:cNvPr id="28" name="Text 26"/>
          <p:cNvSpPr/>
          <p:nvPr/>
        </p:nvSpPr>
        <p:spPr>
          <a:xfrm>
            <a:off x="457200" y="3511296"/>
            <a:ext cx="4206240" cy="256032"/>
          </a:xfrm>
          <a:prstGeom prst="rect">
            <a:avLst/>
          </a:prstGeom>
          <a:noFill/>
          <a:ln/>
        </p:spPr>
        <p:txBody>
          <a:bodyPr wrap="square" lIns="0" tIns="0" rIns="0" bIns="0" rtlCol="0" anchor="ctr"/>
          <a:lstStyle/>
          <a:p>
            <a:pPr marL="0" indent="0">
              <a:buNone/>
            </a:pPr>
            <a:r>
              <a:rPr lang="en-US" sz="850" dirty="0">
                <a:solidFill>
                  <a:srgbClr val="4E6E7D"/>
                </a:solidFill>
                <a:latin typeface="Calibri" pitchFamily="34" charset="0"/>
                <a:ea typeface="Calibri" pitchFamily="34" charset="-122"/>
                <a:cs typeface="Calibri" pitchFamily="34" charset="-120"/>
              </a:rPr>
              <a:t>A string. Always a string. Even when you asked for JSON.</a:t>
            </a:r>
            <a:endParaRPr lang="en-US" sz="850" dirty="0"/>
          </a:p>
        </p:txBody>
      </p:sp>
      <p:sp>
        <p:nvSpPr>
          <p:cNvPr id="29" name="Shape 27"/>
          <p:cNvSpPr/>
          <p:nvPr/>
        </p:nvSpPr>
        <p:spPr>
          <a:xfrm>
            <a:off x="4791456" y="3017520"/>
            <a:ext cx="3895344" cy="786384"/>
          </a:xfrm>
          <a:prstGeom prst="rect">
            <a:avLst/>
          </a:prstGeom>
          <a:solidFill>
            <a:srgbClr val="EAF6FD"/>
          </a:solidFill>
          <a:ln w="12700">
            <a:solidFill>
              <a:srgbClr val="EAF6FD"/>
            </a:solidFill>
            <a:prstDash val="solid"/>
          </a:ln>
        </p:spPr>
        <p:txBody>
          <a:bodyPr/>
          <a:lstStyle/>
          <a:p>
            <a:endParaRPr lang="en-US"/>
          </a:p>
        </p:txBody>
      </p:sp>
      <p:sp>
        <p:nvSpPr>
          <p:cNvPr id="30" name="Shape 28"/>
          <p:cNvSpPr/>
          <p:nvPr/>
        </p:nvSpPr>
        <p:spPr>
          <a:xfrm>
            <a:off x="4791456" y="3017520"/>
            <a:ext cx="54864" cy="786384"/>
          </a:xfrm>
          <a:prstGeom prst="rect">
            <a:avLst/>
          </a:prstGeom>
          <a:solidFill>
            <a:srgbClr val="006494"/>
          </a:solidFill>
          <a:ln w="12700">
            <a:solidFill>
              <a:srgbClr val="006494"/>
            </a:solidFill>
            <a:prstDash val="solid"/>
          </a:ln>
        </p:spPr>
        <p:txBody>
          <a:bodyPr/>
          <a:lstStyle/>
          <a:p>
            <a:endParaRPr lang="en-US"/>
          </a:p>
        </p:txBody>
      </p:sp>
      <p:sp>
        <p:nvSpPr>
          <p:cNvPr id="31" name="Text 29"/>
          <p:cNvSpPr/>
          <p:nvPr/>
        </p:nvSpPr>
        <p:spPr>
          <a:xfrm>
            <a:off x="4974336" y="3090672"/>
            <a:ext cx="3474720" cy="182880"/>
          </a:xfrm>
          <a:prstGeom prst="rect">
            <a:avLst/>
          </a:prstGeom>
          <a:noFill/>
          <a:ln/>
        </p:spPr>
        <p:txBody>
          <a:bodyPr wrap="square" lIns="0" tIns="0" rIns="0" bIns="0" rtlCol="0" anchor="ctr"/>
          <a:lstStyle/>
          <a:p>
            <a:pPr marL="0" indent="0">
              <a:buNone/>
            </a:pPr>
            <a:r>
              <a:rPr lang="en-US" sz="800" b="1" kern="0" spc="120" dirty="0">
                <a:solidFill>
                  <a:srgbClr val="005479"/>
                </a:solidFill>
                <a:latin typeface="Calibri" pitchFamily="34" charset="0"/>
                <a:ea typeface="Calibri" pitchFamily="34" charset="-122"/>
                <a:cs typeface="Calibri" pitchFamily="34" charset="-120"/>
              </a:rPr>
              <a:t>IT HAS NO MEMORY</a:t>
            </a:r>
            <a:endParaRPr lang="en-US" sz="800" dirty="0"/>
          </a:p>
        </p:txBody>
      </p:sp>
      <p:sp>
        <p:nvSpPr>
          <p:cNvPr id="32" name="Text 30"/>
          <p:cNvSpPr/>
          <p:nvPr/>
        </p:nvSpPr>
        <p:spPr>
          <a:xfrm>
            <a:off x="4974336" y="3273552"/>
            <a:ext cx="3566160" cy="457200"/>
          </a:xfrm>
          <a:prstGeom prst="rect">
            <a:avLst/>
          </a:prstGeom>
          <a:noFill/>
          <a:ln/>
        </p:spPr>
        <p:txBody>
          <a:bodyPr wrap="square" lIns="0" tIns="0" rIns="0" bIns="0" rtlCol="0" anchor="t"/>
          <a:lstStyle/>
          <a:p>
            <a:pPr marL="0" indent="0">
              <a:lnSpc>
                <a:spcPct val="105000"/>
              </a:lnSpc>
              <a:buNone/>
            </a:pPr>
            <a:r>
              <a:rPr lang="en-US" sz="800" dirty="0">
                <a:solidFill>
                  <a:srgbClr val="0B2B3C"/>
                </a:solidFill>
                <a:latin typeface="Calibri" pitchFamily="34" charset="0"/>
                <a:ea typeface="Calibri" pitchFamily="34" charset="-122"/>
                <a:cs typeface="Calibri" pitchFamily="34" charset="-120"/>
              </a:rPr>
              <a:t>Every request carries the entire conversation. That is why chats get slower and more expensive the longer they run.</a:t>
            </a:r>
            <a:endParaRPr lang="en-US" sz="800" dirty="0"/>
          </a:p>
        </p:txBody>
      </p:sp>
      <p:sp>
        <p:nvSpPr>
          <p:cNvPr id="33" name="Text 31"/>
          <p:cNvSpPr/>
          <p:nvPr/>
        </p:nvSpPr>
        <p:spPr>
          <a:xfrm>
            <a:off x="457200" y="3895344"/>
            <a:ext cx="8229600" cy="310896"/>
          </a:xfrm>
          <a:prstGeom prst="rect">
            <a:avLst/>
          </a:prstGeom>
          <a:noFill/>
          <a:ln/>
        </p:spPr>
        <p:txBody>
          <a:bodyPr wrap="square" lIns="0" tIns="0" rIns="0" bIns="0" rtlCol="0" anchor="t"/>
          <a:lstStyle/>
          <a:p>
            <a:pPr marL="0" indent="0">
              <a:lnSpc>
                <a:spcPct val="105000"/>
              </a:lnSpc>
              <a:buNone/>
            </a:pPr>
            <a:r>
              <a:rPr lang="en-US" sz="950" i="1" dirty="0">
                <a:solidFill>
                  <a:srgbClr val="4E6E7D"/>
                </a:solidFill>
                <a:latin typeface="Calibri" pitchFamily="34" charset="0"/>
                <a:ea typeface="Calibri" pitchFamily="34" charset="-122"/>
                <a:cs typeface="Calibri" pitchFamily="34" charset="-120"/>
              </a:rPr>
              <a:t>It is the same fetch you wrote in Block 2. A different URL, a key in the header, and an object in the body.</a:t>
            </a:r>
            <a:endParaRPr lang="en-US" sz="950" dirty="0"/>
          </a:p>
        </p:txBody>
      </p:sp>
      <p:sp>
        <p:nvSpPr>
          <p:cNvPr id="34" name="Shape 32"/>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35" name="Shape 33"/>
          <p:cNvSpPr/>
          <p:nvPr/>
        </p:nvSpPr>
        <p:spPr>
          <a:xfrm>
            <a:off x="457200" y="4334256"/>
            <a:ext cx="54864" cy="512064"/>
          </a:xfrm>
          <a:prstGeom prst="rect">
            <a:avLst/>
          </a:prstGeom>
          <a:solidFill>
            <a:srgbClr val="006494"/>
          </a:solidFill>
          <a:ln w="12700">
            <a:solidFill>
              <a:srgbClr val="006494"/>
            </a:solidFill>
            <a:prstDash val="solid"/>
          </a:ln>
        </p:spPr>
        <p:txBody>
          <a:bodyPr/>
          <a:lstStyle/>
          <a:p>
            <a:endParaRPr lang="en-US"/>
          </a:p>
        </p:txBody>
      </p:sp>
      <p:sp>
        <p:nvSpPr>
          <p:cNvPr id="36" name="Text 34"/>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There is no AI library here and no framework. It is an HTTP POST that happens to be answered by a very large model.</a:t>
            </a:r>
            <a:endParaRPr lang="en-US" sz="1000" dirty="0"/>
          </a:p>
        </p:txBody>
      </p:sp>
    </p:spTree>
    <p:extLst>
      <p:ext uri="{BB962C8B-B14F-4D97-AF65-F5344CB8AC3E}">
        <p14:creationId xmlns:p14="http://schemas.microsoft.com/office/powerpoint/2010/main" val="3753936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6494"/>
          </a:solidFill>
          <a:ln w="12700">
            <a:solidFill>
              <a:srgbClr val="006494"/>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Now Open the Network Tab</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024128"/>
            <a:ext cx="1883664" cy="786384"/>
          </a:xfrm>
          <a:prstGeom prst="rect">
            <a:avLst/>
          </a:prstGeom>
          <a:solidFill>
            <a:srgbClr val="FFFFFF"/>
          </a:solidFill>
          <a:ln w="9525">
            <a:solidFill>
              <a:srgbClr val="E3E9F0"/>
            </a:solidFill>
            <a:prstDash val="solid"/>
          </a:ln>
        </p:spPr>
        <p:txBody>
          <a:bodyPr/>
          <a:lstStyle/>
          <a:p>
            <a:endParaRPr lang="en-US"/>
          </a:p>
        </p:txBody>
      </p:sp>
      <p:sp>
        <p:nvSpPr>
          <p:cNvPr id="7" name="Shape 5"/>
          <p:cNvSpPr/>
          <p:nvPr/>
        </p:nvSpPr>
        <p:spPr>
          <a:xfrm>
            <a:off x="457200" y="1024128"/>
            <a:ext cx="54864" cy="786384"/>
          </a:xfrm>
          <a:prstGeom prst="rect">
            <a:avLst/>
          </a:prstGeom>
          <a:solidFill>
            <a:srgbClr val="0087C8"/>
          </a:solidFill>
          <a:ln w="12700">
            <a:solidFill>
              <a:srgbClr val="0087C8"/>
            </a:solidFill>
            <a:prstDash val="solid"/>
          </a:ln>
        </p:spPr>
        <p:txBody>
          <a:bodyPr/>
          <a:lstStyle/>
          <a:p>
            <a:endParaRPr lang="en-US"/>
          </a:p>
        </p:txBody>
      </p:sp>
      <p:sp>
        <p:nvSpPr>
          <p:cNvPr id="8" name="Shape 6"/>
          <p:cNvSpPr/>
          <p:nvPr/>
        </p:nvSpPr>
        <p:spPr>
          <a:xfrm>
            <a:off x="603504" y="1115568"/>
            <a:ext cx="256032" cy="256032"/>
          </a:xfrm>
          <a:prstGeom prst="rect">
            <a:avLst/>
          </a:prstGeom>
          <a:solidFill>
            <a:srgbClr val="0087C8"/>
          </a:solidFill>
          <a:ln w="12700">
            <a:solidFill>
              <a:srgbClr val="0087C8"/>
            </a:solidFill>
            <a:prstDash val="solid"/>
          </a:ln>
        </p:spPr>
        <p:txBody>
          <a:bodyPr/>
          <a:lstStyle/>
          <a:p>
            <a:endParaRPr lang="en-US"/>
          </a:p>
        </p:txBody>
      </p:sp>
      <p:sp>
        <p:nvSpPr>
          <p:cNvPr id="9" name="Text 7"/>
          <p:cNvSpPr/>
          <p:nvPr/>
        </p:nvSpPr>
        <p:spPr>
          <a:xfrm>
            <a:off x="603504" y="1115568"/>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603504" y="1408176"/>
            <a:ext cx="1609344" cy="347472"/>
          </a:xfrm>
          <a:prstGeom prst="rect">
            <a:avLst/>
          </a:prstGeom>
          <a:noFill/>
          <a:ln/>
        </p:spPr>
        <p:txBody>
          <a:bodyPr wrap="square" lIns="0" tIns="0" rIns="0" bIns="0" rtlCol="0" anchor="t"/>
          <a:lstStyle/>
          <a:p>
            <a:pPr marL="0" indent="0">
              <a:lnSpc>
                <a:spcPct val="105000"/>
              </a:lnSpc>
              <a:buNone/>
            </a:pPr>
            <a:r>
              <a:rPr lang="en-US" sz="850" dirty="0">
                <a:solidFill>
                  <a:srgbClr val="0B2B3C"/>
                </a:solidFill>
                <a:latin typeface="Calibri" pitchFamily="34" charset="0"/>
                <a:ea typeface="Calibri" pitchFamily="34" charset="-122"/>
                <a:cs typeface="Calibri" pitchFamily="34" charset="-120"/>
              </a:rPr>
              <a:t>You put your key in your JavaScript</a:t>
            </a:r>
            <a:endParaRPr lang="en-US" sz="850" dirty="0"/>
          </a:p>
        </p:txBody>
      </p:sp>
      <p:sp>
        <p:nvSpPr>
          <p:cNvPr id="11" name="Text 9"/>
          <p:cNvSpPr/>
          <p:nvPr/>
        </p:nvSpPr>
        <p:spPr>
          <a:xfrm>
            <a:off x="2377440" y="130759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560320" y="1024128"/>
            <a:ext cx="1883664" cy="786384"/>
          </a:xfrm>
          <a:prstGeom prst="rect">
            <a:avLst/>
          </a:prstGeom>
          <a:solidFill>
            <a:srgbClr val="FFFFFF"/>
          </a:solidFill>
          <a:ln w="9525">
            <a:solidFill>
              <a:srgbClr val="E3E9F0"/>
            </a:solidFill>
            <a:prstDash val="solid"/>
          </a:ln>
        </p:spPr>
        <p:txBody>
          <a:bodyPr/>
          <a:lstStyle/>
          <a:p>
            <a:endParaRPr lang="en-US"/>
          </a:p>
        </p:txBody>
      </p:sp>
      <p:sp>
        <p:nvSpPr>
          <p:cNvPr id="13" name="Shape 11"/>
          <p:cNvSpPr/>
          <p:nvPr/>
        </p:nvSpPr>
        <p:spPr>
          <a:xfrm>
            <a:off x="2560320" y="1024128"/>
            <a:ext cx="54864" cy="786384"/>
          </a:xfrm>
          <a:prstGeom prst="rect">
            <a:avLst/>
          </a:prstGeom>
          <a:solidFill>
            <a:srgbClr val="00849B"/>
          </a:solidFill>
          <a:ln w="12700">
            <a:solidFill>
              <a:srgbClr val="00849B"/>
            </a:solidFill>
            <a:prstDash val="solid"/>
          </a:ln>
        </p:spPr>
        <p:txBody>
          <a:bodyPr/>
          <a:lstStyle/>
          <a:p>
            <a:endParaRPr lang="en-US"/>
          </a:p>
        </p:txBody>
      </p:sp>
      <p:sp>
        <p:nvSpPr>
          <p:cNvPr id="14" name="Shape 12"/>
          <p:cNvSpPr/>
          <p:nvPr/>
        </p:nvSpPr>
        <p:spPr>
          <a:xfrm>
            <a:off x="2706624" y="1115568"/>
            <a:ext cx="256032" cy="256032"/>
          </a:xfrm>
          <a:prstGeom prst="rect">
            <a:avLst/>
          </a:prstGeom>
          <a:solidFill>
            <a:srgbClr val="00849B"/>
          </a:solidFill>
          <a:ln w="12700">
            <a:solidFill>
              <a:srgbClr val="00849B"/>
            </a:solidFill>
            <a:prstDash val="solid"/>
          </a:ln>
        </p:spPr>
        <p:txBody>
          <a:bodyPr/>
          <a:lstStyle/>
          <a:p>
            <a:endParaRPr lang="en-US"/>
          </a:p>
        </p:txBody>
      </p:sp>
      <p:sp>
        <p:nvSpPr>
          <p:cNvPr id="15" name="Text 13"/>
          <p:cNvSpPr/>
          <p:nvPr/>
        </p:nvSpPr>
        <p:spPr>
          <a:xfrm>
            <a:off x="2706624" y="1115568"/>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6" name="Text 14"/>
          <p:cNvSpPr/>
          <p:nvPr/>
        </p:nvSpPr>
        <p:spPr>
          <a:xfrm>
            <a:off x="2706624" y="1408176"/>
            <a:ext cx="1609344" cy="347472"/>
          </a:xfrm>
          <a:prstGeom prst="rect">
            <a:avLst/>
          </a:prstGeom>
          <a:noFill/>
          <a:ln/>
        </p:spPr>
        <p:txBody>
          <a:bodyPr wrap="square" lIns="0" tIns="0" rIns="0" bIns="0" rtlCol="0" anchor="t"/>
          <a:lstStyle/>
          <a:p>
            <a:pPr marL="0" indent="0">
              <a:lnSpc>
                <a:spcPct val="105000"/>
              </a:lnSpc>
              <a:buNone/>
            </a:pPr>
            <a:r>
              <a:rPr lang="en-US" sz="850" dirty="0">
                <a:solidFill>
                  <a:srgbClr val="0B2B3C"/>
                </a:solidFill>
                <a:latin typeface="Calibri" pitchFamily="34" charset="0"/>
                <a:ea typeface="Calibri" pitchFamily="34" charset="-122"/>
                <a:cs typeface="Calibri" pitchFamily="34" charset="-120"/>
              </a:rPr>
              <a:t>The browser sends it with the request</a:t>
            </a:r>
            <a:endParaRPr lang="en-US" sz="850" dirty="0"/>
          </a:p>
        </p:txBody>
      </p:sp>
      <p:sp>
        <p:nvSpPr>
          <p:cNvPr id="17" name="Text 15"/>
          <p:cNvSpPr/>
          <p:nvPr/>
        </p:nvSpPr>
        <p:spPr>
          <a:xfrm>
            <a:off x="4480560" y="130759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663440" y="1024128"/>
            <a:ext cx="1883664" cy="786384"/>
          </a:xfrm>
          <a:prstGeom prst="rect">
            <a:avLst/>
          </a:prstGeom>
          <a:solidFill>
            <a:srgbClr val="FFFFFF"/>
          </a:solidFill>
          <a:ln w="9525">
            <a:solidFill>
              <a:srgbClr val="E3E9F0"/>
            </a:solidFill>
            <a:prstDash val="solid"/>
          </a:ln>
        </p:spPr>
        <p:txBody>
          <a:bodyPr/>
          <a:lstStyle/>
          <a:p>
            <a:endParaRPr lang="en-US"/>
          </a:p>
        </p:txBody>
      </p:sp>
      <p:sp>
        <p:nvSpPr>
          <p:cNvPr id="19" name="Shape 17"/>
          <p:cNvSpPr/>
          <p:nvPr/>
        </p:nvSpPr>
        <p:spPr>
          <a:xfrm>
            <a:off x="4663440" y="1024128"/>
            <a:ext cx="54864" cy="786384"/>
          </a:xfrm>
          <a:prstGeom prst="rect">
            <a:avLst/>
          </a:prstGeom>
          <a:solidFill>
            <a:srgbClr val="0077A8"/>
          </a:solidFill>
          <a:ln w="12700">
            <a:solidFill>
              <a:srgbClr val="0077A8"/>
            </a:solidFill>
            <a:prstDash val="solid"/>
          </a:ln>
        </p:spPr>
        <p:txBody>
          <a:bodyPr/>
          <a:lstStyle/>
          <a:p>
            <a:endParaRPr lang="en-US"/>
          </a:p>
        </p:txBody>
      </p:sp>
      <p:sp>
        <p:nvSpPr>
          <p:cNvPr id="20" name="Shape 18"/>
          <p:cNvSpPr/>
          <p:nvPr/>
        </p:nvSpPr>
        <p:spPr>
          <a:xfrm>
            <a:off x="4809744" y="1115568"/>
            <a:ext cx="256032" cy="256032"/>
          </a:xfrm>
          <a:prstGeom prst="rect">
            <a:avLst/>
          </a:prstGeom>
          <a:solidFill>
            <a:srgbClr val="0077A8"/>
          </a:solidFill>
          <a:ln w="12700">
            <a:solidFill>
              <a:srgbClr val="0077A8"/>
            </a:solidFill>
            <a:prstDash val="solid"/>
          </a:ln>
        </p:spPr>
        <p:txBody>
          <a:bodyPr/>
          <a:lstStyle/>
          <a:p>
            <a:endParaRPr lang="en-US"/>
          </a:p>
        </p:txBody>
      </p:sp>
      <p:sp>
        <p:nvSpPr>
          <p:cNvPr id="21" name="Text 19"/>
          <p:cNvSpPr/>
          <p:nvPr/>
        </p:nvSpPr>
        <p:spPr>
          <a:xfrm>
            <a:off x="4809744" y="1115568"/>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2" name="Text 20"/>
          <p:cNvSpPr/>
          <p:nvPr/>
        </p:nvSpPr>
        <p:spPr>
          <a:xfrm>
            <a:off x="4809744" y="1408176"/>
            <a:ext cx="1609344" cy="347472"/>
          </a:xfrm>
          <a:prstGeom prst="rect">
            <a:avLst/>
          </a:prstGeom>
          <a:noFill/>
          <a:ln/>
        </p:spPr>
        <p:txBody>
          <a:bodyPr wrap="square" lIns="0" tIns="0" rIns="0" bIns="0" rtlCol="0" anchor="t"/>
          <a:lstStyle/>
          <a:p>
            <a:pPr marL="0" indent="0">
              <a:lnSpc>
                <a:spcPct val="105000"/>
              </a:lnSpc>
              <a:buNone/>
            </a:pPr>
            <a:r>
              <a:rPr lang="en-US" sz="850" dirty="0">
                <a:solidFill>
                  <a:srgbClr val="0B2B3C"/>
                </a:solidFill>
                <a:latin typeface="Calibri" pitchFamily="34" charset="0"/>
                <a:ea typeface="Calibri" pitchFamily="34" charset="-122"/>
                <a:cs typeface="Calibri" pitchFamily="34" charset="-120"/>
              </a:rPr>
              <a:t>Open DevTools → Network → Headers</a:t>
            </a:r>
            <a:endParaRPr lang="en-US" sz="850" dirty="0"/>
          </a:p>
        </p:txBody>
      </p:sp>
      <p:sp>
        <p:nvSpPr>
          <p:cNvPr id="23" name="Text 21"/>
          <p:cNvSpPr/>
          <p:nvPr/>
        </p:nvSpPr>
        <p:spPr>
          <a:xfrm>
            <a:off x="6583680" y="130759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766560" y="1024128"/>
            <a:ext cx="1883664" cy="786384"/>
          </a:xfrm>
          <a:prstGeom prst="rect">
            <a:avLst/>
          </a:prstGeom>
          <a:solidFill>
            <a:srgbClr val="FFFFFF"/>
          </a:solidFill>
          <a:ln w="9525">
            <a:solidFill>
              <a:srgbClr val="E3E9F0"/>
            </a:solidFill>
            <a:prstDash val="solid"/>
          </a:ln>
        </p:spPr>
        <p:txBody>
          <a:bodyPr/>
          <a:lstStyle/>
          <a:p>
            <a:endParaRPr lang="en-US"/>
          </a:p>
        </p:txBody>
      </p:sp>
      <p:sp>
        <p:nvSpPr>
          <p:cNvPr id="25" name="Shape 23"/>
          <p:cNvSpPr/>
          <p:nvPr/>
        </p:nvSpPr>
        <p:spPr>
          <a:xfrm>
            <a:off x="6766560" y="1024128"/>
            <a:ext cx="54864" cy="786384"/>
          </a:xfrm>
          <a:prstGeom prst="rect">
            <a:avLst/>
          </a:prstGeom>
          <a:solidFill>
            <a:srgbClr val="B83232"/>
          </a:solidFill>
          <a:ln w="12700">
            <a:solidFill>
              <a:srgbClr val="B83232"/>
            </a:solidFill>
            <a:prstDash val="solid"/>
          </a:ln>
        </p:spPr>
        <p:txBody>
          <a:bodyPr/>
          <a:lstStyle/>
          <a:p>
            <a:endParaRPr lang="en-US"/>
          </a:p>
        </p:txBody>
      </p:sp>
      <p:sp>
        <p:nvSpPr>
          <p:cNvPr id="26" name="Shape 24"/>
          <p:cNvSpPr/>
          <p:nvPr/>
        </p:nvSpPr>
        <p:spPr>
          <a:xfrm>
            <a:off x="6912864" y="1115568"/>
            <a:ext cx="256032" cy="256032"/>
          </a:xfrm>
          <a:prstGeom prst="rect">
            <a:avLst/>
          </a:prstGeom>
          <a:solidFill>
            <a:srgbClr val="B83232"/>
          </a:solidFill>
          <a:ln w="12700">
            <a:solidFill>
              <a:srgbClr val="B83232"/>
            </a:solidFill>
            <a:prstDash val="solid"/>
          </a:ln>
        </p:spPr>
        <p:txBody>
          <a:bodyPr/>
          <a:lstStyle/>
          <a:p>
            <a:endParaRPr lang="en-US"/>
          </a:p>
        </p:txBody>
      </p:sp>
      <p:sp>
        <p:nvSpPr>
          <p:cNvPr id="27" name="Text 25"/>
          <p:cNvSpPr/>
          <p:nvPr/>
        </p:nvSpPr>
        <p:spPr>
          <a:xfrm>
            <a:off x="6912864" y="1115568"/>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8" name="Text 26"/>
          <p:cNvSpPr/>
          <p:nvPr/>
        </p:nvSpPr>
        <p:spPr>
          <a:xfrm>
            <a:off x="6912864" y="1408176"/>
            <a:ext cx="1609344" cy="347472"/>
          </a:xfrm>
          <a:prstGeom prst="rect">
            <a:avLst/>
          </a:prstGeom>
          <a:noFill/>
          <a:ln/>
        </p:spPr>
        <p:txBody>
          <a:bodyPr wrap="square" lIns="0" tIns="0" rIns="0" bIns="0" rtlCol="0" anchor="t"/>
          <a:lstStyle/>
          <a:p>
            <a:pPr marL="0" indent="0">
              <a:lnSpc>
                <a:spcPct val="105000"/>
              </a:lnSpc>
              <a:buNone/>
            </a:pPr>
            <a:r>
              <a:rPr lang="en-US" sz="850" b="1" dirty="0">
                <a:solidFill>
                  <a:srgbClr val="B83232"/>
                </a:solidFill>
                <a:latin typeface="Calibri" pitchFamily="34" charset="0"/>
                <a:ea typeface="Calibri" pitchFamily="34" charset="-122"/>
                <a:cs typeface="Calibri" pitchFamily="34" charset="-120"/>
              </a:rPr>
              <a:t>There it is. In plain text.</a:t>
            </a:r>
            <a:endParaRPr lang="en-US" sz="850" dirty="0"/>
          </a:p>
        </p:txBody>
      </p:sp>
      <p:sp>
        <p:nvSpPr>
          <p:cNvPr id="29" name="Shape 27"/>
          <p:cNvSpPr/>
          <p:nvPr/>
        </p:nvSpPr>
        <p:spPr>
          <a:xfrm>
            <a:off x="457200" y="1956816"/>
            <a:ext cx="8229600" cy="969264"/>
          </a:xfrm>
          <a:prstGeom prst="rect">
            <a:avLst/>
          </a:prstGeom>
          <a:solidFill>
            <a:srgbClr val="0B2B3C"/>
          </a:solidFill>
          <a:ln w="12700">
            <a:solidFill>
              <a:srgbClr val="0B2B3C"/>
            </a:solidFill>
            <a:prstDash val="solid"/>
          </a:ln>
        </p:spPr>
        <p:txBody>
          <a:bodyPr/>
          <a:lstStyle/>
          <a:p>
            <a:endParaRPr lang="en-US"/>
          </a:p>
        </p:txBody>
      </p:sp>
      <p:sp>
        <p:nvSpPr>
          <p:cNvPr id="30" name="Shape 28"/>
          <p:cNvSpPr/>
          <p:nvPr/>
        </p:nvSpPr>
        <p:spPr>
          <a:xfrm>
            <a:off x="457200" y="1956816"/>
            <a:ext cx="73152" cy="969264"/>
          </a:xfrm>
          <a:prstGeom prst="rect">
            <a:avLst/>
          </a:prstGeom>
          <a:solidFill>
            <a:srgbClr val="B83232"/>
          </a:solidFill>
          <a:ln w="12700">
            <a:solidFill>
              <a:srgbClr val="B83232"/>
            </a:solidFill>
            <a:prstDash val="solid"/>
          </a:ln>
        </p:spPr>
        <p:txBody>
          <a:bodyPr/>
          <a:lstStyle/>
          <a:p>
            <a:endParaRPr lang="en-US"/>
          </a:p>
        </p:txBody>
      </p:sp>
      <p:sp>
        <p:nvSpPr>
          <p:cNvPr id="31" name="Text 29"/>
          <p:cNvSpPr/>
          <p:nvPr/>
        </p:nvSpPr>
        <p:spPr>
          <a:xfrm>
            <a:off x="731520" y="2048256"/>
            <a:ext cx="77724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Anyone who opens your website can take that key and spend your money.</a:t>
            </a:r>
            <a:endParaRPr lang="en-US" sz="1500" dirty="0"/>
          </a:p>
        </p:txBody>
      </p:sp>
      <p:sp>
        <p:nvSpPr>
          <p:cNvPr id="32" name="Text 30"/>
          <p:cNvSpPr/>
          <p:nvPr/>
        </p:nvSpPr>
        <p:spPr>
          <a:xfrm>
            <a:off x="731520" y="2395728"/>
            <a:ext cx="7772400" cy="438912"/>
          </a:xfrm>
          <a:prstGeom prst="rect">
            <a:avLst/>
          </a:prstGeom>
          <a:noFill/>
          <a:ln/>
        </p:spPr>
        <p:txBody>
          <a:bodyPr wrap="square" lIns="0" tIns="0" rIns="0" bIns="0" rtlCol="0" anchor="ctr"/>
          <a:lstStyle/>
          <a:p>
            <a:pPr marL="0" indent="0">
              <a:buNone/>
            </a:pPr>
            <a:r>
              <a:rPr lang="en-US" sz="950" dirty="0">
                <a:solidFill>
                  <a:srgbClr val="C8D6E2"/>
                </a:solidFill>
                <a:latin typeface="Calibri" pitchFamily="34" charset="0"/>
                <a:ea typeface="Calibri" pitchFamily="34" charset="-122"/>
                <a:cs typeface="Calibri" pitchFamily="34" charset="-120"/>
              </a:rPr>
              <a:t>This is not a bug in the API, and there is no browser setting that fixes it. It is simply what "client-side" means: everything you send from a browser, the user of that browser can read.</a:t>
            </a:r>
            <a:endParaRPr lang="en-US" sz="950" dirty="0"/>
          </a:p>
        </p:txBody>
      </p:sp>
      <p:sp>
        <p:nvSpPr>
          <p:cNvPr id="33" name="Shape 31"/>
          <p:cNvSpPr/>
          <p:nvPr/>
        </p:nvSpPr>
        <p:spPr>
          <a:xfrm>
            <a:off x="457200" y="3054096"/>
            <a:ext cx="2633472" cy="859536"/>
          </a:xfrm>
          <a:prstGeom prst="rect">
            <a:avLst/>
          </a:prstGeom>
          <a:solidFill>
            <a:srgbClr val="FFFFFF"/>
          </a:solidFill>
          <a:ln w="9525">
            <a:solidFill>
              <a:srgbClr val="E3E9F0"/>
            </a:solidFill>
            <a:prstDash val="solid"/>
          </a:ln>
        </p:spPr>
        <p:txBody>
          <a:bodyPr/>
          <a:lstStyle/>
          <a:p>
            <a:endParaRPr lang="en-US"/>
          </a:p>
        </p:txBody>
      </p:sp>
      <p:sp>
        <p:nvSpPr>
          <p:cNvPr id="34" name="Shape 32"/>
          <p:cNvSpPr/>
          <p:nvPr/>
        </p:nvSpPr>
        <p:spPr>
          <a:xfrm>
            <a:off x="457200" y="3054096"/>
            <a:ext cx="54864" cy="859536"/>
          </a:xfrm>
          <a:prstGeom prst="rect">
            <a:avLst/>
          </a:prstGeom>
          <a:solidFill>
            <a:srgbClr val="00849B"/>
          </a:solidFill>
          <a:ln w="12700">
            <a:solidFill>
              <a:srgbClr val="00849B"/>
            </a:solidFill>
            <a:prstDash val="solid"/>
          </a:ln>
        </p:spPr>
        <p:txBody>
          <a:bodyPr/>
          <a:lstStyle/>
          <a:p>
            <a:endParaRPr lang="en-US"/>
          </a:p>
        </p:txBody>
      </p:sp>
      <p:sp>
        <p:nvSpPr>
          <p:cNvPr id="35" name="Text 33"/>
          <p:cNvSpPr/>
          <p:nvPr/>
        </p:nvSpPr>
        <p:spPr>
          <a:xfrm>
            <a:off x="640080" y="3127248"/>
            <a:ext cx="2377440" cy="182880"/>
          </a:xfrm>
          <a:prstGeom prst="rect">
            <a:avLst/>
          </a:prstGeom>
          <a:noFill/>
          <a:ln/>
        </p:spPr>
        <p:txBody>
          <a:bodyPr wrap="square" lIns="0" tIns="0" rIns="0" bIns="0" rtlCol="0" anchor="ctr"/>
          <a:lstStyle/>
          <a:p>
            <a:pPr marL="0" indent="0">
              <a:buNone/>
            </a:pPr>
            <a:r>
              <a:rPr lang="en-US" sz="750" b="1" kern="0" spc="120" dirty="0">
                <a:solidFill>
                  <a:srgbClr val="00697E"/>
                </a:solidFill>
                <a:latin typeface="Calibri" pitchFamily="34" charset="0"/>
                <a:ea typeface="Calibri" pitchFamily="34" charset="-122"/>
                <a:cs typeface="Calibri" pitchFamily="34" charset="-120"/>
              </a:rPr>
              <a:t>THE REAL FIX</a:t>
            </a:r>
            <a:endParaRPr lang="en-US" sz="750" dirty="0"/>
          </a:p>
        </p:txBody>
      </p:sp>
      <p:sp>
        <p:nvSpPr>
          <p:cNvPr id="36" name="Text 34"/>
          <p:cNvSpPr/>
          <p:nvPr/>
        </p:nvSpPr>
        <p:spPr>
          <a:xfrm>
            <a:off x="640080" y="3328416"/>
            <a:ext cx="2322576" cy="530352"/>
          </a:xfrm>
          <a:prstGeom prst="rect">
            <a:avLst/>
          </a:prstGeom>
          <a:noFill/>
          <a:ln/>
        </p:spPr>
        <p:txBody>
          <a:bodyPr wrap="square" lIns="0" tIns="0" rIns="0" bIns="0" rtlCol="0" anchor="t"/>
          <a:lstStyle/>
          <a:p>
            <a:pPr marL="0" indent="0">
              <a:lnSpc>
                <a:spcPct val="105000"/>
              </a:lnSpc>
              <a:buNone/>
            </a:pPr>
            <a:r>
              <a:rPr lang="en-US" sz="800" dirty="0">
                <a:solidFill>
                  <a:srgbClr val="0B2B3C"/>
                </a:solidFill>
                <a:latin typeface="Calibri" pitchFamily="34" charset="0"/>
                <a:ea typeface="Calibri" pitchFamily="34" charset="-122"/>
                <a:cs typeface="Calibri" pitchFamily="34" charset="-120"/>
              </a:rPr>
              <a:t>Put the call on a server the user cannot see inside. That is tomorrow, all day.</a:t>
            </a:r>
            <a:endParaRPr lang="en-US" sz="800" dirty="0"/>
          </a:p>
        </p:txBody>
      </p:sp>
      <p:sp>
        <p:nvSpPr>
          <p:cNvPr id="37" name="Shape 35"/>
          <p:cNvSpPr/>
          <p:nvPr/>
        </p:nvSpPr>
        <p:spPr>
          <a:xfrm>
            <a:off x="3255264" y="3054096"/>
            <a:ext cx="2633472" cy="859536"/>
          </a:xfrm>
          <a:prstGeom prst="rect">
            <a:avLst/>
          </a:prstGeom>
          <a:solidFill>
            <a:srgbClr val="FFFFFF"/>
          </a:solidFill>
          <a:ln w="9525">
            <a:solidFill>
              <a:srgbClr val="E3E9F0"/>
            </a:solidFill>
            <a:prstDash val="solid"/>
          </a:ln>
        </p:spPr>
        <p:txBody>
          <a:bodyPr/>
          <a:lstStyle/>
          <a:p>
            <a:endParaRPr lang="en-US"/>
          </a:p>
        </p:txBody>
      </p:sp>
      <p:sp>
        <p:nvSpPr>
          <p:cNvPr id="38" name="Shape 36"/>
          <p:cNvSpPr/>
          <p:nvPr/>
        </p:nvSpPr>
        <p:spPr>
          <a:xfrm>
            <a:off x="3255264" y="3054096"/>
            <a:ext cx="54864" cy="859536"/>
          </a:xfrm>
          <a:prstGeom prst="rect">
            <a:avLst/>
          </a:prstGeom>
          <a:solidFill>
            <a:srgbClr val="0077A8"/>
          </a:solidFill>
          <a:ln w="12700">
            <a:solidFill>
              <a:srgbClr val="0077A8"/>
            </a:solidFill>
            <a:prstDash val="solid"/>
          </a:ln>
        </p:spPr>
        <p:txBody>
          <a:bodyPr/>
          <a:lstStyle/>
          <a:p>
            <a:endParaRPr lang="en-US"/>
          </a:p>
        </p:txBody>
      </p:sp>
      <p:sp>
        <p:nvSpPr>
          <p:cNvPr id="39" name="Text 37"/>
          <p:cNvSpPr/>
          <p:nvPr/>
        </p:nvSpPr>
        <p:spPr>
          <a:xfrm>
            <a:off x="3438144" y="3127248"/>
            <a:ext cx="2377440" cy="182880"/>
          </a:xfrm>
          <a:prstGeom prst="rect">
            <a:avLst/>
          </a:prstGeom>
          <a:noFill/>
          <a:ln/>
        </p:spPr>
        <p:txBody>
          <a:bodyPr wrap="square" lIns="0" tIns="0" rIns="0" bIns="0" rtlCol="0" anchor="ctr"/>
          <a:lstStyle/>
          <a:p>
            <a:pPr marL="0" indent="0">
              <a:buNone/>
            </a:pPr>
            <a:r>
              <a:rPr lang="en-US" sz="750" b="1" kern="0" spc="120" dirty="0">
                <a:solidFill>
                  <a:srgbClr val="0077A8"/>
                </a:solidFill>
                <a:latin typeface="Calibri" pitchFamily="34" charset="0"/>
                <a:ea typeface="Calibri" pitchFamily="34" charset="-122"/>
                <a:cs typeface="Calibri" pitchFamily="34" charset="-120"/>
              </a:rPr>
              <a:t>TODAY'S WORKAROUND</a:t>
            </a:r>
            <a:endParaRPr lang="en-US" sz="750" dirty="0"/>
          </a:p>
        </p:txBody>
      </p:sp>
      <p:sp>
        <p:nvSpPr>
          <p:cNvPr id="40" name="Text 38"/>
          <p:cNvSpPr/>
          <p:nvPr/>
        </p:nvSpPr>
        <p:spPr>
          <a:xfrm>
            <a:off x="3438144" y="3328416"/>
            <a:ext cx="2322576" cy="530352"/>
          </a:xfrm>
          <a:prstGeom prst="rect">
            <a:avLst/>
          </a:prstGeom>
          <a:noFill/>
          <a:ln/>
        </p:spPr>
        <p:txBody>
          <a:bodyPr wrap="square" lIns="0" tIns="0" rIns="0" bIns="0" rtlCol="0" anchor="t"/>
          <a:lstStyle/>
          <a:p>
            <a:pPr marL="0" indent="0">
              <a:lnSpc>
                <a:spcPct val="105000"/>
              </a:lnSpc>
              <a:buNone/>
            </a:pPr>
            <a:r>
              <a:rPr lang="en-US" sz="800" dirty="0">
                <a:solidFill>
                  <a:srgbClr val="0B2B3C"/>
                </a:solidFill>
                <a:latin typeface="Calibri" pitchFamily="34" charset="0"/>
                <a:ea typeface="Calibri" pitchFamily="34" charset="-122"/>
                <a:cs typeface="Calibri" pitchFamily="34" charset="-120"/>
              </a:rPr>
              <a:t>Use the instructor proxy for the rest of the day — a server that already holds a key.</a:t>
            </a:r>
            <a:endParaRPr lang="en-US" sz="800" dirty="0"/>
          </a:p>
        </p:txBody>
      </p:sp>
      <p:sp>
        <p:nvSpPr>
          <p:cNvPr id="41" name="Shape 39"/>
          <p:cNvSpPr/>
          <p:nvPr/>
        </p:nvSpPr>
        <p:spPr>
          <a:xfrm>
            <a:off x="6053328" y="3054096"/>
            <a:ext cx="2633472" cy="859536"/>
          </a:xfrm>
          <a:prstGeom prst="rect">
            <a:avLst/>
          </a:prstGeom>
          <a:solidFill>
            <a:srgbClr val="FFFFFF"/>
          </a:solidFill>
          <a:ln w="9525">
            <a:solidFill>
              <a:srgbClr val="E3E9F0"/>
            </a:solidFill>
            <a:prstDash val="solid"/>
          </a:ln>
        </p:spPr>
        <p:txBody>
          <a:bodyPr/>
          <a:lstStyle/>
          <a:p>
            <a:endParaRPr lang="en-US"/>
          </a:p>
        </p:txBody>
      </p:sp>
      <p:sp>
        <p:nvSpPr>
          <p:cNvPr id="42" name="Shape 40"/>
          <p:cNvSpPr/>
          <p:nvPr/>
        </p:nvSpPr>
        <p:spPr>
          <a:xfrm>
            <a:off x="6053328" y="3054096"/>
            <a:ext cx="54864" cy="859536"/>
          </a:xfrm>
          <a:prstGeom prst="rect">
            <a:avLst/>
          </a:prstGeom>
          <a:solidFill>
            <a:srgbClr val="B83232"/>
          </a:solidFill>
          <a:ln w="12700">
            <a:solidFill>
              <a:srgbClr val="B83232"/>
            </a:solidFill>
            <a:prstDash val="solid"/>
          </a:ln>
        </p:spPr>
        <p:txBody>
          <a:bodyPr/>
          <a:lstStyle/>
          <a:p>
            <a:endParaRPr lang="en-US"/>
          </a:p>
        </p:txBody>
      </p:sp>
      <p:sp>
        <p:nvSpPr>
          <p:cNvPr id="43" name="Text 41"/>
          <p:cNvSpPr/>
          <p:nvPr/>
        </p:nvSpPr>
        <p:spPr>
          <a:xfrm>
            <a:off x="6236208" y="3127248"/>
            <a:ext cx="237744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BEFORE YOU LEAVE</a:t>
            </a:r>
            <a:endParaRPr lang="en-US" sz="750" dirty="0"/>
          </a:p>
        </p:txBody>
      </p:sp>
      <p:sp>
        <p:nvSpPr>
          <p:cNvPr id="44" name="Text 42"/>
          <p:cNvSpPr/>
          <p:nvPr/>
        </p:nvSpPr>
        <p:spPr>
          <a:xfrm>
            <a:off x="6236208" y="3328416"/>
            <a:ext cx="2322576" cy="530352"/>
          </a:xfrm>
          <a:prstGeom prst="rect">
            <a:avLst/>
          </a:prstGeom>
          <a:noFill/>
          <a:ln/>
        </p:spPr>
        <p:txBody>
          <a:bodyPr wrap="square" lIns="0" tIns="0" rIns="0" bIns="0" rtlCol="0" anchor="t"/>
          <a:lstStyle/>
          <a:p>
            <a:pPr marL="0" indent="0">
              <a:lnSpc>
                <a:spcPct val="105000"/>
              </a:lnSpc>
              <a:buNone/>
            </a:pPr>
            <a:r>
              <a:rPr lang="en-US" sz="800" dirty="0">
                <a:solidFill>
                  <a:srgbClr val="0B2B3C"/>
                </a:solidFill>
                <a:latin typeface="Calibri" pitchFamily="34" charset="0"/>
                <a:ea typeface="Calibri" pitchFamily="34" charset="-122"/>
                <a:cs typeface="Calibri" pitchFamily="34" charset="-120"/>
              </a:rPr>
              <a:t>Revoke the key you pasted into your browser. Do it today, not tonight.</a:t>
            </a:r>
            <a:endParaRPr lang="en-US" sz="800" dirty="0"/>
          </a:p>
        </p:txBody>
      </p:sp>
      <p:sp>
        <p:nvSpPr>
          <p:cNvPr id="45" name="Shape 43"/>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46" name="Shape 44"/>
          <p:cNvSpPr/>
          <p:nvPr/>
        </p:nvSpPr>
        <p:spPr>
          <a:xfrm>
            <a:off x="457200" y="4334256"/>
            <a:ext cx="54864" cy="512064"/>
          </a:xfrm>
          <a:prstGeom prst="rect">
            <a:avLst/>
          </a:prstGeom>
          <a:solidFill>
            <a:srgbClr val="006494"/>
          </a:solidFill>
          <a:ln w="12700">
            <a:solidFill>
              <a:srgbClr val="006494"/>
            </a:solidFill>
            <a:prstDash val="solid"/>
          </a:ln>
        </p:spPr>
        <p:txBody>
          <a:bodyPr/>
          <a:lstStyle/>
          <a:p>
            <a:endParaRPr lang="en-US"/>
          </a:p>
        </p:txBody>
      </p:sp>
      <p:sp>
        <p:nvSpPr>
          <p:cNvPr id="47" name="Text 45"/>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You now have a security problem you cannot solve with anything you know. Tomorrow you build the thing that solves it.</a:t>
            </a:r>
            <a:endParaRPr lang="en-US" sz="1000" dirty="0"/>
          </a:p>
        </p:txBody>
      </p:sp>
    </p:spTree>
    <p:extLst>
      <p:ext uri="{BB962C8B-B14F-4D97-AF65-F5344CB8AC3E}">
        <p14:creationId xmlns:p14="http://schemas.microsoft.com/office/powerpoint/2010/main" val="2365278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6494"/>
          </a:solidFill>
          <a:ln w="12700">
            <a:solidFill>
              <a:srgbClr val="006494"/>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Four Moves That Reliably Improve a Prompt</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005840"/>
            <a:ext cx="8229600" cy="530352"/>
          </a:xfrm>
          <a:prstGeom prst="rect">
            <a:avLst/>
          </a:prstGeom>
          <a:solidFill>
            <a:srgbClr val="FFFFFF"/>
          </a:solidFill>
          <a:ln w="9525">
            <a:solidFill>
              <a:srgbClr val="E3E9F0"/>
            </a:solidFill>
            <a:prstDash val="solid"/>
          </a:ln>
        </p:spPr>
        <p:txBody>
          <a:bodyPr/>
          <a:lstStyle/>
          <a:p>
            <a:endParaRPr lang="en-US"/>
          </a:p>
        </p:txBody>
      </p:sp>
      <p:sp>
        <p:nvSpPr>
          <p:cNvPr id="7" name="Shape 5"/>
          <p:cNvSpPr/>
          <p:nvPr/>
        </p:nvSpPr>
        <p:spPr>
          <a:xfrm>
            <a:off x="457200" y="1005840"/>
            <a:ext cx="54864" cy="530352"/>
          </a:xfrm>
          <a:prstGeom prst="rect">
            <a:avLst/>
          </a:prstGeom>
          <a:solidFill>
            <a:srgbClr val="0087C8"/>
          </a:solidFill>
          <a:ln w="12700">
            <a:solidFill>
              <a:srgbClr val="0087C8"/>
            </a:solidFill>
            <a:prstDash val="solid"/>
          </a:ln>
        </p:spPr>
        <p:txBody>
          <a:bodyPr/>
          <a:lstStyle/>
          <a:p>
            <a:endParaRPr lang="en-US"/>
          </a:p>
        </p:txBody>
      </p:sp>
      <p:sp>
        <p:nvSpPr>
          <p:cNvPr id="8" name="Shape 6"/>
          <p:cNvSpPr/>
          <p:nvPr/>
        </p:nvSpPr>
        <p:spPr>
          <a:xfrm>
            <a:off x="640080" y="1124712"/>
            <a:ext cx="292608" cy="292608"/>
          </a:xfrm>
          <a:prstGeom prst="rect">
            <a:avLst/>
          </a:prstGeom>
          <a:solidFill>
            <a:srgbClr val="0087C8"/>
          </a:solidFill>
          <a:ln w="12700">
            <a:solidFill>
              <a:srgbClr val="0087C8"/>
            </a:solidFill>
            <a:prstDash val="solid"/>
          </a:ln>
        </p:spPr>
        <p:txBody>
          <a:bodyPr/>
          <a:lstStyle/>
          <a:p>
            <a:endParaRPr lang="en-US"/>
          </a:p>
        </p:txBody>
      </p:sp>
      <p:sp>
        <p:nvSpPr>
          <p:cNvPr id="9" name="Text 7"/>
          <p:cNvSpPr/>
          <p:nvPr/>
        </p:nvSpPr>
        <p:spPr>
          <a:xfrm>
            <a:off x="640080" y="1124712"/>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1042416" y="1005840"/>
            <a:ext cx="1463040" cy="530352"/>
          </a:xfrm>
          <a:prstGeom prst="rect">
            <a:avLst/>
          </a:prstGeom>
          <a:noFill/>
          <a:ln/>
        </p:spPr>
        <p:txBody>
          <a:bodyPr wrap="square" lIns="0" tIns="0" rIns="0" bIns="0" rtlCol="0" anchor="ctr"/>
          <a:lstStyle/>
          <a:p>
            <a:pPr marL="0" indent="0">
              <a:buNone/>
            </a:pPr>
            <a:r>
              <a:rPr lang="en-US" sz="900" b="1" kern="0" spc="60" dirty="0">
                <a:solidFill>
                  <a:srgbClr val="0077A8"/>
                </a:solidFill>
                <a:latin typeface="Calibri" pitchFamily="34" charset="0"/>
                <a:ea typeface="Calibri" pitchFamily="34" charset="-122"/>
                <a:cs typeface="Calibri" pitchFamily="34" charset="-120"/>
              </a:rPr>
              <a:t>GIVE IT A ROLE</a:t>
            </a:r>
            <a:endParaRPr lang="en-US" sz="900" dirty="0"/>
          </a:p>
        </p:txBody>
      </p:sp>
      <p:sp>
        <p:nvSpPr>
          <p:cNvPr id="11" name="Text 9"/>
          <p:cNvSpPr/>
          <p:nvPr/>
        </p:nvSpPr>
        <p:spPr>
          <a:xfrm>
            <a:off x="2542032" y="1005840"/>
            <a:ext cx="2743200" cy="530352"/>
          </a:xfrm>
          <a:prstGeom prst="rect">
            <a:avLst/>
          </a:prstGeom>
          <a:noFill/>
          <a:ln/>
        </p:spPr>
        <p:txBody>
          <a:bodyPr wrap="square" lIns="0" tIns="0" rIns="0" bIns="0" rtlCol="0" anchor="ctr"/>
          <a:lstStyle/>
          <a:p>
            <a:pPr marL="0" indent="0">
              <a:buNone/>
            </a:pPr>
            <a:r>
              <a:rPr lang="en-US" sz="850" i="1" dirty="0">
                <a:solidFill>
                  <a:srgbClr val="0B2B3C"/>
                </a:solidFill>
                <a:latin typeface="Calibri" pitchFamily="34" charset="0"/>
                <a:ea typeface="Calibri" pitchFamily="34" charset="-122"/>
                <a:cs typeface="Calibri" pitchFamily="34" charset="-120"/>
              </a:rPr>
              <a:t>"You are a strict JSON generator."</a:t>
            </a:r>
            <a:endParaRPr lang="en-US" sz="850" dirty="0"/>
          </a:p>
        </p:txBody>
      </p:sp>
      <p:sp>
        <p:nvSpPr>
          <p:cNvPr id="12" name="Text 10"/>
          <p:cNvSpPr/>
          <p:nvPr/>
        </p:nvSpPr>
        <p:spPr>
          <a:xfrm>
            <a:off x="5358384" y="1005840"/>
            <a:ext cx="3200400" cy="530352"/>
          </a:xfrm>
          <a:prstGeom prst="rect">
            <a:avLst/>
          </a:prstGeom>
          <a:noFill/>
          <a:ln/>
        </p:spPr>
        <p:txBody>
          <a:bodyPr wrap="square" lIns="0" tIns="0" rIns="0" bIns="0" rtlCol="0" anchor="ctr"/>
          <a:lstStyle/>
          <a:p>
            <a:pPr marL="0" indent="0">
              <a:buNone/>
            </a:pPr>
            <a:r>
              <a:rPr lang="en-US" sz="800" dirty="0">
                <a:solidFill>
                  <a:srgbClr val="4E6E7D"/>
                </a:solidFill>
                <a:latin typeface="Calibri" pitchFamily="34" charset="0"/>
                <a:ea typeface="Calibri" pitchFamily="34" charset="-122"/>
                <a:cs typeface="Calibri" pitchFamily="34" charset="-120"/>
              </a:rPr>
              <a:t>Sets the standing behaviour for everything that follows</a:t>
            </a:r>
            <a:endParaRPr lang="en-US" sz="800" dirty="0"/>
          </a:p>
        </p:txBody>
      </p:sp>
      <p:sp>
        <p:nvSpPr>
          <p:cNvPr id="13" name="Shape 11"/>
          <p:cNvSpPr/>
          <p:nvPr/>
        </p:nvSpPr>
        <p:spPr>
          <a:xfrm>
            <a:off x="457200" y="1609344"/>
            <a:ext cx="8229600" cy="530352"/>
          </a:xfrm>
          <a:prstGeom prst="rect">
            <a:avLst/>
          </a:prstGeom>
          <a:solidFill>
            <a:srgbClr val="FFFFFF"/>
          </a:solidFill>
          <a:ln w="9525">
            <a:solidFill>
              <a:srgbClr val="E3E9F0"/>
            </a:solidFill>
            <a:prstDash val="solid"/>
          </a:ln>
        </p:spPr>
        <p:txBody>
          <a:bodyPr/>
          <a:lstStyle/>
          <a:p>
            <a:endParaRPr lang="en-US"/>
          </a:p>
        </p:txBody>
      </p:sp>
      <p:sp>
        <p:nvSpPr>
          <p:cNvPr id="14" name="Shape 12"/>
          <p:cNvSpPr/>
          <p:nvPr/>
        </p:nvSpPr>
        <p:spPr>
          <a:xfrm>
            <a:off x="457200" y="1609344"/>
            <a:ext cx="54864" cy="530352"/>
          </a:xfrm>
          <a:prstGeom prst="rect">
            <a:avLst/>
          </a:prstGeom>
          <a:solidFill>
            <a:srgbClr val="00849B"/>
          </a:solidFill>
          <a:ln w="12700">
            <a:solidFill>
              <a:srgbClr val="00849B"/>
            </a:solidFill>
            <a:prstDash val="solid"/>
          </a:ln>
        </p:spPr>
        <p:txBody>
          <a:bodyPr/>
          <a:lstStyle/>
          <a:p>
            <a:endParaRPr lang="en-US"/>
          </a:p>
        </p:txBody>
      </p:sp>
      <p:sp>
        <p:nvSpPr>
          <p:cNvPr id="15" name="Shape 13"/>
          <p:cNvSpPr/>
          <p:nvPr/>
        </p:nvSpPr>
        <p:spPr>
          <a:xfrm>
            <a:off x="640080" y="1728216"/>
            <a:ext cx="292608" cy="292608"/>
          </a:xfrm>
          <a:prstGeom prst="rect">
            <a:avLst/>
          </a:prstGeom>
          <a:solidFill>
            <a:srgbClr val="00849B"/>
          </a:solidFill>
          <a:ln w="12700">
            <a:solidFill>
              <a:srgbClr val="00849B"/>
            </a:solidFill>
            <a:prstDash val="solid"/>
          </a:ln>
        </p:spPr>
        <p:txBody>
          <a:bodyPr/>
          <a:lstStyle/>
          <a:p>
            <a:endParaRPr lang="en-US"/>
          </a:p>
        </p:txBody>
      </p:sp>
      <p:sp>
        <p:nvSpPr>
          <p:cNvPr id="16" name="Text 14"/>
          <p:cNvSpPr/>
          <p:nvPr/>
        </p:nvSpPr>
        <p:spPr>
          <a:xfrm>
            <a:off x="640080" y="1728216"/>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1042416" y="1609344"/>
            <a:ext cx="1463040" cy="530352"/>
          </a:xfrm>
          <a:prstGeom prst="rect">
            <a:avLst/>
          </a:prstGeom>
          <a:noFill/>
          <a:ln/>
        </p:spPr>
        <p:txBody>
          <a:bodyPr wrap="square" lIns="0" tIns="0" rIns="0" bIns="0" rtlCol="0" anchor="ctr"/>
          <a:lstStyle/>
          <a:p>
            <a:pPr marL="0" indent="0">
              <a:buNone/>
            </a:pPr>
            <a:r>
              <a:rPr lang="en-US" sz="900" b="1" kern="0" spc="60" dirty="0">
                <a:solidFill>
                  <a:srgbClr val="00697E"/>
                </a:solidFill>
                <a:latin typeface="Calibri" pitchFamily="34" charset="0"/>
                <a:ea typeface="Calibri" pitchFamily="34" charset="-122"/>
                <a:cs typeface="Calibri" pitchFamily="34" charset="-120"/>
              </a:rPr>
              <a:t>BE SPECIFIC</a:t>
            </a:r>
            <a:endParaRPr lang="en-US" sz="900" dirty="0"/>
          </a:p>
        </p:txBody>
      </p:sp>
      <p:sp>
        <p:nvSpPr>
          <p:cNvPr id="18" name="Text 16"/>
          <p:cNvSpPr/>
          <p:nvPr/>
        </p:nvSpPr>
        <p:spPr>
          <a:xfrm>
            <a:off x="2542032" y="1609344"/>
            <a:ext cx="2743200" cy="530352"/>
          </a:xfrm>
          <a:prstGeom prst="rect">
            <a:avLst/>
          </a:prstGeom>
          <a:noFill/>
          <a:ln/>
        </p:spPr>
        <p:txBody>
          <a:bodyPr wrap="square" lIns="0" tIns="0" rIns="0" bIns="0" rtlCol="0" anchor="ctr"/>
          <a:lstStyle/>
          <a:p>
            <a:pPr marL="0" indent="0">
              <a:buNone/>
            </a:pPr>
            <a:r>
              <a:rPr lang="en-US" sz="850" i="1" dirty="0">
                <a:solidFill>
                  <a:srgbClr val="0B2B3C"/>
                </a:solidFill>
                <a:latin typeface="Calibri" pitchFamily="34" charset="0"/>
                <a:ea typeface="Calibri" pitchFamily="34" charset="-122"/>
                <a:cs typeface="Calibri" pitchFamily="34" charset="-120"/>
              </a:rPr>
              <a:t>"Three tags, lowercase, single words."</a:t>
            </a:r>
            <a:endParaRPr lang="en-US" sz="850" dirty="0"/>
          </a:p>
        </p:txBody>
      </p:sp>
      <p:sp>
        <p:nvSpPr>
          <p:cNvPr id="19" name="Text 17"/>
          <p:cNvSpPr/>
          <p:nvPr/>
        </p:nvSpPr>
        <p:spPr>
          <a:xfrm>
            <a:off x="5358384" y="1609344"/>
            <a:ext cx="3200400" cy="530352"/>
          </a:xfrm>
          <a:prstGeom prst="rect">
            <a:avLst/>
          </a:prstGeom>
          <a:noFill/>
          <a:ln/>
        </p:spPr>
        <p:txBody>
          <a:bodyPr wrap="square" lIns="0" tIns="0" rIns="0" bIns="0" rtlCol="0" anchor="ctr"/>
          <a:lstStyle/>
          <a:p>
            <a:pPr marL="0" indent="0">
              <a:buNone/>
            </a:pPr>
            <a:r>
              <a:rPr lang="en-US" sz="800" dirty="0">
                <a:solidFill>
                  <a:srgbClr val="4E6E7D"/>
                </a:solidFill>
                <a:latin typeface="Calibri" pitchFamily="34" charset="0"/>
                <a:ea typeface="Calibri" pitchFamily="34" charset="-122"/>
                <a:cs typeface="Calibri" pitchFamily="34" charset="-120"/>
              </a:rPr>
              <a:t>Vague in, vague out. Specify the output, not the task</a:t>
            </a:r>
            <a:endParaRPr lang="en-US" sz="800" dirty="0"/>
          </a:p>
        </p:txBody>
      </p:sp>
      <p:sp>
        <p:nvSpPr>
          <p:cNvPr id="20" name="Shape 18"/>
          <p:cNvSpPr/>
          <p:nvPr/>
        </p:nvSpPr>
        <p:spPr>
          <a:xfrm>
            <a:off x="457200" y="2212848"/>
            <a:ext cx="8229600" cy="530352"/>
          </a:xfrm>
          <a:prstGeom prst="rect">
            <a:avLst/>
          </a:prstGeom>
          <a:solidFill>
            <a:srgbClr val="FFFFFF"/>
          </a:solidFill>
          <a:ln w="9525">
            <a:solidFill>
              <a:srgbClr val="E3E9F0"/>
            </a:solidFill>
            <a:prstDash val="solid"/>
          </a:ln>
        </p:spPr>
        <p:txBody>
          <a:bodyPr/>
          <a:lstStyle/>
          <a:p>
            <a:endParaRPr lang="en-US"/>
          </a:p>
        </p:txBody>
      </p:sp>
      <p:sp>
        <p:nvSpPr>
          <p:cNvPr id="21" name="Shape 19"/>
          <p:cNvSpPr/>
          <p:nvPr/>
        </p:nvSpPr>
        <p:spPr>
          <a:xfrm>
            <a:off x="457200" y="2212848"/>
            <a:ext cx="54864" cy="530352"/>
          </a:xfrm>
          <a:prstGeom prst="rect">
            <a:avLst/>
          </a:prstGeom>
          <a:solidFill>
            <a:srgbClr val="0077A8"/>
          </a:solidFill>
          <a:ln w="12700">
            <a:solidFill>
              <a:srgbClr val="0077A8"/>
            </a:solidFill>
            <a:prstDash val="solid"/>
          </a:ln>
        </p:spPr>
        <p:txBody>
          <a:bodyPr/>
          <a:lstStyle/>
          <a:p>
            <a:endParaRPr lang="en-US"/>
          </a:p>
        </p:txBody>
      </p:sp>
      <p:sp>
        <p:nvSpPr>
          <p:cNvPr id="22" name="Shape 20"/>
          <p:cNvSpPr/>
          <p:nvPr/>
        </p:nvSpPr>
        <p:spPr>
          <a:xfrm>
            <a:off x="640080" y="2331720"/>
            <a:ext cx="292608" cy="292608"/>
          </a:xfrm>
          <a:prstGeom prst="rect">
            <a:avLst/>
          </a:prstGeom>
          <a:solidFill>
            <a:srgbClr val="0077A8"/>
          </a:solidFill>
          <a:ln w="12700">
            <a:solidFill>
              <a:srgbClr val="0077A8"/>
            </a:solidFill>
            <a:prstDash val="solid"/>
          </a:ln>
        </p:spPr>
        <p:txBody>
          <a:bodyPr/>
          <a:lstStyle/>
          <a:p>
            <a:endParaRPr lang="en-US"/>
          </a:p>
        </p:txBody>
      </p:sp>
      <p:sp>
        <p:nvSpPr>
          <p:cNvPr id="23" name="Text 21"/>
          <p:cNvSpPr/>
          <p:nvPr/>
        </p:nvSpPr>
        <p:spPr>
          <a:xfrm>
            <a:off x="640080" y="2331720"/>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4" name="Text 22"/>
          <p:cNvSpPr/>
          <p:nvPr/>
        </p:nvSpPr>
        <p:spPr>
          <a:xfrm>
            <a:off x="1042416" y="2212848"/>
            <a:ext cx="1463040" cy="530352"/>
          </a:xfrm>
          <a:prstGeom prst="rect">
            <a:avLst/>
          </a:prstGeom>
          <a:noFill/>
          <a:ln/>
        </p:spPr>
        <p:txBody>
          <a:bodyPr wrap="square" lIns="0" tIns="0" rIns="0" bIns="0" rtlCol="0" anchor="ctr"/>
          <a:lstStyle/>
          <a:p>
            <a:pPr marL="0" indent="0">
              <a:buNone/>
            </a:pPr>
            <a:r>
              <a:rPr lang="en-US" sz="900" b="1" kern="0" spc="60" dirty="0">
                <a:solidFill>
                  <a:srgbClr val="0077A8"/>
                </a:solidFill>
                <a:latin typeface="Calibri" pitchFamily="34" charset="0"/>
                <a:ea typeface="Calibri" pitchFamily="34" charset="-122"/>
                <a:cs typeface="Calibri" pitchFamily="34" charset="-120"/>
              </a:rPr>
              <a:t>CONSTRAIN IT</a:t>
            </a:r>
            <a:endParaRPr lang="en-US" sz="900" dirty="0"/>
          </a:p>
        </p:txBody>
      </p:sp>
      <p:sp>
        <p:nvSpPr>
          <p:cNvPr id="25" name="Text 23"/>
          <p:cNvSpPr/>
          <p:nvPr/>
        </p:nvSpPr>
        <p:spPr>
          <a:xfrm>
            <a:off x="2542032" y="2212848"/>
            <a:ext cx="2743200" cy="530352"/>
          </a:xfrm>
          <a:prstGeom prst="rect">
            <a:avLst/>
          </a:prstGeom>
          <a:noFill/>
          <a:ln/>
        </p:spPr>
        <p:txBody>
          <a:bodyPr wrap="square" lIns="0" tIns="0" rIns="0" bIns="0" rtlCol="0" anchor="ctr"/>
          <a:lstStyle/>
          <a:p>
            <a:pPr marL="0" indent="0">
              <a:buNone/>
            </a:pPr>
            <a:r>
              <a:rPr lang="en-US" sz="850" i="1" dirty="0">
                <a:solidFill>
                  <a:srgbClr val="0B2B3C"/>
                </a:solidFill>
                <a:latin typeface="Calibri" pitchFamily="34" charset="0"/>
                <a:ea typeface="Calibri" pitchFamily="34" charset="-122"/>
                <a:cs typeface="Calibri" pitchFamily="34" charset="-120"/>
              </a:rPr>
              <a:t>"Under 30 words. English only."</a:t>
            </a:r>
            <a:endParaRPr lang="en-US" sz="850" dirty="0"/>
          </a:p>
        </p:txBody>
      </p:sp>
      <p:sp>
        <p:nvSpPr>
          <p:cNvPr id="26" name="Text 24"/>
          <p:cNvSpPr/>
          <p:nvPr/>
        </p:nvSpPr>
        <p:spPr>
          <a:xfrm>
            <a:off x="5358384" y="2212848"/>
            <a:ext cx="3200400" cy="530352"/>
          </a:xfrm>
          <a:prstGeom prst="rect">
            <a:avLst/>
          </a:prstGeom>
          <a:noFill/>
          <a:ln/>
        </p:spPr>
        <p:txBody>
          <a:bodyPr wrap="square" lIns="0" tIns="0" rIns="0" bIns="0" rtlCol="0" anchor="ctr"/>
          <a:lstStyle/>
          <a:p>
            <a:pPr marL="0" indent="0">
              <a:buNone/>
            </a:pPr>
            <a:r>
              <a:rPr lang="en-US" sz="800" dirty="0">
                <a:solidFill>
                  <a:srgbClr val="4E6E7D"/>
                </a:solidFill>
                <a:latin typeface="Calibri" pitchFamily="34" charset="0"/>
                <a:ea typeface="Calibri" pitchFamily="34" charset="-122"/>
                <a:cs typeface="Calibri" pitchFamily="34" charset="-120"/>
              </a:rPr>
              <a:t>Length, language, and allowed values — say them</a:t>
            </a:r>
            <a:endParaRPr lang="en-US" sz="800" dirty="0"/>
          </a:p>
        </p:txBody>
      </p:sp>
      <p:sp>
        <p:nvSpPr>
          <p:cNvPr id="27" name="Shape 25"/>
          <p:cNvSpPr/>
          <p:nvPr/>
        </p:nvSpPr>
        <p:spPr>
          <a:xfrm>
            <a:off x="457200" y="2816352"/>
            <a:ext cx="8229600" cy="530352"/>
          </a:xfrm>
          <a:prstGeom prst="rect">
            <a:avLst/>
          </a:prstGeom>
          <a:solidFill>
            <a:srgbClr val="FFFFFF"/>
          </a:solidFill>
          <a:ln w="9525">
            <a:solidFill>
              <a:srgbClr val="E3E9F0"/>
            </a:solidFill>
            <a:prstDash val="solid"/>
          </a:ln>
        </p:spPr>
        <p:txBody>
          <a:bodyPr/>
          <a:lstStyle/>
          <a:p>
            <a:endParaRPr lang="en-US"/>
          </a:p>
        </p:txBody>
      </p:sp>
      <p:sp>
        <p:nvSpPr>
          <p:cNvPr id="28" name="Shape 26"/>
          <p:cNvSpPr/>
          <p:nvPr/>
        </p:nvSpPr>
        <p:spPr>
          <a:xfrm>
            <a:off x="457200" y="2816352"/>
            <a:ext cx="54864" cy="530352"/>
          </a:xfrm>
          <a:prstGeom prst="rect">
            <a:avLst/>
          </a:prstGeom>
          <a:solidFill>
            <a:srgbClr val="006494"/>
          </a:solidFill>
          <a:ln w="12700">
            <a:solidFill>
              <a:srgbClr val="006494"/>
            </a:solidFill>
            <a:prstDash val="solid"/>
          </a:ln>
        </p:spPr>
        <p:txBody>
          <a:bodyPr/>
          <a:lstStyle/>
          <a:p>
            <a:endParaRPr lang="en-US"/>
          </a:p>
        </p:txBody>
      </p:sp>
      <p:sp>
        <p:nvSpPr>
          <p:cNvPr id="29" name="Shape 27"/>
          <p:cNvSpPr/>
          <p:nvPr/>
        </p:nvSpPr>
        <p:spPr>
          <a:xfrm>
            <a:off x="640080" y="2935224"/>
            <a:ext cx="292608" cy="292608"/>
          </a:xfrm>
          <a:prstGeom prst="rect">
            <a:avLst/>
          </a:prstGeom>
          <a:solidFill>
            <a:srgbClr val="006494"/>
          </a:solidFill>
          <a:ln w="12700">
            <a:solidFill>
              <a:srgbClr val="006494"/>
            </a:solidFill>
            <a:prstDash val="solid"/>
          </a:ln>
        </p:spPr>
        <p:txBody>
          <a:bodyPr/>
          <a:lstStyle/>
          <a:p>
            <a:endParaRPr lang="en-US"/>
          </a:p>
        </p:txBody>
      </p:sp>
      <p:sp>
        <p:nvSpPr>
          <p:cNvPr id="30" name="Text 28"/>
          <p:cNvSpPr/>
          <p:nvPr/>
        </p:nvSpPr>
        <p:spPr>
          <a:xfrm>
            <a:off x="640080" y="2935224"/>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1" name="Text 29"/>
          <p:cNvSpPr/>
          <p:nvPr/>
        </p:nvSpPr>
        <p:spPr>
          <a:xfrm>
            <a:off x="1042416" y="2816352"/>
            <a:ext cx="1463040" cy="530352"/>
          </a:xfrm>
          <a:prstGeom prst="rect">
            <a:avLst/>
          </a:prstGeom>
          <a:noFill/>
          <a:ln/>
        </p:spPr>
        <p:txBody>
          <a:bodyPr wrap="square" lIns="0" tIns="0" rIns="0" bIns="0" rtlCol="0" anchor="ctr"/>
          <a:lstStyle/>
          <a:p>
            <a:pPr marL="0" indent="0">
              <a:buNone/>
            </a:pPr>
            <a:r>
              <a:rPr lang="en-US" sz="900" b="1" kern="0" spc="60" dirty="0">
                <a:solidFill>
                  <a:srgbClr val="005479"/>
                </a:solidFill>
                <a:latin typeface="Calibri" pitchFamily="34" charset="0"/>
                <a:ea typeface="Calibri" pitchFamily="34" charset="-122"/>
                <a:cs typeface="Calibri" pitchFamily="34" charset="-120"/>
              </a:rPr>
              <a:t>SHOW AN EXAMPLE</a:t>
            </a:r>
            <a:endParaRPr lang="en-US" sz="900" dirty="0"/>
          </a:p>
        </p:txBody>
      </p:sp>
      <p:sp>
        <p:nvSpPr>
          <p:cNvPr id="32" name="Text 30"/>
          <p:cNvSpPr/>
          <p:nvPr/>
        </p:nvSpPr>
        <p:spPr>
          <a:xfrm>
            <a:off x="2542032" y="2816352"/>
            <a:ext cx="2743200" cy="530352"/>
          </a:xfrm>
          <a:prstGeom prst="rect">
            <a:avLst/>
          </a:prstGeom>
          <a:noFill/>
          <a:ln/>
        </p:spPr>
        <p:txBody>
          <a:bodyPr wrap="square" lIns="0" tIns="0" rIns="0" bIns="0" rtlCol="0" anchor="ctr"/>
          <a:lstStyle/>
          <a:p>
            <a:pPr marL="0" indent="0">
              <a:buNone/>
            </a:pPr>
            <a:r>
              <a:rPr lang="en-US" sz="850" i="1" dirty="0">
                <a:solidFill>
                  <a:srgbClr val="0B2B3C"/>
                </a:solidFill>
                <a:latin typeface="Calibri" pitchFamily="34" charset="0"/>
                <a:ea typeface="Calibri" pitchFamily="34" charset="-122"/>
                <a:cs typeface="Calibri" pitchFamily="34" charset="-120"/>
              </a:rPr>
              <a:t>One input, one perfect output</a:t>
            </a:r>
            <a:endParaRPr lang="en-US" sz="850" dirty="0"/>
          </a:p>
        </p:txBody>
      </p:sp>
      <p:sp>
        <p:nvSpPr>
          <p:cNvPr id="33" name="Text 31"/>
          <p:cNvSpPr/>
          <p:nvPr/>
        </p:nvSpPr>
        <p:spPr>
          <a:xfrm>
            <a:off x="5358384" y="2816352"/>
            <a:ext cx="3200400" cy="530352"/>
          </a:xfrm>
          <a:prstGeom prst="rect">
            <a:avLst/>
          </a:prstGeom>
          <a:noFill/>
          <a:ln/>
        </p:spPr>
        <p:txBody>
          <a:bodyPr wrap="square" lIns="0" tIns="0" rIns="0" bIns="0" rtlCol="0" anchor="ctr"/>
          <a:lstStyle/>
          <a:p>
            <a:pPr marL="0" indent="0">
              <a:buNone/>
            </a:pPr>
            <a:r>
              <a:rPr lang="en-US" sz="800" dirty="0">
                <a:solidFill>
                  <a:srgbClr val="4E6E7D"/>
                </a:solidFill>
                <a:latin typeface="Calibri" pitchFamily="34" charset="0"/>
                <a:ea typeface="Calibri" pitchFamily="34" charset="-122"/>
                <a:cs typeface="Calibri" pitchFamily="34" charset="-120"/>
              </a:rPr>
              <a:t>A single example beats a paragraph of description</a:t>
            </a:r>
            <a:endParaRPr lang="en-US" sz="800" dirty="0"/>
          </a:p>
        </p:txBody>
      </p:sp>
      <p:sp>
        <p:nvSpPr>
          <p:cNvPr id="34" name="Text 32"/>
          <p:cNvSpPr/>
          <p:nvPr/>
        </p:nvSpPr>
        <p:spPr>
          <a:xfrm>
            <a:off x="457200" y="3493008"/>
            <a:ext cx="36576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AND ONE SETTING</a:t>
            </a:r>
            <a:endParaRPr lang="en-US" sz="800" dirty="0"/>
          </a:p>
        </p:txBody>
      </p:sp>
      <p:sp>
        <p:nvSpPr>
          <p:cNvPr id="35" name="Text 33"/>
          <p:cNvSpPr/>
          <p:nvPr/>
        </p:nvSpPr>
        <p:spPr>
          <a:xfrm>
            <a:off x="457200" y="3712464"/>
            <a:ext cx="5120640" cy="420624"/>
          </a:xfrm>
          <a:prstGeom prst="rect">
            <a:avLst/>
          </a:prstGeom>
          <a:noFill/>
          <a:ln/>
        </p:spPr>
        <p:txBody>
          <a:bodyPr wrap="square" lIns="0" tIns="0" rIns="0" bIns="0" rtlCol="0" anchor="t"/>
          <a:lstStyle/>
          <a:p>
            <a:pPr marL="0" indent="0">
              <a:lnSpc>
                <a:spcPct val="105000"/>
              </a:lnSpc>
              <a:buNone/>
            </a:pPr>
            <a:r>
              <a:rPr lang="en-US" sz="950" dirty="0">
                <a:solidFill>
                  <a:srgbClr val="0B2B3C"/>
                </a:solidFill>
                <a:latin typeface="Calibri" pitchFamily="34" charset="0"/>
                <a:ea typeface="Calibri" pitchFamily="34" charset="-122"/>
                <a:cs typeface="Calibri" pitchFamily="34" charset="-120"/>
              </a:rPr>
              <a:t>Temperature 0 for anything you will parse or store. Randomness is a feature when you are writing and a defect when you are extracting.</a:t>
            </a:r>
            <a:endParaRPr lang="en-US" sz="950" dirty="0"/>
          </a:p>
        </p:txBody>
      </p:sp>
      <p:sp>
        <p:nvSpPr>
          <p:cNvPr id="36" name="Shape 34"/>
          <p:cNvSpPr/>
          <p:nvPr/>
        </p:nvSpPr>
        <p:spPr>
          <a:xfrm>
            <a:off x="5760720" y="3456432"/>
            <a:ext cx="2926080" cy="731520"/>
          </a:xfrm>
          <a:prstGeom prst="rect">
            <a:avLst/>
          </a:prstGeom>
          <a:solidFill>
            <a:srgbClr val="EAF6FD"/>
          </a:solidFill>
          <a:ln w="12700">
            <a:solidFill>
              <a:srgbClr val="EAF6FD"/>
            </a:solidFill>
            <a:prstDash val="solid"/>
          </a:ln>
        </p:spPr>
        <p:txBody>
          <a:bodyPr/>
          <a:lstStyle/>
          <a:p>
            <a:endParaRPr lang="en-US"/>
          </a:p>
        </p:txBody>
      </p:sp>
      <p:sp>
        <p:nvSpPr>
          <p:cNvPr id="37" name="Shape 35"/>
          <p:cNvSpPr/>
          <p:nvPr/>
        </p:nvSpPr>
        <p:spPr>
          <a:xfrm>
            <a:off x="5760720" y="3456432"/>
            <a:ext cx="54864" cy="731520"/>
          </a:xfrm>
          <a:prstGeom prst="rect">
            <a:avLst/>
          </a:prstGeom>
          <a:solidFill>
            <a:srgbClr val="006494"/>
          </a:solidFill>
          <a:ln w="12700">
            <a:solidFill>
              <a:srgbClr val="006494"/>
            </a:solidFill>
            <a:prstDash val="solid"/>
          </a:ln>
        </p:spPr>
        <p:txBody>
          <a:bodyPr/>
          <a:lstStyle/>
          <a:p>
            <a:endParaRPr lang="en-US"/>
          </a:p>
        </p:txBody>
      </p:sp>
      <p:sp>
        <p:nvSpPr>
          <p:cNvPr id="38" name="Text 36"/>
          <p:cNvSpPr/>
          <p:nvPr/>
        </p:nvSpPr>
        <p:spPr>
          <a:xfrm>
            <a:off x="5925312" y="3511296"/>
            <a:ext cx="2651760" cy="621792"/>
          </a:xfrm>
          <a:prstGeom prst="rect">
            <a:avLst/>
          </a:prstGeom>
          <a:noFill/>
          <a:ln/>
        </p:spPr>
        <p:txBody>
          <a:bodyPr wrap="square" lIns="0" tIns="0" rIns="0" bIns="0" rtlCol="0" anchor="ctr"/>
          <a:lstStyle/>
          <a:p>
            <a:pPr marL="0" indent="0">
              <a:lnSpc>
                <a:spcPct val="105000"/>
              </a:lnSpc>
              <a:buNone/>
            </a:pPr>
            <a:r>
              <a:rPr lang="en-US" sz="800" dirty="0">
                <a:solidFill>
                  <a:srgbClr val="0B2B3C"/>
                </a:solidFill>
                <a:latin typeface="Calibri" pitchFamily="34" charset="0"/>
                <a:ea typeface="Calibri" pitchFamily="34" charset="-122"/>
                <a:cs typeface="Calibri" pitchFamily="34" charset="-120"/>
              </a:rPr>
              <a:t>Because everyone's domain differs, everyone's prompt differs. Yours has to describe YOUR records.</a:t>
            </a:r>
            <a:endParaRPr lang="en-US" sz="800" dirty="0"/>
          </a:p>
        </p:txBody>
      </p:sp>
      <p:sp>
        <p:nvSpPr>
          <p:cNvPr id="39" name="Shape 37"/>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40" name="Shape 38"/>
          <p:cNvSpPr/>
          <p:nvPr/>
        </p:nvSpPr>
        <p:spPr>
          <a:xfrm>
            <a:off x="457200" y="4334256"/>
            <a:ext cx="54864" cy="512064"/>
          </a:xfrm>
          <a:prstGeom prst="rect">
            <a:avLst/>
          </a:prstGeom>
          <a:solidFill>
            <a:srgbClr val="006494"/>
          </a:solidFill>
          <a:ln w="12700">
            <a:solidFill>
              <a:srgbClr val="006494"/>
            </a:solidFill>
            <a:prstDash val="solid"/>
          </a:ln>
        </p:spPr>
        <p:txBody>
          <a:bodyPr/>
          <a:lstStyle/>
          <a:p>
            <a:endParaRPr lang="en-US"/>
          </a:p>
        </p:txBody>
      </p:sp>
      <p:sp>
        <p:nvSpPr>
          <p:cNvPr id="41" name="Text 39"/>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Run the vague version first and keep the output on screen. The improvement is the argument — you should not have to make it yourself.</a:t>
            </a:r>
            <a:endParaRPr lang="en-US" sz="1000" dirty="0"/>
          </a:p>
        </p:txBody>
      </p:sp>
    </p:spTree>
    <p:extLst>
      <p:ext uri="{BB962C8B-B14F-4D97-AF65-F5344CB8AC3E}">
        <p14:creationId xmlns:p14="http://schemas.microsoft.com/office/powerpoint/2010/main" val="506699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6494"/>
          </a:solidFill>
          <a:ln w="12700">
            <a:solidFill>
              <a:srgbClr val="006494"/>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The Skill That Makes AI Usable: Structured Output</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Text 4"/>
          <p:cNvSpPr/>
          <p:nvPr/>
        </p:nvSpPr>
        <p:spPr>
          <a:xfrm>
            <a:off x="457200" y="969264"/>
            <a:ext cx="45720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ASK FOR A SHAPE, NOT A PARAGRAPH</a:t>
            </a:r>
            <a:endParaRPr lang="en-US" sz="800" dirty="0"/>
          </a:p>
        </p:txBody>
      </p:sp>
      <p:sp>
        <p:nvSpPr>
          <p:cNvPr id="7" name="Shape 5"/>
          <p:cNvSpPr/>
          <p:nvPr/>
        </p:nvSpPr>
        <p:spPr>
          <a:xfrm>
            <a:off x="457200" y="1188720"/>
            <a:ext cx="4846320" cy="1060704"/>
          </a:xfrm>
          <a:prstGeom prst="rect">
            <a:avLst/>
          </a:prstGeom>
          <a:solidFill>
            <a:srgbClr val="0B2B3C"/>
          </a:solidFill>
          <a:ln w="12700">
            <a:solidFill>
              <a:srgbClr val="0B2B3C"/>
            </a:solidFill>
            <a:prstDash val="solid"/>
          </a:ln>
        </p:spPr>
        <p:txBody>
          <a:bodyPr/>
          <a:lstStyle/>
          <a:p>
            <a:endParaRPr lang="en-US"/>
          </a:p>
        </p:txBody>
      </p:sp>
      <p:sp>
        <p:nvSpPr>
          <p:cNvPr id="8" name="Text 6"/>
          <p:cNvSpPr/>
          <p:nvPr/>
        </p:nvSpPr>
        <p:spPr>
          <a:xfrm>
            <a:off x="640080" y="1280160"/>
            <a:ext cx="4517136" cy="877824"/>
          </a:xfrm>
          <a:prstGeom prst="rect">
            <a:avLst/>
          </a:prstGeom>
          <a:noFill/>
          <a:ln/>
        </p:spPr>
        <p:txBody>
          <a:bodyPr wrap="square" lIns="0" tIns="0" rIns="0" bIns="0" rtlCol="0" anchor="t"/>
          <a:lstStyle/>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system:</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Return ONLY valid JSON:</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 "summary": string,</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"tags": string[3] }</a:t>
            </a:r>
            <a:endParaRPr lang="en-US" sz="950" dirty="0"/>
          </a:p>
          <a:p>
            <a:pPr marL="0" indent="0">
              <a:lnSpc>
                <a:spcPct val="112000"/>
              </a:lnSpc>
              <a:buNone/>
            </a:pPr>
            <a:r>
              <a:rPr lang="en-US" sz="950" dirty="0">
                <a:solidFill>
                  <a:srgbClr val="C9B3F0"/>
                </a:solidFill>
                <a:latin typeface="Courier New" pitchFamily="34" charset="0"/>
                <a:ea typeface="Courier New" pitchFamily="34" charset="-122"/>
                <a:cs typeface="Courier New" pitchFamily="34" charset="-120"/>
              </a:rPr>
              <a:t>  No markdown. No prose.</a:t>
            </a:r>
            <a:endParaRPr lang="en-US" sz="950" dirty="0"/>
          </a:p>
        </p:txBody>
      </p:sp>
      <p:sp>
        <p:nvSpPr>
          <p:cNvPr id="9" name="Text 7"/>
          <p:cNvSpPr/>
          <p:nvPr/>
        </p:nvSpPr>
        <p:spPr>
          <a:xfrm>
            <a:off x="5486400" y="1188720"/>
            <a:ext cx="3200400" cy="548640"/>
          </a:xfrm>
          <a:prstGeom prst="rect">
            <a:avLst/>
          </a:prstGeom>
          <a:noFill/>
          <a:ln/>
        </p:spPr>
        <p:txBody>
          <a:bodyPr wrap="square" lIns="0" tIns="0" rIns="0" bIns="0" rtlCol="0" anchor="t"/>
          <a:lstStyle/>
          <a:p>
            <a:pPr marL="0" indent="0">
              <a:lnSpc>
                <a:spcPct val="110000"/>
              </a:lnSpc>
              <a:buNone/>
            </a:pPr>
            <a:r>
              <a:rPr lang="en-US" sz="1000" b="1" dirty="0">
                <a:solidFill>
                  <a:srgbClr val="0B2B3C"/>
                </a:solidFill>
                <a:latin typeface="Calibri" pitchFamily="34" charset="0"/>
                <a:ea typeface="Calibri" pitchFamily="34" charset="-122"/>
                <a:cs typeface="Calibri" pitchFamily="34" charset="-120"/>
              </a:rPr>
              <a:t>A paragraph is something a human reads.</a:t>
            </a:r>
            <a:endParaRPr lang="en-US" sz="1000" dirty="0"/>
          </a:p>
          <a:p>
            <a:pPr marL="0" indent="0">
              <a:lnSpc>
                <a:spcPct val="110000"/>
              </a:lnSpc>
              <a:buNone/>
            </a:pPr>
            <a:r>
              <a:rPr lang="en-US" sz="1000" b="1" dirty="0">
                <a:solidFill>
                  <a:srgbClr val="0B2B3C"/>
                </a:solidFill>
                <a:latin typeface="Calibri" pitchFamily="34" charset="0"/>
                <a:ea typeface="Calibri" pitchFamily="34" charset="-122"/>
                <a:cs typeface="Calibri" pitchFamily="34" charset="-120"/>
              </a:rPr>
              <a:t>JSON is something your app can use.</a:t>
            </a:r>
            <a:endParaRPr lang="en-US" sz="1000" dirty="0"/>
          </a:p>
        </p:txBody>
      </p:sp>
      <p:sp>
        <p:nvSpPr>
          <p:cNvPr id="10" name="Text 8"/>
          <p:cNvSpPr/>
          <p:nvPr/>
        </p:nvSpPr>
        <p:spPr>
          <a:xfrm>
            <a:off x="5486400" y="1792224"/>
            <a:ext cx="3200400" cy="621792"/>
          </a:xfrm>
          <a:prstGeom prst="rect">
            <a:avLst/>
          </a:prstGeom>
          <a:noFill/>
          <a:ln/>
        </p:spPr>
        <p:txBody>
          <a:bodyPr wrap="square" lIns="0" tIns="0" rIns="0" bIns="0" rtlCol="0" anchor="t"/>
          <a:lstStyle/>
          <a:p>
            <a:pPr marL="0" indent="0">
              <a:lnSpc>
                <a:spcPct val="105000"/>
              </a:lnSpc>
              <a:buNone/>
            </a:pPr>
            <a:r>
              <a:rPr lang="en-US" sz="850" dirty="0">
                <a:solidFill>
                  <a:srgbClr val="4E6E7D"/>
                </a:solidFill>
                <a:latin typeface="Calibri" pitchFamily="34" charset="0"/>
                <a:ea typeface="Calibri" pitchFamily="34" charset="-122"/>
                <a:cs typeface="Calibri" pitchFamily="34" charset="-120"/>
              </a:rPr>
              <a:t>Once the answer has a shape, you can put it in a variable, render it as chips, filter by it, and — from tomorrow — store it in a database column.</a:t>
            </a:r>
            <a:endParaRPr lang="en-US" sz="850" dirty="0"/>
          </a:p>
        </p:txBody>
      </p:sp>
      <p:sp>
        <p:nvSpPr>
          <p:cNvPr id="11" name="Text 9"/>
          <p:cNvSpPr/>
          <p:nvPr/>
        </p:nvSpPr>
        <p:spPr>
          <a:xfrm>
            <a:off x="457200" y="2560320"/>
            <a:ext cx="5486400" cy="182880"/>
          </a:xfrm>
          <a:prstGeom prst="rect">
            <a:avLst/>
          </a:prstGeom>
          <a:noFill/>
          <a:ln/>
        </p:spPr>
        <p:txBody>
          <a:bodyPr wrap="square" lIns="0" tIns="0" rIns="0" bIns="0" rtlCol="0" anchor="ctr"/>
          <a:lstStyle/>
          <a:p>
            <a:pPr marL="0" indent="0">
              <a:buNone/>
            </a:pPr>
            <a:r>
              <a:rPr lang="en-US" sz="800" b="1" kern="0" spc="120" dirty="0">
                <a:solidFill>
                  <a:srgbClr val="4E6E7D"/>
                </a:solidFill>
                <a:latin typeface="Calibri" pitchFamily="34" charset="0"/>
                <a:ea typeface="Calibri" pitchFamily="34" charset="-122"/>
                <a:cs typeface="Calibri" pitchFamily="34" charset="-120"/>
              </a:rPr>
              <a:t>IT WILL STILL BETRAY YOU. PLAN FOR IT.</a:t>
            </a:r>
            <a:endParaRPr lang="en-US" sz="800" dirty="0"/>
          </a:p>
        </p:txBody>
      </p:sp>
      <p:sp>
        <p:nvSpPr>
          <p:cNvPr id="12" name="Shape 10"/>
          <p:cNvSpPr/>
          <p:nvPr/>
        </p:nvSpPr>
        <p:spPr>
          <a:xfrm>
            <a:off x="457200" y="2779776"/>
            <a:ext cx="8229600" cy="329184"/>
          </a:xfrm>
          <a:prstGeom prst="rect">
            <a:avLst/>
          </a:prstGeom>
          <a:solidFill>
            <a:srgbClr val="EAF6FD"/>
          </a:solidFill>
          <a:ln w="6350">
            <a:solidFill>
              <a:srgbClr val="E3E9F0"/>
            </a:solidFill>
            <a:prstDash val="solid"/>
          </a:ln>
        </p:spPr>
        <p:txBody>
          <a:bodyPr/>
          <a:lstStyle/>
          <a:p>
            <a:endParaRPr lang="en-US"/>
          </a:p>
        </p:txBody>
      </p:sp>
      <p:sp>
        <p:nvSpPr>
          <p:cNvPr id="13" name="Text 11"/>
          <p:cNvSpPr/>
          <p:nvPr/>
        </p:nvSpPr>
        <p:spPr>
          <a:xfrm>
            <a:off x="566928" y="2779776"/>
            <a:ext cx="237744" cy="329184"/>
          </a:xfrm>
          <a:prstGeom prst="rect">
            <a:avLst/>
          </a:prstGeom>
          <a:noFill/>
          <a:ln/>
        </p:spPr>
        <p:txBody>
          <a:bodyPr wrap="square" lIns="0" tIns="0" rIns="0" bIns="0" rtlCol="0" anchor="ctr"/>
          <a:lstStyle/>
          <a:p>
            <a:pPr marL="0" indent="0">
              <a:buNone/>
            </a:pPr>
            <a:r>
              <a:rPr lang="en-US" sz="900" b="1" dirty="0">
                <a:solidFill>
                  <a:srgbClr val="B83232"/>
                </a:solidFill>
                <a:latin typeface="Calibri" pitchFamily="34" charset="0"/>
                <a:ea typeface="Calibri" pitchFamily="34" charset="-122"/>
                <a:cs typeface="Calibri" pitchFamily="34" charset="-120"/>
              </a:rPr>
              <a:t>✗</a:t>
            </a:r>
            <a:endParaRPr lang="en-US" sz="900" dirty="0"/>
          </a:p>
        </p:txBody>
      </p:sp>
      <p:sp>
        <p:nvSpPr>
          <p:cNvPr id="14" name="Text 12"/>
          <p:cNvSpPr/>
          <p:nvPr/>
        </p:nvSpPr>
        <p:spPr>
          <a:xfrm>
            <a:off x="841248" y="2779776"/>
            <a:ext cx="3566160"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Wraps it in ```json fences</a:t>
            </a:r>
            <a:endParaRPr lang="en-US" sz="850" dirty="0"/>
          </a:p>
        </p:txBody>
      </p:sp>
      <p:sp>
        <p:nvSpPr>
          <p:cNvPr id="15" name="Text 13"/>
          <p:cNvSpPr/>
          <p:nvPr/>
        </p:nvSpPr>
        <p:spPr>
          <a:xfrm>
            <a:off x="4480560" y="2779776"/>
            <a:ext cx="4114800" cy="329184"/>
          </a:xfrm>
          <a:prstGeom prst="rect">
            <a:avLst/>
          </a:prstGeom>
          <a:noFill/>
          <a:ln/>
        </p:spPr>
        <p:txBody>
          <a:bodyPr wrap="square" lIns="0" tIns="0" rIns="0" bIns="0" rtlCol="0" anchor="ctr"/>
          <a:lstStyle/>
          <a:p>
            <a:pPr marL="0" indent="0">
              <a:buNone/>
            </a:pPr>
            <a:r>
              <a:rPr lang="en-US" sz="850" b="1" dirty="0">
                <a:solidFill>
                  <a:srgbClr val="007F73"/>
                </a:solidFill>
                <a:latin typeface="Calibri" pitchFamily="34" charset="0"/>
                <a:ea typeface="Calibri" pitchFamily="34" charset="-122"/>
                <a:cs typeface="Calibri" pitchFamily="34" charset="-120"/>
              </a:rPr>
              <a:t>Strip the fences before parsing</a:t>
            </a:r>
            <a:endParaRPr lang="en-US" sz="850" dirty="0"/>
          </a:p>
        </p:txBody>
      </p:sp>
      <p:sp>
        <p:nvSpPr>
          <p:cNvPr id="16" name="Shape 14"/>
          <p:cNvSpPr/>
          <p:nvPr/>
        </p:nvSpPr>
        <p:spPr>
          <a:xfrm>
            <a:off x="457200" y="3145536"/>
            <a:ext cx="8229600" cy="329184"/>
          </a:xfrm>
          <a:prstGeom prst="rect">
            <a:avLst/>
          </a:prstGeom>
          <a:solidFill>
            <a:srgbClr val="FFFFFF"/>
          </a:solidFill>
          <a:ln w="6350">
            <a:solidFill>
              <a:srgbClr val="E3E9F0"/>
            </a:solidFill>
            <a:prstDash val="solid"/>
          </a:ln>
        </p:spPr>
        <p:txBody>
          <a:bodyPr/>
          <a:lstStyle/>
          <a:p>
            <a:endParaRPr lang="en-US"/>
          </a:p>
        </p:txBody>
      </p:sp>
      <p:sp>
        <p:nvSpPr>
          <p:cNvPr id="17" name="Text 15"/>
          <p:cNvSpPr/>
          <p:nvPr/>
        </p:nvSpPr>
        <p:spPr>
          <a:xfrm>
            <a:off x="566928" y="3145536"/>
            <a:ext cx="237744" cy="329184"/>
          </a:xfrm>
          <a:prstGeom prst="rect">
            <a:avLst/>
          </a:prstGeom>
          <a:noFill/>
          <a:ln/>
        </p:spPr>
        <p:txBody>
          <a:bodyPr wrap="square" lIns="0" tIns="0" rIns="0" bIns="0" rtlCol="0" anchor="ctr"/>
          <a:lstStyle/>
          <a:p>
            <a:pPr marL="0" indent="0">
              <a:buNone/>
            </a:pPr>
            <a:r>
              <a:rPr lang="en-US" sz="900" b="1" dirty="0">
                <a:solidFill>
                  <a:srgbClr val="B83232"/>
                </a:solidFill>
                <a:latin typeface="Calibri" pitchFamily="34" charset="0"/>
                <a:ea typeface="Calibri" pitchFamily="34" charset="-122"/>
                <a:cs typeface="Calibri" pitchFamily="34" charset="-120"/>
              </a:rPr>
              <a:t>✗</a:t>
            </a:r>
            <a:endParaRPr lang="en-US" sz="900" dirty="0"/>
          </a:p>
        </p:txBody>
      </p:sp>
      <p:sp>
        <p:nvSpPr>
          <p:cNvPr id="18" name="Text 16"/>
          <p:cNvSpPr/>
          <p:nvPr/>
        </p:nvSpPr>
        <p:spPr>
          <a:xfrm>
            <a:off x="841248" y="3145536"/>
            <a:ext cx="3566160"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Adds "Sure! Here is your JSON:"</a:t>
            </a:r>
            <a:endParaRPr lang="en-US" sz="850" dirty="0"/>
          </a:p>
        </p:txBody>
      </p:sp>
      <p:sp>
        <p:nvSpPr>
          <p:cNvPr id="19" name="Text 17"/>
          <p:cNvSpPr/>
          <p:nvPr/>
        </p:nvSpPr>
        <p:spPr>
          <a:xfrm>
            <a:off x="4480560" y="3145536"/>
            <a:ext cx="4114800" cy="329184"/>
          </a:xfrm>
          <a:prstGeom prst="rect">
            <a:avLst/>
          </a:prstGeom>
          <a:noFill/>
          <a:ln/>
        </p:spPr>
        <p:txBody>
          <a:bodyPr wrap="square" lIns="0" tIns="0" rIns="0" bIns="0" rtlCol="0" anchor="ctr"/>
          <a:lstStyle/>
          <a:p>
            <a:pPr marL="0" indent="0">
              <a:buNone/>
            </a:pPr>
            <a:r>
              <a:rPr lang="en-US" sz="850" b="1" dirty="0">
                <a:solidFill>
                  <a:srgbClr val="007F73"/>
                </a:solidFill>
                <a:latin typeface="Calibri" pitchFamily="34" charset="0"/>
                <a:ea typeface="Calibri" pitchFamily="34" charset="-122"/>
                <a:cs typeface="Calibri" pitchFamily="34" charset="-120"/>
              </a:rPr>
              <a:t>Take only the text between the first { and last }</a:t>
            </a:r>
            <a:endParaRPr lang="en-US" sz="850" dirty="0"/>
          </a:p>
        </p:txBody>
      </p:sp>
      <p:sp>
        <p:nvSpPr>
          <p:cNvPr id="20" name="Shape 18"/>
          <p:cNvSpPr/>
          <p:nvPr/>
        </p:nvSpPr>
        <p:spPr>
          <a:xfrm>
            <a:off x="457200" y="3511296"/>
            <a:ext cx="8229600" cy="329184"/>
          </a:xfrm>
          <a:prstGeom prst="rect">
            <a:avLst/>
          </a:prstGeom>
          <a:solidFill>
            <a:srgbClr val="EAF6FD"/>
          </a:solidFill>
          <a:ln w="6350">
            <a:solidFill>
              <a:srgbClr val="E3E9F0"/>
            </a:solidFill>
            <a:prstDash val="solid"/>
          </a:ln>
        </p:spPr>
        <p:txBody>
          <a:bodyPr/>
          <a:lstStyle/>
          <a:p>
            <a:endParaRPr lang="en-US"/>
          </a:p>
        </p:txBody>
      </p:sp>
      <p:sp>
        <p:nvSpPr>
          <p:cNvPr id="21" name="Text 19"/>
          <p:cNvSpPr/>
          <p:nvPr/>
        </p:nvSpPr>
        <p:spPr>
          <a:xfrm>
            <a:off x="566928" y="3511296"/>
            <a:ext cx="237744" cy="329184"/>
          </a:xfrm>
          <a:prstGeom prst="rect">
            <a:avLst/>
          </a:prstGeom>
          <a:noFill/>
          <a:ln/>
        </p:spPr>
        <p:txBody>
          <a:bodyPr wrap="square" lIns="0" tIns="0" rIns="0" bIns="0" rtlCol="0" anchor="ctr"/>
          <a:lstStyle/>
          <a:p>
            <a:pPr marL="0" indent="0">
              <a:buNone/>
            </a:pPr>
            <a:r>
              <a:rPr lang="en-US" sz="900" b="1" dirty="0">
                <a:solidFill>
                  <a:srgbClr val="B83232"/>
                </a:solidFill>
                <a:latin typeface="Calibri" pitchFamily="34" charset="0"/>
                <a:ea typeface="Calibri" pitchFamily="34" charset="-122"/>
                <a:cs typeface="Calibri" pitchFamily="34" charset="-120"/>
              </a:rPr>
              <a:t>✗</a:t>
            </a:r>
            <a:endParaRPr lang="en-US" sz="900" dirty="0"/>
          </a:p>
        </p:txBody>
      </p:sp>
      <p:sp>
        <p:nvSpPr>
          <p:cNvPr id="22" name="Text 20"/>
          <p:cNvSpPr/>
          <p:nvPr/>
        </p:nvSpPr>
        <p:spPr>
          <a:xfrm>
            <a:off x="841248" y="3511296"/>
            <a:ext cx="3566160"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Returns four tags when you asked for three</a:t>
            </a:r>
            <a:endParaRPr lang="en-US" sz="850" dirty="0"/>
          </a:p>
        </p:txBody>
      </p:sp>
      <p:sp>
        <p:nvSpPr>
          <p:cNvPr id="23" name="Text 21"/>
          <p:cNvSpPr/>
          <p:nvPr/>
        </p:nvSpPr>
        <p:spPr>
          <a:xfrm>
            <a:off x="4480560" y="3511296"/>
            <a:ext cx="4114800" cy="329184"/>
          </a:xfrm>
          <a:prstGeom prst="rect">
            <a:avLst/>
          </a:prstGeom>
          <a:noFill/>
          <a:ln/>
        </p:spPr>
        <p:txBody>
          <a:bodyPr wrap="square" lIns="0" tIns="0" rIns="0" bIns="0" rtlCol="0" anchor="ctr"/>
          <a:lstStyle/>
          <a:p>
            <a:pPr marL="0" indent="0">
              <a:buNone/>
            </a:pPr>
            <a:r>
              <a:rPr lang="en-US" sz="850" b="1" dirty="0">
                <a:solidFill>
                  <a:srgbClr val="007F73"/>
                </a:solidFill>
                <a:latin typeface="Calibri" pitchFamily="34" charset="0"/>
                <a:ea typeface="Calibri" pitchFamily="34" charset="-122"/>
                <a:cs typeface="Calibri" pitchFamily="34" charset="-120"/>
              </a:rPr>
              <a:t>Trim the array yourself. Never trust the count.</a:t>
            </a:r>
            <a:endParaRPr lang="en-US" sz="850" dirty="0"/>
          </a:p>
        </p:txBody>
      </p:sp>
      <p:sp>
        <p:nvSpPr>
          <p:cNvPr id="24" name="Shape 22"/>
          <p:cNvSpPr/>
          <p:nvPr/>
        </p:nvSpPr>
        <p:spPr>
          <a:xfrm>
            <a:off x="457200" y="3877056"/>
            <a:ext cx="8229600" cy="329184"/>
          </a:xfrm>
          <a:prstGeom prst="rect">
            <a:avLst/>
          </a:prstGeom>
          <a:solidFill>
            <a:srgbClr val="FFFFFF"/>
          </a:solidFill>
          <a:ln w="6350">
            <a:solidFill>
              <a:srgbClr val="E3E9F0"/>
            </a:solidFill>
            <a:prstDash val="solid"/>
          </a:ln>
        </p:spPr>
        <p:txBody>
          <a:bodyPr/>
          <a:lstStyle/>
          <a:p>
            <a:endParaRPr lang="en-US"/>
          </a:p>
        </p:txBody>
      </p:sp>
      <p:sp>
        <p:nvSpPr>
          <p:cNvPr id="25" name="Text 23"/>
          <p:cNvSpPr/>
          <p:nvPr/>
        </p:nvSpPr>
        <p:spPr>
          <a:xfrm>
            <a:off x="566928" y="3877056"/>
            <a:ext cx="237744" cy="329184"/>
          </a:xfrm>
          <a:prstGeom prst="rect">
            <a:avLst/>
          </a:prstGeom>
          <a:noFill/>
          <a:ln/>
        </p:spPr>
        <p:txBody>
          <a:bodyPr wrap="square" lIns="0" tIns="0" rIns="0" bIns="0" rtlCol="0" anchor="ctr"/>
          <a:lstStyle/>
          <a:p>
            <a:pPr marL="0" indent="0">
              <a:buNone/>
            </a:pPr>
            <a:r>
              <a:rPr lang="en-US" sz="900" b="1" dirty="0">
                <a:solidFill>
                  <a:srgbClr val="B83232"/>
                </a:solidFill>
                <a:latin typeface="Calibri" pitchFamily="34" charset="0"/>
                <a:ea typeface="Calibri" pitchFamily="34" charset="-122"/>
                <a:cs typeface="Calibri" pitchFamily="34" charset="-120"/>
              </a:rPr>
              <a:t>✗</a:t>
            </a:r>
            <a:endParaRPr lang="en-US" sz="900" dirty="0"/>
          </a:p>
        </p:txBody>
      </p:sp>
      <p:sp>
        <p:nvSpPr>
          <p:cNvPr id="26" name="Text 24"/>
          <p:cNvSpPr/>
          <p:nvPr/>
        </p:nvSpPr>
        <p:spPr>
          <a:xfrm>
            <a:off x="841248" y="3877056"/>
            <a:ext cx="3566160"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Returns something that will not parse at all</a:t>
            </a:r>
            <a:endParaRPr lang="en-US" sz="850" dirty="0"/>
          </a:p>
        </p:txBody>
      </p:sp>
      <p:sp>
        <p:nvSpPr>
          <p:cNvPr id="27" name="Text 25"/>
          <p:cNvSpPr/>
          <p:nvPr/>
        </p:nvSpPr>
        <p:spPr>
          <a:xfrm>
            <a:off x="4480560" y="3877056"/>
            <a:ext cx="4114800" cy="329184"/>
          </a:xfrm>
          <a:prstGeom prst="rect">
            <a:avLst/>
          </a:prstGeom>
          <a:noFill/>
          <a:ln/>
        </p:spPr>
        <p:txBody>
          <a:bodyPr wrap="square" lIns="0" tIns="0" rIns="0" bIns="0" rtlCol="0" anchor="ctr"/>
          <a:lstStyle/>
          <a:p>
            <a:pPr marL="0" indent="0">
              <a:buNone/>
            </a:pPr>
            <a:r>
              <a:rPr lang="en-US" sz="850" b="1" dirty="0">
                <a:solidFill>
                  <a:srgbClr val="007F73"/>
                </a:solidFill>
                <a:latin typeface="Calibri" pitchFamily="34" charset="0"/>
                <a:ea typeface="Calibri" pitchFamily="34" charset="-122"/>
                <a:cs typeface="Calibri" pitchFamily="34" charset="-120"/>
              </a:rPr>
              <a:t>JSON.parse inside try / catch. Retry once, then fail politely.</a:t>
            </a:r>
            <a:endParaRPr lang="en-US" sz="850" dirty="0"/>
          </a:p>
        </p:txBody>
      </p:sp>
      <p:sp>
        <p:nvSpPr>
          <p:cNvPr id="28" name="Shape 26"/>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29" name="Shape 27"/>
          <p:cNvSpPr/>
          <p:nvPr/>
        </p:nvSpPr>
        <p:spPr>
          <a:xfrm>
            <a:off x="457200" y="4334256"/>
            <a:ext cx="54864" cy="512064"/>
          </a:xfrm>
          <a:prstGeom prst="rect">
            <a:avLst/>
          </a:prstGeom>
          <a:solidFill>
            <a:srgbClr val="006494"/>
          </a:solidFill>
          <a:ln w="12700">
            <a:solidFill>
              <a:srgbClr val="006494"/>
            </a:solidFill>
            <a:prstDash val="solid"/>
          </a:ln>
        </p:spPr>
        <p:txBody>
          <a:bodyPr/>
          <a:lstStyle/>
          <a:p>
            <a:endParaRPr lang="en-US"/>
          </a:p>
        </p:txBody>
      </p:sp>
      <p:sp>
        <p:nvSpPr>
          <p:cNvPr id="30" name="Text 28"/>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Never call JSON.parse on model output without a try/catch. Tomorrow that becomes a rule you enforce on the server.</a:t>
            </a:r>
            <a:endParaRPr lang="en-US" sz="1000" dirty="0"/>
          </a:p>
        </p:txBody>
      </p:sp>
    </p:spTree>
    <p:extLst>
      <p:ext uri="{BB962C8B-B14F-4D97-AF65-F5344CB8AC3E}">
        <p14:creationId xmlns:p14="http://schemas.microsoft.com/office/powerpoint/2010/main" val="3546748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49B"/>
          </a:solidFill>
          <a:ln w="12700">
            <a:solidFill>
              <a:srgbClr val="0084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BLOCK 4</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Today's Lab</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005840"/>
            <a:ext cx="4023360" cy="2615184"/>
          </a:xfrm>
          <a:prstGeom prst="rect">
            <a:avLst/>
          </a:prstGeom>
          <a:solidFill>
            <a:srgbClr val="FFFFFF"/>
          </a:solidFill>
          <a:ln w="9525">
            <a:solidFill>
              <a:srgbClr val="E3E9F0"/>
            </a:solidFill>
            <a:prstDash val="solid"/>
          </a:ln>
        </p:spPr>
        <p:txBody>
          <a:bodyPr/>
          <a:lstStyle/>
          <a:p>
            <a:endParaRPr lang="en-US"/>
          </a:p>
        </p:txBody>
      </p:sp>
      <p:sp>
        <p:nvSpPr>
          <p:cNvPr id="7" name="Shape 5"/>
          <p:cNvSpPr/>
          <p:nvPr/>
        </p:nvSpPr>
        <p:spPr>
          <a:xfrm>
            <a:off x="457200" y="1005840"/>
            <a:ext cx="4023360" cy="310896"/>
          </a:xfrm>
          <a:prstGeom prst="rect">
            <a:avLst/>
          </a:prstGeom>
          <a:solidFill>
            <a:srgbClr val="00849B"/>
          </a:solidFill>
          <a:ln w="12700">
            <a:solidFill>
              <a:srgbClr val="00849B"/>
            </a:solidFill>
            <a:prstDash val="solid"/>
          </a:ln>
        </p:spPr>
        <p:txBody>
          <a:bodyPr/>
          <a:lstStyle/>
          <a:p>
            <a:endParaRPr lang="en-US"/>
          </a:p>
        </p:txBody>
      </p:sp>
      <p:sp>
        <p:nvSpPr>
          <p:cNvPr id="8" name="Text 6"/>
          <p:cNvSpPr/>
          <p:nvPr/>
        </p:nvSpPr>
        <p:spPr>
          <a:xfrm>
            <a:off x="457200" y="1005840"/>
            <a:ext cx="402336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CORE  —  EVERYONE FINISHES THIS</a:t>
            </a:r>
            <a:endParaRPr lang="en-US" sz="900" dirty="0"/>
          </a:p>
        </p:txBody>
      </p:sp>
      <p:sp>
        <p:nvSpPr>
          <p:cNvPr id="9" name="Text 7"/>
          <p:cNvSpPr/>
          <p:nvPr/>
        </p:nvSpPr>
        <p:spPr>
          <a:xfrm>
            <a:off x="621792" y="1444752"/>
            <a:ext cx="219456" cy="292608"/>
          </a:xfrm>
          <a:prstGeom prst="rect">
            <a:avLst/>
          </a:prstGeom>
          <a:noFill/>
          <a:ln/>
        </p:spPr>
        <p:txBody>
          <a:bodyPr wrap="square" lIns="0" tIns="0" rIns="0" bIns="0" rtlCol="0" anchor="ctr"/>
          <a:lstStyle/>
          <a:p>
            <a:pPr marL="0" indent="0">
              <a:buNone/>
            </a:pPr>
            <a:r>
              <a:rPr lang="en-US" sz="1100" dirty="0">
                <a:solidFill>
                  <a:srgbClr val="00697E"/>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877824" y="1444752"/>
            <a:ext cx="3474720"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Your record list rendered from an array with .map()</a:t>
            </a:r>
            <a:endParaRPr lang="en-US" sz="850" dirty="0"/>
          </a:p>
        </p:txBody>
      </p:sp>
      <p:sp>
        <p:nvSpPr>
          <p:cNvPr id="11" name="Text 9"/>
          <p:cNvSpPr/>
          <p:nvPr/>
        </p:nvSpPr>
        <p:spPr>
          <a:xfrm>
            <a:off x="621792" y="1792224"/>
            <a:ext cx="219456" cy="292608"/>
          </a:xfrm>
          <a:prstGeom prst="rect">
            <a:avLst/>
          </a:prstGeom>
          <a:noFill/>
          <a:ln/>
        </p:spPr>
        <p:txBody>
          <a:bodyPr wrap="square" lIns="0" tIns="0" rIns="0" bIns="0" rtlCol="0" anchor="ctr"/>
          <a:lstStyle/>
          <a:p>
            <a:pPr marL="0" indent="0">
              <a:buNone/>
            </a:pPr>
            <a:r>
              <a:rPr lang="en-US" sz="1100" dirty="0">
                <a:solidFill>
                  <a:srgbClr val="00697E"/>
                </a:solidFill>
                <a:latin typeface="Calibri" pitchFamily="34" charset="0"/>
                <a:ea typeface="Calibri" pitchFamily="34" charset="-122"/>
                <a:cs typeface="Calibri" pitchFamily="34" charset="-120"/>
              </a:rPr>
              <a:t>▢</a:t>
            </a:r>
            <a:endParaRPr lang="en-US" sz="1100" dirty="0"/>
          </a:p>
        </p:txBody>
      </p:sp>
      <p:sp>
        <p:nvSpPr>
          <p:cNvPr id="12" name="Text 10"/>
          <p:cNvSpPr/>
          <p:nvPr/>
        </p:nvSpPr>
        <p:spPr>
          <a:xfrm>
            <a:off x="877824" y="1792224"/>
            <a:ext cx="3474720"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Add and delete change the array, then re-render</a:t>
            </a:r>
            <a:endParaRPr lang="en-US" sz="850" dirty="0"/>
          </a:p>
        </p:txBody>
      </p:sp>
      <p:sp>
        <p:nvSpPr>
          <p:cNvPr id="13" name="Text 11"/>
          <p:cNvSpPr/>
          <p:nvPr/>
        </p:nvSpPr>
        <p:spPr>
          <a:xfrm>
            <a:off x="621792" y="2139696"/>
            <a:ext cx="219456" cy="292608"/>
          </a:xfrm>
          <a:prstGeom prst="rect">
            <a:avLst/>
          </a:prstGeom>
          <a:noFill/>
          <a:ln/>
        </p:spPr>
        <p:txBody>
          <a:bodyPr wrap="square" lIns="0" tIns="0" rIns="0" bIns="0" rtlCol="0" anchor="ctr"/>
          <a:lstStyle/>
          <a:p>
            <a:pPr marL="0" indent="0">
              <a:buNone/>
            </a:pPr>
            <a:r>
              <a:rPr lang="en-US" sz="1100" dirty="0">
                <a:solidFill>
                  <a:srgbClr val="00697E"/>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877824" y="2139696"/>
            <a:ext cx="3474720"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An Enrich button that calls the model via the proxy</a:t>
            </a:r>
            <a:endParaRPr lang="en-US" sz="850" dirty="0"/>
          </a:p>
        </p:txBody>
      </p:sp>
      <p:sp>
        <p:nvSpPr>
          <p:cNvPr id="15" name="Text 13"/>
          <p:cNvSpPr/>
          <p:nvPr/>
        </p:nvSpPr>
        <p:spPr>
          <a:xfrm>
            <a:off x="621792" y="2487168"/>
            <a:ext cx="219456" cy="292608"/>
          </a:xfrm>
          <a:prstGeom prst="rect">
            <a:avLst/>
          </a:prstGeom>
          <a:noFill/>
          <a:ln/>
        </p:spPr>
        <p:txBody>
          <a:bodyPr wrap="square" lIns="0" tIns="0" rIns="0" bIns="0" rtlCol="0" anchor="ctr"/>
          <a:lstStyle/>
          <a:p>
            <a:pPr marL="0" indent="0">
              <a:buNone/>
            </a:pPr>
            <a:r>
              <a:rPr lang="en-US" sz="1100" dirty="0">
                <a:solidFill>
                  <a:srgbClr val="00697E"/>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877824" y="2487168"/>
            <a:ext cx="3474720"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The summary appears on the screen</a:t>
            </a:r>
            <a:endParaRPr lang="en-US" sz="850" dirty="0"/>
          </a:p>
        </p:txBody>
      </p:sp>
      <p:sp>
        <p:nvSpPr>
          <p:cNvPr id="17" name="Text 15"/>
          <p:cNvSpPr/>
          <p:nvPr/>
        </p:nvSpPr>
        <p:spPr>
          <a:xfrm>
            <a:off x="621792" y="2834640"/>
            <a:ext cx="219456" cy="292608"/>
          </a:xfrm>
          <a:prstGeom prst="rect">
            <a:avLst/>
          </a:prstGeom>
          <a:noFill/>
          <a:ln/>
        </p:spPr>
        <p:txBody>
          <a:bodyPr wrap="square" lIns="0" tIns="0" rIns="0" bIns="0" rtlCol="0" anchor="ctr"/>
          <a:lstStyle/>
          <a:p>
            <a:pPr marL="0" indent="0">
              <a:buNone/>
            </a:pPr>
            <a:r>
              <a:rPr lang="en-US" sz="1100" dirty="0">
                <a:solidFill>
                  <a:srgbClr val="00697E"/>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877824" y="2834640"/>
            <a:ext cx="3474720"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Loading and error states on that button</a:t>
            </a:r>
            <a:endParaRPr lang="en-US" sz="850" dirty="0"/>
          </a:p>
        </p:txBody>
      </p:sp>
      <p:sp>
        <p:nvSpPr>
          <p:cNvPr id="19" name="Text 17"/>
          <p:cNvSpPr/>
          <p:nvPr/>
        </p:nvSpPr>
        <p:spPr>
          <a:xfrm>
            <a:off x="621792" y="3182112"/>
            <a:ext cx="219456" cy="292608"/>
          </a:xfrm>
          <a:prstGeom prst="rect">
            <a:avLst/>
          </a:prstGeom>
          <a:noFill/>
          <a:ln/>
        </p:spPr>
        <p:txBody>
          <a:bodyPr wrap="square" lIns="0" tIns="0" rIns="0" bIns="0" rtlCol="0" anchor="ctr"/>
          <a:lstStyle/>
          <a:p>
            <a:pPr marL="0" indent="0">
              <a:buNone/>
            </a:pPr>
            <a:r>
              <a:rPr lang="en-US" sz="1100" dirty="0">
                <a:solidFill>
                  <a:srgbClr val="00697E"/>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877824" y="3182112"/>
            <a:ext cx="3474720" cy="292608"/>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Committed and pushed to GitHub</a:t>
            </a:r>
            <a:endParaRPr lang="en-US" sz="850" dirty="0"/>
          </a:p>
        </p:txBody>
      </p:sp>
      <p:sp>
        <p:nvSpPr>
          <p:cNvPr id="21" name="Shape 19"/>
          <p:cNvSpPr/>
          <p:nvPr/>
        </p:nvSpPr>
        <p:spPr>
          <a:xfrm>
            <a:off x="4681728" y="1005840"/>
            <a:ext cx="4005072" cy="2615184"/>
          </a:xfrm>
          <a:prstGeom prst="rect">
            <a:avLst/>
          </a:prstGeom>
          <a:solidFill>
            <a:srgbClr val="FFFFFF"/>
          </a:solidFill>
          <a:ln w="9525">
            <a:solidFill>
              <a:srgbClr val="E3E9F0"/>
            </a:solidFill>
            <a:prstDash val="solid"/>
          </a:ln>
        </p:spPr>
        <p:txBody>
          <a:bodyPr/>
          <a:lstStyle/>
          <a:p>
            <a:endParaRPr lang="en-US"/>
          </a:p>
        </p:txBody>
      </p:sp>
      <p:sp>
        <p:nvSpPr>
          <p:cNvPr id="22" name="Shape 20"/>
          <p:cNvSpPr/>
          <p:nvPr/>
        </p:nvSpPr>
        <p:spPr>
          <a:xfrm>
            <a:off x="4681728" y="1005840"/>
            <a:ext cx="4005072" cy="310896"/>
          </a:xfrm>
          <a:prstGeom prst="rect">
            <a:avLst/>
          </a:prstGeom>
          <a:solidFill>
            <a:srgbClr val="006494"/>
          </a:solidFill>
          <a:ln w="12700">
            <a:solidFill>
              <a:srgbClr val="006494"/>
            </a:solidFill>
            <a:prstDash val="solid"/>
          </a:ln>
        </p:spPr>
        <p:txBody>
          <a:bodyPr/>
          <a:lstStyle/>
          <a:p>
            <a:endParaRPr lang="en-US"/>
          </a:p>
        </p:txBody>
      </p:sp>
      <p:sp>
        <p:nvSpPr>
          <p:cNvPr id="23" name="Text 21"/>
          <p:cNvSpPr/>
          <p:nvPr/>
        </p:nvSpPr>
        <p:spPr>
          <a:xfrm>
            <a:off x="4681728" y="1005840"/>
            <a:ext cx="400507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STRETCH  —  IF YOU ARE AHEAD</a:t>
            </a:r>
            <a:endParaRPr lang="en-US" sz="900" dirty="0"/>
          </a:p>
        </p:txBody>
      </p:sp>
      <p:sp>
        <p:nvSpPr>
          <p:cNvPr id="24" name="Text 22"/>
          <p:cNvSpPr/>
          <p:nvPr/>
        </p:nvSpPr>
        <p:spPr>
          <a:xfrm>
            <a:off x="4846320" y="1444752"/>
            <a:ext cx="219456" cy="329184"/>
          </a:xfrm>
          <a:prstGeom prst="rect">
            <a:avLst/>
          </a:prstGeom>
          <a:noFill/>
          <a:ln/>
        </p:spPr>
        <p:txBody>
          <a:bodyPr wrap="square" lIns="0" tIns="0" rIns="0" bIns="0" rtlCol="0" anchor="ctr"/>
          <a:lstStyle/>
          <a:p>
            <a:pPr marL="0" indent="0">
              <a:buNone/>
            </a:pPr>
            <a:r>
              <a:rPr lang="en-US" sz="1200" b="1" dirty="0">
                <a:solidFill>
                  <a:srgbClr val="005479"/>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5102352" y="1444752"/>
            <a:ext cx="3438144"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Ask for 3 tags as JSON and render them as chips</a:t>
            </a:r>
            <a:endParaRPr lang="en-US" sz="850" dirty="0"/>
          </a:p>
        </p:txBody>
      </p:sp>
      <p:sp>
        <p:nvSpPr>
          <p:cNvPr id="26" name="Text 24"/>
          <p:cNvSpPr/>
          <p:nvPr/>
        </p:nvSpPr>
        <p:spPr>
          <a:xfrm>
            <a:off x="4846320" y="1828800"/>
            <a:ext cx="219456" cy="329184"/>
          </a:xfrm>
          <a:prstGeom prst="rect">
            <a:avLst/>
          </a:prstGeom>
          <a:noFill/>
          <a:ln/>
        </p:spPr>
        <p:txBody>
          <a:bodyPr wrap="square" lIns="0" tIns="0" rIns="0" bIns="0" rtlCol="0" anchor="ctr"/>
          <a:lstStyle/>
          <a:p>
            <a:pPr marL="0" indent="0">
              <a:buNone/>
            </a:pPr>
            <a:r>
              <a:rPr lang="en-US" sz="1200" b="1" dirty="0">
                <a:solidFill>
                  <a:srgbClr val="005479"/>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5102352" y="1828800"/>
            <a:ext cx="3438144"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A search box that filters the list as you type</a:t>
            </a:r>
            <a:endParaRPr lang="en-US" sz="850" dirty="0"/>
          </a:p>
        </p:txBody>
      </p:sp>
      <p:sp>
        <p:nvSpPr>
          <p:cNvPr id="28" name="Text 26"/>
          <p:cNvSpPr/>
          <p:nvPr/>
        </p:nvSpPr>
        <p:spPr>
          <a:xfrm>
            <a:off x="4846320" y="2212848"/>
            <a:ext cx="219456" cy="329184"/>
          </a:xfrm>
          <a:prstGeom prst="rect">
            <a:avLst/>
          </a:prstGeom>
          <a:noFill/>
          <a:ln/>
        </p:spPr>
        <p:txBody>
          <a:bodyPr wrap="square" lIns="0" tIns="0" rIns="0" bIns="0" rtlCol="0" anchor="ctr"/>
          <a:lstStyle/>
          <a:p>
            <a:pPr marL="0" indent="0">
              <a:buNone/>
            </a:pPr>
            <a:r>
              <a:rPr lang="en-US" sz="1200" b="1" dirty="0">
                <a:solidFill>
                  <a:srgbClr val="005479"/>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5102352" y="2212848"/>
            <a:ext cx="3438144"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Break the model on purpose and handle it gracefully</a:t>
            </a:r>
            <a:endParaRPr lang="en-US" sz="850" dirty="0"/>
          </a:p>
        </p:txBody>
      </p:sp>
      <p:sp>
        <p:nvSpPr>
          <p:cNvPr id="30" name="Text 28"/>
          <p:cNvSpPr/>
          <p:nvPr/>
        </p:nvSpPr>
        <p:spPr>
          <a:xfrm>
            <a:off x="4846320" y="2596896"/>
            <a:ext cx="219456" cy="329184"/>
          </a:xfrm>
          <a:prstGeom prst="rect">
            <a:avLst/>
          </a:prstGeom>
          <a:noFill/>
          <a:ln/>
        </p:spPr>
        <p:txBody>
          <a:bodyPr wrap="square" lIns="0" tIns="0" rIns="0" bIns="0" rtlCol="0" anchor="ctr"/>
          <a:lstStyle/>
          <a:p>
            <a:pPr marL="0" indent="0">
              <a:buNone/>
            </a:pPr>
            <a:r>
              <a:rPr lang="en-US" sz="1200" b="1" dirty="0">
                <a:solidFill>
                  <a:srgbClr val="005479"/>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5102352" y="2596896"/>
            <a:ext cx="3438144"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Run the same record at temperature 0 and 1 — note what changes</a:t>
            </a:r>
            <a:endParaRPr lang="en-US" sz="850" dirty="0"/>
          </a:p>
        </p:txBody>
      </p:sp>
      <p:sp>
        <p:nvSpPr>
          <p:cNvPr id="32" name="Text 30"/>
          <p:cNvSpPr/>
          <p:nvPr/>
        </p:nvSpPr>
        <p:spPr>
          <a:xfrm>
            <a:off x="4846320" y="2980944"/>
            <a:ext cx="219456" cy="329184"/>
          </a:xfrm>
          <a:prstGeom prst="rect">
            <a:avLst/>
          </a:prstGeom>
          <a:noFill/>
          <a:ln/>
        </p:spPr>
        <p:txBody>
          <a:bodyPr wrap="square" lIns="0" tIns="0" rIns="0" bIns="0" rtlCol="0" anchor="ctr"/>
          <a:lstStyle/>
          <a:p>
            <a:pPr marL="0" indent="0">
              <a:buNone/>
            </a:pPr>
            <a:r>
              <a:rPr lang="en-US" sz="1200" b="1" dirty="0">
                <a:solidFill>
                  <a:srgbClr val="005479"/>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5102352" y="2980944"/>
            <a:ext cx="3438144" cy="329184"/>
          </a:xfrm>
          <a:prstGeom prst="rect">
            <a:avLst/>
          </a:prstGeom>
          <a:noFill/>
          <a:ln/>
        </p:spPr>
        <p:txBody>
          <a:bodyPr wrap="square" lIns="0" tIns="0" rIns="0" bIns="0" rtlCol="0" anchor="ctr"/>
          <a:lstStyle/>
          <a:p>
            <a:pPr marL="0" indent="0">
              <a:buNone/>
            </a:pPr>
            <a:r>
              <a:rPr lang="en-US" sz="850" dirty="0">
                <a:solidFill>
                  <a:srgbClr val="0B2B3C"/>
                </a:solidFill>
                <a:latin typeface="Calibri" pitchFamily="34" charset="0"/>
                <a:ea typeface="Calibri" pitchFamily="34" charset="-122"/>
                <a:cs typeface="Calibri" pitchFamily="34" charset="-120"/>
              </a:rPr>
              <a:t>Show the token count of your prompt</a:t>
            </a:r>
            <a:endParaRPr lang="en-US" sz="850" dirty="0"/>
          </a:p>
        </p:txBody>
      </p:sp>
      <p:sp>
        <p:nvSpPr>
          <p:cNvPr id="34" name="Shape 32"/>
          <p:cNvSpPr/>
          <p:nvPr/>
        </p:nvSpPr>
        <p:spPr>
          <a:xfrm>
            <a:off x="457200" y="3730752"/>
            <a:ext cx="8229600" cy="274320"/>
          </a:xfrm>
          <a:prstGeom prst="rect">
            <a:avLst/>
          </a:prstGeom>
          <a:solidFill>
            <a:srgbClr val="FDEAEA"/>
          </a:solidFill>
          <a:ln w="12700">
            <a:solidFill>
              <a:srgbClr val="FDEAEA"/>
            </a:solidFill>
            <a:prstDash val="solid"/>
          </a:ln>
        </p:spPr>
        <p:txBody>
          <a:bodyPr/>
          <a:lstStyle/>
          <a:p>
            <a:endParaRPr lang="en-US"/>
          </a:p>
        </p:txBody>
      </p:sp>
      <p:sp>
        <p:nvSpPr>
          <p:cNvPr id="35" name="Text 33"/>
          <p:cNvSpPr/>
          <p:nvPr/>
        </p:nvSpPr>
        <p:spPr>
          <a:xfrm>
            <a:off x="566928" y="373075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Watch your request count. A loop that calls the model on every keystroke will burn your daily quota in under a minute.</a:t>
            </a:r>
            <a:endParaRPr lang="en-US" sz="800" dirty="0"/>
          </a:p>
        </p:txBody>
      </p:sp>
      <p:sp>
        <p:nvSpPr>
          <p:cNvPr id="36" name="Shape 34"/>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37" name="Shape 35"/>
          <p:cNvSpPr/>
          <p:nvPr/>
        </p:nvSpPr>
        <p:spPr>
          <a:xfrm>
            <a:off x="457200" y="4334256"/>
            <a:ext cx="54864" cy="512064"/>
          </a:xfrm>
          <a:prstGeom prst="rect">
            <a:avLst/>
          </a:prstGeom>
          <a:solidFill>
            <a:srgbClr val="00849B"/>
          </a:solidFill>
          <a:ln w="12700">
            <a:solidFill>
              <a:srgbClr val="00849B"/>
            </a:solidFill>
            <a:prstDash val="solid"/>
          </a:ln>
        </p:spPr>
        <p:txBody>
          <a:bodyPr/>
          <a:lstStyle/>
          <a:p>
            <a:endParaRPr lang="en-US"/>
          </a:p>
        </p:txBody>
      </p:sp>
      <p:sp>
        <p:nvSpPr>
          <p:cNvPr id="38" name="Text 3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Demos today are about the summary. Different subjects, the same button — and everyone's model says something a little different.</a:t>
            </a:r>
            <a:endParaRPr lang="en-US" sz="1000" dirty="0"/>
          </a:p>
        </p:txBody>
      </p:sp>
    </p:spTree>
    <p:extLst>
      <p:ext uri="{BB962C8B-B14F-4D97-AF65-F5344CB8AC3E}">
        <p14:creationId xmlns:p14="http://schemas.microsoft.com/office/powerpoint/2010/main" val="1837261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49B"/>
          </a:solidFill>
          <a:ln w="12700">
            <a:solidFill>
              <a:srgbClr val="0084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E6E7D"/>
                </a:solidFill>
                <a:latin typeface="Calibri" pitchFamily="34" charset="0"/>
                <a:ea typeface="Calibri" pitchFamily="34" charset="-122"/>
                <a:cs typeface="Calibri" pitchFamily="34" charset="-120"/>
              </a:rPr>
              <a:t>DEBRIEF</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B3C"/>
                </a:solidFill>
                <a:latin typeface="Calibri" pitchFamily="34" charset="0"/>
                <a:ea typeface="Calibri" pitchFamily="34" charset="-122"/>
                <a:cs typeface="Calibri" pitchFamily="34" charset="-120"/>
              </a:rPr>
              <a:t>One Question Before You Go</a:t>
            </a:r>
            <a:endParaRPr lang="en-US" sz="2200" dirty="0"/>
          </a:p>
        </p:txBody>
      </p:sp>
      <p:sp>
        <p:nvSpPr>
          <p:cNvPr id="5" name="Shape 3"/>
          <p:cNvSpPr/>
          <p:nvPr/>
        </p:nvSpPr>
        <p:spPr>
          <a:xfrm>
            <a:off x="457200" y="859536"/>
            <a:ext cx="8229600" cy="10973"/>
          </a:xfrm>
          <a:prstGeom prst="rect">
            <a:avLst/>
          </a:prstGeom>
          <a:solidFill>
            <a:srgbClr val="CBE7F7"/>
          </a:solidFill>
          <a:ln w="12700">
            <a:solidFill>
              <a:srgbClr val="CBE7F7"/>
            </a:solidFill>
            <a:prstDash val="solid"/>
          </a:ln>
        </p:spPr>
        <p:txBody>
          <a:bodyPr/>
          <a:lstStyle/>
          <a:p>
            <a:endParaRPr lang="en-US"/>
          </a:p>
        </p:txBody>
      </p:sp>
      <p:sp>
        <p:nvSpPr>
          <p:cNvPr id="6" name="Shape 4"/>
          <p:cNvSpPr/>
          <p:nvPr/>
        </p:nvSpPr>
        <p:spPr>
          <a:xfrm>
            <a:off x="457200" y="1188720"/>
            <a:ext cx="8229600" cy="1170432"/>
          </a:xfrm>
          <a:prstGeom prst="rect">
            <a:avLst/>
          </a:prstGeom>
          <a:solidFill>
            <a:srgbClr val="0B2B3C"/>
          </a:solidFill>
          <a:ln w="12700">
            <a:solidFill>
              <a:srgbClr val="0B2B3C"/>
            </a:solidFill>
            <a:prstDash val="solid"/>
          </a:ln>
        </p:spPr>
        <p:txBody>
          <a:bodyPr/>
          <a:lstStyle/>
          <a:p>
            <a:endParaRPr lang="en-US"/>
          </a:p>
        </p:txBody>
      </p:sp>
      <p:sp>
        <p:nvSpPr>
          <p:cNvPr id="7" name="Text 5"/>
          <p:cNvSpPr/>
          <p:nvPr/>
        </p:nvSpPr>
        <p:spPr>
          <a:xfrm>
            <a:off x="731520" y="1188720"/>
            <a:ext cx="7680960" cy="1170432"/>
          </a:xfrm>
          <a:prstGeom prst="rect">
            <a:avLst/>
          </a:prstGeom>
          <a:noFill/>
          <a:ln/>
        </p:spPr>
        <p:txBody>
          <a:bodyPr wrap="square" lIns="0" tIns="0" rIns="0" bIns="0" rtlCol="0" anchor="ctr"/>
          <a:lstStyle/>
          <a:p>
            <a:pPr marL="0" indent="0" algn="ctr">
              <a:lnSpc>
                <a:spcPct val="110000"/>
              </a:lnSpc>
              <a:buNone/>
            </a:pPr>
            <a:r>
              <a:rPr lang="en-US" sz="2000" b="1" dirty="0">
                <a:solidFill>
                  <a:srgbClr val="FFFFFF"/>
                </a:solidFill>
                <a:latin typeface="Calibri" pitchFamily="34" charset="0"/>
                <a:ea typeface="Calibri" pitchFamily="34" charset="-122"/>
                <a:cs typeface="Calibri" pitchFamily="34" charset="-120"/>
              </a:rPr>
              <a:t>“Your key was sitting in DevTools</a:t>
            </a:r>
            <a:endParaRPr lang="en-US" sz="2000" dirty="0"/>
          </a:p>
          <a:p>
            <a:pPr marL="0" indent="0" algn="ctr">
              <a:lnSpc>
                <a:spcPct val="110000"/>
              </a:lnSpc>
              <a:buNone/>
            </a:pPr>
            <a:r>
              <a:rPr lang="en-US" sz="2000" b="1" dirty="0">
                <a:solidFill>
                  <a:srgbClr val="FFFFFF"/>
                </a:solidFill>
                <a:latin typeface="Calibri" pitchFamily="34" charset="0"/>
                <a:ea typeface="Calibri" pitchFamily="34" charset="-122"/>
                <a:cs typeface="Calibri" pitchFamily="34" charset="-120"/>
              </a:rPr>
              <a:t>this afternoon. What is the fix?”</a:t>
            </a:r>
            <a:endParaRPr lang="en-US" sz="2000" dirty="0"/>
          </a:p>
        </p:txBody>
      </p:sp>
      <p:sp>
        <p:nvSpPr>
          <p:cNvPr id="8" name="Text 6"/>
          <p:cNvSpPr/>
          <p:nvPr/>
        </p:nvSpPr>
        <p:spPr>
          <a:xfrm>
            <a:off x="457200" y="2487168"/>
            <a:ext cx="8229600" cy="274320"/>
          </a:xfrm>
          <a:prstGeom prst="rect">
            <a:avLst/>
          </a:prstGeom>
          <a:noFill/>
          <a:ln/>
        </p:spPr>
        <p:txBody>
          <a:bodyPr wrap="square" lIns="0" tIns="0" rIns="0" bIns="0" rtlCol="0" anchor="ctr"/>
          <a:lstStyle/>
          <a:p>
            <a:pPr marL="0" indent="0" algn="ctr">
              <a:buNone/>
            </a:pPr>
            <a:r>
              <a:rPr lang="en-US" sz="1100" i="1" dirty="0">
                <a:solidFill>
                  <a:srgbClr val="4E6E7D"/>
                </a:solidFill>
                <a:latin typeface="Calibri" pitchFamily="34" charset="0"/>
                <a:ea typeface="Calibri" pitchFamily="34" charset="-122"/>
                <a:cs typeface="Calibri" pitchFamily="34" charset="-120"/>
              </a:rPr>
              <a:t>If you can answer that, you already know why tomorrow exists.</a:t>
            </a:r>
            <a:endParaRPr lang="en-US" sz="1100" dirty="0"/>
          </a:p>
        </p:txBody>
      </p:sp>
      <p:sp>
        <p:nvSpPr>
          <p:cNvPr id="9" name="Shape 7"/>
          <p:cNvSpPr/>
          <p:nvPr/>
        </p:nvSpPr>
        <p:spPr>
          <a:xfrm>
            <a:off x="457200" y="2962656"/>
            <a:ext cx="2633472" cy="1005840"/>
          </a:xfrm>
          <a:prstGeom prst="rect">
            <a:avLst/>
          </a:prstGeom>
          <a:solidFill>
            <a:srgbClr val="FFFFFF"/>
          </a:solidFill>
          <a:ln w="9525">
            <a:solidFill>
              <a:srgbClr val="E3E9F0"/>
            </a:solidFill>
            <a:prstDash val="solid"/>
          </a:ln>
        </p:spPr>
        <p:txBody>
          <a:bodyPr/>
          <a:lstStyle/>
          <a:p>
            <a:endParaRPr lang="en-US"/>
          </a:p>
        </p:txBody>
      </p:sp>
      <p:sp>
        <p:nvSpPr>
          <p:cNvPr id="10" name="Shape 8"/>
          <p:cNvSpPr/>
          <p:nvPr/>
        </p:nvSpPr>
        <p:spPr>
          <a:xfrm>
            <a:off x="457200" y="2962656"/>
            <a:ext cx="54864" cy="1005840"/>
          </a:xfrm>
          <a:prstGeom prst="rect">
            <a:avLst/>
          </a:prstGeom>
          <a:solidFill>
            <a:srgbClr val="0077A8"/>
          </a:solidFill>
          <a:ln w="12700">
            <a:solidFill>
              <a:srgbClr val="0077A8"/>
            </a:solidFill>
            <a:prstDash val="solid"/>
          </a:ln>
        </p:spPr>
        <p:txBody>
          <a:bodyPr/>
          <a:lstStyle/>
          <a:p>
            <a:endParaRPr lang="en-US"/>
          </a:p>
        </p:txBody>
      </p:sp>
      <p:sp>
        <p:nvSpPr>
          <p:cNvPr id="11" name="Text 9"/>
          <p:cNvSpPr/>
          <p:nvPr/>
        </p:nvSpPr>
        <p:spPr>
          <a:xfrm>
            <a:off x="640080" y="3054096"/>
            <a:ext cx="2286000" cy="182880"/>
          </a:xfrm>
          <a:prstGeom prst="rect">
            <a:avLst/>
          </a:prstGeom>
          <a:noFill/>
          <a:ln/>
        </p:spPr>
        <p:txBody>
          <a:bodyPr wrap="square" lIns="0" tIns="0" rIns="0" bIns="0" rtlCol="0" anchor="ctr"/>
          <a:lstStyle/>
          <a:p>
            <a:pPr marL="0" indent="0">
              <a:buNone/>
            </a:pPr>
            <a:r>
              <a:rPr lang="en-US" sz="800" b="1" kern="0" spc="120" dirty="0">
                <a:solidFill>
                  <a:srgbClr val="0077A8"/>
                </a:solidFill>
                <a:latin typeface="Calibri" pitchFamily="34" charset="0"/>
                <a:ea typeface="Calibri" pitchFamily="34" charset="-122"/>
                <a:cs typeface="Calibri" pitchFamily="34" charset="-120"/>
              </a:rPr>
              <a:t>TOMORROW</a:t>
            </a:r>
            <a:endParaRPr lang="en-US" sz="800" dirty="0"/>
          </a:p>
        </p:txBody>
      </p:sp>
      <p:sp>
        <p:nvSpPr>
          <p:cNvPr id="12" name="Text 10"/>
          <p:cNvSpPr/>
          <p:nvPr/>
        </p:nvSpPr>
        <p:spPr>
          <a:xfrm>
            <a:off x="640080" y="3273552"/>
            <a:ext cx="2322576" cy="640080"/>
          </a:xfrm>
          <a:prstGeom prst="rect">
            <a:avLst/>
          </a:prstGeom>
          <a:noFill/>
          <a:ln/>
        </p:spPr>
        <p:txBody>
          <a:bodyPr wrap="square" lIns="0" tIns="0" rIns="0" bIns="0" rtlCol="0" anchor="t"/>
          <a:lstStyle/>
          <a:p>
            <a:pPr marL="0" indent="0">
              <a:lnSpc>
                <a:spcPct val="105000"/>
              </a:lnSpc>
              <a:buNone/>
            </a:pPr>
            <a:r>
              <a:rPr lang="en-US" sz="850" dirty="0">
                <a:solidFill>
                  <a:srgbClr val="0B2B3C"/>
                </a:solidFill>
                <a:latin typeface="Calibri" pitchFamily="34" charset="0"/>
                <a:ea typeface="Calibri" pitchFamily="34" charset="-122"/>
                <a:cs typeface="Calibri" pitchFamily="34" charset="-120"/>
              </a:rPr>
              <a:t>You build the server. Your key moves behind it, and your records finally get saved.</a:t>
            </a:r>
            <a:endParaRPr lang="en-US" sz="850" dirty="0"/>
          </a:p>
        </p:txBody>
      </p:sp>
      <p:sp>
        <p:nvSpPr>
          <p:cNvPr id="13" name="Shape 11"/>
          <p:cNvSpPr/>
          <p:nvPr/>
        </p:nvSpPr>
        <p:spPr>
          <a:xfrm>
            <a:off x="3255264" y="2962656"/>
            <a:ext cx="2633472" cy="1005840"/>
          </a:xfrm>
          <a:prstGeom prst="rect">
            <a:avLst/>
          </a:prstGeom>
          <a:solidFill>
            <a:srgbClr val="FFFFFF"/>
          </a:solidFill>
          <a:ln w="9525">
            <a:solidFill>
              <a:srgbClr val="E3E9F0"/>
            </a:solidFill>
            <a:prstDash val="solid"/>
          </a:ln>
        </p:spPr>
        <p:txBody>
          <a:bodyPr/>
          <a:lstStyle/>
          <a:p>
            <a:endParaRPr lang="en-US"/>
          </a:p>
        </p:txBody>
      </p:sp>
      <p:sp>
        <p:nvSpPr>
          <p:cNvPr id="14" name="Shape 12"/>
          <p:cNvSpPr/>
          <p:nvPr/>
        </p:nvSpPr>
        <p:spPr>
          <a:xfrm>
            <a:off x="3255264" y="2962656"/>
            <a:ext cx="54864" cy="1005840"/>
          </a:xfrm>
          <a:prstGeom prst="rect">
            <a:avLst/>
          </a:prstGeom>
          <a:solidFill>
            <a:srgbClr val="B83232"/>
          </a:solidFill>
          <a:ln w="12700">
            <a:solidFill>
              <a:srgbClr val="B83232"/>
            </a:solidFill>
            <a:prstDash val="solid"/>
          </a:ln>
        </p:spPr>
        <p:txBody>
          <a:bodyPr/>
          <a:lstStyle/>
          <a:p>
            <a:endParaRPr lang="en-US"/>
          </a:p>
        </p:txBody>
      </p:sp>
      <p:sp>
        <p:nvSpPr>
          <p:cNvPr id="15" name="Text 13"/>
          <p:cNvSpPr/>
          <p:nvPr/>
        </p:nvSpPr>
        <p:spPr>
          <a:xfrm>
            <a:off x="3438144" y="3054096"/>
            <a:ext cx="22860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BEFORE YOU GO</a:t>
            </a:r>
            <a:endParaRPr lang="en-US" sz="800" dirty="0"/>
          </a:p>
        </p:txBody>
      </p:sp>
      <p:sp>
        <p:nvSpPr>
          <p:cNvPr id="16" name="Text 14"/>
          <p:cNvSpPr/>
          <p:nvPr/>
        </p:nvSpPr>
        <p:spPr>
          <a:xfrm>
            <a:off x="3438144" y="3273552"/>
            <a:ext cx="2322576" cy="640080"/>
          </a:xfrm>
          <a:prstGeom prst="rect">
            <a:avLst/>
          </a:prstGeom>
          <a:noFill/>
          <a:ln/>
        </p:spPr>
        <p:txBody>
          <a:bodyPr wrap="square" lIns="0" tIns="0" rIns="0" bIns="0" rtlCol="0" anchor="t"/>
          <a:lstStyle/>
          <a:p>
            <a:pPr marL="0" indent="0">
              <a:lnSpc>
                <a:spcPct val="105000"/>
              </a:lnSpc>
              <a:buNone/>
            </a:pPr>
            <a:r>
              <a:rPr lang="en-US" sz="850" dirty="0">
                <a:solidFill>
                  <a:srgbClr val="0B2B3C"/>
                </a:solidFill>
                <a:latin typeface="Calibri" pitchFamily="34" charset="0"/>
                <a:ea typeface="Calibri" pitchFamily="34" charset="-122"/>
                <a:cs typeface="Calibri" pitchFamily="34" charset="-120"/>
              </a:rPr>
              <a:t>Revoke the key you pasted into the browser. Push your work.</a:t>
            </a:r>
            <a:endParaRPr lang="en-US" sz="850" dirty="0"/>
          </a:p>
        </p:txBody>
      </p:sp>
      <p:sp>
        <p:nvSpPr>
          <p:cNvPr id="17" name="Shape 15"/>
          <p:cNvSpPr/>
          <p:nvPr/>
        </p:nvSpPr>
        <p:spPr>
          <a:xfrm>
            <a:off x="6053328" y="2962656"/>
            <a:ext cx="2633472" cy="1005840"/>
          </a:xfrm>
          <a:prstGeom prst="rect">
            <a:avLst/>
          </a:prstGeom>
          <a:solidFill>
            <a:srgbClr val="FFFFFF"/>
          </a:solidFill>
          <a:ln w="9525">
            <a:solidFill>
              <a:srgbClr val="E3E9F0"/>
            </a:solidFill>
            <a:prstDash val="solid"/>
          </a:ln>
        </p:spPr>
        <p:txBody>
          <a:bodyPr/>
          <a:lstStyle/>
          <a:p>
            <a:endParaRPr lang="en-US"/>
          </a:p>
        </p:txBody>
      </p:sp>
      <p:sp>
        <p:nvSpPr>
          <p:cNvPr id="18" name="Shape 16"/>
          <p:cNvSpPr/>
          <p:nvPr/>
        </p:nvSpPr>
        <p:spPr>
          <a:xfrm>
            <a:off x="6053328" y="2962656"/>
            <a:ext cx="54864" cy="1005840"/>
          </a:xfrm>
          <a:prstGeom prst="rect">
            <a:avLst/>
          </a:prstGeom>
          <a:solidFill>
            <a:srgbClr val="0087C8"/>
          </a:solidFill>
          <a:ln w="12700">
            <a:solidFill>
              <a:srgbClr val="0087C8"/>
            </a:solidFill>
            <a:prstDash val="solid"/>
          </a:ln>
        </p:spPr>
        <p:txBody>
          <a:bodyPr/>
          <a:lstStyle/>
          <a:p>
            <a:endParaRPr lang="en-US"/>
          </a:p>
        </p:txBody>
      </p:sp>
      <p:sp>
        <p:nvSpPr>
          <p:cNvPr id="19" name="Text 17"/>
          <p:cNvSpPr/>
          <p:nvPr/>
        </p:nvSpPr>
        <p:spPr>
          <a:xfrm>
            <a:off x="6236208" y="3054096"/>
            <a:ext cx="2286000" cy="182880"/>
          </a:xfrm>
          <a:prstGeom prst="rect">
            <a:avLst/>
          </a:prstGeom>
          <a:noFill/>
          <a:ln/>
        </p:spPr>
        <p:txBody>
          <a:bodyPr wrap="square" lIns="0" tIns="0" rIns="0" bIns="0" rtlCol="0" anchor="ctr"/>
          <a:lstStyle/>
          <a:p>
            <a:pPr marL="0" indent="0">
              <a:buNone/>
            </a:pPr>
            <a:r>
              <a:rPr lang="en-US" sz="800" b="1" kern="0" spc="120" dirty="0">
                <a:solidFill>
                  <a:srgbClr val="0077A8"/>
                </a:solidFill>
                <a:latin typeface="Calibri" pitchFamily="34" charset="0"/>
                <a:ea typeface="Calibri" pitchFamily="34" charset="-122"/>
                <a:cs typeface="Calibri" pitchFamily="34" charset="-120"/>
              </a:rPr>
              <a:t>BRING</a:t>
            </a:r>
            <a:endParaRPr lang="en-US" sz="800" dirty="0"/>
          </a:p>
        </p:txBody>
      </p:sp>
      <p:sp>
        <p:nvSpPr>
          <p:cNvPr id="20" name="Text 18"/>
          <p:cNvSpPr/>
          <p:nvPr/>
        </p:nvSpPr>
        <p:spPr>
          <a:xfrm>
            <a:off x="6236208" y="3273552"/>
            <a:ext cx="2322576" cy="640080"/>
          </a:xfrm>
          <a:prstGeom prst="rect">
            <a:avLst/>
          </a:prstGeom>
          <a:noFill/>
          <a:ln/>
        </p:spPr>
        <p:txBody>
          <a:bodyPr wrap="square" lIns="0" tIns="0" rIns="0" bIns="0" rtlCol="0" anchor="t"/>
          <a:lstStyle/>
          <a:p>
            <a:pPr marL="0" indent="0">
              <a:lnSpc>
                <a:spcPct val="105000"/>
              </a:lnSpc>
              <a:buNone/>
            </a:pPr>
            <a:r>
              <a:rPr lang="en-US" sz="850" dirty="0">
                <a:solidFill>
                  <a:srgbClr val="0B2B3C"/>
                </a:solidFill>
                <a:latin typeface="Calibri" pitchFamily="34" charset="0"/>
                <a:ea typeface="Calibri" pitchFamily="34" charset="-122"/>
                <a:cs typeface="Calibri" pitchFamily="34" charset="-120"/>
              </a:rPr>
              <a:t>A charged laptop. Tomorrow is the heaviest engineering day of the week.</a:t>
            </a:r>
            <a:endParaRPr lang="en-US" sz="850" dirty="0"/>
          </a:p>
        </p:txBody>
      </p:sp>
      <p:sp>
        <p:nvSpPr>
          <p:cNvPr id="21" name="Shape 19"/>
          <p:cNvSpPr/>
          <p:nvPr/>
        </p:nvSpPr>
        <p:spPr>
          <a:xfrm>
            <a:off x="457200" y="4334256"/>
            <a:ext cx="8229600" cy="512064"/>
          </a:xfrm>
          <a:prstGeom prst="rect">
            <a:avLst/>
          </a:prstGeom>
          <a:solidFill>
            <a:srgbClr val="EAF6FD"/>
          </a:solidFill>
          <a:ln w="12700">
            <a:solidFill>
              <a:srgbClr val="EAF6FD"/>
            </a:solidFill>
            <a:prstDash val="solid"/>
          </a:ln>
        </p:spPr>
        <p:txBody>
          <a:bodyPr/>
          <a:lstStyle/>
          <a:p>
            <a:endParaRPr lang="en-US"/>
          </a:p>
        </p:txBody>
      </p:sp>
      <p:sp>
        <p:nvSpPr>
          <p:cNvPr id="22" name="Shape 20"/>
          <p:cNvSpPr/>
          <p:nvPr/>
        </p:nvSpPr>
        <p:spPr>
          <a:xfrm>
            <a:off x="457200" y="4334256"/>
            <a:ext cx="54864" cy="512064"/>
          </a:xfrm>
          <a:prstGeom prst="rect">
            <a:avLst/>
          </a:prstGeom>
          <a:solidFill>
            <a:srgbClr val="00849B"/>
          </a:solidFill>
          <a:ln w="12700">
            <a:solidFill>
              <a:srgbClr val="00849B"/>
            </a:solidFill>
            <a:prstDash val="solid"/>
          </a:ln>
        </p:spPr>
        <p:txBody>
          <a:bodyPr/>
          <a:lstStyle/>
          <a:p>
            <a:endParaRPr lang="en-US"/>
          </a:p>
        </p:txBody>
      </p:sp>
      <p:sp>
        <p:nvSpPr>
          <p:cNvPr id="23" name="Text 2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B3C"/>
                </a:solidFill>
                <a:latin typeface="Calibri" pitchFamily="34" charset="0"/>
                <a:ea typeface="Calibri" pitchFamily="34" charset="-122"/>
                <a:cs typeface="Calibri" pitchFamily="34" charset="-120"/>
              </a:rPr>
              <a:t>Your page moves, it talks to the internet, and it talks to a model. Tomorrow it gets a memory.</a:t>
            </a:r>
            <a:endParaRPr lang="en-US" sz="1000" dirty="0"/>
          </a:p>
        </p:txBody>
      </p:sp>
    </p:spTree>
    <p:extLst>
      <p:ext uri="{BB962C8B-B14F-4D97-AF65-F5344CB8AC3E}">
        <p14:creationId xmlns:p14="http://schemas.microsoft.com/office/powerpoint/2010/main" val="2135116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932688"/>
            <a:ext cx="7772400" cy="713232"/>
          </a:xfrm>
          <a:prstGeom prst="rect">
            <a:avLst/>
          </a:prstGeom>
          <a:noFill/>
          <a:ln/>
        </p:spPr>
        <p:txBody>
          <a:bodyPr wrap="square" lIns="0" tIns="0" rIns="0" bIns="0" rtlCol="0" anchor="ctr"/>
          <a:lstStyle/>
          <a:p>
            <a:pPr marL="0" indent="0">
              <a:buNone/>
            </a:pPr>
            <a:r>
              <a:rPr lang="en-US" sz="3800" b="1" dirty="0">
                <a:solidFill>
                  <a:srgbClr val="0B2B3C"/>
                </a:solidFill>
                <a:latin typeface="Arial Black" pitchFamily="34" charset="0"/>
                <a:ea typeface="Arial Black" pitchFamily="34" charset="-122"/>
                <a:cs typeface="Arial Black" pitchFamily="34" charset="-120"/>
              </a:rPr>
              <a:t>ASK.</a:t>
            </a:r>
            <a:endParaRPr lang="en-US" sz="3800" dirty="0"/>
          </a:p>
        </p:txBody>
      </p:sp>
      <p:sp>
        <p:nvSpPr>
          <p:cNvPr id="4" name="Text 2"/>
          <p:cNvSpPr/>
          <p:nvPr/>
        </p:nvSpPr>
        <p:spPr>
          <a:xfrm>
            <a:off x="457200" y="1645920"/>
            <a:ext cx="7772400" cy="713232"/>
          </a:xfrm>
          <a:prstGeom prst="rect">
            <a:avLst/>
          </a:prstGeom>
          <a:noFill/>
          <a:ln/>
        </p:spPr>
        <p:txBody>
          <a:bodyPr wrap="square" lIns="0" tIns="0" rIns="0" bIns="0" rtlCol="0" anchor="ctr"/>
          <a:lstStyle/>
          <a:p>
            <a:pPr marL="0" indent="0">
              <a:buNone/>
            </a:pPr>
            <a:r>
              <a:rPr lang="en-US" sz="3800" b="1" dirty="0">
                <a:solidFill>
                  <a:srgbClr val="0077A8"/>
                </a:solidFill>
                <a:latin typeface="Arial Black" pitchFamily="34" charset="0"/>
                <a:ea typeface="Arial Black" pitchFamily="34" charset="-122"/>
                <a:cs typeface="Arial Black" pitchFamily="34" charset="-120"/>
              </a:rPr>
              <a:t>PARSE.</a:t>
            </a:r>
            <a:endParaRPr lang="en-US" sz="3800" dirty="0"/>
          </a:p>
        </p:txBody>
      </p:sp>
      <p:sp>
        <p:nvSpPr>
          <p:cNvPr id="5" name="Text 3"/>
          <p:cNvSpPr/>
          <p:nvPr/>
        </p:nvSpPr>
        <p:spPr>
          <a:xfrm>
            <a:off x="457200" y="2359152"/>
            <a:ext cx="7772400" cy="713232"/>
          </a:xfrm>
          <a:prstGeom prst="rect">
            <a:avLst/>
          </a:prstGeom>
          <a:noFill/>
          <a:ln/>
        </p:spPr>
        <p:txBody>
          <a:bodyPr wrap="square" lIns="0" tIns="0" rIns="0" bIns="0" rtlCol="0" anchor="ctr"/>
          <a:lstStyle/>
          <a:p>
            <a:pPr marL="0" indent="0">
              <a:buNone/>
            </a:pPr>
            <a:r>
              <a:rPr lang="en-US" sz="3800" b="1" dirty="0">
                <a:solidFill>
                  <a:srgbClr val="0B2B3C"/>
                </a:solidFill>
                <a:latin typeface="Arial Black" pitchFamily="34" charset="0"/>
                <a:ea typeface="Arial Black" pitchFamily="34" charset="-122"/>
                <a:cs typeface="Arial Black" pitchFamily="34" charset="-120"/>
              </a:rPr>
              <a:t>RENDER.</a:t>
            </a:r>
            <a:endParaRPr lang="en-US" sz="3800" dirty="0"/>
          </a:p>
        </p:txBody>
      </p:sp>
      <p:sp>
        <p:nvSpPr>
          <p:cNvPr id="6" name="Shape 4"/>
          <p:cNvSpPr/>
          <p:nvPr/>
        </p:nvSpPr>
        <p:spPr>
          <a:xfrm>
            <a:off x="457200" y="3310128"/>
            <a:ext cx="2194560" cy="10973"/>
          </a:xfrm>
          <a:prstGeom prst="rect">
            <a:avLst/>
          </a:prstGeom>
          <a:solidFill>
            <a:srgbClr val="9FD8F2"/>
          </a:solidFill>
          <a:ln w="12700">
            <a:solidFill>
              <a:srgbClr val="9FD8F2"/>
            </a:solidFill>
            <a:prstDash val="solid"/>
          </a:ln>
        </p:spPr>
        <p:txBody>
          <a:bodyPr/>
          <a:lstStyle/>
          <a:p>
            <a:endParaRPr lang="en-US"/>
          </a:p>
        </p:txBody>
      </p:sp>
      <p:sp>
        <p:nvSpPr>
          <p:cNvPr id="7" name="Text 5"/>
          <p:cNvSpPr/>
          <p:nvPr/>
        </p:nvSpPr>
        <p:spPr>
          <a:xfrm>
            <a:off x="457200" y="3456432"/>
            <a:ext cx="7772400" cy="256032"/>
          </a:xfrm>
          <a:prstGeom prst="rect">
            <a:avLst/>
          </a:prstGeom>
          <a:noFill/>
          <a:ln/>
        </p:spPr>
        <p:txBody>
          <a:bodyPr wrap="square" lIns="0" tIns="0" rIns="0" bIns="0" rtlCol="0" anchor="ctr"/>
          <a:lstStyle/>
          <a:p>
            <a:pPr marL="0" indent="0">
              <a:buNone/>
            </a:pPr>
            <a:r>
              <a:rPr lang="en-US" sz="1100" dirty="0">
                <a:solidFill>
                  <a:srgbClr val="4E6E7D"/>
                </a:solidFill>
                <a:latin typeface="Calibri" pitchFamily="34" charset="0"/>
                <a:ea typeface="Calibri" pitchFamily="34" charset="-122"/>
                <a:cs typeface="Calibri" pitchFamily="34" charset="-120"/>
              </a:rPr>
              <a:t>Day 2 complete  ·  Full Stack Development with Gen-AI</a:t>
            </a:r>
            <a:endParaRPr lang="en-US" sz="1100" dirty="0"/>
          </a:p>
        </p:txBody>
      </p:sp>
      <p:sp>
        <p:nvSpPr>
          <p:cNvPr id="8" name="Text 6"/>
          <p:cNvSpPr/>
          <p:nvPr/>
        </p:nvSpPr>
        <p:spPr>
          <a:xfrm>
            <a:off x="457200" y="3730752"/>
            <a:ext cx="7772400" cy="256032"/>
          </a:xfrm>
          <a:prstGeom prst="rect">
            <a:avLst/>
          </a:prstGeom>
          <a:noFill/>
          <a:ln/>
        </p:spPr>
        <p:txBody>
          <a:bodyPr wrap="square" lIns="0" tIns="0" rIns="0" bIns="0" rtlCol="0" anchor="ctr"/>
          <a:lstStyle/>
          <a:p>
            <a:pPr marL="0" indent="0">
              <a:buNone/>
            </a:pPr>
            <a:r>
              <a:rPr lang="en-US" sz="900" kern="0" spc="100" dirty="0">
                <a:solidFill>
                  <a:srgbClr val="4E6E7D"/>
                </a:solidFill>
                <a:latin typeface="Calibri" pitchFamily="34" charset="0"/>
                <a:ea typeface="Calibri" pitchFamily="34" charset="-122"/>
                <a:cs typeface="Calibri" pitchFamily="34" charset="-120"/>
              </a:rPr>
              <a:t>Tomorrow: the server, the database, and a key that finally stays secret.</a:t>
            </a:r>
            <a:endParaRPr lang="en-US" sz="900" dirty="0"/>
          </a:p>
        </p:txBody>
      </p:sp>
    </p:spTree>
    <p:extLst>
      <p:ext uri="{BB962C8B-B14F-4D97-AF65-F5344CB8AC3E}">
        <p14:creationId xmlns:p14="http://schemas.microsoft.com/office/powerpoint/2010/main" val="332977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D4BA652-17B7-F847-82C7-077033F0D588}">
  <we:reference id="wa200010001" version="1.0.0.1" store="en-US" storeType="OMEX"/>
  <we:alternateReferences>
    <we:reference id="wa200010001" version="1.0.0.1" store="en-US" storeType="OMEX"/>
  </we:alternateReferences>
  <we:properties>
    <we:property name="claude.fileId" value="&quot;53b49337-4291-42c0-a46c-c3322e27e13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1990</TotalTime>
  <Words>3286</Words>
  <Application>Microsoft Macintosh PowerPoint</Application>
  <PresentationFormat>On-screen Show (16:9)</PresentationFormat>
  <Paragraphs>353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Venkatasubramanian V</cp:lastModifiedBy>
  <cp:revision>3</cp:revision>
  <dcterms:created xsi:type="dcterms:W3CDTF">2026-08-18T01:44:38Z</dcterms:created>
  <dcterms:modified xsi:type="dcterms:W3CDTF">2026-08-20T04:19:18Z</dcterms:modified>
</cp:coreProperties>
</file>