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2" r:id="rId2"/>
    <p:sldId id="273" r:id="rId3"/>
    <p:sldId id="274" r:id="rId4"/>
    <p:sldId id="288" r:id="rId5"/>
    <p:sldId id="276" r:id="rId6"/>
    <p:sldId id="277" r:id="rId7"/>
    <p:sldId id="278" r:id="rId8"/>
    <p:sldId id="279" r:id="rId9"/>
    <p:sldId id="280" r:id="rId10"/>
    <p:sldId id="281" r:id="rId11"/>
    <p:sldId id="282" r:id="rId12"/>
    <p:sldId id="283" r:id="rId13"/>
    <p:sldId id="284" r:id="rId14"/>
    <p:sldId id="285" r:id="rId15"/>
    <p:sldId id="286" r:id="rId16"/>
    <p:sldId id="287"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46"/>
    <p:restoredTop sz="94610"/>
  </p:normalViewPr>
  <p:slideViewPr>
    <p:cSldViewPr snapToGrid="0" snapToObjects="1">
      <p:cViewPr varScale="1">
        <p:scale>
          <a:sx n="244" d="100"/>
          <a:sy n="244" d="100"/>
        </p:scale>
        <p:origin x="208"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894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honestly in the first minute: this is the heaviest engineering day of the week, and by the end of it their app stops being a toy. Also promise the fix to yesterday's key problem — they have been carrying it overnight.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difficulty up front is worth doing. Students cope far better with a hard day they were warned about than with one that ambushes them at two in the afternoon.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fear the server day because it sounds like a different subject. The 'nothing gets thrown away' line matters — say it and show the folder structure early.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hit the route in a REST client first and see raw JSON. Students who wire the frontend immediately cannot tell whether the server or the fetch is at fault.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folder move together, on the projector, and wait for the whole room. This is the cheapest possible insurance against the worst failure mode of the 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Lean on 'the nouns are yours, the verbs are not'. With fifty different domains in the room it is the line that keeps the code-along coherent.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user_id and due_date are unused today. Students notice unexplained columns and quietly assume they missed something — naming it builds trust and previews the rest of the week.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stringify trick is worth flagging loudly. It is the single piece of Thursday's RAG block that most often stalls a room, and it costs nothing to plant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run it. Type the payload into your own search box on the projector and let the table vanish. Ten seconds of demo beats twenty minutes of warning, and they will remember it in the exam.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back to yesterday's Network tab moment explicitly. Ask the room what would happen if they opened DevTools now — the answer is 'you see my record and my summary, and no key anywhere'.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yesterday's fences-and-preamble failures — they saw the model misbehave with their own eyes, so this block reads as a solution rather than as ceremony.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is running behind, teach caching and cut retry to a sentence. Caching is the one with immediate payoff, and it protects the shared quota for the rest of the week.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five minutes to draw it for their own app and have TAs check three or four out loud. It is the fastest diagnostic you have for who actually understood the 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Police the search endpoint specifically during the checkpoint sweep. It is small, it is easy to skip, and Thursday's AI block depends on it existing.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fact that the hard day is behind them. Thursday is conceptually richer but technically lighter, and saying so sends fifty tired students home in the right frame of mind.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at someone's SQLite file open in a viewer with real rows in it. 'That is your data, on your disk, put there by code you wrote today.' It lands.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5" name="Text 3"/>
          <p:cNvSpPr/>
          <p:nvPr/>
        </p:nvSpPr>
        <p:spPr>
          <a:xfrm>
            <a:off x="457200" y="960120"/>
            <a:ext cx="6035040" cy="713232"/>
          </a:xfrm>
          <a:prstGeom prst="rect">
            <a:avLst/>
          </a:prstGeom>
          <a:noFill/>
          <a:ln/>
        </p:spPr>
        <p:txBody>
          <a:bodyPr wrap="square" lIns="0" tIns="0" rIns="0" bIns="0"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GIVE IT</a:t>
            </a:r>
            <a:endParaRPr lang="en-US" sz="4000" dirty="0"/>
          </a:p>
        </p:txBody>
      </p:sp>
      <p:sp>
        <p:nvSpPr>
          <p:cNvPr id="6" name="Text 4"/>
          <p:cNvSpPr/>
          <p:nvPr/>
        </p:nvSpPr>
        <p:spPr>
          <a:xfrm>
            <a:off x="457200" y="1664208"/>
            <a:ext cx="6035040" cy="713232"/>
          </a:xfrm>
          <a:prstGeom prst="rect">
            <a:avLst/>
          </a:prstGeom>
          <a:noFill/>
          <a:ln/>
        </p:spPr>
        <p:txBody>
          <a:bodyPr wrap="square" lIns="0" tIns="0" rIns="0" bIns="0" rtlCol="0" anchor="ctr"/>
          <a:lstStyle/>
          <a:p>
            <a:pPr marL="0" indent="0">
              <a:buNone/>
            </a:pPr>
            <a:r>
              <a:rPr lang="en-US" sz="4000" b="1" dirty="0">
                <a:solidFill>
                  <a:srgbClr val="00B0F0"/>
                </a:solidFill>
                <a:latin typeface="Arial Black" pitchFamily="34" charset="0"/>
                <a:ea typeface="Arial Black" pitchFamily="34" charset="-122"/>
                <a:cs typeface="Arial Black" pitchFamily="34" charset="-120"/>
              </a:rPr>
              <a:t>A MEMORY</a:t>
            </a:r>
            <a:endParaRPr lang="en-US" sz="4000" dirty="0"/>
          </a:p>
        </p:txBody>
      </p:sp>
      <p:sp>
        <p:nvSpPr>
          <p:cNvPr id="7" name="Shape 5"/>
          <p:cNvSpPr/>
          <p:nvPr/>
        </p:nvSpPr>
        <p:spPr>
          <a:xfrm>
            <a:off x="457200" y="2615184"/>
            <a:ext cx="4114800" cy="10973"/>
          </a:xfrm>
          <a:prstGeom prst="rect">
            <a:avLst/>
          </a:prstGeom>
          <a:solidFill>
            <a:srgbClr val="0077B6"/>
          </a:solidFill>
          <a:ln w="12700">
            <a:solidFill>
              <a:srgbClr val="0077B6"/>
            </a:solidFill>
            <a:prstDash val="solid"/>
          </a:ln>
        </p:spPr>
        <p:txBody>
          <a:bodyPr/>
          <a:lstStyle/>
          <a:p>
            <a:endParaRPr lang="en-US"/>
          </a:p>
        </p:txBody>
      </p:sp>
      <p:sp>
        <p:nvSpPr>
          <p:cNvPr id="8" name="Text 6"/>
          <p:cNvSpPr/>
          <p:nvPr/>
        </p:nvSpPr>
        <p:spPr>
          <a:xfrm>
            <a:off x="457200" y="2761488"/>
            <a:ext cx="6858000" cy="256032"/>
          </a:xfrm>
          <a:prstGeom prst="rect">
            <a:avLst/>
          </a:prstGeom>
          <a:noFill/>
          <a:ln/>
        </p:spPr>
        <p:txBody>
          <a:bodyPr wrap="square" lIns="0" tIns="0" rIns="0" bIns="0" rtlCol="0" anchor="ctr"/>
          <a:lstStyle/>
          <a:p>
            <a:pPr marL="0" indent="0">
              <a:buNone/>
            </a:pPr>
            <a:r>
              <a:rPr lang="en-US" sz="1300" dirty="0">
                <a:solidFill>
                  <a:srgbClr val="BFE3F5"/>
                </a:solidFill>
                <a:latin typeface="Calibri" pitchFamily="34" charset="0"/>
                <a:ea typeface="Calibri" pitchFamily="34" charset="-122"/>
                <a:cs typeface="Calibri" pitchFamily="34" charset="-120"/>
              </a:rPr>
              <a:t>Full Stack Development with Gen-AI  ·  5-Day Intensive</a:t>
            </a:r>
            <a:endParaRPr lang="en-US" sz="1300" dirty="0"/>
          </a:p>
        </p:txBody>
      </p:sp>
      <p:sp>
        <p:nvSpPr>
          <p:cNvPr id="9" name="Text 7"/>
          <p:cNvSpPr/>
          <p:nvPr/>
        </p:nvSpPr>
        <p:spPr>
          <a:xfrm>
            <a:off x="457200" y="3090672"/>
            <a:ext cx="7772400" cy="237744"/>
          </a:xfrm>
          <a:prstGeom prst="rect">
            <a:avLst/>
          </a:prstGeom>
          <a:noFill/>
          <a:ln/>
        </p:spPr>
        <p:txBody>
          <a:bodyPr wrap="square" lIns="0" tIns="0" rIns="0" bIns="0" rtlCol="0" anchor="ctr"/>
          <a:lstStyle/>
          <a:p>
            <a:pPr marL="0" indent="0">
              <a:buNone/>
            </a:pPr>
            <a:r>
              <a:rPr lang="en-US" sz="900" b="1" kern="0" spc="140" dirty="0">
                <a:solidFill>
                  <a:srgbClr val="00B0F0"/>
                </a:solidFill>
                <a:latin typeface="Calibri" pitchFamily="34" charset="0"/>
                <a:ea typeface="Calibri" pitchFamily="34" charset="-122"/>
                <a:cs typeface="Calibri" pitchFamily="34" charset="-120"/>
              </a:rPr>
              <a:t>DAY 3  —  EXPRESS, REST, SQLITE &amp; AI ON THE BACKEND</a:t>
            </a:r>
            <a:endParaRPr lang="en-US" sz="900" dirty="0"/>
          </a:p>
        </p:txBody>
      </p:sp>
    </p:spTree>
    <p:extLst>
      <p:ext uri="{BB962C8B-B14F-4D97-AF65-F5344CB8AC3E}">
        <p14:creationId xmlns:p14="http://schemas.microsoft.com/office/powerpoint/2010/main" val="940847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7B6"/>
          </a:solidFill>
          <a:ln w="12700">
            <a:solidFill>
              <a:srgbClr val="0077B6"/>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TODAY'S AGENDA</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Express, REST, SQLite &amp; AI on the Backend</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Shape 4"/>
          <p:cNvSpPr/>
          <p:nvPr/>
        </p:nvSpPr>
        <p:spPr>
          <a:xfrm>
            <a:off x="457200" y="1024128"/>
            <a:ext cx="4005072" cy="932688"/>
          </a:xfrm>
          <a:prstGeom prst="rect">
            <a:avLst/>
          </a:prstGeom>
          <a:solidFill>
            <a:srgbClr val="FFFFFF"/>
          </a:solidFill>
          <a:ln w="9525">
            <a:solidFill>
              <a:srgbClr val="E3E9F0"/>
            </a:solidFill>
            <a:prstDash val="solid"/>
          </a:ln>
        </p:spPr>
        <p:txBody>
          <a:bodyPr/>
          <a:lstStyle/>
          <a:p>
            <a:endParaRPr lang="en-US"/>
          </a:p>
        </p:txBody>
      </p:sp>
      <p:sp>
        <p:nvSpPr>
          <p:cNvPr id="7" name="Shape 5"/>
          <p:cNvSpPr/>
          <p:nvPr/>
        </p:nvSpPr>
        <p:spPr>
          <a:xfrm>
            <a:off x="457200" y="1024128"/>
            <a:ext cx="54864" cy="932688"/>
          </a:xfrm>
          <a:prstGeom prst="rect">
            <a:avLst/>
          </a:prstGeom>
          <a:solidFill>
            <a:srgbClr val="0077B6"/>
          </a:solidFill>
          <a:ln w="12700">
            <a:solidFill>
              <a:srgbClr val="0077B6"/>
            </a:solidFill>
            <a:prstDash val="solid"/>
          </a:ln>
        </p:spPr>
        <p:txBody>
          <a:bodyPr/>
          <a:lstStyle/>
          <a:p>
            <a:endParaRPr lang="en-US"/>
          </a:p>
        </p:txBody>
      </p:sp>
      <p:sp>
        <p:nvSpPr>
          <p:cNvPr id="8" name="Shape 6"/>
          <p:cNvSpPr/>
          <p:nvPr/>
        </p:nvSpPr>
        <p:spPr>
          <a:xfrm>
            <a:off x="603504" y="1316736"/>
            <a:ext cx="329184" cy="329184"/>
          </a:xfrm>
          <a:prstGeom prst="rect">
            <a:avLst/>
          </a:prstGeom>
          <a:solidFill>
            <a:srgbClr val="0077B6"/>
          </a:solidFill>
          <a:ln w="12700">
            <a:solidFill>
              <a:srgbClr val="0077B6"/>
            </a:solidFill>
            <a:prstDash val="solid"/>
          </a:ln>
        </p:spPr>
        <p:txBody>
          <a:bodyPr/>
          <a:lstStyle/>
          <a:p>
            <a:endParaRPr lang="en-US"/>
          </a:p>
        </p:txBody>
      </p:sp>
      <p:sp>
        <p:nvSpPr>
          <p:cNvPr id="9" name="Text 7"/>
          <p:cNvSpPr/>
          <p:nvPr/>
        </p:nvSpPr>
        <p:spPr>
          <a:xfrm>
            <a:off x="603504" y="1316736"/>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p:nvPr/>
        </p:nvSpPr>
        <p:spPr>
          <a:xfrm>
            <a:off x="1042416" y="1152144"/>
            <a:ext cx="3273552" cy="402336"/>
          </a:xfrm>
          <a:prstGeom prst="rect">
            <a:avLst/>
          </a:prstGeom>
          <a:noFill/>
          <a:ln/>
        </p:spPr>
        <p:txBody>
          <a:bodyPr wrap="square" lIns="0" tIns="0" rIns="0" bIns="0" rtlCol="0" anchor="ctr"/>
          <a:lstStyle/>
          <a:p>
            <a:pPr marL="0" indent="0">
              <a:buNone/>
            </a:pPr>
            <a:r>
              <a:rPr lang="en-US" sz="1100" b="1" dirty="0">
                <a:solidFill>
                  <a:srgbClr val="0A2A43"/>
                </a:solidFill>
                <a:latin typeface="Calibri" pitchFamily="34" charset="0"/>
                <a:ea typeface="Calibri" pitchFamily="34" charset="-122"/>
                <a:cs typeface="Calibri" pitchFamily="34" charset="-120"/>
              </a:rPr>
              <a:t>Your Own Server</a:t>
            </a:r>
            <a:endParaRPr lang="en-US" sz="1100" dirty="0"/>
          </a:p>
        </p:txBody>
      </p:sp>
      <p:sp>
        <p:nvSpPr>
          <p:cNvPr id="11" name="Text 9"/>
          <p:cNvSpPr/>
          <p:nvPr/>
        </p:nvSpPr>
        <p:spPr>
          <a:xfrm>
            <a:off x="1042416" y="1536192"/>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7A8FA6"/>
                </a:solidFill>
                <a:latin typeface="Calibri" pitchFamily="34" charset="0"/>
                <a:ea typeface="Calibri" pitchFamily="34" charset="-122"/>
                <a:cs typeface="Calibri" pitchFamily="34" charset="-120"/>
              </a:rPr>
              <a:t>Express, the request and response cycle, middleware, and moving your frontend inside the project</a:t>
            </a:r>
            <a:endParaRPr lang="en-US" sz="750" dirty="0"/>
          </a:p>
        </p:txBody>
      </p:sp>
      <p:sp>
        <p:nvSpPr>
          <p:cNvPr id="12" name="Shape 10"/>
          <p:cNvSpPr/>
          <p:nvPr/>
        </p:nvSpPr>
        <p:spPr>
          <a:xfrm>
            <a:off x="4681728" y="1024128"/>
            <a:ext cx="4005072" cy="932688"/>
          </a:xfrm>
          <a:prstGeom prst="rect">
            <a:avLst/>
          </a:prstGeom>
          <a:solidFill>
            <a:srgbClr val="FFFFFF"/>
          </a:solidFill>
          <a:ln w="9525">
            <a:solidFill>
              <a:srgbClr val="E3E9F0"/>
            </a:solidFill>
            <a:prstDash val="solid"/>
          </a:ln>
        </p:spPr>
        <p:txBody>
          <a:bodyPr/>
          <a:lstStyle/>
          <a:p>
            <a:endParaRPr lang="en-US"/>
          </a:p>
        </p:txBody>
      </p:sp>
      <p:sp>
        <p:nvSpPr>
          <p:cNvPr id="13" name="Shape 11"/>
          <p:cNvSpPr/>
          <p:nvPr/>
        </p:nvSpPr>
        <p:spPr>
          <a:xfrm>
            <a:off x="4681728" y="1024128"/>
            <a:ext cx="54864" cy="932688"/>
          </a:xfrm>
          <a:prstGeom prst="rect">
            <a:avLst/>
          </a:prstGeom>
          <a:solidFill>
            <a:srgbClr val="00879B"/>
          </a:solidFill>
          <a:ln w="12700">
            <a:solidFill>
              <a:srgbClr val="00879B"/>
            </a:solidFill>
            <a:prstDash val="solid"/>
          </a:ln>
        </p:spPr>
        <p:txBody>
          <a:bodyPr/>
          <a:lstStyle/>
          <a:p>
            <a:endParaRPr lang="en-US"/>
          </a:p>
        </p:txBody>
      </p:sp>
      <p:sp>
        <p:nvSpPr>
          <p:cNvPr id="14" name="Shape 12"/>
          <p:cNvSpPr/>
          <p:nvPr/>
        </p:nvSpPr>
        <p:spPr>
          <a:xfrm>
            <a:off x="4828032" y="1316736"/>
            <a:ext cx="329184" cy="329184"/>
          </a:xfrm>
          <a:prstGeom prst="rect">
            <a:avLst/>
          </a:prstGeom>
          <a:solidFill>
            <a:srgbClr val="00879B"/>
          </a:solidFill>
          <a:ln w="12700">
            <a:solidFill>
              <a:srgbClr val="00879B"/>
            </a:solidFill>
            <a:prstDash val="solid"/>
          </a:ln>
        </p:spPr>
        <p:txBody>
          <a:bodyPr/>
          <a:lstStyle/>
          <a:p>
            <a:endParaRPr lang="en-US"/>
          </a:p>
        </p:txBody>
      </p:sp>
      <p:sp>
        <p:nvSpPr>
          <p:cNvPr id="15" name="Text 13"/>
          <p:cNvSpPr/>
          <p:nvPr/>
        </p:nvSpPr>
        <p:spPr>
          <a:xfrm>
            <a:off x="4828032" y="1316736"/>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5266944" y="1152144"/>
            <a:ext cx="3273552" cy="402336"/>
          </a:xfrm>
          <a:prstGeom prst="rect">
            <a:avLst/>
          </a:prstGeom>
          <a:noFill/>
          <a:ln/>
        </p:spPr>
        <p:txBody>
          <a:bodyPr wrap="square" lIns="0" tIns="0" rIns="0" bIns="0" rtlCol="0" anchor="ctr"/>
          <a:lstStyle/>
          <a:p>
            <a:pPr marL="0" indent="0">
              <a:buNone/>
            </a:pPr>
            <a:r>
              <a:rPr lang="en-US" sz="1100" b="1" dirty="0">
                <a:solidFill>
                  <a:srgbClr val="0A2A43"/>
                </a:solidFill>
                <a:latin typeface="Calibri" pitchFamily="34" charset="0"/>
                <a:ea typeface="Calibri" pitchFamily="34" charset="-122"/>
                <a:cs typeface="Calibri" pitchFamily="34" charset="-120"/>
              </a:rPr>
              <a:t>A Real Database</a:t>
            </a:r>
            <a:endParaRPr lang="en-US" sz="1100" dirty="0"/>
          </a:p>
        </p:txBody>
      </p:sp>
      <p:sp>
        <p:nvSpPr>
          <p:cNvPr id="17" name="Text 15"/>
          <p:cNvSpPr/>
          <p:nvPr/>
        </p:nvSpPr>
        <p:spPr>
          <a:xfrm>
            <a:off x="5266944" y="1536192"/>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7A8FA6"/>
                </a:solidFill>
                <a:latin typeface="Calibri" pitchFamily="34" charset="0"/>
                <a:ea typeface="Calibri" pitchFamily="34" charset="-122"/>
                <a:cs typeface="Calibri" pitchFamily="34" charset="-120"/>
              </a:rPr>
              <a:t>SQLite with nothing to install, the four statements, and why you never build SQL by hand</a:t>
            </a:r>
            <a:endParaRPr lang="en-US" sz="750" dirty="0"/>
          </a:p>
        </p:txBody>
      </p:sp>
      <p:sp>
        <p:nvSpPr>
          <p:cNvPr id="18" name="Shape 16"/>
          <p:cNvSpPr/>
          <p:nvPr/>
        </p:nvSpPr>
        <p:spPr>
          <a:xfrm>
            <a:off x="457200" y="2084832"/>
            <a:ext cx="4005072" cy="932688"/>
          </a:xfrm>
          <a:prstGeom prst="rect">
            <a:avLst/>
          </a:prstGeom>
          <a:solidFill>
            <a:srgbClr val="FFFFFF"/>
          </a:solidFill>
          <a:ln w="9525">
            <a:solidFill>
              <a:srgbClr val="E3E9F0"/>
            </a:solidFill>
            <a:prstDash val="solid"/>
          </a:ln>
        </p:spPr>
        <p:txBody>
          <a:bodyPr/>
          <a:lstStyle/>
          <a:p>
            <a:endParaRPr lang="en-US"/>
          </a:p>
        </p:txBody>
      </p:sp>
      <p:sp>
        <p:nvSpPr>
          <p:cNvPr id="19" name="Shape 17"/>
          <p:cNvSpPr/>
          <p:nvPr/>
        </p:nvSpPr>
        <p:spPr>
          <a:xfrm>
            <a:off x="457200" y="2084832"/>
            <a:ext cx="54864" cy="932688"/>
          </a:xfrm>
          <a:prstGeom prst="rect">
            <a:avLst/>
          </a:prstGeom>
          <a:solidFill>
            <a:srgbClr val="2E5AA8"/>
          </a:solidFill>
          <a:ln w="12700">
            <a:solidFill>
              <a:srgbClr val="2E5AA8"/>
            </a:solidFill>
            <a:prstDash val="solid"/>
          </a:ln>
        </p:spPr>
        <p:txBody>
          <a:bodyPr/>
          <a:lstStyle/>
          <a:p>
            <a:endParaRPr lang="en-US"/>
          </a:p>
        </p:txBody>
      </p:sp>
      <p:sp>
        <p:nvSpPr>
          <p:cNvPr id="20" name="Shape 18"/>
          <p:cNvSpPr/>
          <p:nvPr/>
        </p:nvSpPr>
        <p:spPr>
          <a:xfrm>
            <a:off x="603504" y="2377440"/>
            <a:ext cx="329184" cy="329184"/>
          </a:xfrm>
          <a:prstGeom prst="rect">
            <a:avLst/>
          </a:prstGeom>
          <a:solidFill>
            <a:srgbClr val="2E5AA8"/>
          </a:solidFill>
          <a:ln w="12700">
            <a:solidFill>
              <a:srgbClr val="2E5AA8"/>
            </a:solidFill>
            <a:prstDash val="solid"/>
          </a:ln>
        </p:spPr>
        <p:txBody>
          <a:bodyPr/>
          <a:lstStyle/>
          <a:p>
            <a:endParaRPr lang="en-US"/>
          </a:p>
        </p:txBody>
      </p:sp>
      <p:sp>
        <p:nvSpPr>
          <p:cNvPr id="21" name="Text 19"/>
          <p:cNvSpPr/>
          <p:nvPr/>
        </p:nvSpPr>
        <p:spPr>
          <a:xfrm>
            <a:off x="603504" y="23774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2" name="Text 20"/>
          <p:cNvSpPr/>
          <p:nvPr/>
        </p:nvSpPr>
        <p:spPr>
          <a:xfrm>
            <a:off x="1042416" y="2212848"/>
            <a:ext cx="3273552" cy="402336"/>
          </a:xfrm>
          <a:prstGeom prst="rect">
            <a:avLst/>
          </a:prstGeom>
          <a:noFill/>
          <a:ln/>
        </p:spPr>
        <p:txBody>
          <a:bodyPr wrap="square" lIns="0" tIns="0" rIns="0" bIns="0" rtlCol="0" anchor="ctr"/>
          <a:lstStyle/>
          <a:p>
            <a:pPr marL="0" indent="0">
              <a:buNone/>
            </a:pPr>
            <a:r>
              <a:rPr lang="en-US" sz="1100" b="1" dirty="0">
                <a:solidFill>
                  <a:srgbClr val="0A2A43"/>
                </a:solidFill>
                <a:latin typeface="Calibri" pitchFamily="34" charset="0"/>
                <a:ea typeface="Calibri" pitchFamily="34" charset="-122"/>
                <a:cs typeface="Calibri" pitchFamily="34" charset="-120"/>
              </a:rPr>
              <a:t>The Key Comes Home</a:t>
            </a:r>
            <a:endParaRPr lang="en-US" sz="1100" dirty="0"/>
          </a:p>
        </p:txBody>
      </p:sp>
      <p:sp>
        <p:nvSpPr>
          <p:cNvPr id="23" name="Text 21"/>
          <p:cNvSpPr/>
          <p:nvPr/>
        </p:nvSpPr>
        <p:spPr>
          <a:xfrm>
            <a:off x="1042416" y="2596896"/>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7A8FA6"/>
                </a:solidFill>
                <a:latin typeface="Calibri" pitchFamily="34" charset="0"/>
                <a:ea typeface="Calibri" pitchFamily="34" charset="-122"/>
                <a:cs typeface="Calibri" pitchFamily="34" charset="-120"/>
              </a:rPr>
              <a:t>The model call moves server-side, gets validated before it is stored, and stops costing you money</a:t>
            </a:r>
            <a:endParaRPr lang="en-US" sz="750" dirty="0"/>
          </a:p>
        </p:txBody>
      </p:sp>
      <p:sp>
        <p:nvSpPr>
          <p:cNvPr id="24" name="Shape 22"/>
          <p:cNvSpPr/>
          <p:nvPr/>
        </p:nvSpPr>
        <p:spPr>
          <a:xfrm>
            <a:off x="4681728" y="2084832"/>
            <a:ext cx="4005072" cy="932688"/>
          </a:xfrm>
          <a:prstGeom prst="rect">
            <a:avLst/>
          </a:prstGeom>
          <a:solidFill>
            <a:srgbClr val="FFFFFF"/>
          </a:solidFill>
          <a:ln w="9525">
            <a:solidFill>
              <a:srgbClr val="E3E9F0"/>
            </a:solidFill>
            <a:prstDash val="solid"/>
          </a:ln>
        </p:spPr>
        <p:txBody>
          <a:bodyPr/>
          <a:lstStyle/>
          <a:p>
            <a:endParaRPr lang="en-US"/>
          </a:p>
        </p:txBody>
      </p:sp>
      <p:sp>
        <p:nvSpPr>
          <p:cNvPr id="25" name="Shape 23"/>
          <p:cNvSpPr/>
          <p:nvPr/>
        </p:nvSpPr>
        <p:spPr>
          <a:xfrm>
            <a:off x="4681728" y="2084832"/>
            <a:ext cx="54864" cy="932688"/>
          </a:xfrm>
          <a:prstGeom prst="rect">
            <a:avLst/>
          </a:prstGeom>
          <a:solidFill>
            <a:srgbClr val="005B8F"/>
          </a:solidFill>
          <a:ln w="12700">
            <a:noFill/>
            <a:prstDash val="solid"/>
          </a:ln>
        </p:spPr>
        <p:txBody>
          <a:bodyPr/>
          <a:lstStyle/>
          <a:p>
            <a:endParaRPr lang="en-US"/>
          </a:p>
        </p:txBody>
      </p:sp>
      <p:sp>
        <p:nvSpPr>
          <p:cNvPr id="26" name="Shape 24"/>
          <p:cNvSpPr/>
          <p:nvPr/>
        </p:nvSpPr>
        <p:spPr>
          <a:xfrm>
            <a:off x="4828032" y="2377440"/>
            <a:ext cx="329184" cy="329184"/>
          </a:xfrm>
          <a:prstGeom prst="rect">
            <a:avLst/>
          </a:prstGeom>
          <a:solidFill>
            <a:srgbClr val="005B8F"/>
          </a:solidFill>
          <a:ln w="12700">
            <a:noFill/>
            <a:prstDash val="solid"/>
          </a:ln>
        </p:spPr>
        <p:txBody>
          <a:bodyPr/>
          <a:lstStyle/>
          <a:p>
            <a:endParaRPr lang="en-US"/>
          </a:p>
        </p:txBody>
      </p:sp>
      <p:sp>
        <p:nvSpPr>
          <p:cNvPr id="27" name="Text 25"/>
          <p:cNvSpPr/>
          <p:nvPr/>
        </p:nvSpPr>
        <p:spPr>
          <a:xfrm>
            <a:off x="4828032" y="23774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8" name="Text 26"/>
          <p:cNvSpPr/>
          <p:nvPr/>
        </p:nvSpPr>
        <p:spPr>
          <a:xfrm>
            <a:off x="5266944" y="2212848"/>
            <a:ext cx="3273552" cy="402336"/>
          </a:xfrm>
          <a:prstGeom prst="rect">
            <a:avLst/>
          </a:prstGeom>
          <a:noFill/>
          <a:ln/>
        </p:spPr>
        <p:txBody>
          <a:bodyPr wrap="square" lIns="0" tIns="0" rIns="0" bIns="0" rtlCol="0" anchor="ctr"/>
          <a:lstStyle/>
          <a:p>
            <a:pPr marL="0" indent="0">
              <a:buNone/>
            </a:pPr>
            <a:r>
              <a:rPr lang="en-US" sz="1100" b="1" dirty="0">
                <a:solidFill>
                  <a:srgbClr val="0A2A43"/>
                </a:solidFill>
                <a:latin typeface="Calibri" pitchFamily="34" charset="0"/>
                <a:ea typeface="Calibri" pitchFamily="34" charset="-122"/>
                <a:cs typeface="Calibri" pitchFamily="34" charset="-120"/>
              </a:rPr>
              <a:t>Lab, Demos &amp; Debrief</a:t>
            </a:r>
            <a:endParaRPr lang="en-US" sz="1100" dirty="0"/>
          </a:p>
        </p:txBody>
      </p:sp>
      <p:sp>
        <p:nvSpPr>
          <p:cNvPr id="29" name="Text 27"/>
          <p:cNvSpPr/>
          <p:nvPr/>
        </p:nvSpPr>
        <p:spPr>
          <a:xfrm>
            <a:off x="5266944" y="2596896"/>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7A8FA6"/>
                </a:solidFill>
                <a:latin typeface="Calibri" pitchFamily="34" charset="0"/>
                <a:ea typeface="Calibri" pitchFamily="34" charset="-122"/>
                <a:cs typeface="Calibri" pitchFamily="34" charset="-120"/>
              </a:rPr>
              <a:t>Full CRUD, AI enrichment, and search — all persisting to a file you can open</a:t>
            </a:r>
            <a:endParaRPr lang="en-US" sz="750" dirty="0"/>
          </a:p>
        </p:txBody>
      </p:sp>
      <p:sp>
        <p:nvSpPr>
          <p:cNvPr id="30" name="Shape 28"/>
          <p:cNvSpPr/>
          <p:nvPr/>
        </p:nvSpPr>
        <p:spPr>
          <a:xfrm>
            <a:off x="457200" y="3255264"/>
            <a:ext cx="8229600" cy="10973"/>
          </a:xfrm>
          <a:prstGeom prst="rect">
            <a:avLst/>
          </a:prstGeom>
          <a:solidFill>
            <a:srgbClr val="D6EDF9"/>
          </a:solidFill>
          <a:ln w="12700">
            <a:solidFill>
              <a:srgbClr val="D6EDF9"/>
            </a:solidFill>
            <a:prstDash val="solid"/>
          </a:ln>
        </p:spPr>
        <p:txBody>
          <a:bodyPr/>
          <a:lstStyle/>
          <a:p>
            <a:endParaRPr lang="en-US"/>
          </a:p>
        </p:txBody>
      </p:sp>
      <p:sp>
        <p:nvSpPr>
          <p:cNvPr id="31" name="Text 29"/>
          <p:cNvSpPr/>
          <p:nvPr/>
        </p:nvSpPr>
        <p:spPr>
          <a:xfrm>
            <a:off x="457200" y="3383280"/>
            <a:ext cx="45720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WHAT YOU WALK OUT WITH TODAY</a:t>
            </a:r>
            <a:endParaRPr lang="en-US" sz="800" dirty="0"/>
          </a:p>
        </p:txBody>
      </p:sp>
      <p:sp>
        <p:nvSpPr>
          <p:cNvPr id="32" name="Text 30"/>
          <p:cNvSpPr/>
          <p:nvPr/>
        </p:nvSpPr>
        <p:spPr>
          <a:xfrm>
            <a:off x="457200" y="3621024"/>
            <a:ext cx="8229600" cy="566928"/>
          </a:xfrm>
          <a:prstGeom prst="rect">
            <a:avLst/>
          </a:prstGeom>
          <a:noFill/>
          <a:ln/>
        </p:spPr>
        <p:txBody>
          <a:bodyPr wrap="square" lIns="0" tIns="0" rIns="0" bIns="0" rtlCol="0" anchor="t"/>
          <a:lstStyle/>
          <a:p>
            <a:pPr marL="0" indent="0">
              <a:lnSpc>
                <a:spcPct val="105000"/>
              </a:lnSpc>
              <a:buNone/>
            </a:pPr>
            <a:r>
              <a:rPr lang="en-US" sz="1100" dirty="0">
                <a:solidFill>
                  <a:srgbClr val="0A2A43"/>
                </a:solidFill>
                <a:latin typeface="Calibri" pitchFamily="34" charset="0"/>
                <a:ea typeface="Calibri" pitchFamily="34" charset="-122"/>
                <a:cs typeface="Calibri" pitchFamily="34" charset="-120"/>
              </a:rPr>
              <a:t>Records that survive a refresh, a browser that never sees your API key, and an app that is finally three real tiers instead of one clever page.</a:t>
            </a:r>
            <a:endParaRPr lang="en-US" sz="1100" dirty="0"/>
          </a:p>
        </p:txBody>
      </p:sp>
      <p:sp>
        <p:nvSpPr>
          <p:cNvPr id="33" name="Shape 31"/>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34" name="Shape 32"/>
          <p:cNvSpPr/>
          <p:nvPr/>
        </p:nvSpPr>
        <p:spPr>
          <a:xfrm>
            <a:off x="457200" y="4334256"/>
            <a:ext cx="54864" cy="512064"/>
          </a:xfrm>
          <a:prstGeom prst="rect">
            <a:avLst/>
          </a:prstGeom>
          <a:solidFill>
            <a:srgbClr val="0077B6"/>
          </a:solidFill>
          <a:ln w="12700">
            <a:solidFill>
              <a:srgbClr val="0077B6"/>
            </a:solidFill>
            <a:prstDash val="solid"/>
          </a:ln>
        </p:spPr>
        <p:txBody>
          <a:bodyPr/>
          <a:lstStyle/>
          <a:p>
            <a:endParaRPr lang="en-US"/>
          </a:p>
        </p:txBody>
      </p:sp>
      <p:sp>
        <p:nvSpPr>
          <p:cNvPr id="35" name="Text 33"/>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This is the heaviest day of the week. Say so out loud, then take it one block at a time — none of it is hard on its own.</a:t>
            </a:r>
            <a:endParaRPr lang="en-US" sz="1000" dirty="0"/>
          </a:p>
        </p:txBody>
      </p:sp>
    </p:spTree>
    <p:extLst>
      <p:ext uri="{BB962C8B-B14F-4D97-AF65-F5344CB8AC3E}">
        <p14:creationId xmlns:p14="http://schemas.microsoft.com/office/powerpoint/2010/main" val="1222025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7B6"/>
          </a:solidFill>
          <a:ln w="12700">
            <a:solidFill>
              <a:srgbClr val="0077B6"/>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5C7C93"/>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Yesterday You Found a Problem. Today You Fix It.</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Text 4"/>
          <p:cNvSpPr/>
          <p:nvPr/>
        </p:nvSpPr>
        <p:spPr>
          <a:xfrm>
            <a:off x="457200" y="969264"/>
            <a:ext cx="45720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WHERE YOU GOT TO</a:t>
            </a:r>
            <a:endParaRPr lang="en-US" sz="800" dirty="0"/>
          </a:p>
        </p:txBody>
      </p:sp>
      <p:sp>
        <p:nvSpPr>
          <p:cNvPr id="7" name="Shape 5"/>
          <p:cNvSpPr/>
          <p:nvPr/>
        </p:nvSpPr>
        <p:spPr>
          <a:xfrm>
            <a:off x="457200" y="1188720"/>
            <a:ext cx="4023360" cy="329184"/>
          </a:xfrm>
          <a:prstGeom prst="rect">
            <a:avLst/>
          </a:prstGeom>
          <a:solidFill>
            <a:srgbClr val="EAF7FE"/>
          </a:solidFill>
          <a:ln w="6350">
            <a:solidFill>
              <a:srgbClr val="D6EDF9"/>
            </a:solidFill>
            <a:prstDash val="solid"/>
          </a:ln>
        </p:spPr>
        <p:txBody>
          <a:bodyPr/>
          <a:lstStyle/>
          <a:p>
            <a:endParaRPr lang="en-US"/>
          </a:p>
        </p:txBody>
      </p:sp>
      <p:sp>
        <p:nvSpPr>
          <p:cNvPr id="8" name="Text 6"/>
          <p:cNvSpPr/>
          <p:nvPr/>
        </p:nvSpPr>
        <p:spPr>
          <a:xfrm>
            <a:off x="566928" y="1188720"/>
            <a:ext cx="237744" cy="329184"/>
          </a:xfrm>
          <a:prstGeom prst="rect">
            <a:avLst/>
          </a:prstGeom>
          <a:noFill/>
          <a:ln/>
        </p:spPr>
        <p:txBody>
          <a:bodyPr wrap="square" lIns="0" tIns="0" rIns="0" bIns="0" rtlCol="0" anchor="ctr"/>
          <a:lstStyle/>
          <a:p>
            <a:pPr marL="0" indent="0">
              <a:buNone/>
            </a:pPr>
            <a:r>
              <a:rPr lang="en-US" sz="1000" b="1" dirty="0">
                <a:solidFill>
                  <a:srgbClr val="12795C"/>
                </a:solidFill>
                <a:latin typeface="Calibri" pitchFamily="34" charset="0"/>
                <a:ea typeface="Calibri" pitchFamily="34" charset="-122"/>
                <a:cs typeface="Calibri" pitchFamily="34" charset="-120"/>
              </a:rPr>
              <a:t>✓</a:t>
            </a:r>
            <a:endParaRPr lang="en-US" sz="1000" dirty="0"/>
          </a:p>
        </p:txBody>
      </p:sp>
      <p:sp>
        <p:nvSpPr>
          <p:cNvPr id="9" name="Text 7"/>
          <p:cNvSpPr/>
          <p:nvPr/>
        </p:nvSpPr>
        <p:spPr>
          <a:xfrm>
            <a:off x="841248" y="1188720"/>
            <a:ext cx="1572768" cy="329184"/>
          </a:xfrm>
          <a:prstGeom prst="rect">
            <a:avLst/>
          </a:prstGeom>
          <a:noFill/>
          <a:ln/>
        </p:spPr>
        <p:txBody>
          <a:bodyPr wrap="square" lIns="0" tIns="0" rIns="0" bIns="0" rtlCol="0" anchor="ctr"/>
          <a:lstStyle/>
          <a:p>
            <a:pPr marL="0" indent="0">
              <a:buNone/>
            </a:pPr>
            <a:r>
              <a:rPr lang="en-US" sz="900" b="1" dirty="0">
                <a:solidFill>
                  <a:srgbClr val="0A2A43"/>
                </a:solidFill>
                <a:latin typeface="Calibri" pitchFamily="34" charset="0"/>
                <a:ea typeface="Calibri" pitchFamily="34" charset="-122"/>
                <a:cs typeface="Calibri" pitchFamily="34" charset="-120"/>
              </a:rPr>
              <a:t>Your page responds</a:t>
            </a:r>
            <a:endParaRPr lang="en-US" sz="900" dirty="0"/>
          </a:p>
        </p:txBody>
      </p:sp>
      <p:sp>
        <p:nvSpPr>
          <p:cNvPr id="10" name="Text 8"/>
          <p:cNvSpPr/>
          <p:nvPr/>
        </p:nvSpPr>
        <p:spPr>
          <a:xfrm>
            <a:off x="2432304" y="1188720"/>
            <a:ext cx="1956816" cy="329184"/>
          </a:xfrm>
          <a:prstGeom prst="rect">
            <a:avLst/>
          </a:prstGeom>
          <a:noFill/>
          <a:ln/>
        </p:spPr>
        <p:txBody>
          <a:bodyPr wrap="square" lIns="0" tIns="0" rIns="0" bIns="0" rtlCol="0" anchor="ctr"/>
          <a:lstStyle/>
          <a:p>
            <a:pPr marL="0" indent="0">
              <a:buNone/>
            </a:pPr>
            <a:r>
              <a:rPr lang="en-US" sz="750" dirty="0">
                <a:solidFill>
                  <a:srgbClr val="5C7C93"/>
                </a:solidFill>
                <a:latin typeface="Calibri" pitchFamily="34" charset="0"/>
                <a:ea typeface="Calibri" pitchFamily="34" charset="-122"/>
                <a:cs typeface="Calibri" pitchFamily="34" charset="-120"/>
              </a:rPr>
              <a:t>clicks, re-rendering from the array</a:t>
            </a:r>
            <a:endParaRPr lang="en-US" sz="750" dirty="0"/>
          </a:p>
        </p:txBody>
      </p:sp>
      <p:sp>
        <p:nvSpPr>
          <p:cNvPr id="11" name="Shape 9"/>
          <p:cNvSpPr/>
          <p:nvPr/>
        </p:nvSpPr>
        <p:spPr>
          <a:xfrm>
            <a:off x="457200" y="1572768"/>
            <a:ext cx="4023360" cy="329184"/>
          </a:xfrm>
          <a:prstGeom prst="rect">
            <a:avLst/>
          </a:prstGeom>
          <a:solidFill>
            <a:srgbClr val="FFFFFF"/>
          </a:solidFill>
          <a:ln w="6350">
            <a:solidFill>
              <a:srgbClr val="D6EDF9"/>
            </a:solidFill>
            <a:prstDash val="solid"/>
          </a:ln>
        </p:spPr>
        <p:txBody>
          <a:bodyPr/>
          <a:lstStyle/>
          <a:p>
            <a:endParaRPr lang="en-US"/>
          </a:p>
        </p:txBody>
      </p:sp>
      <p:sp>
        <p:nvSpPr>
          <p:cNvPr id="12" name="Text 10"/>
          <p:cNvSpPr/>
          <p:nvPr/>
        </p:nvSpPr>
        <p:spPr>
          <a:xfrm>
            <a:off x="566928" y="1572768"/>
            <a:ext cx="237744" cy="329184"/>
          </a:xfrm>
          <a:prstGeom prst="rect">
            <a:avLst/>
          </a:prstGeom>
          <a:noFill/>
          <a:ln/>
        </p:spPr>
        <p:txBody>
          <a:bodyPr wrap="square" lIns="0" tIns="0" rIns="0" bIns="0" rtlCol="0" anchor="ctr"/>
          <a:lstStyle/>
          <a:p>
            <a:pPr marL="0" indent="0">
              <a:buNone/>
            </a:pPr>
            <a:r>
              <a:rPr lang="en-US" sz="1000" b="1" dirty="0">
                <a:solidFill>
                  <a:srgbClr val="12795C"/>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841248" y="1572768"/>
            <a:ext cx="1572768" cy="329184"/>
          </a:xfrm>
          <a:prstGeom prst="rect">
            <a:avLst/>
          </a:prstGeom>
          <a:noFill/>
          <a:ln/>
        </p:spPr>
        <p:txBody>
          <a:bodyPr wrap="square" lIns="0" tIns="0" rIns="0" bIns="0" rtlCol="0" anchor="ctr"/>
          <a:lstStyle/>
          <a:p>
            <a:pPr marL="0" indent="0">
              <a:buNone/>
            </a:pPr>
            <a:r>
              <a:rPr lang="en-US" sz="900" b="1" dirty="0">
                <a:solidFill>
                  <a:srgbClr val="0A2A43"/>
                </a:solidFill>
                <a:latin typeface="Calibri" pitchFamily="34" charset="0"/>
                <a:ea typeface="Calibri" pitchFamily="34" charset="-122"/>
                <a:cs typeface="Calibri" pitchFamily="34" charset="-120"/>
              </a:rPr>
              <a:t>It fetches</a:t>
            </a:r>
            <a:endParaRPr lang="en-US" sz="900" dirty="0"/>
          </a:p>
        </p:txBody>
      </p:sp>
      <p:sp>
        <p:nvSpPr>
          <p:cNvPr id="14" name="Text 12"/>
          <p:cNvSpPr/>
          <p:nvPr/>
        </p:nvSpPr>
        <p:spPr>
          <a:xfrm>
            <a:off x="2432304" y="1572768"/>
            <a:ext cx="1956816" cy="329184"/>
          </a:xfrm>
          <a:prstGeom prst="rect">
            <a:avLst/>
          </a:prstGeom>
          <a:noFill/>
          <a:ln/>
        </p:spPr>
        <p:txBody>
          <a:bodyPr wrap="square" lIns="0" tIns="0" rIns="0" bIns="0" rtlCol="0" anchor="ctr"/>
          <a:lstStyle/>
          <a:p>
            <a:pPr marL="0" indent="0">
              <a:buNone/>
            </a:pPr>
            <a:r>
              <a:rPr lang="en-US" sz="750" dirty="0">
                <a:solidFill>
                  <a:srgbClr val="5C7C93"/>
                </a:solidFill>
                <a:latin typeface="Calibri" pitchFamily="34" charset="0"/>
                <a:ea typeface="Calibri" pitchFamily="34" charset="-122"/>
                <a:cs typeface="Calibri" pitchFamily="34" charset="-120"/>
              </a:rPr>
              <a:t>with loading and error states</a:t>
            </a:r>
            <a:endParaRPr lang="en-US" sz="750" dirty="0"/>
          </a:p>
        </p:txBody>
      </p:sp>
      <p:sp>
        <p:nvSpPr>
          <p:cNvPr id="15" name="Shape 13"/>
          <p:cNvSpPr/>
          <p:nvPr/>
        </p:nvSpPr>
        <p:spPr>
          <a:xfrm>
            <a:off x="457200" y="1956816"/>
            <a:ext cx="4023360" cy="329184"/>
          </a:xfrm>
          <a:prstGeom prst="rect">
            <a:avLst/>
          </a:prstGeom>
          <a:solidFill>
            <a:srgbClr val="EAF7FE"/>
          </a:solidFill>
          <a:ln w="6350">
            <a:solidFill>
              <a:srgbClr val="D6EDF9"/>
            </a:solidFill>
            <a:prstDash val="solid"/>
          </a:ln>
        </p:spPr>
        <p:txBody>
          <a:bodyPr/>
          <a:lstStyle/>
          <a:p>
            <a:endParaRPr lang="en-US"/>
          </a:p>
        </p:txBody>
      </p:sp>
      <p:sp>
        <p:nvSpPr>
          <p:cNvPr id="16" name="Text 14"/>
          <p:cNvSpPr/>
          <p:nvPr/>
        </p:nvSpPr>
        <p:spPr>
          <a:xfrm>
            <a:off x="566928" y="1956816"/>
            <a:ext cx="237744" cy="329184"/>
          </a:xfrm>
          <a:prstGeom prst="rect">
            <a:avLst/>
          </a:prstGeom>
          <a:noFill/>
          <a:ln/>
        </p:spPr>
        <p:txBody>
          <a:bodyPr wrap="square" lIns="0" tIns="0" rIns="0" bIns="0" rtlCol="0" anchor="ctr"/>
          <a:lstStyle/>
          <a:p>
            <a:pPr marL="0" indent="0">
              <a:buNone/>
            </a:pPr>
            <a:r>
              <a:rPr lang="en-US" sz="1000" b="1" dirty="0">
                <a:solidFill>
                  <a:srgbClr val="12795C"/>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841248" y="1956816"/>
            <a:ext cx="1572768" cy="329184"/>
          </a:xfrm>
          <a:prstGeom prst="rect">
            <a:avLst/>
          </a:prstGeom>
          <a:noFill/>
          <a:ln/>
        </p:spPr>
        <p:txBody>
          <a:bodyPr wrap="square" lIns="0" tIns="0" rIns="0" bIns="0" rtlCol="0" anchor="ctr"/>
          <a:lstStyle/>
          <a:p>
            <a:pPr marL="0" indent="0">
              <a:buNone/>
            </a:pPr>
            <a:r>
              <a:rPr lang="en-US" sz="900" b="1" dirty="0">
                <a:solidFill>
                  <a:srgbClr val="0A2A43"/>
                </a:solidFill>
                <a:latin typeface="Calibri" pitchFamily="34" charset="0"/>
                <a:ea typeface="Calibri" pitchFamily="34" charset="-122"/>
                <a:cs typeface="Calibri" pitchFamily="34" charset="-120"/>
              </a:rPr>
              <a:t>It called a model</a:t>
            </a:r>
            <a:endParaRPr lang="en-US" sz="900" dirty="0"/>
          </a:p>
        </p:txBody>
      </p:sp>
      <p:sp>
        <p:nvSpPr>
          <p:cNvPr id="18" name="Text 16"/>
          <p:cNvSpPr/>
          <p:nvPr/>
        </p:nvSpPr>
        <p:spPr>
          <a:xfrm>
            <a:off x="2432304" y="1956816"/>
            <a:ext cx="1956816" cy="329184"/>
          </a:xfrm>
          <a:prstGeom prst="rect">
            <a:avLst/>
          </a:prstGeom>
          <a:noFill/>
          <a:ln/>
        </p:spPr>
        <p:txBody>
          <a:bodyPr wrap="square" lIns="0" tIns="0" rIns="0" bIns="0" rtlCol="0" anchor="ctr"/>
          <a:lstStyle/>
          <a:p>
            <a:pPr marL="0" indent="0">
              <a:buNone/>
            </a:pPr>
            <a:r>
              <a:rPr lang="en-US" sz="750" dirty="0">
                <a:solidFill>
                  <a:srgbClr val="5C7C93"/>
                </a:solidFill>
                <a:latin typeface="Calibri" pitchFamily="34" charset="0"/>
                <a:ea typeface="Calibri" pitchFamily="34" charset="-122"/>
                <a:cs typeface="Calibri" pitchFamily="34" charset="-120"/>
              </a:rPr>
              <a:t>and put the summary on screen</a:t>
            </a:r>
            <a:endParaRPr lang="en-US" sz="750" dirty="0"/>
          </a:p>
        </p:txBody>
      </p:sp>
      <p:sp>
        <p:nvSpPr>
          <p:cNvPr id="19" name="Shape 17"/>
          <p:cNvSpPr/>
          <p:nvPr/>
        </p:nvSpPr>
        <p:spPr>
          <a:xfrm>
            <a:off x="457200" y="2395728"/>
            <a:ext cx="4023360" cy="621792"/>
          </a:xfrm>
          <a:prstGeom prst="rect">
            <a:avLst/>
          </a:prstGeom>
          <a:solidFill>
            <a:srgbClr val="FDEAEA"/>
          </a:solidFill>
          <a:ln w="12700">
            <a:solidFill>
              <a:srgbClr val="FDEAEA"/>
            </a:solidFill>
            <a:prstDash val="solid"/>
          </a:ln>
        </p:spPr>
        <p:txBody>
          <a:bodyPr/>
          <a:lstStyle/>
          <a:p>
            <a:endParaRPr lang="en-US"/>
          </a:p>
        </p:txBody>
      </p:sp>
      <p:sp>
        <p:nvSpPr>
          <p:cNvPr id="20" name="Shape 18"/>
          <p:cNvSpPr/>
          <p:nvPr/>
        </p:nvSpPr>
        <p:spPr>
          <a:xfrm>
            <a:off x="457200" y="2395728"/>
            <a:ext cx="54864" cy="621792"/>
          </a:xfrm>
          <a:prstGeom prst="rect">
            <a:avLst/>
          </a:prstGeom>
          <a:solidFill>
            <a:srgbClr val="B83232"/>
          </a:solidFill>
          <a:ln w="12700">
            <a:solidFill>
              <a:srgbClr val="B83232"/>
            </a:solidFill>
            <a:prstDash val="solid"/>
          </a:ln>
        </p:spPr>
        <p:txBody>
          <a:bodyPr/>
          <a:lstStyle/>
          <a:p>
            <a:endParaRPr lang="en-US"/>
          </a:p>
        </p:txBody>
      </p:sp>
      <p:sp>
        <p:nvSpPr>
          <p:cNvPr id="21" name="Text 19"/>
          <p:cNvSpPr/>
          <p:nvPr/>
        </p:nvSpPr>
        <p:spPr>
          <a:xfrm>
            <a:off x="658368" y="2468880"/>
            <a:ext cx="3657600" cy="182880"/>
          </a:xfrm>
          <a:prstGeom prst="rect">
            <a:avLst/>
          </a:prstGeom>
          <a:noFill/>
          <a:ln/>
        </p:spPr>
        <p:txBody>
          <a:bodyPr wrap="square" lIns="0" tIns="0" rIns="0" bIns="0" rtlCol="0" anchor="ctr"/>
          <a:lstStyle/>
          <a:p>
            <a:pPr marL="0" indent="0">
              <a:buNone/>
            </a:pPr>
            <a:r>
              <a:rPr lang="en-US" sz="750" b="1" kern="0" spc="120" dirty="0">
                <a:solidFill>
                  <a:srgbClr val="B83232"/>
                </a:solidFill>
                <a:latin typeface="Calibri" pitchFamily="34" charset="0"/>
                <a:ea typeface="Calibri" pitchFamily="34" charset="-122"/>
                <a:cs typeface="Calibri" pitchFamily="34" charset="-120"/>
              </a:rPr>
              <a:t>AND TWO THINGS THAT ARE STILL BROKEN</a:t>
            </a:r>
            <a:endParaRPr lang="en-US" sz="750" dirty="0"/>
          </a:p>
        </p:txBody>
      </p:sp>
      <p:sp>
        <p:nvSpPr>
          <p:cNvPr id="22" name="Text 20"/>
          <p:cNvSpPr/>
          <p:nvPr/>
        </p:nvSpPr>
        <p:spPr>
          <a:xfrm>
            <a:off x="658368" y="2651760"/>
            <a:ext cx="3675888" cy="310896"/>
          </a:xfrm>
          <a:prstGeom prst="rect">
            <a:avLst/>
          </a:prstGeom>
          <a:noFill/>
          <a:ln/>
        </p:spPr>
        <p:txBody>
          <a:bodyPr wrap="square" lIns="0" tIns="0" rIns="0" bIns="0" rtlCol="0" anchor="ctr"/>
          <a:lstStyle/>
          <a:p>
            <a:pPr marL="0" indent="0">
              <a:buNone/>
            </a:pPr>
            <a:r>
              <a:rPr lang="en-US" sz="850" dirty="0">
                <a:solidFill>
                  <a:srgbClr val="B83232"/>
                </a:solidFill>
                <a:latin typeface="Calibri" pitchFamily="34" charset="0"/>
                <a:ea typeface="Calibri" pitchFamily="34" charset="-122"/>
                <a:cs typeface="Calibri" pitchFamily="34" charset="-120"/>
              </a:rPr>
              <a:t>Your key is readable by anyone. And refresh the page — every record you made is gone.</a:t>
            </a:r>
            <a:endParaRPr lang="en-US" sz="850" dirty="0"/>
          </a:p>
        </p:txBody>
      </p:sp>
      <p:sp>
        <p:nvSpPr>
          <p:cNvPr id="23" name="Text 21"/>
          <p:cNvSpPr/>
          <p:nvPr/>
        </p:nvSpPr>
        <p:spPr>
          <a:xfrm>
            <a:off x="4681728" y="969264"/>
            <a:ext cx="36576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TODAY'S ARC</a:t>
            </a:r>
            <a:endParaRPr lang="en-US" sz="800" dirty="0"/>
          </a:p>
        </p:txBody>
      </p:sp>
      <p:sp>
        <p:nvSpPr>
          <p:cNvPr id="24" name="Shape 22"/>
          <p:cNvSpPr/>
          <p:nvPr/>
        </p:nvSpPr>
        <p:spPr>
          <a:xfrm>
            <a:off x="4681728" y="1188720"/>
            <a:ext cx="4005072" cy="402336"/>
          </a:xfrm>
          <a:prstGeom prst="rect">
            <a:avLst/>
          </a:prstGeom>
          <a:solidFill>
            <a:srgbClr val="FFFFFF"/>
          </a:solidFill>
          <a:ln w="9525">
            <a:solidFill>
              <a:srgbClr val="D6EDF9"/>
            </a:solidFill>
            <a:prstDash val="solid"/>
          </a:ln>
        </p:spPr>
        <p:txBody>
          <a:bodyPr/>
          <a:lstStyle/>
          <a:p>
            <a:endParaRPr lang="en-US"/>
          </a:p>
        </p:txBody>
      </p:sp>
      <p:sp>
        <p:nvSpPr>
          <p:cNvPr id="25" name="Shape 23"/>
          <p:cNvSpPr/>
          <p:nvPr/>
        </p:nvSpPr>
        <p:spPr>
          <a:xfrm>
            <a:off x="4681728" y="1188720"/>
            <a:ext cx="54864" cy="402336"/>
          </a:xfrm>
          <a:prstGeom prst="rect">
            <a:avLst/>
          </a:prstGeom>
          <a:solidFill>
            <a:srgbClr val="0077B6"/>
          </a:solidFill>
          <a:ln w="12700">
            <a:solidFill>
              <a:srgbClr val="0077B6"/>
            </a:solidFill>
            <a:prstDash val="solid"/>
          </a:ln>
        </p:spPr>
        <p:txBody>
          <a:bodyPr/>
          <a:lstStyle/>
          <a:p>
            <a:endParaRPr lang="en-US"/>
          </a:p>
        </p:txBody>
      </p:sp>
      <p:sp>
        <p:nvSpPr>
          <p:cNvPr id="26" name="Text 24"/>
          <p:cNvSpPr/>
          <p:nvPr/>
        </p:nvSpPr>
        <p:spPr>
          <a:xfrm>
            <a:off x="4882896" y="1188720"/>
            <a:ext cx="2395728" cy="402336"/>
          </a:xfrm>
          <a:prstGeom prst="rect">
            <a:avLst/>
          </a:prstGeom>
          <a:noFill/>
          <a:ln/>
        </p:spPr>
        <p:txBody>
          <a:bodyPr wrap="square" lIns="0" tIns="0" rIns="0" bIns="0" rtlCol="0" anchor="ctr"/>
          <a:lstStyle/>
          <a:p>
            <a:pPr marL="0" indent="0">
              <a:buNone/>
            </a:pPr>
            <a:r>
              <a:rPr lang="en-US" sz="850" b="1" kern="0" spc="50" dirty="0">
                <a:solidFill>
                  <a:srgbClr val="0A2A43"/>
                </a:solidFill>
                <a:latin typeface="Calibri" pitchFamily="34" charset="0"/>
                <a:ea typeface="Calibri" pitchFamily="34" charset="-122"/>
                <a:cs typeface="Calibri" pitchFamily="34" charset="-120"/>
              </a:rPr>
              <a:t>YOU RUN YOUR OWN SERVER</a:t>
            </a:r>
            <a:endParaRPr lang="en-US" sz="850" dirty="0"/>
          </a:p>
        </p:txBody>
      </p:sp>
      <p:sp>
        <p:nvSpPr>
          <p:cNvPr id="27" name="Text 25"/>
          <p:cNvSpPr/>
          <p:nvPr/>
        </p:nvSpPr>
        <p:spPr>
          <a:xfrm>
            <a:off x="7278624" y="1188720"/>
            <a:ext cx="1298448" cy="402336"/>
          </a:xfrm>
          <a:prstGeom prst="rect">
            <a:avLst/>
          </a:prstGeom>
          <a:noFill/>
          <a:ln/>
        </p:spPr>
        <p:txBody>
          <a:bodyPr wrap="square" lIns="0" tIns="0" rIns="0" bIns="0" rtlCol="0" anchor="ctr"/>
          <a:lstStyle/>
          <a:p>
            <a:pPr marL="0" indent="0" algn="r">
              <a:buNone/>
            </a:pPr>
            <a:r>
              <a:rPr lang="en-US" sz="700" dirty="0">
                <a:solidFill>
                  <a:srgbClr val="5C7C93"/>
                </a:solidFill>
                <a:latin typeface="Calibri" pitchFamily="34" charset="0"/>
                <a:ea typeface="Calibri" pitchFamily="34" charset="-122"/>
                <a:cs typeface="Calibri" pitchFamily="34" charset="-120"/>
              </a:rPr>
              <a:t>code the user cannot read</a:t>
            </a:r>
            <a:endParaRPr lang="en-US" sz="700" dirty="0"/>
          </a:p>
        </p:txBody>
      </p:sp>
      <p:sp>
        <p:nvSpPr>
          <p:cNvPr id="28" name="Shape 26"/>
          <p:cNvSpPr/>
          <p:nvPr/>
        </p:nvSpPr>
        <p:spPr>
          <a:xfrm>
            <a:off x="4681728" y="1664208"/>
            <a:ext cx="4005072" cy="402336"/>
          </a:xfrm>
          <a:prstGeom prst="rect">
            <a:avLst/>
          </a:prstGeom>
          <a:solidFill>
            <a:srgbClr val="FFFFFF"/>
          </a:solidFill>
          <a:ln w="9525">
            <a:solidFill>
              <a:srgbClr val="D6EDF9"/>
            </a:solidFill>
            <a:prstDash val="solid"/>
          </a:ln>
        </p:spPr>
        <p:txBody>
          <a:bodyPr/>
          <a:lstStyle/>
          <a:p>
            <a:endParaRPr lang="en-US"/>
          </a:p>
        </p:txBody>
      </p:sp>
      <p:sp>
        <p:nvSpPr>
          <p:cNvPr id="29" name="Shape 27"/>
          <p:cNvSpPr/>
          <p:nvPr/>
        </p:nvSpPr>
        <p:spPr>
          <a:xfrm>
            <a:off x="4681728" y="1664208"/>
            <a:ext cx="54864" cy="402336"/>
          </a:xfrm>
          <a:prstGeom prst="rect">
            <a:avLst/>
          </a:prstGeom>
          <a:solidFill>
            <a:srgbClr val="00879B"/>
          </a:solidFill>
          <a:ln w="12700">
            <a:solidFill>
              <a:srgbClr val="00879B"/>
            </a:solidFill>
            <a:prstDash val="solid"/>
          </a:ln>
        </p:spPr>
        <p:txBody>
          <a:bodyPr/>
          <a:lstStyle/>
          <a:p>
            <a:endParaRPr lang="en-US"/>
          </a:p>
        </p:txBody>
      </p:sp>
      <p:sp>
        <p:nvSpPr>
          <p:cNvPr id="30" name="Text 28"/>
          <p:cNvSpPr/>
          <p:nvPr/>
        </p:nvSpPr>
        <p:spPr>
          <a:xfrm>
            <a:off x="4882896" y="1664208"/>
            <a:ext cx="2395728" cy="402336"/>
          </a:xfrm>
          <a:prstGeom prst="rect">
            <a:avLst/>
          </a:prstGeom>
          <a:noFill/>
          <a:ln/>
        </p:spPr>
        <p:txBody>
          <a:bodyPr wrap="square" lIns="0" tIns="0" rIns="0" bIns="0" rtlCol="0" anchor="ctr"/>
          <a:lstStyle/>
          <a:p>
            <a:pPr marL="0" indent="0">
              <a:buNone/>
            </a:pPr>
            <a:r>
              <a:rPr lang="en-US" sz="850" b="1" kern="0" spc="50" dirty="0">
                <a:solidFill>
                  <a:srgbClr val="0A2A43"/>
                </a:solidFill>
                <a:latin typeface="Calibri" pitchFamily="34" charset="0"/>
                <a:ea typeface="Calibri" pitchFamily="34" charset="-122"/>
                <a:cs typeface="Calibri" pitchFamily="34" charset="-120"/>
              </a:rPr>
              <a:t>YOUR RECORDS PERSIST</a:t>
            </a:r>
            <a:endParaRPr lang="en-US" sz="850" dirty="0"/>
          </a:p>
        </p:txBody>
      </p:sp>
      <p:sp>
        <p:nvSpPr>
          <p:cNvPr id="31" name="Text 29"/>
          <p:cNvSpPr/>
          <p:nvPr/>
        </p:nvSpPr>
        <p:spPr>
          <a:xfrm>
            <a:off x="7278624" y="1664208"/>
            <a:ext cx="1298448" cy="402336"/>
          </a:xfrm>
          <a:prstGeom prst="rect">
            <a:avLst/>
          </a:prstGeom>
          <a:noFill/>
          <a:ln/>
        </p:spPr>
        <p:txBody>
          <a:bodyPr wrap="square" lIns="0" tIns="0" rIns="0" bIns="0" rtlCol="0" anchor="ctr"/>
          <a:lstStyle/>
          <a:p>
            <a:pPr marL="0" indent="0" algn="r">
              <a:buNone/>
            </a:pPr>
            <a:r>
              <a:rPr lang="en-US" sz="700" dirty="0">
                <a:solidFill>
                  <a:srgbClr val="5C7C93"/>
                </a:solidFill>
                <a:latin typeface="Calibri" pitchFamily="34" charset="0"/>
                <a:ea typeface="Calibri" pitchFamily="34" charset="-122"/>
                <a:cs typeface="Calibri" pitchFamily="34" charset="-120"/>
              </a:rPr>
              <a:t>a real file, real SQL</a:t>
            </a:r>
            <a:endParaRPr lang="en-US" sz="700" dirty="0"/>
          </a:p>
        </p:txBody>
      </p:sp>
      <p:sp>
        <p:nvSpPr>
          <p:cNvPr id="32" name="Shape 30"/>
          <p:cNvSpPr/>
          <p:nvPr/>
        </p:nvSpPr>
        <p:spPr>
          <a:xfrm>
            <a:off x="4681728" y="2139696"/>
            <a:ext cx="4005072" cy="402336"/>
          </a:xfrm>
          <a:prstGeom prst="rect">
            <a:avLst/>
          </a:prstGeom>
          <a:solidFill>
            <a:srgbClr val="FFFFFF"/>
          </a:solidFill>
          <a:ln w="9525">
            <a:solidFill>
              <a:srgbClr val="D6EDF9"/>
            </a:solidFill>
            <a:prstDash val="solid"/>
          </a:ln>
        </p:spPr>
        <p:txBody>
          <a:bodyPr/>
          <a:lstStyle/>
          <a:p>
            <a:endParaRPr lang="en-US"/>
          </a:p>
        </p:txBody>
      </p:sp>
      <p:sp>
        <p:nvSpPr>
          <p:cNvPr id="33" name="Shape 31"/>
          <p:cNvSpPr/>
          <p:nvPr/>
        </p:nvSpPr>
        <p:spPr>
          <a:xfrm>
            <a:off x="4681728" y="2139696"/>
            <a:ext cx="54864" cy="402336"/>
          </a:xfrm>
          <a:prstGeom prst="rect">
            <a:avLst/>
          </a:prstGeom>
          <a:solidFill>
            <a:srgbClr val="2E5AA8"/>
          </a:solidFill>
          <a:ln w="12700">
            <a:solidFill>
              <a:srgbClr val="2E5AA8"/>
            </a:solidFill>
            <a:prstDash val="solid"/>
          </a:ln>
        </p:spPr>
        <p:txBody>
          <a:bodyPr/>
          <a:lstStyle/>
          <a:p>
            <a:endParaRPr lang="en-US"/>
          </a:p>
        </p:txBody>
      </p:sp>
      <p:sp>
        <p:nvSpPr>
          <p:cNvPr id="34" name="Text 32"/>
          <p:cNvSpPr/>
          <p:nvPr/>
        </p:nvSpPr>
        <p:spPr>
          <a:xfrm>
            <a:off x="4882896" y="2139696"/>
            <a:ext cx="2395728" cy="402336"/>
          </a:xfrm>
          <a:prstGeom prst="rect">
            <a:avLst/>
          </a:prstGeom>
          <a:noFill/>
          <a:ln/>
        </p:spPr>
        <p:txBody>
          <a:bodyPr wrap="square" lIns="0" tIns="0" rIns="0" bIns="0" rtlCol="0" anchor="ctr"/>
          <a:lstStyle/>
          <a:p>
            <a:pPr marL="0" indent="0">
              <a:buNone/>
            </a:pPr>
            <a:r>
              <a:rPr lang="en-US" sz="850" b="1" kern="0" spc="50" dirty="0">
                <a:solidFill>
                  <a:srgbClr val="0A2A43"/>
                </a:solidFill>
                <a:latin typeface="Calibri" pitchFamily="34" charset="0"/>
                <a:ea typeface="Calibri" pitchFamily="34" charset="-122"/>
                <a:cs typeface="Calibri" pitchFamily="34" charset="-120"/>
              </a:rPr>
              <a:t>THE KEY MOVES BEHIND IT</a:t>
            </a:r>
            <a:endParaRPr lang="en-US" sz="850" dirty="0"/>
          </a:p>
        </p:txBody>
      </p:sp>
      <p:sp>
        <p:nvSpPr>
          <p:cNvPr id="35" name="Text 33"/>
          <p:cNvSpPr/>
          <p:nvPr/>
        </p:nvSpPr>
        <p:spPr>
          <a:xfrm>
            <a:off x="7278624" y="2139696"/>
            <a:ext cx="1298448" cy="402336"/>
          </a:xfrm>
          <a:prstGeom prst="rect">
            <a:avLst/>
          </a:prstGeom>
          <a:noFill/>
          <a:ln/>
        </p:spPr>
        <p:txBody>
          <a:bodyPr wrap="square" lIns="0" tIns="0" rIns="0" bIns="0" rtlCol="0" anchor="ctr"/>
          <a:lstStyle/>
          <a:p>
            <a:pPr marL="0" indent="0" algn="r">
              <a:buNone/>
            </a:pPr>
            <a:r>
              <a:rPr lang="en-US" sz="700" dirty="0">
                <a:solidFill>
                  <a:srgbClr val="5C7C93"/>
                </a:solidFill>
                <a:latin typeface="Calibri" pitchFamily="34" charset="0"/>
                <a:ea typeface="Calibri" pitchFamily="34" charset="-122"/>
                <a:cs typeface="Calibri" pitchFamily="34" charset="-120"/>
              </a:rPr>
              <a:t>out of the browser for good</a:t>
            </a:r>
            <a:endParaRPr lang="en-US" sz="700" dirty="0"/>
          </a:p>
        </p:txBody>
      </p:sp>
      <p:sp>
        <p:nvSpPr>
          <p:cNvPr id="36" name="Shape 34"/>
          <p:cNvSpPr/>
          <p:nvPr/>
        </p:nvSpPr>
        <p:spPr>
          <a:xfrm>
            <a:off x="4681728" y="2615184"/>
            <a:ext cx="4005072" cy="402336"/>
          </a:xfrm>
          <a:prstGeom prst="rect">
            <a:avLst/>
          </a:prstGeom>
          <a:solidFill>
            <a:srgbClr val="FFFFFF"/>
          </a:solidFill>
          <a:ln w="9525">
            <a:solidFill>
              <a:srgbClr val="D6EDF9"/>
            </a:solidFill>
            <a:prstDash val="solid"/>
          </a:ln>
        </p:spPr>
        <p:txBody>
          <a:bodyPr/>
          <a:lstStyle/>
          <a:p>
            <a:endParaRPr lang="en-US"/>
          </a:p>
        </p:txBody>
      </p:sp>
      <p:sp>
        <p:nvSpPr>
          <p:cNvPr id="37" name="Shape 35"/>
          <p:cNvSpPr/>
          <p:nvPr/>
        </p:nvSpPr>
        <p:spPr>
          <a:xfrm>
            <a:off x="4681728" y="2615184"/>
            <a:ext cx="54864" cy="402336"/>
          </a:xfrm>
          <a:prstGeom prst="rect">
            <a:avLst/>
          </a:prstGeom>
          <a:solidFill>
            <a:srgbClr val="B86A0E"/>
          </a:solidFill>
          <a:ln w="12700">
            <a:solidFill>
              <a:srgbClr val="B86A0E"/>
            </a:solidFill>
            <a:prstDash val="solid"/>
          </a:ln>
        </p:spPr>
        <p:txBody>
          <a:bodyPr/>
          <a:lstStyle/>
          <a:p>
            <a:endParaRPr lang="en-US"/>
          </a:p>
        </p:txBody>
      </p:sp>
      <p:sp>
        <p:nvSpPr>
          <p:cNvPr id="38" name="Text 36"/>
          <p:cNvSpPr/>
          <p:nvPr/>
        </p:nvSpPr>
        <p:spPr>
          <a:xfrm>
            <a:off x="4882896" y="2615184"/>
            <a:ext cx="2395728" cy="402336"/>
          </a:xfrm>
          <a:prstGeom prst="rect">
            <a:avLst/>
          </a:prstGeom>
          <a:noFill/>
          <a:ln/>
        </p:spPr>
        <p:txBody>
          <a:bodyPr wrap="square" lIns="0" tIns="0" rIns="0" bIns="0" rtlCol="0" anchor="ctr"/>
          <a:lstStyle/>
          <a:p>
            <a:pPr marL="0" indent="0">
              <a:buNone/>
            </a:pPr>
            <a:r>
              <a:rPr lang="en-US" sz="850" b="1" kern="0" spc="50" dirty="0">
                <a:solidFill>
                  <a:srgbClr val="0A2A43"/>
                </a:solidFill>
                <a:latin typeface="Calibri" pitchFamily="34" charset="0"/>
                <a:ea typeface="Calibri" pitchFamily="34" charset="-122"/>
                <a:cs typeface="Calibri" pitchFamily="34" charset="-120"/>
              </a:rPr>
              <a:t>THE MODEL OUTPUT IS CHECKED</a:t>
            </a:r>
            <a:endParaRPr lang="en-US" sz="850" dirty="0"/>
          </a:p>
        </p:txBody>
      </p:sp>
      <p:sp>
        <p:nvSpPr>
          <p:cNvPr id="39" name="Text 37"/>
          <p:cNvSpPr/>
          <p:nvPr/>
        </p:nvSpPr>
        <p:spPr>
          <a:xfrm>
            <a:off x="7278624" y="2615184"/>
            <a:ext cx="1298448" cy="402336"/>
          </a:xfrm>
          <a:prstGeom prst="rect">
            <a:avLst/>
          </a:prstGeom>
          <a:noFill/>
          <a:ln/>
        </p:spPr>
        <p:txBody>
          <a:bodyPr wrap="square" lIns="0" tIns="0" rIns="0" bIns="0" rtlCol="0" anchor="ctr"/>
          <a:lstStyle/>
          <a:p>
            <a:pPr marL="0" indent="0" algn="r">
              <a:buNone/>
            </a:pPr>
            <a:r>
              <a:rPr lang="en-US" sz="700" dirty="0">
                <a:solidFill>
                  <a:srgbClr val="5C7C93"/>
                </a:solidFill>
                <a:latin typeface="Calibri" pitchFamily="34" charset="0"/>
                <a:ea typeface="Calibri" pitchFamily="34" charset="-122"/>
                <a:cs typeface="Calibri" pitchFamily="34" charset="-120"/>
              </a:rPr>
              <a:t>before it touches your data</a:t>
            </a:r>
            <a:endParaRPr lang="en-US" sz="700" dirty="0"/>
          </a:p>
        </p:txBody>
      </p:sp>
      <p:sp>
        <p:nvSpPr>
          <p:cNvPr id="40" name="Text 38"/>
          <p:cNvSpPr/>
          <p:nvPr/>
        </p:nvSpPr>
        <p:spPr>
          <a:xfrm>
            <a:off x="457200" y="3182112"/>
            <a:ext cx="54864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ONE SENTENCE FOR THE WHOLE DAY</a:t>
            </a:r>
            <a:endParaRPr lang="en-US" sz="800" dirty="0"/>
          </a:p>
        </p:txBody>
      </p:sp>
      <p:sp>
        <p:nvSpPr>
          <p:cNvPr id="41" name="Text 39"/>
          <p:cNvSpPr/>
          <p:nvPr/>
        </p:nvSpPr>
        <p:spPr>
          <a:xfrm>
            <a:off x="457200" y="3401568"/>
            <a:ext cx="8229600" cy="457200"/>
          </a:xfrm>
          <a:prstGeom prst="rect">
            <a:avLst/>
          </a:prstGeom>
          <a:noFill/>
          <a:ln/>
        </p:spPr>
        <p:txBody>
          <a:bodyPr wrap="square" lIns="0" tIns="0" rIns="0" bIns="0" rtlCol="0" anchor="t"/>
          <a:lstStyle/>
          <a:p>
            <a:pPr marL="0" indent="0">
              <a:lnSpc>
                <a:spcPct val="105000"/>
              </a:lnSpc>
              <a:buNone/>
            </a:pPr>
            <a:r>
              <a:rPr lang="en-US" sz="1100" dirty="0">
                <a:solidFill>
                  <a:srgbClr val="0A2A43"/>
                </a:solidFill>
                <a:latin typeface="Calibri" pitchFamily="34" charset="0"/>
                <a:ea typeface="Calibri" pitchFamily="34" charset="-122"/>
                <a:cs typeface="Calibri" pitchFamily="34" charset="-120"/>
              </a:rPr>
              <a:t>A server is code that runs somewhere the user cannot see, so it can hold things the user must not have — your keys, your rules, and everybody's data.</a:t>
            </a:r>
            <a:endParaRPr lang="en-US" sz="1100" dirty="0"/>
          </a:p>
        </p:txBody>
      </p:sp>
      <p:sp>
        <p:nvSpPr>
          <p:cNvPr id="42" name="Shape 40"/>
          <p:cNvSpPr/>
          <p:nvPr/>
        </p:nvSpPr>
        <p:spPr>
          <a:xfrm>
            <a:off x="457200" y="3895344"/>
            <a:ext cx="8229600" cy="274320"/>
          </a:xfrm>
          <a:prstGeom prst="rect">
            <a:avLst/>
          </a:prstGeom>
          <a:solidFill>
            <a:srgbClr val="FDEAEA"/>
          </a:solidFill>
          <a:ln w="12700">
            <a:solidFill>
              <a:srgbClr val="FDEAEA"/>
            </a:solidFill>
            <a:prstDash val="solid"/>
          </a:ln>
        </p:spPr>
        <p:txBody>
          <a:bodyPr/>
          <a:lstStyle/>
          <a:p>
            <a:endParaRPr lang="en-US"/>
          </a:p>
        </p:txBody>
      </p:sp>
      <p:sp>
        <p:nvSpPr>
          <p:cNvPr id="43" name="Text 41"/>
          <p:cNvSpPr/>
          <p:nvPr/>
        </p:nvSpPr>
        <p:spPr>
          <a:xfrm>
            <a:off x="566928" y="3895344"/>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Everything today happens in one new folder that contains yesterday's work. Nothing you built gets thrown away.</a:t>
            </a:r>
            <a:endParaRPr lang="en-US" sz="800" dirty="0"/>
          </a:p>
        </p:txBody>
      </p:sp>
      <p:sp>
        <p:nvSpPr>
          <p:cNvPr id="44" name="Shape 42"/>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45" name="Shape 43"/>
          <p:cNvSpPr/>
          <p:nvPr/>
        </p:nvSpPr>
        <p:spPr>
          <a:xfrm>
            <a:off x="457200" y="4334256"/>
            <a:ext cx="54864" cy="512064"/>
          </a:xfrm>
          <a:prstGeom prst="rect">
            <a:avLst/>
          </a:prstGeom>
          <a:solidFill>
            <a:srgbClr val="0077B6"/>
          </a:solidFill>
          <a:ln w="12700">
            <a:solidFill>
              <a:srgbClr val="0077B6"/>
            </a:solidFill>
            <a:prstDash val="solid"/>
          </a:ln>
        </p:spPr>
        <p:txBody>
          <a:bodyPr/>
          <a:lstStyle/>
          <a:p>
            <a:endParaRPr lang="en-US"/>
          </a:p>
        </p:txBody>
      </p:sp>
      <p:sp>
        <p:nvSpPr>
          <p:cNvPr id="46" name="Text 44"/>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By this evening your app is the same three tiers that every product you use is built from.</a:t>
            </a:r>
            <a:endParaRPr lang="en-US" sz="1000" dirty="0"/>
          </a:p>
        </p:txBody>
      </p:sp>
    </p:spTree>
    <p:extLst>
      <p:ext uri="{BB962C8B-B14F-4D97-AF65-F5344CB8AC3E}">
        <p14:creationId xmlns:p14="http://schemas.microsoft.com/office/powerpoint/2010/main" val="914377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7B6"/>
          </a:solidFill>
          <a:ln w="12700">
            <a:solidFill>
              <a:srgbClr val="0077B6"/>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5C7C93"/>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A Server Is Just a Function From Request to Response</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Shape 4"/>
          <p:cNvSpPr/>
          <p:nvPr/>
        </p:nvSpPr>
        <p:spPr>
          <a:xfrm>
            <a:off x="457200" y="987552"/>
            <a:ext cx="4663440" cy="1463040"/>
          </a:xfrm>
          <a:prstGeom prst="rect">
            <a:avLst/>
          </a:prstGeom>
          <a:solidFill>
            <a:srgbClr val="0A2A43"/>
          </a:solidFill>
          <a:ln w="12700">
            <a:solidFill>
              <a:srgbClr val="0A2A43"/>
            </a:solidFill>
            <a:prstDash val="solid"/>
          </a:ln>
        </p:spPr>
        <p:txBody>
          <a:bodyPr/>
          <a:lstStyle/>
          <a:p>
            <a:endParaRPr lang="en-US"/>
          </a:p>
        </p:txBody>
      </p:sp>
      <p:sp>
        <p:nvSpPr>
          <p:cNvPr id="7" name="Text 5"/>
          <p:cNvSpPr/>
          <p:nvPr/>
        </p:nvSpPr>
        <p:spPr>
          <a:xfrm>
            <a:off x="640080" y="1078992"/>
            <a:ext cx="4334256" cy="1280160"/>
          </a:xfrm>
          <a:prstGeom prst="rect">
            <a:avLst/>
          </a:prstGeom>
          <a:noFill/>
          <a:ln/>
        </p:spPr>
        <p:txBody>
          <a:bodyPr wrap="square" lIns="0" tIns="0" rIns="0" bIns="0" rtlCol="0" anchor="t"/>
          <a:lstStyle/>
          <a:p>
            <a:pPr marL="0" indent="0">
              <a:lnSpc>
                <a:spcPct val="112000"/>
              </a:lnSpc>
              <a:buNone/>
            </a:pPr>
            <a:r>
              <a:rPr lang="en-US" sz="950" dirty="0">
                <a:solidFill>
                  <a:srgbClr val="7FE3FF"/>
                </a:solidFill>
                <a:latin typeface="Courier New" pitchFamily="34" charset="0"/>
                <a:ea typeface="Courier New" pitchFamily="34" charset="-122"/>
                <a:cs typeface="Courier New" pitchFamily="34" charset="-120"/>
              </a:rPr>
              <a:t>const app = express();</a:t>
            </a:r>
            <a:endParaRPr lang="en-US" sz="950" dirty="0"/>
          </a:p>
          <a:p>
            <a:pPr marL="0" indent="0">
              <a:lnSpc>
                <a:spcPct val="112000"/>
              </a:lnSpc>
              <a:buNone/>
            </a:pPr>
            <a:r>
              <a:rPr lang="en-US" sz="950" dirty="0">
                <a:solidFill>
                  <a:srgbClr val="7FE3FF"/>
                </a:solidFill>
                <a:latin typeface="Courier New" pitchFamily="34" charset="0"/>
                <a:ea typeface="Courier New" pitchFamily="34" charset="-122"/>
                <a:cs typeface="Courier New" pitchFamily="34" charset="-120"/>
              </a:rPr>
              <a:t>app.use(express.json());</a:t>
            </a:r>
            <a:endParaRPr lang="en-US" sz="950" dirty="0"/>
          </a:p>
          <a:p>
            <a:pPr marL="0" indent="0">
              <a:lnSpc>
                <a:spcPct val="112000"/>
              </a:lnSpc>
              <a:buNone/>
            </a:pPr>
            <a:endParaRPr lang="en-US" sz="950" dirty="0"/>
          </a:p>
          <a:p>
            <a:pPr marL="0" indent="0">
              <a:lnSpc>
                <a:spcPct val="112000"/>
              </a:lnSpc>
              <a:buNone/>
            </a:pPr>
            <a:r>
              <a:rPr lang="en-US" sz="950" dirty="0">
                <a:solidFill>
                  <a:srgbClr val="7FE3FF"/>
                </a:solidFill>
                <a:latin typeface="Courier New" pitchFamily="34" charset="0"/>
                <a:ea typeface="Courier New" pitchFamily="34" charset="-122"/>
                <a:cs typeface="Courier New" pitchFamily="34" charset="-120"/>
              </a:rPr>
              <a:t>app.get('/api/records', (req, res) =&gt; {</a:t>
            </a:r>
            <a:endParaRPr lang="en-US" sz="950" dirty="0"/>
          </a:p>
          <a:p>
            <a:pPr marL="0" indent="0">
              <a:lnSpc>
                <a:spcPct val="112000"/>
              </a:lnSpc>
              <a:buNone/>
            </a:pPr>
            <a:r>
              <a:rPr lang="en-US" sz="950" dirty="0">
                <a:solidFill>
                  <a:srgbClr val="7FE3FF"/>
                </a:solidFill>
                <a:latin typeface="Courier New" pitchFamily="34" charset="0"/>
                <a:ea typeface="Courier New" pitchFamily="34" charset="-122"/>
                <a:cs typeface="Courier New" pitchFamily="34" charset="-120"/>
              </a:rPr>
              <a:t>  res.json(rows);</a:t>
            </a:r>
            <a:endParaRPr lang="en-US" sz="950" dirty="0"/>
          </a:p>
          <a:p>
            <a:pPr marL="0" indent="0">
              <a:lnSpc>
                <a:spcPct val="112000"/>
              </a:lnSpc>
              <a:buNone/>
            </a:pPr>
            <a:r>
              <a:rPr lang="en-US" sz="950" dirty="0">
                <a:solidFill>
                  <a:srgbClr val="7FE3FF"/>
                </a:solidFill>
                <a:latin typeface="Courier New" pitchFamily="34" charset="0"/>
                <a:ea typeface="Courier New" pitchFamily="34" charset="-122"/>
                <a:cs typeface="Courier New" pitchFamily="34" charset="-120"/>
              </a:rPr>
              <a:t>});</a:t>
            </a:r>
            <a:endParaRPr lang="en-US" sz="950" dirty="0"/>
          </a:p>
          <a:p>
            <a:pPr marL="0" indent="0">
              <a:lnSpc>
                <a:spcPct val="112000"/>
              </a:lnSpc>
              <a:buNone/>
            </a:pPr>
            <a:endParaRPr lang="en-US" sz="950" dirty="0"/>
          </a:p>
          <a:p>
            <a:pPr marL="0" indent="0">
              <a:lnSpc>
                <a:spcPct val="112000"/>
              </a:lnSpc>
              <a:buNone/>
            </a:pPr>
            <a:r>
              <a:rPr lang="en-US" sz="950" dirty="0">
                <a:solidFill>
                  <a:srgbClr val="7FE3FF"/>
                </a:solidFill>
                <a:latin typeface="Courier New" pitchFamily="34" charset="0"/>
                <a:ea typeface="Courier New" pitchFamily="34" charset="-122"/>
                <a:cs typeface="Courier New" pitchFamily="34" charset="-120"/>
              </a:rPr>
              <a:t>app.listen(3000);</a:t>
            </a:r>
            <a:endParaRPr lang="en-US" sz="950" dirty="0"/>
          </a:p>
        </p:txBody>
      </p:sp>
      <p:sp>
        <p:nvSpPr>
          <p:cNvPr id="8" name="Shape 6"/>
          <p:cNvSpPr/>
          <p:nvPr/>
        </p:nvSpPr>
        <p:spPr>
          <a:xfrm>
            <a:off x="5303520" y="987552"/>
            <a:ext cx="3383280" cy="438912"/>
          </a:xfrm>
          <a:prstGeom prst="rect">
            <a:avLst/>
          </a:prstGeom>
          <a:solidFill>
            <a:srgbClr val="FFFFFF"/>
          </a:solidFill>
          <a:ln w="9525">
            <a:solidFill>
              <a:srgbClr val="D6EDF9"/>
            </a:solidFill>
            <a:prstDash val="solid"/>
          </a:ln>
        </p:spPr>
        <p:txBody>
          <a:bodyPr/>
          <a:lstStyle/>
          <a:p>
            <a:endParaRPr lang="en-US"/>
          </a:p>
        </p:txBody>
      </p:sp>
      <p:sp>
        <p:nvSpPr>
          <p:cNvPr id="9" name="Shape 7"/>
          <p:cNvSpPr/>
          <p:nvPr/>
        </p:nvSpPr>
        <p:spPr>
          <a:xfrm>
            <a:off x="5303520" y="987552"/>
            <a:ext cx="54864" cy="438912"/>
          </a:xfrm>
          <a:prstGeom prst="rect">
            <a:avLst/>
          </a:prstGeom>
          <a:solidFill>
            <a:srgbClr val="0077B6"/>
          </a:solidFill>
          <a:ln w="12700">
            <a:solidFill>
              <a:srgbClr val="0077B6"/>
            </a:solidFill>
            <a:prstDash val="solid"/>
          </a:ln>
        </p:spPr>
        <p:txBody>
          <a:bodyPr/>
          <a:lstStyle/>
          <a:p>
            <a:endParaRPr lang="en-US"/>
          </a:p>
        </p:txBody>
      </p:sp>
      <p:sp>
        <p:nvSpPr>
          <p:cNvPr id="10" name="Text 8"/>
          <p:cNvSpPr/>
          <p:nvPr/>
        </p:nvSpPr>
        <p:spPr>
          <a:xfrm>
            <a:off x="5468112" y="1024128"/>
            <a:ext cx="1133856" cy="201168"/>
          </a:xfrm>
          <a:prstGeom prst="rect">
            <a:avLst/>
          </a:prstGeom>
          <a:noFill/>
          <a:ln/>
        </p:spPr>
        <p:txBody>
          <a:bodyPr wrap="square" lIns="0" tIns="0" rIns="0" bIns="0" rtlCol="0" anchor="ctr"/>
          <a:lstStyle/>
          <a:p>
            <a:pPr marL="0" indent="0">
              <a:buNone/>
            </a:pPr>
            <a:r>
              <a:rPr lang="en-US" sz="800" b="1" dirty="0">
                <a:solidFill>
                  <a:srgbClr val="0077B6"/>
                </a:solidFill>
                <a:latin typeface="Courier New" pitchFamily="34" charset="0"/>
                <a:ea typeface="Courier New" pitchFamily="34" charset="-122"/>
                <a:cs typeface="Courier New" pitchFamily="34" charset="-120"/>
              </a:rPr>
              <a:t>req</a:t>
            </a:r>
            <a:endParaRPr lang="en-US" sz="800" dirty="0"/>
          </a:p>
        </p:txBody>
      </p:sp>
      <p:sp>
        <p:nvSpPr>
          <p:cNvPr id="11" name="Text 9"/>
          <p:cNvSpPr/>
          <p:nvPr/>
        </p:nvSpPr>
        <p:spPr>
          <a:xfrm>
            <a:off x="6601968" y="1024128"/>
            <a:ext cx="2011680" cy="201168"/>
          </a:xfrm>
          <a:prstGeom prst="rect">
            <a:avLst/>
          </a:prstGeom>
          <a:noFill/>
          <a:ln/>
        </p:spPr>
        <p:txBody>
          <a:bodyPr wrap="square" lIns="0" tIns="0" rIns="0" bIns="0" rtlCol="0" anchor="ctr"/>
          <a:lstStyle/>
          <a:p>
            <a:pPr marL="0" indent="0">
              <a:buNone/>
            </a:pPr>
            <a:r>
              <a:rPr lang="en-US" sz="800" b="1" dirty="0">
                <a:solidFill>
                  <a:srgbClr val="0A2A43"/>
                </a:solidFill>
                <a:latin typeface="Calibri" pitchFamily="34" charset="0"/>
                <a:ea typeface="Calibri" pitchFamily="34" charset="-122"/>
                <a:cs typeface="Calibri" pitchFamily="34" charset="-120"/>
              </a:rPr>
              <a:t>What they asked for</a:t>
            </a:r>
            <a:endParaRPr lang="en-US" sz="800" dirty="0"/>
          </a:p>
        </p:txBody>
      </p:sp>
      <p:sp>
        <p:nvSpPr>
          <p:cNvPr id="12" name="Text 10"/>
          <p:cNvSpPr/>
          <p:nvPr/>
        </p:nvSpPr>
        <p:spPr>
          <a:xfrm>
            <a:off x="5468112" y="1225296"/>
            <a:ext cx="3127248" cy="182880"/>
          </a:xfrm>
          <a:prstGeom prst="rect">
            <a:avLst/>
          </a:prstGeom>
          <a:noFill/>
          <a:ln/>
        </p:spPr>
        <p:txBody>
          <a:bodyPr wrap="square" lIns="0" tIns="0" rIns="0" bIns="0" rtlCol="0" anchor="ctr"/>
          <a:lstStyle/>
          <a:p>
            <a:pPr marL="0" indent="0">
              <a:buNone/>
            </a:pPr>
            <a:r>
              <a:rPr lang="en-US" sz="750" dirty="0">
                <a:solidFill>
                  <a:srgbClr val="5C7C93"/>
                </a:solidFill>
                <a:latin typeface="Calibri" pitchFamily="34" charset="0"/>
                <a:ea typeface="Calibri" pitchFamily="34" charset="-122"/>
                <a:cs typeface="Calibri" pitchFamily="34" charset="-120"/>
              </a:rPr>
              <a:t>params, query, body, headers</a:t>
            </a:r>
            <a:endParaRPr lang="en-US" sz="750" dirty="0"/>
          </a:p>
        </p:txBody>
      </p:sp>
      <p:sp>
        <p:nvSpPr>
          <p:cNvPr id="13" name="Shape 11"/>
          <p:cNvSpPr/>
          <p:nvPr/>
        </p:nvSpPr>
        <p:spPr>
          <a:xfrm>
            <a:off x="5303520" y="1499616"/>
            <a:ext cx="3383280" cy="438912"/>
          </a:xfrm>
          <a:prstGeom prst="rect">
            <a:avLst/>
          </a:prstGeom>
          <a:solidFill>
            <a:srgbClr val="FFFFFF"/>
          </a:solidFill>
          <a:ln w="9525">
            <a:solidFill>
              <a:srgbClr val="D6EDF9"/>
            </a:solidFill>
            <a:prstDash val="solid"/>
          </a:ln>
        </p:spPr>
        <p:txBody>
          <a:bodyPr/>
          <a:lstStyle/>
          <a:p>
            <a:endParaRPr lang="en-US"/>
          </a:p>
        </p:txBody>
      </p:sp>
      <p:sp>
        <p:nvSpPr>
          <p:cNvPr id="14" name="Shape 12"/>
          <p:cNvSpPr/>
          <p:nvPr/>
        </p:nvSpPr>
        <p:spPr>
          <a:xfrm>
            <a:off x="5303520" y="1499616"/>
            <a:ext cx="54864" cy="438912"/>
          </a:xfrm>
          <a:prstGeom prst="rect">
            <a:avLst/>
          </a:prstGeom>
          <a:solidFill>
            <a:srgbClr val="00879B"/>
          </a:solidFill>
          <a:ln w="12700">
            <a:solidFill>
              <a:srgbClr val="00879B"/>
            </a:solidFill>
            <a:prstDash val="solid"/>
          </a:ln>
        </p:spPr>
        <p:txBody>
          <a:bodyPr/>
          <a:lstStyle/>
          <a:p>
            <a:endParaRPr lang="en-US"/>
          </a:p>
        </p:txBody>
      </p:sp>
      <p:sp>
        <p:nvSpPr>
          <p:cNvPr id="15" name="Text 13"/>
          <p:cNvSpPr/>
          <p:nvPr/>
        </p:nvSpPr>
        <p:spPr>
          <a:xfrm>
            <a:off x="5468112" y="1536192"/>
            <a:ext cx="1133856" cy="201168"/>
          </a:xfrm>
          <a:prstGeom prst="rect">
            <a:avLst/>
          </a:prstGeom>
          <a:noFill/>
          <a:ln/>
        </p:spPr>
        <p:txBody>
          <a:bodyPr wrap="square" lIns="0" tIns="0" rIns="0" bIns="0" rtlCol="0" anchor="ctr"/>
          <a:lstStyle/>
          <a:p>
            <a:pPr marL="0" indent="0">
              <a:buNone/>
            </a:pPr>
            <a:r>
              <a:rPr lang="en-US" sz="800" b="1" dirty="0">
                <a:solidFill>
                  <a:srgbClr val="00879B"/>
                </a:solidFill>
                <a:latin typeface="Courier New" pitchFamily="34" charset="0"/>
                <a:ea typeface="Courier New" pitchFamily="34" charset="-122"/>
                <a:cs typeface="Courier New" pitchFamily="34" charset="-120"/>
              </a:rPr>
              <a:t>res</a:t>
            </a:r>
            <a:endParaRPr lang="en-US" sz="800" dirty="0"/>
          </a:p>
        </p:txBody>
      </p:sp>
      <p:sp>
        <p:nvSpPr>
          <p:cNvPr id="16" name="Text 14"/>
          <p:cNvSpPr/>
          <p:nvPr/>
        </p:nvSpPr>
        <p:spPr>
          <a:xfrm>
            <a:off x="6601968" y="1536192"/>
            <a:ext cx="2011680" cy="201168"/>
          </a:xfrm>
          <a:prstGeom prst="rect">
            <a:avLst/>
          </a:prstGeom>
          <a:noFill/>
          <a:ln/>
        </p:spPr>
        <p:txBody>
          <a:bodyPr wrap="square" lIns="0" tIns="0" rIns="0" bIns="0" rtlCol="0" anchor="ctr"/>
          <a:lstStyle/>
          <a:p>
            <a:pPr marL="0" indent="0">
              <a:buNone/>
            </a:pPr>
            <a:r>
              <a:rPr lang="en-US" sz="800" b="1" dirty="0">
                <a:solidFill>
                  <a:srgbClr val="0A2A43"/>
                </a:solidFill>
                <a:latin typeface="Calibri" pitchFamily="34" charset="0"/>
                <a:ea typeface="Calibri" pitchFamily="34" charset="-122"/>
                <a:cs typeface="Calibri" pitchFamily="34" charset="-120"/>
              </a:rPr>
              <a:t>What you send back</a:t>
            </a:r>
            <a:endParaRPr lang="en-US" sz="800" dirty="0"/>
          </a:p>
        </p:txBody>
      </p:sp>
      <p:sp>
        <p:nvSpPr>
          <p:cNvPr id="17" name="Text 15"/>
          <p:cNvSpPr/>
          <p:nvPr/>
        </p:nvSpPr>
        <p:spPr>
          <a:xfrm>
            <a:off x="5468112" y="1737360"/>
            <a:ext cx="3127248" cy="182880"/>
          </a:xfrm>
          <a:prstGeom prst="rect">
            <a:avLst/>
          </a:prstGeom>
          <a:noFill/>
          <a:ln/>
        </p:spPr>
        <p:txBody>
          <a:bodyPr wrap="square" lIns="0" tIns="0" rIns="0" bIns="0" rtlCol="0" anchor="ctr"/>
          <a:lstStyle/>
          <a:p>
            <a:pPr marL="0" indent="0">
              <a:buNone/>
            </a:pPr>
            <a:r>
              <a:rPr lang="en-US" sz="750" dirty="0">
                <a:solidFill>
                  <a:srgbClr val="5C7C93"/>
                </a:solidFill>
                <a:latin typeface="Calibri" pitchFamily="34" charset="0"/>
                <a:ea typeface="Calibri" pitchFamily="34" charset="-122"/>
                <a:cs typeface="Calibri" pitchFamily="34" charset="-120"/>
              </a:rPr>
              <a:t>a status code and a body</a:t>
            </a:r>
            <a:endParaRPr lang="en-US" sz="750" dirty="0"/>
          </a:p>
        </p:txBody>
      </p:sp>
      <p:sp>
        <p:nvSpPr>
          <p:cNvPr id="18" name="Shape 16"/>
          <p:cNvSpPr/>
          <p:nvPr/>
        </p:nvSpPr>
        <p:spPr>
          <a:xfrm>
            <a:off x="5303520" y="2011680"/>
            <a:ext cx="3383280" cy="438912"/>
          </a:xfrm>
          <a:prstGeom prst="rect">
            <a:avLst/>
          </a:prstGeom>
          <a:solidFill>
            <a:srgbClr val="FFFFFF"/>
          </a:solidFill>
          <a:ln w="9525">
            <a:solidFill>
              <a:srgbClr val="D6EDF9"/>
            </a:solidFill>
            <a:prstDash val="solid"/>
          </a:ln>
        </p:spPr>
        <p:txBody>
          <a:bodyPr/>
          <a:lstStyle/>
          <a:p>
            <a:endParaRPr lang="en-US"/>
          </a:p>
        </p:txBody>
      </p:sp>
      <p:sp>
        <p:nvSpPr>
          <p:cNvPr id="19" name="Shape 17"/>
          <p:cNvSpPr/>
          <p:nvPr/>
        </p:nvSpPr>
        <p:spPr>
          <a:xfrm>
            <a:off x="5303520" y="2011680"/>
            <a:ext cx="54864" cy="438912"/>
          </a:xfrm>
          <a:prstGeom prst="rect">
            <a:avLst/>
          </a:prstGeom>
          <a:solidFill>
            <a:srgbClr val="B86A0E"/>
          </a:solidFill>
          <a:ln w="12700">
            <a:solidFill>
              <a:srgbClr val="B86A0E"/>
            </a:solidFill>
            <a:prstDash val="solid"/>
          </a:ln>
        </p:spPr>
        <p:txBody>
          <a:bodyPr/>
          <a:lstStyle/>
          <a:p>
            <a:endParaRPr lang="en-US"/>
          </a:p>
        </p:txBody>
      </p:sp>
      <p:sp>
        <p:nvSpPr>
          <p:cNvPr id="20" name="Text 18"/>
          <p:cNvSpPr/>
          <p:nvPr/>
        </p:nvSpPr>
        <p:spPr>
          <a:xfrm>
            <a:off x="5468112" y="2048256"/>
            <a:ext cx="1133856" cy="201168"/>
          </a:xfrm>
          <a:prstGeom prst="rect">
            <a:avLst/>
          </a:prstGeom>
          <a:noFill/>
          <a:ln/>
        </p:spPr>
        <p:txBody>
          <a:bodyPr wrap="square" lIns="0" tIns="0" rIns="0" bIns="0" rtlCol="0" anchor="ctr"/>
          <a:lstStyle/>
          <a:p>
            <a:pPr marL="0" indent="0">
              <a:buNone/>
            </a:pPr>
            <a:r>
              <a:rPr lang="en-US" sz="800" b="1" dirty="0">
                <a:solidFill>
                  <a:srgbClr val="B86A0E"/>
                </a:solidFill>
                <a:latin typeface="Courier New" pitchFamily="34" charset="0"/>
                <a:ea typeface="Courier New" pitchFamily="34" charset="-122"/>
                <a:cs typeface="Courier New" pitchFamily="34" charset="-120"/>
              </a:rPr>
              <a:t>middleware</a:t>
            </a:r>
            <a:endParaRPr lang="en-US" sz="800" dirty="0"/>
          </a:p>
        </p:txBody>
      </p:sp>
      <p:sp>
        <p:nvSpPr>
          <p:cNvPr id="21" name="Text 19"/>
          <p:cNvSpPr/>
          <p:nvPr/>
        </p:nvSpPr>
        <p:spPr>
          <a:xfrm>
            <a:off x="6601968" y="2048256"/>
            <a:ext cx="2011680" cy="201168"/>
          </a:xfrm>
          <a:prstGeom prst="rect">
            <a:avLst/>
          </a:prstGeom>
          <a:noFill/>
          <a:ln/>
        </p:spPr>
        <p:txBody>
          <a:bodyPr wrap="square" lIns="0" tIns="0" rIns="0" bIns="0" rtlCol="0" anchor="ctr"/>
          <a:lstStyle/>
          <a:p>
            <a:pPr marL="0" indent="0">
              <a:buNone/>
            </a:pPr>
            <a:r>
              <a:rPr lang="en-US" sz="800" b="1" dirty="0">
                <a:solidFill>
                  <a:srgbClr val="0A2A43"/>
                </a:solidFill>
                <a:latin typeface="Calibri" pitchFamily="34" charset="0"/>
                <a:ea typeface="Calibri" pitchFamily="34" charset="-122"/>
                <a:cs typeface="Calibri" pitchFamily="34" charset="-120"/>
              </a:rPr>
              <a:t>Runs before your handler</a:t>
            </a:r>
            <a:endParaRPr lang="en-US" sz="800" dirty="0"/>
          </a:p>
        </p:txBody>
      </p:sp>
      <p:sp>
        <p:nvSpPr>
          <p:cNvPr id="22" name="Text 20"/>
          <p:cNvSpPr/>
          <p:nvPr/>
        </p:nvSpPr>
        <p:spPr>
          <a:xfrm>
            <a:off x="5468112" y="2249424"/>
            <a:ext cx="3127248" cy="182880"/>
          </a:xfrm>
          <a:prstGeom prst="rect">
            <a:avLst/>
          </a:prstGeom>
          <a:noFill/>
          <a:ln/>
        </p:spPr>
        <p:txBody>
          <a:bodyPr wrap="square" lIns="0" tIns="0" rIns="0" bIns="0" rtlCol="0" anchor="ctr"/>
          <a:lstStyle/>
          <a:p>
            <a:pPr marL="0" indent="0">
              <a:buNone/>
            </a:pPr>
            <a:r>
              <a:rPr lang="en-US" sz="750" dirty="0">
                <a:solidFill>
                  <a:srgbClr val="5C7C93"/>
                </a:solidFill>
                <a:latin typeface="Calibri" pitchFamily="34" charset="0"/>
                <a:ea typeface="Calibri" pitchFamily="34" charset="-122"/>
                <a:cs typeface="Calibri" pitchFamily="34" charset="-120"/>
              </a:rPr>
              <a:t>express.json() is one of them</a:t>
            </a:r>
            <a:endParaRPr lang="en-US" sz="750" dirty="0"/>
          </a:p>
        </p:txBody>
      </p:sp>
      <p:sp>
        <p:nvSpPr>
          <p:cNvPr id="23" name="Text 21"/>
          <p:cNvSpPr/>
          <p:nvPr/>
        </p:nvSpPr>
        <p:spPr>
          <a:xfrm>
            <a:off x="457200" y="2596896"/>
            <a:ext cx="54864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THE CYCLE, EVERY SINGLE TIME</a:t>
            </a:r>
            <a:endParaRPr lang="en-US" sz="800" dirty="0"/>
          </a:p>
        </p:txBody>
      </p:sp>
      <p:sp>
        <p:nvSpPr>
          <p:cNvPr id="24" name="Shape 22"/>
          <p:cNvSpPr/>
          <p:nvPr/>
        </p:nvSpPr>
        <p:spPr>
          <a:xfrm>
            <a:off x="457200" y="2816352"/>
            <a:ext cx="1883664" cy="365760"/>
          </a:xfrm>
          <a:prstGeom prst="rect">
            <a:avLst/>
          </a:prstGeom>
          <a:solidFill>
            <a:srgbClr val="0A2A43"/>
          </a:solidFill>
          <a:ln w="12700">
            <a:solidFill>
              <a:srgbClr val="0A2A43"/>
            </a:solidFill>
            <a:prstDash val="solid"/>
          </a:ln>
        </p:spPr>
        <p:txBody>
          <a:bodyPr/>
          <a:lstStyle/>
          <a:p>
            <a:endParaRPr lang="en-US"/>
          </a:p>
        </p:txBody>
      </p:sp>
      <p:sp>
        <p:nvSpPr>
          <p:cNvPr id="25" name="Text 23"/>
          <p:cNvSpPr/>
          <p:nvPr/>
        </p:nvSpPr>
        <p:spPr>
          <a:xfrm>
            <a:off x="457200" y="2816352"/>
            <a:ext cx="1883664"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REQUEST ARRIVES</a:t>
            </a:r>
            <a:endParaRPr lang="en-US" sz="800" dirty="0"/>
          </a:p>
        </p:txBody>
      </p:sp>
      <p:sp>
        <p:nvSpPr>
          <p:cNvPr id="26" name="Text 24"/>
          <p:cNvSpPr/>
          <p:nvPr/>
        </p:nvSpPr>
        <p:spPr>
          <a:xfrm>
            <a:off x="2377440" y="2889504"/>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27" name="Shape 25"/>
          <p:cNvSpPr/>
          <p:nvPr/>
        </p:nvSpPr>
        <p:spPr>
          <a:xfrm>
            <a:off x="2560320" y="2816352"/>
            <a:ext cx="1883664" cy="365760"/>
          </a:xfrm>
          <a:prstGeom prst="rect">
            <a:avLst/>
          </a:prstGeom>
          <a:solidFill>
            <a:srgbClr val="0A2A43"/>
          </a:solidFill>
          <a:ln w="12700">
            <a:solidFill>
              <a:srgbClr val="0A2A43"/>
            </a:solidFill>
            <a:prstDash val="solid"/>
          </a:ln>
        </p:spPr>
        <p:txBody>
          <a:bodyPr/>
          <a:lstStyle/>
          <a:p>
            <a:endParaRPr lang="en-US"/>
          </a:p>
        </p:txBody>
      </p:sp>
      <p:sp>
        <p:nvSpPr>
          <p:cNvPr id="28" name="Text 26"/>
          <p:cNvSpPr/>
          <p:nvPr/>
        </p:nvSpPr>
        <p:spPr>
          <a:xfrm>
            <a:off x="2560320" y="2816352"/>
            <a:ext cx="1883664"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MIDDLEWARE RUNS</a:t>
            </a:r>
            <a:endParaRPr lang="en-US" sz="800" dirty="0"/>
          </a:p>
        </p:txBody>
      </p:sp>
      <p:sp>
        <p:nvSpPr>
          <p:cNvPr id="29" name="Text 27"/>
          <p:cNvSpPr/>
          <p:nvPr/>
        </p:nvSpPr>
        <p:spPr>
          <a:xfrm>
            <a:off x="4480560" y="2889504"/>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30" name="Shape 28"/>
          <p:cNvSpPr/>
          <p:nvPr/>
        </p:nvSpPr>
        <p:spPr>
          <a:xfrm>
            <a:off x="4663440" y="2816352"/>
            <a:ext cx="1883664" cy="365760"/>
          </a:xfrm>
          <a:prstGeom prst="rect">
            <a:avLst/>
          </a:prstGeom>
          <a:solidFill>
            <a:srgbClr val="0077B6"/>
          </a:solidFill>
          <a:ln w="12700">
            <a:solidFill>
              <a:srgbClr val="0077B6"/>
            </a:solidFill>
            <a:prstDash val="solid"/>
          </a:ln>
        </p:spPr>
        <p:txBody>
          <a:bodyPr/>
          <a:lstStyle/>
          <a:p>
            <a:endParaRPr lang="en-US"/>
          </a:p>
        </p:txBody>
      </p:sp>
      <p:sp>
        <p:nvSpPr>
          <p:cNvPr id="31" name="Text 29"/>
          <p:cNvSpPr/>
          <p:nvPr/>
        </p:nvSpPr>
        <p:spPr>
          <a:xfrm>
            <a:off x="4663440" y="2816352"/>
            <a:ext cx="1883664"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YOUR HANDLER RUNS</a:t>
            </a:r>
            <a:endParaRPr lang="en-US" sz="800" dirty="0"/>
          </a:p>
        </p:txBody>
      </p:sp>
      <p:sp>
        <p:nvSpPr>
          <p:cNvPr id="32" name="Text 30"/>
          <p:cNvSpPr/>
          <p:nvPr/>
        </p:nvSpPr>
        <p:spPr>
          <a:xfrm>
            <a:off x="6583680" y="2889504"/>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6766560" y="2816352"/>
            <a:ext cx="1883664" cy="365760"/>
          </a:xfrm>
          <a:prstGeom prst="rect">
            <a:avLst/>
          </a:prstGeom>
          <a:solidFill>
            <a:srgbClr val="0A2A43"/>
          </a:solidFill>
          <a:ln w="12700">
            <a:solidFill>
              <a:srgbClr val="0A2A43"/>
            </a:solidFill>
            <a:prstDash val="solid"/>
          </a:ln>
        </p:spPr>
        <p:txBody>
          <a:bodyPr/>
          <a:lstStyle/>
          <a:p>
            <a:endParaRPr lang="en-US"/>
          </a:p>
        </p:txBody>
      </p:sp>
      <p:sp>
        <p:nvSpPr>
          <p:cNvPr id="34" name="Text 32"/>
          <p:cNvSpPr/>
          <p:nvPr/>
        </p:nvSpPr>
        <p:spPr>
          <a:xfrm>
            <a:off x="6766560" y="2816352"/>
            <a:ext cx="1883664"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RESPONSE GOES BACK</a:t>
            </a:r>
            <a:endParaRPr lang="en-US" sz="800" dirty="0"/>
          </a:p>
        </p:txBody>
      </p:sp>
      <p:sp>
        <p:nvSpPr>
          <p:cNvPr id="35" name="Shape 33"/>
          <p:cNvSpPr/>
          <p:nvPr/>
        </p:nvSpPr>
        <p:spPr>
          <a:xfrm>
            <a:off x="457200" y="3346704"/>
            <a:ext cx="8229600" cy="274320"/>
          </a:xfrm>
          <a:prstGeom prst="rect">
            <a:avLst/>
          </a:prstGeom>
          <a:solidFill>
            <a:srgbClr val="FDEAEA"/>
          </a:solidFill>
          <a:ln w="12700">
            <a:solidFill>
              <a:srgbClr val="FDEAEA"/>
            </a:solidFill>
            <a:prstDash val="solid"/>
          </a:ln>
        </p:spPr>
        <p:txBody>
          <a:bodyPr/>
          <a:lstStyle/>
          <a:p>
            <a:endParaRPr lang="en-US"/>
          </a:p>
        </p:txBody>
      </p:sp>
      <p:sp>
        <p:nvSpPr>
          <p:cNvPr id="36" name="Text 34"/>
          <p:cNvSpPr/>
          <p:nvPr/>
        </p:nvSpPr>
        <p:spPr>
          <a:xfrm>
            <a:off x="566928" y="3346704"/>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Forget app.use(express.json()) and req.body is undefined on every POST. It is the most common Express bug in the world, and it looks like your frontend is broken.</a:t>
            </a:r>
            <a:endParaRPr lang="en-US" sz="800" dirty="0"/>
          </a:p>
        </p:txBody>
      </p:sp>
      <p:sp>
        <p:nvSpPr>
          <p:cNvPr id="37" name="Text 35"/>
          <p:cNvSpPr/>
          <p:nvPr/>
        </p:nvSpPr>
        <p:spPr>
          <a:xfrm>
            <a:off x="457200" y="3767328"/>
            <a:ext cx="8229600" cy="457200"/>
          </a:xfrm>
          <a:prstGeom prst="rect">
            <a:avLst/>
          </a:prstGeom>
          <a:noFill/>
          <a:ln/>
        </p:spPr>
        <p:txBody>
          <a:bodyPr wrap="square" lIns="0" tIns="0" rIns="0" bIns="0" rtlCol="0" anchor="t"/>
          <a:lstStyle/>
          <a:p>
            <a:pPr marL="0" indent="0">
              <a:lnSpc>
                <a:spcPct val="105000"/>
              </a:lnSpc>
              <a:buNone/>
            </a:pPr>
            <a:r>
              <a:rPr lang="en-US" sz="950" dirty="0">
                <a:solidFill>
                  <a:srgbClr val="5C7C93"/>
                </a:solidFill>
                <a:latin typeface="Calibri" pitchFamily="34" charset="0"/>
                <a:ea typeface="Calibri" pitchFamily="34" charset="-122"/>
                <a:cs typeface="Calibri" pitchFamily="34" charset="-120"/>
              </a:rPr>
              <a:t>There is no magic here. Express listens on a port, matches a URL to a function, and calls it. Everything else you will ever read about backends is organisation on top of those three ideas.</a:t>
            </a:r>
            <a:endParaRPr lang="en-US" sz="950" dirty="0"/>
          </a:p>
        </p:txBody>
      </p:sp>
      <p:sp>
        <p:nvSpPr>
          <p:cNvPr id="38" name="Shape 36"/>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39" name="Shape 37"/>
          <p:cNvSpPr/>
          <p:nvPr/>
        </p:nvSpPr>
        <p:spPr>
          <a:xfrm>
            <a:off x="457200" y="4334256"/>
            <a:ext cx="54864" cy="512064"/>
          </a:xfrm>
          <a:prstGeom prst="rect">
            <a:avLst/>
          </a:prstGeom>
          <a:solidFill>
            <a:srgbClr val="0077B6"/>
          </a:solidFill>
          <a:ln w="12700">
            <a:solidFill>
              <a:srgbClr val="0077B6"/>
            </a:solidFill>
            <a:prstDash val="solid"/>
          </a:ln>
        </p:spPr>
        <p:txBody>
          <a:bodyPr/>
          <a:lstStyle/>
          <a:p>
            <a:endParaRPr lang="en-US"/>
          </a:p>
        </p:txBody>
      </p:sp>
      <p:sp>
        <p:nvSpPr>
          <p:cNvPr id="40" name="Text 38"/>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Test every route with a REST client before you touch the frontend. Debugging two broken things at once is how afternoons disappear.</a:t>
            </a:r>
            <a:endParaRPr lang="en-US" sz="1000" dirty="0"/>
          </a:p>
        </p:txBody>
      </p:sp>
    </p:spTree>
    <p:extLst>
      <p:ext uri="{BB962C8B-B14F-4D97-AF65-F5344CB8AC3E}">
        <p14:creationId xmlns:p14="http://schemas.microsoft.com/office/powerpoint/2010/main" val="1588818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7B6"/>
          </a:solidFill>
          <a:ln w="12700">
            <a:solidFill>
              <a:srgbClr val="0077B6"/>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5C7C93"/>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One Line That Saves You a Very Bad Afternoon</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Shape 4"/>
          <p:cNvSpPr/>
          <p:nvPr/>
        </p:nvSpPr>
        <p:spPr>
          <a:xfrm>
            <a:off x="457200" y="987552"/>
            <a:ext cx="8229600" cy="566928"/>
          </a:xfrm>
          <a:prstGeom prst="rect">
            <a:avLst/>
          </a:prstGeom>
          <a:solidFill>
            <a:srgbClr val="0A2A43"/>
          </a:solidFill>
          <a:ln w="12700">
            <a:solidFill>
              <a:srgbClr val="0A2A43"/>
            </a:solidFill>
            <a:prstDash val="solid"/>
          </a:ln>
        </p:spPr>
        <p:txBody>
          <a:bodyPr/>
          <a:lstStyle/>
          <a:p>
            <a:endParaRPr lang="en-US"/>
          </a:p>
        </p:txBody>
      </p:sp>
      <p:sp>
        <p:nvSpPr>
          <p:cNvPr id="7" name="Shape 5"/>
          <p:cNvSpPr/>
          <p:nvPr/>
        </p:nvSpPr>
        <p:spPr>
          <a:xfrm>
            <a:off x="457200" y="987552"/>
            <a:ext cx="73152" cy="566928"/>
          </a:xfrm>
          <a:prstGeom prst="rect">
            <a:avLst/>
          </a:prstGeom>
          <a:solidFill>
            <a:srgbClr val="00B0F0"/>
          </a:solidFill>
          <a:ln w="12700">
            <a:solidFill>
              <a:srgbClr val="00B0F0"/>
            </a:solidFill>
            <a:prstDash val="solid"/>
          </a:ln>
        </p:spPr>
        <p:txBody>
          <a:bodyPr/>
          <a:lstStyle/>
          <a:p>
            <a:endParaRPr lang="en-US"/>
          </a:p>
        </p:txBody>
      </p:sp>
      <p:sp>
        <p:nvSpPr>
          <p:cNvPr id="8" name="Text 6"/>
          <p:cNvSpPr/>
          <p:nvPr/>
        </p:nvSpPr>
        <p:spPr>
          <a:xfrm>
            <a:off x="731520" y="987552"/>
            <a:ext cx="4572000" cy="566928"/>
          </a:xfrm>
          <a:prstGeom prst="rect">
            <a:avLst/>
          </a:prstGeom>
          <a:noFill/>
          <a:ln/>
        </p:spPr>
        <p:txBody>
          <a:bodyPr wrap="square" lIns="0" tIns="0" rIns="0" bIns="0" rtlCol="0" anchor="ctr"/>
          <a:lstStyle/>
          <a:p>
            <a:pPr marL="0" indent="0">
              <a:buNone/>
            </a:pPr>
            <a:r>
              <a:rPr lang="en-US" sz="1500" b="1" dirty="0">
                <a:solidFill>
                  <a:srgbClr val="00B0F0"/>
                </a:solidFill>
                <a:latin typeface="Courier New" pitchFamily="34" charset="0"/>
                <a:ea typeface="Courier New" pitchFamily="34" charset="-122"/>
                <a:cs typeface="Courier New" pitchFamily="34" charset="-120"/>
              </a:rPr>
              <a:t>app.use(express.static('public'));</a:t>
            </a:r>
            <a:endParaRPr lang="en-US" sz="1500" dirty="0"/>
          </a:p>
        </p:txBody>
      </p:sp>
      <p:sp>
        <p:nvSpPr>
          <p:cNvPr id="9" name="Text 7"/>
          <p:cNvSpPr/>
          <p:nvPr/>
        </p:nvSpPr>
        <p:spPr>
          <a:xfrm>
            <a:off x="5394960" y="987552"/>
            <a:ext cx="3200400" cy="566928"/>
          </a:xfrm>
          <a:prstGeom prst="rect">
            <a:avLst/>
          </a:prstGeom>
          <a:noFill/>
          <a:ln/>
        </p:spPr>
        <p:txBody>
          <a:bodyPr wrap="square" lIns="0" tIns="0" rIns="0" bIns="0" rtlCol="0" anchor="ctr"/>
          <a:lstStyle/>
          <a:p>
            <a:pPr marL="0" indent="0">
              <a:buNone/>
            </a:pPr>
            <a:r>
              <a:rPr lang="en-US" sz="950" dirty="0">
                <a:solidFill>
                  <a:srgbClr val="BFE3F5"/>
                </a:solidFill>
                <a:latin typeface="Calibri" pitchFamily="34" charset="0"/>
                <a:ea typeface="Calibri" pitchFamily="34" charset="-122"/>
                <a:cs typeface="Calibri" pitchFamily="34" charset="-120"/>
              </a:rPr>
              <a:t>Your frontend now lives inside your server project.</a:t>
            </a:r>
            <a:endParaRPr lang="en-US" sz="950" dirty="0"/>
          </a:p>
        </p:txBody>
      </p:sp>
      <p:sp>
        <p:nvSpPr>
          <p:cNvPr id="10" name="Shape 8"/>
          <p:cNvSpPr/>
          <p:nvPr/>
        </p:nvSpPr>
        <p:spPr>
          <a:xfrm>
            <a:off x="457200" y="1700784"/>
            <a:ext cx="4005072" cy="896112"/>
          </a:xfrm>
          <a:prstGeom prst="rect">
            <a:avLst/>
          </a:prstGeom>
          <a:solidFill>
            <a:srgbClr val="FFFFFF"/>
          </a:solidFill>
          <a:ln w="9525">
            <a:solidFill>
              <a:srgbClr val="D6EDF9"/>
            </a:solidFill>
            <a:prstDash val="solid"/>
          </a:ln>
        </p:spPr>
        <p:txBody>
          <a:bodyPr/>
          <a:lstStyle/>
          <a:p>
            <a:endParaRPr lang="en-US"/>
          </a:p>
        </p:txBody>
      </p:sp>
      <p:sp>
        <p:nvSpPr>
          <p:cNvPr id="11" name="Shape 9"/>
          <p:cNvSpPr/>
          <p:nvPr/>
        </p:nvSpPr>
        <p:spPr>
          <a:xfrm>
            <a:off x="457200" y="1700784"/>
            <a:ext cx="54864" cy="896112"/>
          </a:xfrm>
          <a:prstGeom prst="rect">
            <a:avLst/>
          </a:prstGeom>
          <a:solidFill>
            <a:srgbClr val="B83232"/>
          </a:solidFill>
          <a:ln w="12700">
            <a:solidFill>
              <a:srgbClr val="B83232"/>
            </a:solidFill>
            <a:prstDash val="solid"/>
          </a:ln>
        </p:spPr>
        <p:txBody>
          <a:bodyPr/>
          <a:lstStyle/>
          <a:p>
            <a:endParaRPr lang="en-US"/>
          </a:p>
        </p:txBody>
      </p:sp>
      <p:sp>
        <p:nvSpPr>
          <p:cNvPr id="12" name="Text 10"/>
          <p:cNvSpPr/>
          <p:nvPr/>
        </p:nvSpPr>
        <p:spPr>
          <a:xfrm>
            <a:off x="640080" y="1773936"/>
            <a:ext cx="2743200" cy="182880"/>
          </a:xfrm>
          <a:prstGeom prst="rect">
            <a:avLst/>
          </a:prstGeom>
          <a:noFill/>
          <a:ln/>
        </p:spPr>
        <p:txBody>
          <a:bodyPr wrap="square" lIns="0" tIns="0" rIns="0" bIns="0" rtlCol="0" anchor="ctr"/>
          <a:lstStyle/>
          <a:p>
            <a:pPr marL="0" indent="0">
              <a:buNone/>
            </a:pPr>
            <a:r>
              <a:rPr lang="en-US" sz="800" b="1" kern="0" spc="120" dirty="0">
                <a:solidFill>
                  <a:srgbClr val="B83232"/>
                </a:solidFill>
                <a:latin typeface="Calibri" pitchFamily="34" charset="0"/>
                <a:ea typeface="Calibri" pitchFamily="34" charset="-122"/>
                <a:cs typeface="Calibri" pitchFamily="34" charset="-120"/>
              </a:rPr>
              <a:t>WITHOUT IT</a:t>
            </a:r>
            <a:endParaRPr lang="en-US" sz="800" dirty="0"/>
          </a:p>
        </p:txBody>
      </p:sp>
      <p:sp>
        <p:nvSpPr>
          <p:cNvPr id="13" name="Text 11"/>
          <p:cNvSpPr/>
          <p:nvPr/>
        </p:nvSpPr>
        <p:spPr>
          <a:xfrm>
            <a:off x="640080" y="1975104"/>
            <a:ext cx="3675888" cy="548640"/>
          </a:xfrm>
          <a:prstGeom prst="rect">
            <a:avLst/>
          </a:prstGeom>
          <a:noFill/>
          <a:ln/>
        </p:spPr>
        <p:txBody>
          <a:bodyPr wrap="square" lIns="0" tIns="0" rIns="0" bIns="0" rtlCol="0" anchor="t"/>
          <a:lstStyle/>
          <a:p>
            <a:pPr marL="0" indent="0">
              <a:lnSpc>
                <a:spcPct val="105000"/>
              </a:lnSpc>
              <a:buNone/>
            </a:pPr>
            <a:r>
              <a:rPr lang="en-US" sz="850" dirty="0">
                <a:solidFill>
                  <a:srgbClr val="0A2A43"/>
                </a:solidFill>
                <a:latin typeface="Calibri" pitchFamily="34" charset="0"/>
                <a:ea typeface="Calibri" pitchFamily="34" charset="-122"/>
                <a:cs typeface="Calibri" pitchFamily="34" charset="-120"/>
              </a:rPr>
              <a:t>Two servers, two origins.</a:t>
            </a:r>
            <a:endParaRPr lang="en-US" sz="850" dirty="0"/>
          </a:p>
          <a:p>
            <a:pPr marL="0" indent="0">
              <a:lnSpc>
                <a:spcPct val="105000"/>
              </a:lnSpc>
              <a:buNone/>
            </a:pPr>
            <a:r>
              <a:rPr lang="en-US" sz="850" dirty="0">
                <a:solidFill>
                  <a:srgbClr val="0A2A43"/>
                </a:solidFill>
                <a:latin typeface="Calibri" pitchFamily="34" charset="0"/>
                <a:ea typeface="Calibri" pitchFamily="34" charset="-122"/>
                <a:cs typeface="Calibri" pitchFamily="34" charset="-120"/>
              </a:rPr>
              <a:t>Every fetch you write is blocked by CORS, and fifty people hit it at the same moment.</a:t>
            </a:r>
            <a:endParaRPr lang="en-US" sz="850" dirty="0"/>
          </a:p>
        </p:txBody>
      </p:sp>
      <p:sp>
        <p:nvSpPr>
          <p:cNvPr id="14" name="Shape 12"/>
          <p:cNvSpPr/>
          <p:nvPr/>
        </p:nvSpPr>
        <p:spPr>
          <a:xfrm>
            <a:off x="4681728" y="1700784"/>
            <a:ext cx="4005072" cy="896112"/>
          </a:xfrm>
          <a:prstGeom prst="rect">
            <a:avLst/>
          </a:prstGeom>
          <a:solidFill>
            <a:srgbClr val="FFFFFF"/>
          </a:solidFill>
          <a:ln w="9525">
            <a:solidFill>
              <a:srgbClr val="D6EDF9"/>
            </a:solidFill>
            <a:prstDash val="solid"/>
          </a:ln>
        </p:spPr>
        <p:txBody>
          <a:bodyPr/>
          <a:lstStyle/>
          <a:p>
            <a:endParaRPr lang="en-US"/>
          </a:p>
        </p:txBody>
      </p:sp>
      <p:sp>
        <p:nvSpPr>
          <p:cNvPr id="15" name="Shape 13"/>
          <p:cNvSpPr/>
          <p:nvPr/>
        </p:nvSpPr>
        <p:spPr>
          <a:xfrm>
            <a:off x="4681728" y="1700784"/>
            <a:ext cx="54864" cy="896112"/>
          </a:xfrm>
          <a:prstGeom prst="rect">
            <a:avLst/>
          </a:prstGeom>
          <a:solidFill>
            <a:srgbClr val="12795C"/>
          </a:solidFill>
          <a:ln w="12700">
            <a:solidFill>
              <a:srgbClr val="12795C"/>
            </a:solidFill>
            <a:prstDash val="solid"/>
          </a:ln>
        </p:spPr>
        <p:txBody>
          <a:bodyPr/>
          <a:lstStyle/>
          <a:p>
            <a:endParaRPr lang="en-US"/>
          </a:p>
        </p:txBody>
      </p:sp>
      <p:sp>
        <p:nvSpPr>
          <p:cNvPr id="16" name="Text 14"/>
          <p:cNvSpPr/>
          <p:nvPr/>
        </p:nvSpPr>
        <p:spPr>
          <a:xfrm>
            <a:off x="4864608" y="1773936"/>
            <a:ext cx="2743200" cy="182880"/>
          </a:xfrm>
          <a:prstGeom prst="rect">
            <a:avLst/>
          </a:prstGeom>
          <a:noFill/>
          <a:ln/>
        </p:spPr>
        <p:txBody>
          <a:bodyPr wrap="square" lIns="0" tIns="0" rIns="0" bIns="0" rtlCol="0" anchor="ctr"/>
          <a:lstStyle/>
          <a:p>
            <a:pPr marL="0" indent="0">
              <a:buNone/>
            </a:pPr>
            <a:r>
              <a:rPr lang="en-US" sz="800" b="1" kern="0" spc="120" dirty="0">
                <a:solidFill>
                  <a:srgbClr val="12795C"/>
                </a:solidFill>
                <a:latin typeface="Calibri" pitchFamily="34" charset="0"/>
                <a:ea typeface="Calibri" pitchFamily="34" charset="-122"/>
                <a:cs typeface="Calibri" pitchFamily="34" charset="-120"/>
              </a:rPr>
              <a:t>WITH IT</a:t>
            </a:r>
            <a:endParaRPr lang="en-US" sz="800" dirty="0"/>
          </a:p>
        </p:txBody>
      </p:sp>
      <p:sp>
        <p:nvSpPr>
          <p:cNvPr id="17" name="Text 15"/>
          <p:cNvSpPr/>
          <p:nvPr/>
        </p:nvSpPr>
        <p:spPr>
          <a:xfrm>
            <a:off x="4864608" y="1975104"/>
            <a:ext cx="3675888" cy="548640"/>
          </a:xfrm>
          <a:prstGeom prst="rect">
            <a:avLst/>
          </a:prstGeom>
          <a:noFill/>
          <a:ln/>
        </p:spPr>
        <p:txBody>
          <a:bodyPr wrap="square" lIns="0" tIns="0" rIns="0" bIns="0" rtlCol="0" anchor="t"/>
          <a:lstStyle/>
          <a:p>
            <a:pPr marL="0" indent="0">
              <a:lnSpc>
                <a:spcPct val="105000"/>
              </a:lnSpc>
              <a:buNone/>
            </a:pPr>
            <a:r>
              <a:rPr lang="en-US" sz="850" dirty="0">
                <a:solidFill>
                  <a:srgbClr val="0A2A43"/>
                </a:solidFill>
                <a:latin typeface="Calibri" pitchFamily="34" charset="0"/>
                <a:ea typeface="Calibri" pitchFamily="34" charset="-122"/>
                <a:cs typeface="Calibri" pitchFamily="34" charset="-120"/>
              </a:rPr>
              <a:t>One server, one origin.</a:t>
            </a:r>
            <a:endParaRPr lang="en-US" sz="850" dirty="0"/>
          </a:p>
          <a:p>
            <a:pPr marL="0" indent="0">
              <a:lnSpc>
                <a:spcPct val="105000"/>
              </a:lnSpc>
              <a:buNone/>
            </a:pPr>
            <a:r>
              <a:rPr lang="en-US" sz="850" dirty="0">
                <a:solidFill>
                  <a:srgbClr val="0A2A43"/>
                </a:solidFill>
                <a:latin typeface="Calibri" pitchFamily="34" charset="0"/>
                <a:ea typeface="Calibri" pitchFamily="34" charset="-122"/>
                <a:cs typeface="Calibri" pitchFamily="34" charset="-120"/>
              </a:rPr>
              <a:t>Your page and your API are the same website, so nothing is blocked.</a:t>
            </a:r>
            <a:endParaRPr lang="en-US" sz="850" dirty="0"/>
          </a:p>
        </p:txBody>
      </p:sp>
      <p:sp>
        <p:nvSpPr>
          <p:cNvPr id="18" name="Text 16"/>
          <p:cNvSpPr/>
          <p:nvPr/>
        </p:nvSpPr>
        <p:spPr>
          <a:xfrm>
            <a:off x="457200" y="2724912"/>
            <a:ext cx="54864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YOUR PROJECT FROM TODAY ONWARDS</a:t>
            </a:r>
            <a:endParaRPr lang="en-US" sz="800" dirty="0"/>
          </a:p>
        </p:txBody>
      </p:sp>
      <p:sp>
        <p:nvSpPr>
          <p:cNvPr id="19" name="Shape 17"/>
          <p:cNvSpPr/>
          <p:nvPr/>
        </p:nvSpPr>
        <p:spPr>
          <a:xfrm>
            <a:off x="457200" y="2944368"/>
            <a:ext cx="4023360" cy="1133856"/>
          </a:xfrm>
          <a:prstGeom prst="rect">
            <a:avLst/>
          </a:prstGeom>
          <a:solidFill>
            <a:srgbClr val="0A2A43"/>
          </a:solidFill>
          <a:ln w="12700">
            <a:solidFill>
              <a:srgbClr val="0A2A43"/>
            </a:solidFill>
            <a:prstDash val="solid"/>
          </a:ln>
        </p:spPr>
        <p:txBody>
          <a:bodyPr/>
          <a:lstStyle/>
          <a:p>
            <a:endParaRPr lang="en-US"/>
          </a:p>
        </p:txBody>
      </p:sp>
      <p:sp>
        <p:nvSpPr>
          <p:cNvPr id="20" name="Text 18"/>
          <p:cNvSpPr/>
          <p:nvPr/>
        </p:nvSpPr>
        <p:spPr>
          <a:xfrm>
            <a:off x="640080" y="3035808"/>
            <a:ext cx="3694176" cy="950976"/>
          </a:xfrm>
          <a:prstGeom prst="rect">
            <a:avLst/>
          </a:prstGeom>
          <a:noFill/>
          <a:ln/>
        </p:spPr>
        <p:txBody>
          <a:bodyPr wrap="square" lIns="0" tIns="0" rIns="0" bIns="0" rtlCol="0" anchor="t"/>
          <a:lstStyle/>
          <a:p>
            <a:pPr marL="0" indent="0">
              <a:lnSpc>
                <a:spcPct val="112000"/>
              </a:lnSpc>
              <a:buNone/>
            </a:pPr>
            <a:r>
              <a:rPr lang="en-US" sz="950" dirty="0">
                <a:solidFill>
                  <a:srgbClr val="BFE3F5"/>
                </a:solidFill>
                <a:latin typeface="Courier New" pitchFamily="34" charset="0"/>
                <a:ea typeface="Courier New" pitchFamily="34" charset="-122"/>
                <a:cs typeface="Courier New" pitchFamily="34" charset="-120"/>
              </a:rPr>
              <a:t>myapp/</a:t>
            </a:r>
            <a:endParaRPr lang="en-US" sz="950" dirty="0"/>
          </a:p>
          <a:p>
            <a:pPr marL="0" indent="0">
              <a:lnSpc>
                <a:spcPct val="112000"/>
              </a:lnSpc>
              <a:buNone/>
            </a:pPr>
            <a:r>
              <a:rPr lang="en-US" sz="950" dirty="0">
                <a:solidFill>
                  <a:srgbClr val="BFE3F5"/>
                </a:solidFill>
                <a:latin typeface="Courier New" pitchFamily="34" charset="0"/>
                <a:ea typeface="Courier New" pitchFamily="34" charset="-122"/>
                <a:cs typeface="Courier New" pitchFamily="34" charset="-120"/>
              </a:rPr>
              <a:t>  public/     ← yesterday's HTML, CSS, JS</a:t>
            </a:r>
            <a:endParaRPr lang="en-US" sz="950" dirty="0"/>
          </a:p>
          <a:p>
            <a:pPr marL="0" indent="0">
              <a:lnSpc>
                <a:spcPct val="112000"/>
              </a:lnSpc>
              <a:buNone/>
            </a:pPr>
            <a:r>
              <a:rPr lang="en-US" sz="950" dirty="0">
                <a:solidFill>
                  <a:srgbClr val="BFE3F5"/>
                </a:solidFill>
                <a:latin typeface="Courier New" pitchFamily="34" charset="0"/>
                <a:ea typeface="Courier New" pitchFamily="34" charset="-122"/>
                <a:cs typeface="Courier New" pitchFamily="34" charset="-120"/>
              </a:rPr>
              <a:t>  db.js       ← the schema (given to you)</a:t>
            </a:r>
            <a:endParaRPr lang="en-US" sz="950" dirty="0"/>
          </a:p>
          <a:p>
            <a:pPr marL="0" indent="0">
              <a:lnSpc>
                <a:spcPct val="112000"/>
              </a:lnSpc>
              <a:buNone/>
            </a:pPr>
            <a:r>
              <a:rPr lang="en-US" sz="950" dirty="0">
                <a:solidFill>
                  <a:srgbClr val="BFE3F5"/>
                </a:solidFill>
                <a:latin typeface="Courier New" pitchFamily="34" charset="0"/>
                <a:ea typeface="Courier New" pitchFamily="34" charset="-122"/>
                <a:cs typeface="Courier New" pitchFamily="34" charset="-120"/>
              </a:rPr>
              <a:t>  server.js   ← everything you write today</a:t>
            </a:r>
            <a:endParaRPr lang="en-US" sz="950" dirty="0"/>
          </a:p>
          <a:p>
            <a:pPr marL="0" indent="0">
              <a:lnSpc>
                <a:spcPct val="112000"/>
              </a:lnSpc>
              <a:buNone/>
            </a:pPr>
            <a:r>
              <a:rPr lang="en-US" sz="950" dirty="0">
                <a:solidFill>
                  <a:srgbClr val="BFE3F5"/>
                </a:solidFill>
                <a:latin typeface="Courier New" pitchFamily="34" charset="0"/>
                <a:ea typeface="Courier New" pitchFamily="34" charset="-122"/>
                <a:cs typeface="Courier New" pitchFamily="34" charset="-120"/>
              </a:rPr>
              <a:t>  .env        ← your key. never committed.</a:t>
            </a:r>
            <a:endParaRPr lang="en-US" sz="950" dirty="0"/>
          </a:p>
        </p:txBody>
      </p:sp>
      <p:sp>
        <p:nvSpPr>
          <p:cNvPr id="21" name="Shape 19"/>
          <p:cNvSpPr/>
          <p:nvPr/>
        </p:nvSpPr>
        <p:spPr>
          <a:xfrm>
            <a:off x="4681728" y="2944368"/>
            <a:ext cx="4005072" cy="1133856"/>
          </a:xfrm>
          <a:prstGeom prst="rect">
            <a:avLst/>
          </a:prstGeom>
          <a:solidFill>
            <a:srgbClr val="EAF7FE"/>
          </a:solidFill>
          <a:ln w="12700">
            <a:solidFill>
              <a:srgbClr val="EAF7FE"/>
            </a:solidFill>
            <a:prstDash val="solid"/>
          </a:ln>
        </p:spPr>
        <p:txBody>
          <a:bodyPr/>
          <a:lstStyle/>
          <a:p>
            <a:endParaRPr lang="en-US"/>
          </a:p>
        </p:txBody>
      </p:sp>
      <p:sp>
        <p:nvSpPr>
          <p:cNvPr id="22" name="Shape 20"/>
          <p:cNvSpPr/>
          <p:nvPr/>
        </p:nvSpPr>
        <p:spPr>
          <a:xfrm>
            <a:off x="4681728" y="2944368"/>
            <a:ext cx="54864" cy="1133856"/>
          </a:xfrm>
          <a:prstGeom prst="rect">
            <a:avLst/>
          </a:prstGeom>
          <a:solidFill>
            <a:srgbClr val="0077B6"/>
          </a:solidFill>
          <a:ln w="12700">
            <a:solidFill>
              <a:srgbClr val="0077B6"/>
            </a:solidFill>
            <a:prstDash val="solid"/>
          </a:ln>
        </p:spPr>
        <p:txBody>
          <a:bodyPr/>
          <a:lstStyle/>
          <a:p>
            <a:endParaRPr lang="en-US"/>
          </a:p>
        </p:txBody>
      </p:sp>
      <p:sp>
        <p:nvSpPr>
          <p:cNvPr id="23" name="Text 21"/>
          <p:cNvSpPr/>
          <p:nvPr/>
        </p:nvSpPr>
        <p:spPr>
          <a:xfrm>
            <a:off x="4864608" y="3017520"/>
            <a:ext cx="3657600" cy="182880"/>
          </a:xfrm>
          <a:prstGeom prst="rect">
            <a:avLst/>
          </a:prstGeom>
          <a:noFill/>
          <a:ln/>
        </p:spPr>
        <p:txBody>
          <a:bodyPr wrap="square" lIns="0" tIns="0" rIns="0" bIns="0" rtlCol="0" anchor="ctr"/>
          <a:lstStyle/>
          <a:p>
            <a:pPr marL="0" indent="0">
              <a:buNone/>
            </a:pPr>
            <a:r>
              <a:rPr lang="en-US" sz="800" b="1" kern="0" spc="120" dirty="0">
                <a:solidFill>
                  <a:srgbClr val="0077B6"/>
                </a:solidFill>
                <a:latin typeface="Calibri" pitchFamily="34" charset="0"/>
                <a:ea typeface="Calibri" pitchFamily="34" charset="-122"/>
                <a:cs typeface="Calibri" pitchFamily="34" charset="-120"/>
              </a:rPr>
              <a:t>YOU WILL STILL LEARN CORS</a:t>
            </a:r>
            <a:endParaRPr lang="en-US" sz="800" dirty="0"/>
          </a:p>
        </p:txBody>
      </p:sp>
      <p:sp>
        <p:nvSpPr>
          <p:cNvPr id="24" name="Text 22"/>
          <p:cNvSpPr/>
          <p:nvPr/>
        </p:nvSpPr>
        <p:spPr>
          <a:xfrm>
            <a:off x="4864608" y="3218688"/>
            <a:ext cx="3675888" cy="804672"/>
          </a:xfrm>
          <a:prstGeom prst="rect">
            <a:avLst/>
          </a:prstGeom>
          <a:noFill/>
          <a:ln/>
        </p:spPr>
        <p:txBody>
          <a:bodyPr wrap="square" lIns="0" tIns="0" rIns="0" bIns="0" rtlCol="0" anchor="t"/>
          <a:lstStyle/>
          <a:p>
            <a:pPr marL="0" indent="0">
              <a:lnSpc>
                <a:spcPct val="105000"/>
              </a:lnSpc>
              <a:buNone/>
            </a:pPr>
            <a:r>
              <a:rPr lang="en-US" sz="850" dirty="0">
                <a:solidFill>
                  <a:srgbClr val="0A2A43"/>
                </a:solidFill>
                <a:latin typeface="Calibri" pitchFamily="34" charset="0"/>
                <a:ea typeface="Calibri" pitchFamily="34" charset="-122"/>
                <a:cs typeface="Calibri" pitchFamily="34" charset="-120"/>
              </a:rPr>
              <a:t>Tomorrow, properly — as an idea about origins, at a moment when nothing is on fire. Today we simply arrange not to need it.</a:t>
            </a:r>
            <a:endParaRPr lang="en-US" sz="850" dirty="0"/>
          </a:p>
          <a:p>
            <a:pPr marL="0" indent="0">
              <a:lnSpc>
                <a:spcPct val="105000"/>
              </a:lnSpc>
              <a:buNone/>
            </a:pPr>
            <a:endParaRPr lang="en-US" sz="850" dirty="0"/>
          </a:p>
          <a:p>
            <a:pPr marL="0" indent="0">
              <a:lnSpc>
                <a:spcPct val="105000"/>
              </a:lnSpc>
              <a:buNone/>
            </a:pPr>
            <a:r>
              <a:rPr lang="en-US" sz="850" dirty="0">
                <a:solidFill>
                  <a:srgbClr val="0A2A43"/>
                </a:solidFill>
                <a:latin typeface="Calibri" pitchFamily="34" charset="0"/>
                <a:ea typeface="Calibri" pitchFamily="34" charset="-122"/>
                <a:cs typeface="Calibri" pitchFamily="34" charset="-120"/>
              </a:rPr>
              <a:t>It also means one thing to deploy on Friday instead of two.</a:t>
            </a:r>
            <a:endParaRPr lang="en-US" sz="850" dirty="0"/>
          </a:p>
        </p:txBody>
      </p:sp>
      <p:sp>
        <p:nvSpPr>
          <p:cNvPr id="25" name="Shape 23"/>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26" name="Shape 24"/>
          <p:cNvSpPr/>
          <p:nvPr/>
        </p:nvSpPr>
        <p:spPr>
          <a:xfrm>
            <a:off x="457200" y="4334256"/>
            <a:ext cx="54864" cy="512064"/>
          </a:xfrm>
          <a:prstGeom prst="rect">
            <a:avLst/>
          </a:prstGeom>
          <a:solidFill>
            <a:srgbClr val="0077B6"/>
          </a:solidFill>
          <a:ln w="12700">
            <a:solidFill>
              <a:srgbClr val="0077B6"/>
            </a:solidFill>
            <a:prstDash val="solid"/>
          </a:ln>
        </p:spPr>
        <p:txBody>
          <a:bodyPr/>
          <a:lstStyle/>
          <a:p>
            <a:endParaRPr lang="en-US"/>
          </a:p>
        </p:txBody>
      </p:sp>
      <p:sp>
        <p:nvSpPr>
          <p:cNvPr id="27" name="Text 25"/>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Move your public folder in before you write a single route. Doing it later means fixing every path you already wrote.</a:t>
            </a:r>
            <a:endParaRPr lang="en-US" sz="1000" dirty="0"/>
          </a:p>
        </p:txBody>
      </p:sp>
    </p:spTree>
    <p:extLst>
      <p:ext uri="{BB962C8B-B14F-4D97-AF65-F5344CB8AC3E}">
        <p14:creationId xmlns:p14="http://schemas.microsoft.com/office/powerpoint/2010/main" val="4021314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7B6"/>
          </a:solidFill>
          <a:ln w="12700">
            <a:solidFill>
              <a:srgbClr val="0077B6"/>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5C7C93"/>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Five Routes. The Nouns Are Yours, the Verbs Are Not.</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Shape 4"/>
          <p:cNvSpPr/>
          <p:nvPr/>
        </p:nvSpPr>
        <p:spPr>
          <a:xfrm>
            <a:off x="457200" y="969264"/>
            <a:ext cx="1097280" cy="256032"/>
          </a:xfrm>
          <a:prstGeom prst="rect">
            <a:avLst/>
          </a:prstGeom>
          <a:solidFill>
            <a:srgbClr val="0A2A43"/>
          </a:solidFill>
          <a:ln w="12700">
            <a:solidFill>
              <a:srgbClr val="0A2A43"/>
            </a:solidFill>
            <a:prstDash val="solid"/>
          </a:ln>
        </p:spPr>
        <p:txBody>
          <a:bodyPr/>
          <a:lstStyle/>
          <a:p>
            <a:endParaRPr lang="en-US"/>
          </a:p>
        </p:txBody>
      </p:sp>
      <p:sp>
        <p:nvSpPr>
          <p:cNvPr id="7" name="Text 5"/>
          <p:cNvSpPr/>
          <p:nvPr/>
        </p:nvSpPr>
        <p:spPr>
          <a:xfrm>
            <a:off x="548640" y="969264"/>
            <a:ext cx="932688"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METHOD</a:t>
            </a:r>
            <a:endParaRPr lang="en-US" sz="700" dirty="0"/>
          </a:p>
        </p:txBody>
      </p:sp>
      <p:sp>
        <p:nvSpPr>
          <p:cNvPr id="8" name="Shape 6"/>
          <p:cNvSpPr/>
          <p:nvPr/>
        </p:nvSpPr>
        <p:spPr>
          <a:xfrm>
            <a:off x="1591056" y="969264"/>
            <a:ext cx="2121408" cy="256032"/>
          </a:xfrm>
          <a:prstGeom prst="rect">
            <a:avLst/>
          </a:prstGeom>
          <a:solidFill>
            <a:srgbClr val="0A2A43"/>
          </a:solidFill>
          <a:ln w="12700">
            <a:solidFill>
              <a:srgbClr val="0A2A43"/>
            </a:solidFill>
            <a:prstDash val="solid"/>
          </a:ln>
        </p:spPr>
        <p:txBody>
          <a:bodyPr/>
          <a:lstStyle/>
          <a:p>
            <a:endParaRPr lang="en-US"/>
          </a:p>
        </p:txBody>
      </p:sp>
      <p:sp>
        <p:nvSpPr>
          <p:cNvPr id="9" name="Text 7"/>
          <p:cNvSpPr/>
          <p:nvPr/>
        </p:nvSpPr>
        <p:spPr>
          <a:xfrm>
            <a:off x="1682496" y="969264"/>
            <a:ext cx="1956816"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PATH</a:t>
            </a:r>
            <a:endParaRPr lang="en-US" sz="700" dirty="0"/>
          </a:p>
        </p:txBody>
      </p:sp>
      <p:sp>
        <p:nvSpPr>
          <p:cNvPr id="10" name="Shape 8"/>
          <p:cNvSpPr/>
          <p:nvPr/>
        </p:nvSpPr>
        <p:spPr>
          <a:xfrm>
            <a:off x="3749040" y="969264"/>
            <a:ext cx="2066544" cy="256032"/>
          </a:xfrm>
          <a:prstGeom prst="rect">
            <a:avLst/>
          </a:prstGeom>
          <a:solidFill>
            <a:srgbClr val="0A2A43"/>
          </a:solidFill>
          <a:ln w="12700">
            <a:solidFill>
              <a:srgbClr val="0A2A43"/>
            </a:solidFill>
            <a:prstDash val="solid"/>
          </a:ln>
        </p:spPr>
        <p:txBody>
          <a:bodyPr/>
          <a:lstStyle/>
          <a:p>
            <a:endParaRPr lang="en-US"/>
          </a:p>
        </p:txBody>
      </p:sp>
      <p:sp>
        <p:nvSpPr>
          <p:cNvPr id="11" name="Text 9"/>
          <p:cNvSpPr/>
          <p:nvPr/>
        </p:nvSpPr>
        <p:spPr>
          <a:xfrm>
            <a:off x="3840480" y="969264"/>
            <a:ext cx="190195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WHAT IT DOES</a:t>
            </a:r>
            <a:endParaRPr lang="en-US" sz="700" dirty="0"/>
          </a:p>
        </p:txBody>
      </p:sp>
      <p:sp>
        <p:nvSpPr>
          <p:cNvPr id="12" name="Shape 10"/>
          <p:cNvSpPr/>
          <p:nvPr/>
        </p:nvSpPr>
        <p:spPr>
          <a:xfrm>
            <a:off x="5852160" y="969264"/>
            <a:ext cx="694944" cy="256032"/>
          </a:xfrm>
          <a:prstGeom prst="rect">
            <a:avLst/>
          </a:prstGeom>
          <a:solidFill>
            <a:srgbClr val="0A2A43"/>
          </a:solidFill>
          <a:ln w="12700">
            <a:solidFill>
              <a:srgbClr val="0A2A43"/>
            </a:solidFill>
            <a:prstDash val="solid"/>
          </a:ln>
        </p:spPr>
        <p:txBody>
          <a:bodyPr/>
          <a:lstStyle/>
          <a:p>
            <a:endParaRPr lang="en-US"/>
          </a:p>
        </p:txBody>
      </p:sp>
      <p:sp>
        <p:nvSpPr>
          <p:cNvPr id="13" name="Text 11"/>
          <p:cNvSpPr/>
          <p:nvPr/>
        </p:nvSpPr>
        <p:spPr>
          <a:xfrm>
            <a:off x="5943600" y="969264"/>
            <a:ext cx="53035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OK</a:t>
            </a:r>
            <a:endParaRPr lang="en-US" sz="700" dirty="0"/>
          </a:p>
        </p:txBody>
      </p:sp>
      <p:sp>
        <p:nvSpPr>
          <p:cNvPr id="14" name="Shape 12"/>
          <p:cNvSpPr/>
          <p:nvPr/>
        </p:nvSpPr>
        <p:spPr>
          <a:xfrm>
            <a:off x="6583680" y="969264"/>
            <a:ext cx="2066544" cy="256032"/>
          </a:xfrm>
          <a:prstGeom prst="rect">
            <a:avLst/>
          </a:prstGeom>
          <a:solidFill>
            <a:srgbClr val="0A2A43"/>
          </a:solidFill>
          <a:ln w="12700">
            <a:solidFill>
              <a:srgbClr val="0A2A43"/>
            </a:solidFill>
            <a:prstDash val="solid"/>
          </a:ln>
        </p:spPr>
        <p:txBody>
          <a:bodyPr/>
          <a:lstStyle/>
          <a:p>
            <a:endParaRPr lang="en-US"/>
          </a:p>
        </p:txBody>
      </p:sp>
      <p:sp>
        <p:nvSpPr>
          <p:cNvPr id="15" name="Text 13"/>
          <p:cNvSpPr/>
          <p:nvPr/>
        </p:nvSpPr>
        <p:spPr>
          <a:xfrm>
            <a:off x="6675120" y="969264"/>
            <a:ext cx="190195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WHEN IT FAILS</a:t>
            </a:r>
            <a:endParaRPr lang="en-US" sz="700" dirty="0"/>
          </a:p>
        </p:txBody>
      </p:sp>
      <p:sp>
        <p:nvSpPr>
          <p:cNvPr id="16" name="Shape 14"/>
          <p:cNvSpPr/>
          <p:nvPr/>
        </p:nvSpPr>
        <p:spPr>
          <a:xfrm>
            <a:off x="457200" y="1261872"/>
            <a:ext cx="1097280" cy="265176"/>
          </a:xfrm>
          <a:prstGeom prst="rect">
            <a:avLst/>
          </a:prstGeom>
          <a:solidFill>
            <a:srgbClr val="EAF7FE"/>
          </a:solidFill>
          <a:ln w="6350">
            <a:solidFill>
              <a:srgbClr val="D6EDF9"/>
            </a:solidFill>
            <a:prstDash val="solid"/>
          </a:ln>
        </p:spPr>
        <p:txBody>
          <a:bodyPr/>
          <a:lstStyle/>
          <a:p>
            <a:endParaRPr lang="en-US"/>
          </a:p>
        </p:txBody>
      </p:sp>
      <p:sp>
        <p:nvSpPr>
          <p:cNvPr id="17" name="Text 15"/>
          <p:cNvSpPr/>
          <p:nvPr/>
        </p:nvSpPr>
        <p:spPr>
          <a:xfrm>
            <a:off x="548640" y="1261872"/>
            <a:ext cx="932688" cy="265176"/>
          </a:xfrm>
          <a:prstGeom prst="rect">
            <a:avLst/>
          </a:prstGeom>
          <a:noFill/>
          <a:ln/>
        </p:spPr>
        <p:txBody>
          <a:bodyPr wrap="square" lIns="0" tIns="0" rIns="0" bIns="0" rtlCol="0" anchor="ctr"/>
          <a:lstStyle/>
          <a:p>
            <a:pPr marL="0" indent="0">
              <a:buNone/>
            </a:pPr>
            <a:r>
              <a:rPr lang="en-US" sz="750" b="1" dirty="0">
                <a:solidFill>
                  <a:srgbClr val="0077B6"/>
                </a:solidFill>
                <a:latin typeface="Courier New" pitchFamily="34" charset="0"/>
                <a:ea typeface="Courier New" pitchFamily="34" charset="-122"/>
                <a:cs typeface="Courier New" pitchFamily="34" charset="-120"/>
              </a:rPr>
              <a:t>GET</a:t>
            </a:r>
            <a:endParaRPr lang="en-US" sz="750" dirty="0"/>
          </a:p>
        </p:txBody>
      </p:sp>
      <p:sp>
        <p:nvSpPr>
          <p:cNvPr id="18" name="Shape 16"/>
          <p:cNvSpPr/>
          <p:nvPr/>
        </p:nvSpPr>
        <p:spPr>
          <a:xfrm>
            <a:off x="1591056" y="1261872"/>
            <a:ext cx="2121408" cy="265176"/>
          </a:xfrm>
          <a:prstGeom prst="rect">
            <a:avLst/>
          </a:prstGeom>
          <a:solidFill>
            <a:srgbClr val="EAF7FE"/>
          </a:solidFill>
          <a:ln w="6350">
            <a:solidFill>
              <a:srgbClr val="D6EDF9"/>
            </a:solidFill>
            <a:prstDash val="solid"/>
          </a:ln>
        </p:spPr>
        <p:txBody>
          <a:bodyPr/>
          <a:lstStyle/>
          <a:p>
            <a:endParaRPr lang="en-US"/>
          </a:p>
        </p:txBody>
      </p:sp>
      <p:sp>
        <p:nvSpPr>
          <p:cNvPr id="19" name="Text 17"/>
          <p:cNvSpPr/>
          <p:nvPr/>
        </p:nvSpPr>
        <p:spPr>
          <a:xfrm>
            <a:off x="1682496" y="1261872"/>
            <a:ext cx="1956816" cy="265176"/>
          </a:xfrm>
          <a:prstGeom prst="rect">
            <a:avLst/>
          </a:prstGeom>
          <a:noFill/>
          <a:ln/>
        </p:spPr>
        <p:txBody>
          <a:bodyPr wrap="square" lIns="0" tIns="0" rIns="0" bIns="0" rtlCol="0" anchor="ctr"/>
          <a:lstStyle/>
          <a:p>
            <a:pPr marL="0" indent="0">
              <a:buNone/>
            </a:pPr>
            <a:r>
              <a:rPr lang="en-US" sz="750" b="1" dirty="0">
                <a:solidFill>
                  <a:srgbClr val="0077B6"/>
                </a:solidFill>
                <a:latin typeface="Courier New" pitchFamily="34" charset="0"/>
                <a:ea typeface="Courier New" pitchFamily="34" charset="-122"/>
                <a:cs typeface="Courier New" pitchFamily="34" charset="-120"/>
              </a:rPr>
              <a:t>/api/records</a:t>
            </a:r>
            <a:endParaRPr lang="en-US" sz="750" dirty="0"/>
          </a:p>
        </p:txBody>
      </p:sp>
      <p:sp>
        <p:nvSpPr>
          <p:cNvPr id="20" name="Shape 18"/>
          <p:cNvSpPr/>
          <p:nvPr/>
        </p:nvSpPr>
        <p:spPr>
          <a:xfrm>
            <a:off x="3749040" y="1261872"/>
            <a:ext cx="2066544" cy="265176"/>
          </a:xfrm>
          <a:prstGeom prst="rect">
            <a:avLst/>
          </a:prstGeom>
          <a:solidFill>
            <a:srgbClr val="EAF7FE"/>
          </a:solidFill>
          <a:ln w="6350">
            <a:solidFill>
              <a:srgbClr val="D6EDF9"/>
            </a:solidFill>
            <a:prstDash val="solid"/>
          </a:ln>
        </p:spPr>
        <p:txBody>
          <a:bodyPr/>
          <a:lstStyle/>
          <a:p>
            <a:endParaRPr lang="en-US"/>
          </a:p>
        </p:txBody>
      </p:sp>
      <p:sp>
        <p:nvSpPr>
          <p:cNvPr id="21" name="Text 19"/>
          <p:cNvSpPr/>
          <p:nvPr/>
        </p:nvSpPr>
        <p:spPr>
          <a:xfrm>
            <a:off x="3840480" y="1261872"/>
            <a:ext cx="19019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list them all</a:t>
            </a:r>
            <a:endParaRPr lang="en-US" sz="850" dirty="0"/>
          </a:p>
        </p:txBody>
      </p:sp>
      <p:sp>
        <p:nvSpPr>
          <p:cNvPr id="22" name="Shape 20"/>
          <p:cNvSpPr/>
          <p:nvPr/>
        </p:nvSpPr>
        <p:spPr>
          <a:xfrm>
            <a:off x="5852160" y="1261872"/>
            <a:ext cx="694944" cy="265176"/>
          </a:xfrm>
          <a:prstGeom prst="rect">
            <a:avLst/>
          </a:prstGeom>
          <a:solidFill>
            <a:srgbClr val="EAF7FE"/>
          </a:solidFill>
          <a:ln w="6350">
            <a:solidFill>
              <a:srgbClr val="D6EDF9"/>
            </a:solidFill>
            <a:prstDash val="solid"/>
          </a:ln>
        </p:spPr>
        <p:txBody>
          <a:bodyPr/>
          <a:lstStyle/>
          <a:p>
            <a:endParaRPr lang="en-US"/>
          </a:p>
        </p:txBody>
      </p:sp>
      <p:sp>
        <p:nvSpPr>
          <p:cNvPr id="23" name="Text 21"/>
          <p:cNvSpPr/>
          <p:nvPr/>
        </p:nvSpPr>
        <p:spPr>
          <a:xfrm>
            <a:off x="5943600" y="1261872"/>
            <a:ext cx="5303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200</a:t>
            </a:r>
            <a:endParaRPr lang="en-US" sz="850" dirty="0"/>
          </a:p>
        </p:txBody>
      </p:sp>
      <p:sp>
        <p:nvSpPr>
          <p:cNvPr id="24" name="Shape 22"/>
          <p:cNvSpPr/>
          <p:nvPr/>
        </p:nvSpPr>
        <p:spPr>
          <a:xfrm>
            <a:off x="6583680" y="1261872"/>
            <a:ext cx="2066544" cy="265176"/>
          </a:xfrm>
          <a:prstGeom prst="rect">
            <a:avLst/>
          </a:prstGeom>
          <a:solidFill>
            <a:srgbClr val="EAF7FE"/>
          </a:solidFill>
          <a:ln w="6350">
            <a:solidFill>
              <a:srgbClr val="D6EDF9"/>
            </a:solidFill>
            <a:prstDash val="solid"/>
          </a:ln>
        </p:spPr>
        <p:txBody>
          <a:bodyPr/>
          <a:lstStyle/>
          <a:p>
            <a:endParaRPr lang="en-US"/>
          </a:p>
        </p:txBody>
      </p:sp>
      <p:sp>
        <p:nvSpPr>
          <p:cNvPr id="25" name="Text 23"/>
          <p:cNvSpPr/>
          <p:nvPr/>
        </p:nvSpPr>
        <p:spPr>
          <a:xfrm>
            <a:off x="6675120" y="1261872"/>
            <a:ext cx="19019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a:t>
            </a:r>
            <a:endParaRPr lang="en-US" sz="850" dirty="0"/>
          </a:p>
        </p:txBody>
      </p:sp>
      <p:sp>
        <p:nvSpPr>
          <p:cNvPr id="26" name="Shape 24"/>
          <p:cNvSpPr/>
          <p:nvPr/>
        </p:nvSpPr>
        <p:spPr>
          <a:xfrm>
            <a:off x="457200" y="1545336"/>
            <a:ext cx="1097280" cy="265176"/>
          </a:xfrm>
          <a:prstGeom prst="rect">
            <a:avLst/>
          </a:prstGeom>
          <a:solidFill>
            <a:srgbClr val="FFFFFF"/>
          </a:solidFill>
          <a:ln w="6350">
            <a:solidFill>
              <a:srgbClr val="D6EDF9"/>
            </a:solidFill>
            <a:prstDash val="solid"/>
          </a:ln>
        </p:spPr>
        <p:txBody>
          <a:bodyPr/>
          <a:lstStyle/>
          <a:p>
            <a:endParaRPr lang="en-US"/>
          </a:p>
        </p:txBody>
      </p:sp>
      <p:sp>
        <p:nvSpPr>
          <p:cNvPr id="27" name="Text 25"/>
          <p:cNvSpPr/>
          <p:nvPr/>
        </p:nvSpPr>
        <p:spPr>
          <a:xfrm>
            <a:off x="548640" y="1545336"/>
            <a:ext cx="932688" cy="265176"/>
          </a:xfrm>
          <a:prstGeom prst="rect">
            <a:avLst/>
          </a:prstGeom>
          <a:noFill/>
          <a:ln/>
        </p:spPr>
        <p:txBody>
          <a:bodyPr wrap="square" lIns="0" tIns="0" rIns="0" bIns="0" rtlCol="0" anchor="ctr"/>
          <a:lstStyle/>
          <a:p>
            <a:pPr marL="0" indent="0">
              <a:buNone/>
            </a:pPr>
            <a:r>
              <a:rPr lang="en-US" sz="750" b="1" dirty="0">
                <a:solidFill>
                  <a:srgbClr val="0077B6"/>
                </a:solidFill>
                <a:latin typeface="Courier New" pitchFamily="34" charset="0"/>
                <a:ea typeface="Courier New" pitchFamily="34" charset="-122"/>
                <a:cs typeface="Courier New" pitchFamily="34" charset="-120"/>
              </a:rPr>
              <a:t>GET</a:t>
            </a:r>
            <a:endParaRPr lang="en-US" sz="750" dirty="0"/>
          </a:p>
        </p:txBody>
      </p:sp>
      <p:sp>
        <p:nvSpPr>
          <p:cNvPr id="28" name="Shape 26"/>
          <p:cNvSpPr/>
          <p:nvPr/>
        </p:nvSpPr>
        <p:spPr>
          <a:xfrm>
            <a:off x="1591056" y="1545336"/>
            <a:ext cx="2121408" cy="265176"/>
          </a:xfrm>
          <a:prstGeom prst="rect">
            <a:avLst/>
          </a:prstGeom>
          <a:solidFill>
            <a:srgbClr val="FFFFFF"/>
          </a:solidFill>
          <a:ln w="6350">
            <a:solidFill>
              <a:srgbClr val="D6EDF9"/>
            </a:solidFill>
            <a:prstDash val="solid"/>
          </a:ln>
        </p:spPr>
        <p:txBody>
          <a:bodyPr/>
          <a:lstStyle/>
          <a:p>
            <a:endParaRPr lang="en-US"/>
          </a:p>
        </p:txBody>
      </p:sp>
      <p:sp>
        <p:nvSpPr>
          <p:cNvPr id="29" name="Text 27"/>
          <p:cNvSpPr/>
          <p:nvPr/>
        </p:nvSpPr>
        <p:spPr>
          <a:xfrm>
            <a:off x="1682496" y="1545336"/>
            <a:ext cx="1956816" cy="265176"/>
          </a:xfrm>
          <a:prstGeom prst="rect">
            <a:avLst/>
          </a:prstGeom>
          <a:noFill/>
          <a:ln/>
        </p:spPr>
        <p:txBody>
          <a:bodyPr wrap="square" lIns="0" tIns="0" rIns="0" bIns="0" rtlCol="0" anchor="ctr"/>
          <a:lstStyle/>
          <a:p>
            <a:pPr marL="0" indent="0">
              <a:buNone/>
            </a:pPr>
            <a:r>
              <a:rPr lang="en-US" sz="750" b="1" dirty="0">
                <a:solidFill>
                  <a:srgbClr val="0077B6"/>
                </a:solidFill>
                <a:latin typeface="Courier New" pitchFamily="34" charset="0"/>
                <a:ea typeface="Courier New" pitchFamily="34" charset="-122"/>
                <a:cs typeface="Courier New" pitchFamily="34" charset="-120"/>
              </a:rPr>
              <a:t>/api/records/:id</a:t>
            </a:r>
            <a:endParaRPr lang="en-US" sz="750" dirty="0"/>
          </a:p>
        </p:txBody>
      </p:sp>
      <p:sp>
        <p:nvSpPr>
          <p:cNvPr id="30" name="Shape 28"/>
          <p:cNvSpPr/>
          <p:nvPr/>
        </p:nvSpPr>
        <p:spPr>
          <a:xfrm>
            <a:off x="3749040" y="1545336"/>
            <a:ext cx="2066544" cy="265176"/>
          </a:xfrm>
          <a:prstGeom prst="rect">
            <a:avLst/>
          </a:prstGeom>
          <a:solidFill>
            <a:srgbClr val="FFFFFF"/>
          </a:solidFill>
          <a:ln w="6350">
            <a:solidFill>
              <a:srgbClr val="D6EDF9"/>
            </a:solidFill>
            <a:prstDash val="solid"/>
          </a:ln>
        </p:spPr>
        <p:txBody>
          <a:bodyPr/>
          <a:lstStyle/>
          <a:p>
            <a:endParaRPr lang="en-US"/>
          </a:p>
        </p:txBody>
      </p:sp>
      <p:sp>
        <p:nvSpPr>
          <p:cNvPr id="31" name="Text 29"/>
          <p:cNvSpPr/>
          <p:nvPr/>
        </p:nvSpPr>
        <p:spPr>
          <a:xfrm>
            <a:off x="3840480" y="1545336"/>
            <a:ext cx="19019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fetch just one</a:t>
            </a:r>
            <a:endParaRPr lang="en-US" sz="850" dirty="0"/>
          </a:p>
        </p:txBody>
      </p:sp>
      <p:sp>
        <p:nvSpPr>
          <p:cNvPr id="32" name="Shape 30"/>
          <p:cNvSpPr/>
          <p:nvPr/>
        </p:nvSpPr>
        <p:spPr>
          <a:xfrm>
            <a:off x="5852160" y="1545336"/>
            <a:ext cx="694944" cy="265176"/>
          </a:xfrm>
          <a:prstGeom prst="rect">
            <a:avLst/>
          </a:prstGeom>
          <a:solidFill>
            <a:srgbClr val="FFFFFF"/>
          </a:solidFill>
          <a:ln w="6350">
            <a:solidFill>
              <a:srgbClr val="D6EDF9"/>
            </a:solidFill>
            <a:prstDash val="solid"/>
          </a:ln>
        </p:spPr>
        <p:txBody>
          <a:bodyPr/>
          <a:lstStyle/>
          <a:p>
            <a:endParaRPr lang="en-US"/>
          </a:p>
        </p:txBody>
      </p:sp>
      <p:sp>
        <p:nvSpPr>
          <p:cNvPr id="33" name="Text 31"/>
          <p:cNvSpPr/>
          <p:nvPr/>
        </p:nvSpPr>
        <p:spPr>
          <a:xfrm>
            <a:off x="5943600" y="1545336"/>
            <a:ext cx="5303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200</a:t>
            </a:r>
            <a:endParaRPr lang="en-US" sz="850" dirty="0"/>
          </a:p>
        </p:txBody>
      </p:sp>
      <p:sp>
        <p:nvSpPr>
          <p:cNvPr id="34" name="Shape 32"/>
          <p:cNvSpPr/>
          <p:nvPr/>
        </p:nvSpPr>
        <p:spPr>
          <a:xfrm>
            <a:off x="6583680" y="1545336"/>
            <a:ext cx="2066544" cy="265176"/>
          </a:xfrm>
          <a:prstGeom prst="rect">
            <a:avLst/>
          </a:prstGeom>
          <a:solidFill>
            <a:srgbClr val="FFFFFF"/>
          </a:solidFill>
          <a:ln w="6350">
            <a:solidFill>
              <a:srgbClr val="D6EDF9"/>
            </a:solidFill>
            <a:prstDash val="solid"/>
          </a:ln>
        </p:spPr>
        <p:txBody>
          <a:bodyPr/>
          <a:lstStyle/>
          <a:p>
            <a:endParaRPr lang="en-US"/>
          </a:p>
        </p:txBody>
      </p:sp>
      <p:sp>
        <p:nvSpPr>
          <p:cNvPr id="35" name="Text 33"/>
          <p:cNvSpPr/>
          <p:nvPr/>
        </p:nvSpPr>
        <p:spPr>
          <a:xfrm>
            <a:off x="6675120" y="1545336"/>
            <a:ext cx="19019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404 — no such id</a:t>
            </a:r>
            <a:endParaRPr lang="en-US" sz="850" dirty="0"/>
          </a:p>
        </p:txBody>
      </p:sp>
      <p:sp>
        <p:nvSpPr>
          <p:cNvPr id="36" name="Shape 34"/>
          <p:cNvSpPr/>
          <p:nvPr/>
        </p:nvSpPr>
        <p:spPr>
          <a:xfrm>
            <a:off x="457200" y="1828800"/>
            <a:ext cx="1097280" cy="265176"/>
          </a:xfrm>
          <a:prstGeom prst="rect">
            <a:avLst/>
          </a:prstGeom>
          <a:solidFill>
            <a:srgbClr val="EAF7FE"/>
          </a:solidFill>
          <a:ln w="6350">
            <a:solidFill>
              <a:srgbClr val="D6EDF9"/>
            </a:solidFill>
            <a:prstDash val="solid"/>
          </a:ln>
        </p:spPr>
        <p:txBody>
          <a:bodyPr/>
          <a:lstStyle/>
          <a:p>
            <a:endParaRPr lang="en-US"/>
          </a:p>
        </p:txBody>
      </p:sp>
      <p:sp>
        <p:nvSpPr>
          <p:cNvPr id="37" name="Text 35"/>
          <p:cNvSpPr/>
          <p:nvPr/>
        </p:nvSpPr>
        <p:spPr>
          <a:xfrm>
            <a:off x="548640" y="1828800"/>
            <a:ext cx="932688" cy="265176"/>
          </a:xfrm>
          <a:prstGeom prst="rect">
            <a:avLst/>
          </a:prstGeom>
          <a:noFill/>
          <a:ln/>
        </p:spPr>
        <p:txBody>
          <a:bodyPr wrap="square" lIns="0" tIns="0" rIns="0" bIns="0" rtlCol="0" anchor="ctr"/>
          <a:lstStyle/>
          <a:p>
            <a:pPr marL="0" indent="0">
              <a:buNone/>
            </a:pPr>
            <a:r>
              <a:rPr lang="en-US" sz="750" b="1" dirty="0">
                <a:solidFill>
                  <a:srgbClr val="0077B6"/>
                </a:solidFill>
                <a:latin typeface="Courier New" pitchFamily="34" charset="0"/>
                <a:ea typeface="Courier New" pitchFamily="34" charset="-122"/>
                <a:cs typeface="Courier New" pitchFamily="34" charset="-120"/>
              </a:rPr>
              <a:t>POST</a:t>
            </a:r>
            <a:endParaRPr lang="en-US" sz="750" dirty="0"/>
          </a:p>
        </p:txBody>
      </p:sp>
      <p:sp>
        <p:nvSpPr>
          <p:cNvPr id="38" name="Shape 36"/>
          <p:cNvSpPr/>
          <p:nvPr/>
        </p:nvSpPr>
        <p:spPr>
          <a:xfrm>
            <a:off x="1591056" y="1828800"/>
            <a:ext cx="2121408" cy="265176"/>
          </a:xfrm>
          <a:prstGeom prst="rect">
            <a:avLst/>
          </a:prstGeom>
          <a:solidFill>
            <a:srgbClr val="EAF7FE"/>
          </a:solidFill>
          <a:ln w="6350">
            <a:solidFill>
              <a:srgbClr val="D6EDF9"/>
            </a:solidFill>
            <a:prstDash val="solid"/>
          </a:ln>
        </p:spPr>
        <p:txBody>
          <a:bodyPr/>
          <a:lstStyle/>
          <a:p>
            <a:endParaRPr lang="en-US"/>
          </a:p>
        </p:txBody>
      </p:sp>
      <p:sp>
        <p:nvSpPr>
          <p:cNvPr id="39" name="Text 37"/>
          <p:cNvSpPr/>
          <p:nvPr/>
        </p:nvSpPr>
        <p:spPr>
          <a:xfrm>
            <a:off x="1682496" y="1828800"/>
            <a:ext cx="1956816" cy="265176"/>
          </a:xfrm>
          <a:prstGeom prst="rect">
            <a:avLst/>
          </a:prstGeom>
          <a:noFill/>
          <a:ln/>
        </p:spPr>
        <p:txBody>
          <a:bodyPr wrap="square" lIns="0" tIns="0" rIns="0" bIns="0" rtlCol="0" anchor="ctr"/>
          <a:lstStyle/>
          <a:p>
            <a:pPr marL="0" indent="0">
              <a:buNone/>
            </a:pPr>
            <a:r>
              <a:rPr lang="en-US" sz="750" b="1" dirty="0">
                <a:solidFill>
                  <a:srgbClr val="0077B6"/>
                </a:solidFill>
                <a:latin typeface="Courier New" pitchFamily="34" charset="0"/>
                <a:ea typeface="Courier New" pitchFamily="34" charset="-122"/>
                <a:cs typeface="Courier New" pitchFamily="34" charset="-120"/>
              </a:rPr>
              <a:t>/api/records</a:t>
            </a:r>
            <a:endParaRPr lang="en-US" sz="750" dirty="0"/>
          </a:p>
        </p:txBody>
      </p:sp>
      <p:sp>
        <p:nvSpPr>
          <p:cNvPr id="40" name="Shape 38"/>
          <p:cNvSpPr/>
          <p:nvPr/>
        </p:nvSpPr>
        <p:spPr>
          <a:xfrm>
            <a:off x="3749040" y="1828800"/>
            <a:ext cx="2066544" cy="265176"/>
          </a:xfrm>
          <a:prstGeom prst="rect">
            <a:avLst/>
          </a:prstGeom>
          <a:solidFill>
            <a:srgbClr val="EAF7FE"/>
          </a:solidFill>
          <a:ln w="6350">
            <a:solidFill>
              <a:srgbClr val="D6EDF9"/>
            </a:solidFill>
            <a:prstDash val="solid"/>
          </a:ln>
        </p:spPr>
        <p:txBody>
          <a:bodyPr/>
          <a:lstStyle/>
          <a:p>
            <a:endParaRPr lang="en-US"/>
          </a:p>
        </p:txBody>
      </p:sp>
      <p:sp>
        <p:nvSpPr>
          <p:cNvPr id="41" name="Text 39"/>
          <p:cNvSpPr/>
          <p:nvPr/>
        </p:nvSpPr>
        <p:spPr>
          <a:xfrm>
            <a:off x="3840480" y="1828800"/>
            <a:ext cx="19019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create a new one</a:t>
            </a:r>
            <a:endParaRPr lang="en-US" sz="850" dirty="0"/>
          </a:p>
        </p:txBody>
      </p:sp>
      <p:sp>
        <p:nvSpPr>
          <p:cNvPr id="42" name="Shape 40"/>
          <p:cNvSpPr/>
          <p:nvPr/>
        </p:nvSpPr>
        <p:spPr>
          <a:xfrm>
            <a:off x="5852160" y="1828800"/>
            <a:ext cx="694944" cy="265176"/>
          </a:xfrm>
          <a:prstGeom prst="rect">
            <a:avLst/>
          </a:prstGeom>
          <a:solidFill>
            <a:srgbClr val="EAF7FE"/>
          </a:solidFill>
          <a:ln w="6350">
            <a:solidFill>
              <a:srgbClr val="D6EDF9"/>
            </a:solidFill>
            <a:prstDash val="solid"/>
          </a:ln>
        </p:spPr>
        <p:txBody>
          <a:bodyPr/>
          <a:lstStyle/>
          <a:p>
            <a:endParaRPr lang="en-US"/>
          </a:p>
        </p:txBody>
      </p:sp>
      <p:sp>
        <p:nvSpPr>
          <p:cNvPr id="43" name="Text 41"/>
          <p:cNvSpPr/>
          <p:nvPr/>
        </p:nvSpPr>
        <p:spPr>
          <a:xfrm>
            <a:off x="5943600" y="1828800"/>
            <a:ext cx="5303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201</a:t>
            </a:r>
            <a:endParaRPr lang="en-US" sz="850" dirty="0"/>
          </a:p>
        </p:txBody>
      </p:sp>
      <p:sp>
        <p:nvSpPr>
          <p:cNvPr id="44" name="Shape 42"/>
          <p:cNvSpPr/>
          <p:nvPr/>
        </p:nvSpPr>
        <p:spPr>
          <a:xfrm>
            <a:off x="6583680" y="1828800"/>
            <a:ext cx="2066544" cy="265176"/>
          </a:xfrm>
          <a:prstGeom prst="rect">
            <a:avLst/>
          </a:prstGeom>
          <a:solidFill>
            <a:srgbClr val="EAF7FE"/>
          </a:solidFill>
          <a:ln w="6350">
            <a:solidFill>
              <a:srgbClr val="D6EDF9"/>
            </a:solidFill>
            <a:prstDash val="solid"/>
          </a:ln>
        </p:spPr>
        <p:txBody>
          <a:bodyPr/>
          <a:lstStyle/>
          <a:p>
            <a:endParaRPr lang="en-US"/>
          </a:p>
        </p:txBody>
      </p:sp>
      <p:sp>
        <p:nvSpPr>
          <p:cNvPr id="45" name="Text 43"/>
          <p:cNvSpPr/>
          <p:nvPr/>
        </p:nvSpPr>
        <p:spPr>
          <a:xfrm>
            <a:off x="6675120" y="1828800"/>
            <a:ext cx="19019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400 — bad or missing fields</a:t>
            </a:r>
            <a:endParaRPr lang="en-US" sz="850" dirty="0"/>
          </a:p>
        </p:txBody>
      </p:sp>
      <p:sp>
        <p:nvSpPr>
          <p:cNvPr id="46" name="Shape 44"/>
          <p:cNvSpPr/>
          <p:nvPr/>
        </p:nvSpPr>
        <p:spPr>
          <a:xfrm>
            <a:off x="457200" y="2112264"/>
            <a:ext cx="1097280" cy="265176"/>
          </a:xfrm>
          <a:prstGeom prst="rect">
            <a:avLst/>
          </a:prstGeom>
          <a:solidFill>
            <a:srgbClr val="FFFFFF"/>
          </a:solidFill>
          <a:ln w="6350">
            <a:solidFill>
              <a:srgbClr val="D6EDF9"/>
            </a:solidFill>
            <a:prstDash val="solid"/>
          </a:ln>
        </p:spPr>
        <p:txBody>
          <a:bodyPr/>
          <a:lstStyle/>
          <a:p>
            <a:endParaRPr lang="en-US"/>
          </a:p>
        </p:txBody>
      </p:sp>
      <p:sp>
        <p:nvSpPr>
          <p:cNvPr id="47" name="Text 45"/>
          <p:cNvSpPr/>
          <p:nvPr/>
        </p:nvSpPr>
        <p:spPr>
          <a:xfrm>
            <a:off x="548640" y="2112264"/>
            <a:ext cx="932688" cy="265176"/>
          </a:xfrm>
          <a:prstGeom prst="rect">
            <a:avLst/>
          </a:prstGeom>
          <a:noFill/>
          <a:ln/>
        </p:spPr>
        <p:txBody>
          <a:bodyPr wrap="square" lIns="0" tIns="0" rIns="0" bIns="0" rtlCol="0" anchor="ctr"/>
          <a:lstStyle/>
          <a:p>
            <a:pPr marL="0" indent="0">
              <a:buNone/>
            </a:pPr>
            <a:r>
              <a:rPr lang="en-US" sz="750" b="1" dirty="0">
                <a:solidFill>
                  <a:srgbClr val="0077B6"/>
                </a:solidFill>
                <a:latin typeface="Courier New" pitchFamily="34" charset="0"/>
                <a:ea typeface="Courier New" pitchFamily="34" charset="-122"/>
                <a:cs typeface="Courier New" pitchFamily="34" charset="-120"/>
              </a:rPr>
              <a:t>PUT</a:t>
            </a:r>
            <a:endParaRPr lang="en-US" sz="750" dirty="0"/>
          </a:p>
        </p:txBody>
      </p:sp>
      <p:sp>
        <p:nvSpPr>
          <p:cNvPr id="48" name="Shape 46"/>
          <p:cNvSpPr/>
          <p:nvPr/>
        </p:nvSpPr>
        <p:spPr>
          <a:xfrm>
            <a:off x="1591056" y="2112264"/>
            <a:ext cx="2121408" cy="265176"/>
          </a:xfrm>
          <a:prstGeom prst="rect">
            <a:avLst/>
          </a:prstGeom>
          <a:solidFill>
            <a:srgbClr val="FFFFFF"/>
          </a:solidFill>
          <a:ln w="6350">
            <a:solidFill>
              <a:srgbClr val="D6EDF9"/>
            </a:solidFill>
            <a:prstDash val="solid"/>
          </a:ln>
        </p:spPr>
        <p:txBody>
          <a:bodyPr/>
          <a:lstStyle/>
          <a:p>
            <a:endParaRPr lang="en-US"/>
          </a:p>
        </p:txBody>
      </p:sp>
      <p:sp>
        <p:nvSpPr>
          <p:cNvPr id="49" name="Text 47"/>
          <p:cNvSpPr/>
          <p:nvPr/>
        </p:nvSpPr>
        <p:spPr>
          <a:xfrm>
            <a:off x="1682496" y="2112264"/>
            <a:ext cx="1956816" cy="265176"/>
          </a:xfrm>
          <a:prstGeom prst="rect">
            <a:avLst/>
          </a:prstGeom>
          <a:noFill/>
          <a:ln/>
        </p:spPr>
        <p:txBody>
          <a:bodyPr wrap="square" lIns="0" tIns="0" rIns="0" bIns="0" rtlCol="0" anchor="ctr"/>
          <a:lstStyle/>
          <a:p>
            <a:pPr marL="0" indent="0">
              <a:buNone/>
            </a:pPr>
            <a:r>
              <a:rPr lang="en-US" sz="750" b="1" dirty="0">
                <a:solidFill>
                  <a:srgbClr val="0077B6"/>
                </a:solidFill>
                <a:latin typeface="Courier New" pitchFamily="34" charset="0"/>
                <a:ea typeface="Courier New" pitchFamily="34" charset="-122"/>
                <a:cs typeface="Courier New" pitchFamily="34" charset="-120"/>
              </a:rPr>
              <a:t>/api/records/:id</a:t>
            </a:r>
            <a:endParaRPr lang="en-US" sz="750" dirty="0"/>
          </a:p>
        </p:txBody>
      </p:sp>
      <p:sp>
        <p:nvSpPr>
          <p:cNvPr id="50" name="Shape 48"/>
          <p:cNvSpPr/>
          <p:nvPr/>
        </p:nvSpPr>
        <p:spPr>
          <a:xfrm>
            <a:off x="3749040" y="2112264"/>
            <a:ext cx="2066544" cy="265176"/>
          </a:xfrm>
          <a:prstGeom prst="rect">
            <a:avLst/>
          </a:prstGeom>
          <a:solidFill>
            <a:srgbClr val="FFFFFF"/>
          </a:solidFill>
          <a:ln w="6350">
            <a:solidFill>
              <a:srgbClr val="D6EDF9"/>
            </a:solidFill>
            <a:prstDash val="solid"/>
          </a:ln>
        </p:spPr>
        <p:txBody>
          <a:bodyPr/>
          <a:lstStyle/>
          <a:p>
            <a:endParaRPr lang="en-US"/>
          </a:p>
        </p:txBody>
      </p:sp>
      <p:sp>
        <p:nvSpPr>
          <p:cNvPr id="51" name="Text 49"/>
          <p:cNvSpPr/>
          <p:nvPr/>
        </p:nvSpPr>
        <p:spPr>
          <a:xfrm>
            <a:off x="3840480" y="2112264"/>
            <a:ext cx="19019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replace one</a:t>
            </a:r>
            <a:endParaRPr lang="en-US" sz="850" dirty="0"/>
          </a:p>
        </p:txBody>
      </p:sp>
      <p:sp>
        <p:nvSpPr>
          <p:cNvPr id="52" name="Shape 50"/>
          <p:cNvSpPr/>
          <p:nvPr/>
        </p:nvSpPr>
        <p:spPr>
          <a:xfrm>
            <a:off x="5852160" y="2112264"/>
            <a:ext cx="694944" cy="265176"/>
          </a:xfrm>
          <a:prstGeom prst="rect">
            <a:avLst/>
          </a:prstGeom>
          <a:solidFill>
            <a:srgbClr val="FFFFFF"/>
          </a:solidFill>
          <a:ln w="6350">
            <a:solidFill>
              <a:srgbClr val="D6EDF9"/>
            </a:solidFill>
            <a:prstDash val="solid"/>
          </a:ln>
        </p:spPr>
        <p:txBody>
          <a:bodyPr/>
          <a:lstStyle/>
          <a:p>
            <a:endParaRPr lang="en-US"/>
          </a:p>
        </p:txBody>
      </p:sp>
      <p:sp>
        <p:nvSpPr>
          <p:cNvPr id="53" name="Text 51"/>
          <p:cNvSpPr/>
          <p:nvPr/>
        </p:nvSpPr>
        <p:spPr>
          <a:xfrm>
            <a:off x="5943600" y="2112264"/>
            <a:ext cx="5303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200</a:t>
            </a:r>
            <a:endParaRPr lang="en-US" sz="850" dirty="0"/>
          </a:p>
        </p:txBody>
      </p:sp>
      <p:sp>
        <p:nvSpPr>
          <p:cNvPr id="54" name="Shape 52"/>
          <p:cNvSpPr/>
          <p:nvPr/>
        </p:nvSpPr>
        <p:spPr>
          <a:xfrm>
            <a:off x="6583680" y="2112264"/>
            <a:ext cx="2066544" cy="265176"/>
          </a:xfrm>
          <a:prstGeom prst="rect">
            <a:avLst/>
          </a:prstGeom>
          <a:solidFill>
            <a:srgbClr val="FFFFFF"/>
          </a:solidFill>
          <a:ln w="6350">
            <a:solidFill>
              <a:srgbClr val="D6EDF9"/>
            </a:solidFill>
            <a:prstDash val="solid"/>
          </a:ln>
        </p:spPr>
        <p:txBody>
          <a:bodyPr/>
          <a:lstStyle/>
          <a:p>
            <a:endParaRPr lang="en-US"/>
          </a:p>
        </p:txBody>
      </p:sp>
      <p:sp>
        <p:nvSpPr>
          <p:cNvPr id="55" name="Text 53"/>
          <p:cNvSpPr/>
          <p:nvPr/>
        </p:nvSpPr>
        <p:spPr>
          <a:xfrm>
            <a:off x="6675120" y="2112264"/>
            <a:ext cx="19019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404, or 400 if invalid</a:t>
            </a:r>
            <a:endParaRPr lang="en-US" sz="850" dirty="0"/>
          </a:p>
        </p:txBody>
      </p:sp>
      <p:sp>
        <p:nvSpPr>
          <p:cNvPr id="56" name="Shape 54"/>
          <p:cNvSpPr/>
          <p:nvPr/>
        </p:nvSpPr>
        <p:spPr>
          <a:xfrm>
            <a:off x="457200" y="2395728"/>
            <a:ext cx="1097280" cy="265176"/>
          </a:xfrm>
          <a:prstGeom prst="rect">
            <a:avLst/>
          </a:prstGeom>
          <a:solidFill>
            <a:srgbClr val="EAF7FE"/>
          </a:solidFill>
          <a:ln w="6350">
            <a:solidFill>
              <a:srgbClr val="D6EDF9"/>
            </a:solidFill>
            <a:prstDash val="solid"/>
          </a:ln>
        </p:spPr>
        <p:txBody>
          <a:bodyPr/>
          <a:lstStyle/>
          <a:p>
            <a:endParaRPr lang="en-US"/>
          </a:p>
        </p:txBody>
      </p:sp>
      <p:sp>
        <p:nvSpPr>
          <p:cNvPr id="57" name="Text 55"/>
          <p:cNvSpPr/>
          <p:nvPr/>
        </p:nvSpPr>
        <p:spPr>
          <a:xfrm>
            <a:off x="548640" y="2395728"/>
            <a:ext cx="932688" cy="265176"/>
          </a:xfrm>
          <a:prstGeom prst="rect">
            <a:avLst/>
          </a:prstGeom>
          <a:noFill/>
          <a:ln/>
        </p:spPr>
        <p:txBody>
          <a:bodyPr wrap="square" lIns="0" tIns="0" rIns="0" bIns="0" rtlCol="0" anchor="ctr"/>
          <a:lstStyle/>
          <a:p>
            <a:pPr marL="0" indent="0">
              <a:buNone/>
            </a:pPr>
            <a:r>
              <a:rPr lang="en-US" sz="750" b="1" dirty="0">
                <a:solidFill>
                  <a:srgbClr val="0077B6"/>
                </a:solidFill>
                <a:latin typeface="Courier New" pitchFamily="34" charset="0"/>
                <a:ea typeface="Courier New" pitchFamily="34" charset="-122"/>
                <a:cs typeface="Courier New" pitchFamily="34" charset="-120"/>
              </a:rPr>
              <a:t>DELETE</a:t>
            </a:r>
            <a:endParaRPr lang="en-US" sz="750" dirty="0"/>
          </a:p>
        </p:txBody>
      </p:sp>
      <p:sp>
        <p:nvSpPr>
          <p:cNvPr id="58" name="Shape 56"/>
          <p:cNvSpPr/>
          <p:nvPr/>
        </p:nvSpPr>
        <p:spPr>
          <a:xfrm>
            <a:off x="1591056" y="2395728"/>
            <a:ext cx="2121408" cy="265176"/>
          </a:xfrm>
          <a:prstGeom prst="rect">
            <a:avLst/>
          </a:prstGeom>
          <a:solidFill>
            <a:srgbClr val="EAF7FE"/>
          </a:solidFill>
          <a:ln w="6350">
            <a:solidFill>
              <a:srgbClr val="D6EDF9"/>
            </a:solidFill>
            <a:prstDash val="solid"/>
          </a:ln>
        </p:spPr>
        <p:txBody>
          <a:bodyPr/>
          <a:lstStyle/>
          <a:p>
            <a:endParaRPr lang="en-US"/>
          </a:p>
        </p:txBody>
      </p:sp>
      <p:sp>
        <p:nvSpPr>
          <p:cNvPr id="59" name="Text 57"/>
          <p:cNvSpPr/>
          <p:nvPr/>
        </p:nvSpPr>
        <p:spPr>
          <a:xfrm>
            <a:off x="1682496" y="2395728"/>
            <a:ext cx="1956816" cy="265176"/>
          </a:xfrm>
          <a:prstGeom prst="rect">
            <a:avLst/>
          </a:prstGeom>
          <a:noFill/>
          <a:ln/>
        </p:spPr>
        <p:txBody>
          <a:bodyPr wrap="square" lIns="0" tIns="0" rIns="0" bIns="0" rtlCol="0" anchor="ctr"/>
          <a:lstStyle/>
          <a:p>
            <a:pPr marL="0" indent="0">
              <a:buNone/>
            </a:pPr>
            <a:r>
              <a:rPr lang="en-US" sz="750" b="1" dirty="0">
                <a:solidFill>
                  <a:srgbClr val="0077B6"/>
                </a:solidFill>
                <a:latin typeface="Courier New" pitchFamily="34" charset="0"/>
                <a:ea typeface="Courier New" pitchFamily="34" charset="-122"/>
                <a:cs typeface="Courier New" pitchFamily="34" charset="-120"/>
              </a:rPr>
              <a:t>/api/records/:id</a:t>
            </a:r>
            <a:endParaRPr lang="en-US" sz="750" dirty="0"/>
          </a:p>
        </p:txBody>
      </p:sp>
      <p:sp>
        <p:nvSpPr>
          <p:cNvPr id="60" name="Shape 58"/>
          <p:cNvSpPr/>
          <p:nvPr/>
        </p:nvSpPr>
        <p:spPr>
          <a:xfrm>
            <a:off x="3749040" y="2395728"/>
            <a:ext cx="2066544" cy="265176"/>
          </a:xfrm>
          <a:prstGeom prst="rect">
            <a:avLst/>
          </a:prstGeom>
          <a:solidFill>
            <a:srgbClr val="EAF7FE"/>
          </a:solidFill>
          <a:ln w="6350">
            <a:solidFill>
              <a:srgbClr val="D6EDF9"/>
            </a:solidFill>
            <a:prstDash val="solid"/>
          </a:ln>
        </p:spPr>
        <p:txBody>
          <a:bodyPr/>
          <a:lstStyle/>
          <a:p>
            <a:endParaRPr lang="en-US"/>
          </a:p>
        </p:txBody>
      </p:sp>
      <p:sp>
        <p:nvSpPr>
          <p:cNvPr id="61" name="Text 59"/>
          <p:cNvSpPr/>
          <p:nvPr/>
        </p:nvSpPr>
        <p:spPr>
          <a:xfrm>
            <a:off x="3840480" y="2395728"/>
            <a:ext cx="19019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remove one</a:t>
            </a:r>
            <a:endParaRPr lang="en-US" sz="850" dirty="0"/>
          </a:p>
        </p:txBody>
      </p:sp>
      <p:sp>
        <p:nvSpPr>
          <p:cNvPr id="62" name="Shape 60"/>
          <p:cNvSpPr/>
          <p:nvPr/>
        </p:nvSpPr>
        <p:spPr>
          <a:xfrm>
            <a:off x="5852160" y="2395728"/>
            <a:ext cx="694944" cy="265176"/>
          </a:xfrm>
          <a:prstGeom prst="rect">
            <a:avLst/>
          </a:prstGeom>
          <a:solidFill>
            <a:srgbClr val="EAF7FE"/>
          </a:solidFill>
          <a:ln w="6350">
            <a:solidFill>
              <a:srgbClr val="D6EDF9"/>
            </a:solidFill>
            <a:prstDash val="solid"/>
          </a:ln>
        </p:spPr>
        <p:txBody>
          <a:bodyPr/>
          <a:lstStyle/>
          <a:p>
            <a:endParaRPr lang="en-US"/>
          </a:p>
        </p:txBody>
      </p:sp>
      <p:sp>
        <p:nvSpPr>
          <p:cNvPr id="63" name="Text 61"/>
          <p:cNvSpPr/>
          <p:nvPr/>
        </p:nvSpPr>
        <p:spPr>
          <a:xfrm>
            <a:off x="5943600" y="2395728"/>
            <a:ext cx="5303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204</a:t>
            </a:r>
            <a:endParaRPr lang="en-US" sz="850" dirty="0"/>
          </a:p>
        </p:txBody>
      </p:sp>
      <p:sp>
        <p:nvSpPr>
          <p:cNvPr id="64" name="Shape 62"/>
          <p:cNvSpPr/>
          <p:nvPr/>
        </p:nvSpPr>
        <p:spPr>
          <a:xfrm>
            <a:off x="6583680" y="2395728"/>
            <a:ext cx="2066544" cy="265176"/>
          </a:xfrm>
          <a:prstGeom prst="rect">
            <a:avLst/>
          </a:prstGeom>
          <a:solidFill>
            <a:srgbClr val="EAF7FE"/>
          </a:solidFill>
          <a:ln w="6350">
            <a:solidFill>
              <a:srgbClr val="D6EDF9"/>
            </a:solidFill>
            <a:prstDash val="solid"/>
          </a:ln>
        </p:spPr>
        <p:txBody>
          <a:bodyPr/>
          <a:lstStyle/>
          <a:p>
            <a:endParaRPr lang="en-US"/>
          </a:p>
        </p:txBody>
      </p:sp>
      <p:sp>
        <p:nvSpPr>
          <p:cNvPr id="65" name="Text 63"/>
          <p:cNvSpPr/>
          <p:nvPr/>
        </p:nvSpPr>
        <p:spPr>
          <a:xfrm>
            <a:off x="6675120" y="2395728"/>
            <a:ext cx="1901952" cy="265176"/>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404 — no such id</a:t>
            </a:r>
            <a:endParaRPr lang="en-US" sz="850" dirty="0"/>
          </a:p>
        </p:txBody>
      </p:sp>
      <p:sp>
        <p:nvSpPr>
          <p:cNvPr id="66" name="Text 64"/>
          <p:cNvSpPr/>
          <p:nvPr/>
        </p:nvSpPr>
        <p:spPr>
          <a:xfrm>
            <a:off x="457200" y="2834640"/>
            <a:ext cx="54864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STATUS CODES, IN THREE SENTENCES</a:t>
            </a:r>
            <a:endParaRPr lang="en-US" sz="800" dirty="0"/>
          </a:p>
        </p:txBody>
      </p:sp>
      <p:sp>
        <p:nvSpPr>
          <p:cNvPr id="67" name="Shape 65"/>
          <p:cNvSpPr/>
          <p:nvPr/>
        </p:nvSpPr>
        <p:spPr>
          <a:xfrm>
            <a:off x="457200" y="3054096"/>
            <a:ext cx="2633472" cy="438912"/>
          </a:xfrm>
          <a:prstGeom prst="rect">
            <a:avLst/>
          </a:prstGeom>
          <a:solidFill>
            <a:srgbClr val="FFFFFF"/>
          </a:solidFill>
          <a:ln w="9525">
            <a:solidFill>
              <a:srgbClr val="D6EDF9"/>
            </a:solidFill>
            <a:prstDash val="solid"/>
          </a:ln>
        </p:spPr>
        <p:txBody>
          <a:bodyPr/>
          <a:lstStyle/>
          <a:p>
            <a:endParaRPr lang="en-US"/>
          </a:p>
        </p:txBody>
      </p:sp>
      <p:sp>
        <p:nvSpPr>
          <p:cNvPr id="68" name="Shape 66"/>
          <p:cNvSpPr/>
          <p:nvPr/>
        </p:nvSpPr>
        <p:spPr>
          <a:xfrm>
            <a:off x="457200" y="3054096"/>
            <a:ext cx="658368" cy="438912"/>
          </a:xfrm>
          <a:prstGeom prst="rect">
            <a:avLst/>
          </a:prstGeom>
          <a:solidFill>
            <a:srgbClr val="12795C"/>
          </a:solidFill>
          <a:ln w="12700">
            <a:solidFill>
              <a:srgbClr val="12795C"/>
            </a:solidFill>
            <a:prstDash val="solid"/>
          </a:ln>
        </p:spPr>
        <p:txBody>
          <a:bodyPr/>
          <a:lstStyle/>
          <a:p>
            <a:endParaRPr lang="en-US"/>
          </a:p>
        </p:txBody>
      </p:sp>
      <p:sp>
        <p:nvSpPr>
          <p:cNvPr id="69" name="Text 67"/>
          <p:cNvSpPr/>
          <p:nvPr/>
        </p:nvSpPr>
        <p:spPr>
          <a:xfrm>
            <a:off x="457200" y="3054096"/>
            <a:ext cx="658368"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2xx</a:t>
            </a:r>
            <a:endParaRPr lang="en-US" sz="1000" dirty="0"/>
          </a:p>
        </p:txBody>
      </p:sp>
      <p:sp>
        <p:nvSpPr>
          <p:cNvPr id="70" name="Text 68"/>
          <p:cNvSpPr/>
          <p:nvPr/>
        </p:nvSpPr>
        <p:spPr>
          <a:xfrm>
            <a:off x="1243584" y="3054096"/>
            <a:ext cx="1773936" cy="438912"/>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It worked.</a:t>
            </a:r>
            <a:endParaRPr lang="en-US" sz="850" dirty="0"/>
          </a:p>
        </p:txBody>
      </p:sp>
      <p:sp>
        <p:nvSpPr>
          <p:cNvPr id="71" name="Shape 69"/>
          <p:cNvSpPr/>
          <p:nvPr/>
        </p:nvSpPr>
        <p:spPr>
          <a:xfrm>
            <a:off x="3255264" y="3054096"/>
            <a:ext cx="2633472" cy="438912"/>
          </a:xfrm>
          <a:prstGeom prst="rect">
            <a:avLst/>
          </a:prstGeom>
          <a:solidFill>
            <a:srgbClr val="FFFFFF"/>
          </a:solidFill>
          <a:ln w="9525">
            <a:solidFill>
              <a:srgbClr val="D6EDF9"/>
            </a:solidFill>
            <a:prstDash val="solid"/>
          </a:ln>
        </p:spPr>
        <p:txBody>
          <a:bodyPr/>
          <a:lstStyle/>
          <a:p>
            <a:endParaRPr lang="en-US"/>
          </a:p>
        </p:txBody>
      </p:sp>
      <p:sp>
        <p:nvSpPr>
          <p:cNvPr id="72" name="Shape 70"/>
          <p:cNvSpPr/>
          <p:nvPr/>
        </p:nvSpPr>
        <p:spPr>
          <a:xfrm>
            <a:off x="3255264" y="3054096"/>
            <a:ext cx="658368" cy="438912"/>
          </a:xfrm>
          <a:prstGeom prst="rect">
            <a:avLst/>
          </a:prstGeom>
          <a:solidFill>
            <a:srgbClr val="B86A0E"/>
          </a:solidFill>
          <a:ln w="12700">
            <a:solidFill>
              <a:srgbClr val="B86A0E"/>
            </a:solidFill>
            <a:prstDash val="solid"/>
          </a:ln>
        </p:spPr>
        <p:txBody>
          <a:bodyPr/>
          <a:lstStyle/>
          <a:p>
            <a:endParaRPr lang="en-US"/>
          </a:p>
        </p:txBody>
      </p:sp>
      <p:sp>
        <p:nvSpPr>
          <p:cNvPr id="73" name="Text 71"/>
          <p:cNvSpPr/>
          <p:nvPr/>
        </p:nvSpPr>
        <p:spPr>
          <a:xfrm>
            <a:off x="3255264" y="3054096"/>
            <a:ext cx="658368"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4xx</a:t>
            </a:r>
            <a:endParaRPr lang="en-US" sz="1000" dirty="0"/>
          </a:p>
        </p:txBody>
      </p:sp>
      <p:sp>
        <p:nvSpPr>
          <p:cNvPr id="74" name="Text 72"/>
          <p:cNvSpPr/>
          <p:nvPr/>
        </p:nvSpPr>
        <p:spPr>
          <a:xfrm>
            <a:off x="4041648" y="3054096"/>
            <a:ext cx="1773936" cy="438912"/>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They asked for something wrong.</a:t>
            </a:r>
            <a:endParaRPr lang="en-US" sz="850" dirty="0"/>
          </a:p>
        </p:txBody>
      </p:sp>
      <p:sp>
        <p:nvSpPr>
          <p:cNvPr id="75" name="Shape 73"/>
          <p:cNvSpPr/>
          <p:nvPr/>
        </p:nvSpPr>
        <p:spPr>
          <a:xfrm>
            <a:off x="6053328" y="3054096"/>
            <a:ext cx="2633472" cy="438912"/>
          </a:xfrm>
          <a:prstGeom prst="rect">
            <a:avLst/>
          </a:prstGeom>
          <a:solidFill>
            <a:srgbClr val="FFFFFF"/>
          </a:solidFill>
          <a:ln w="9525">
            <a:solidFill>
              <a:srgbClr val="D6EDF9"/>
            </a:solidFill>
            <a:prstDash val="solid"/>
          </a:ln>
        </p:spPr>
        <p:txBody>
          <a:bodyPr/>
          <a:lstStyle/>
          <a:p>
            <a:endParaRPr lang="en-US"/>
          </a:p>
        </p:txBody>
      </p:sp>
      <p:sp>
        <p:nvSpPr>
          <p:cNvPr id="76" name="Shape 74"/>
          <p:cNvSpPr/>
          <p:nvPr/>
        </p:nvSpPr>
        <p:spPr>
          <a:xfrm>
            <a:off x="6053328" y="3054096"/>
            <a:ext cx="658368" cy="438912"/>
          </a:xfrm>
          <a:prstGeom prst="rect">
            <a:avLst/>
          </a:prstGeom>
          <a:solidFill>
            <a:srgbClr val="B83232"/>
          </a:solidFill>
          <a:ln w="12700">
            <a:solidFill>
              <a:srgbClr val="B83232"/>
            </a:solidFill>
            <a:prstDash val="solid"/>
          </a:ln>
        </p:spPr>
        <p:txBody>
          <a:bodyPr/>
          <a:lstStyle/>
          <a:p>
            <a:endParaRPr lang="en-US"/>
          </a:p>
        </p:txBody>
      </p:sp>
      <p:sp>
        <p:nvSpPr>
          <p:cNvPr id="77" name="Text 75"/>
          <p:cNvSpPr/>
          <p:nvPr/>
        </p:nvSpPr>
        <p:spPr>
          <a:xfrm>
            <a:off x="6053328" y="3054096"/>
            <a:ext cx="658368"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5xx</a:t>
            </a:r>
            <a:endParaRPr lang="en-US" sz="1000" dirty="0"/>
          </a:p>
        </p:txBody>
      </p:sp>
      <p:sp>
        <p:nvSpPr>
          <p:cNvPr id="78" name="Text 76"/>
          <p:cNvSpPr/>
          <p:nvPr/>
        </p:nvSpPr>
        <p:spPr>
          <a:xfrm>
            <a:off x="6839712" y="3054096"/>
            <a:ext cx="1773936" cy="438912"/>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You broke something.</a:t>
            </a:r>
            <a:endParaRPr lang="en-US" sz="850" dirty="0"/>
          </a:p>
        </p:txBody>
      </p:sp>
      <p:sp>
        <p:nvSpPr>
          <p:cNvPr id="79" name="Text 77"/>
          <p:cNvSpPr/>
          <p:nvPr/>
        </p:nvSpPr>
        <p:spPr>
          <a:xfrm>
            <a:off x="457200" y="3621024"/>
            <a:ext cx="45720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ONE ERROR SHAPE, EVERYWHERE</a:t>
            </a:r>
            <a:endParaRPr lang="en-US" sz="800" dirty="0"/>
          </a:p>
        </p:txBody>
      </p:sp>
      <p:sp>
        <p:nvSpPr>
          <p:cNvPr id="80" name="Text 78"/>
          <p:cNvSpPr/>
          <p:nvPr/>
        </p:nvSpPr>
        <p:spPr>
          <a:xfrm>
            <a:off x="457200" y="3840480"/>
            <a:ext cx="8229600" cy="420624"/>
          </a:xfrm>
          <a:prstGeom prst="rect">
            <a:avLst/>
          </a:prstGeom>
          <a:noFill/>
          <a:ln/>
        </p:spPr>
        <p:txBody>
          <a:bodyPr wrap="square" lIns="0" tIns="0" rIns="0" bIns="0" rtlCol="0" anchor="t"/>
          <a:lstStyle/>
          <a:p>
            <a:pPr marL="0" indent="0">
              <a:lnSpc>
                <a:spcPct val="105000"/>
              </a:lnSpc>
              <a:buNone/>
            </a:pPr>
            <a:r>
              <a:rPr lang="en-US" sz="950" dirty="0">
                <a:solidFill>
                  <a:srgbClr val="0A2A43"/>
                </a:solidFill>
                <a:latin typeface="Calibri" pitchFamily="34" charset="0"/>
                <a:ea typeface="Calibri" pitchFamily="34" charset="-122"/>
                <a:cs typeface="Calibri" pitchFamily="34" charset="-120"/>
              </a:rPr>
              <a:t>Always answer failures with { error: "a human sentence" }. Your frontend then has exactly one thing to read, whatever went wrong — and you write the error handling once.</a:t>
            </a:r>
            <a:endParaRPr lang="en-US" sz="950" dirty="0"/>
          </a:p>
        </p:txBody>
      </p:sp>
      <p:sp>
        <p:nvSpPr>
          <p:cNvPr id="81" name="Shape 79"/>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82" name="Shape 80"/>
          <p:cNvSpPr/>
          <p:nvPr/>
        </p:nvSpPr>
        <p:spPr>
          <a:xfrm>
            <a:off x="457200" y="4334256"/>
            <a:ext cx="54864" cy="512064"/>
          </a:xfrm>
          <a:prstGeom prst="rect">
            <a:avLst/>
          </a:prstGeom>
          <a:solidFill>
            <a:srgbClr val="0077B6"/>
          </a:solidFill>
          <a:ln w="12700">
            <a:solidFill>
              <a:srgbClr val="0077B6"/>
            </a:solidFill>
            <a:prstDash val="solid"/>
          </a:ln>
        </p:spPr>
        <p:txBody>
          <a:bodyPr/>
          <a:lstStyle/>
          <a:p>
            <a:endParaRPr lang="en-US"/>
          </a:p>
        </p:txBody>
      </p:sp>
      <p:sp>
        <p:nvSpPr>
          <p:cNvPr id="83" name="Text 81"/>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Everyone's resource is named differently — recipes, expenses, applications. The five verbs and the status codes are identical for all of you.</a:t>
            </a:r>
            <a:endParaRPr lang="en-US" sz="1000" dirty="0"/>
          </a:p>
        </p:txBody>
      </p:sp>
    </p:spTree>
    <p:extLst>
      <p:ext uri="{BB962C8B-B14F-4D97-AF65-F5344CB8AC3E}">
        <p14:creationId xmlns:p14="http://schemas.microsoft.com/office/powerpoint/2010/main" val="1313335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79B"/>
          </a:solidFill>
          <a:ln w="12700">
            <a:solidFill>
              <a:srgbClr val="00879B"/>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5C7C93"/>
                </a:solidFill>
                <a:latin typeface="Calibri" pitchFamily="34" charset="0"/>
                <a:ea typeface="Calibri" pitchFamily="34" charset="-122"/>
                <a:cs typeface="Calibri" pitchFamily="34" charset="-120"/>
              </a:rPr>
              <a:t>BLOCK 2</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A Real Database, With Nothing to Install</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Text 4"/>
          <p:cNvSpPr/>
          <p:nvPr/>
        </p:nvSpPr>
        <p:spPr>
          <a:xfrm>
            <a:off x="457200" y="969264"/>
            <a:ext cx="36576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IT IS BUILT INTO NODE</a:t>
            </a:r>
            <a:endParaRPr lang="en-US" sz="800" dirty="0"/>
          </a:p>
        </p:txBody>
      </p:sp>
      <p:sp>
        <p:nvSpPr>
          <p:cNvPr id="7" name="Shape 5"/>
          <p:cNvSpPr/>
          <p:nvPr/>
        </p:nvSpPr>
        <p:spPr>
          <a:xfrm>
            <a:off x="457200" y="1188720"/>
            <a:ext cx="4023360" cy="786384"/>
          </a:xfrm>
          <a:prstGeom prst="rect">
            <a:avLst/>
          </a:prstGeom>
          <a:solidFill>
            <a:srgbClr val="0A2A43"/>
          </a:solidFill>
          <a:ln w="12700">
            <a:solidFill>
              <a:srgbClr val="0A2A43"/>
            </a:solidFill>
            <a:prstDash val="solid"/>
          </a:ln>
        </p:spPr>
        <p:txBody>
          <a:bodyPr/>
          <a:lstStyle/>
          <a:p>
            <a:endParaRPr lang="en-US"/>
          </a:p>
        </p:txBody>
      </p:sp>
      <p:sp>
        <p:nvSpPr>
          <p:cNvPr id="8" name="Text 6"/>
          <p:cNvSpPr/>
          <p:nvPr/>
        </p:nvSpPr>
        <p:spPr>
          <a:xfrm>
            <a:off x="640080" y="1280160"/>
            <a:ext cx="3694176" cy="603504"/>
          </a:xfrm>
          <a:prstGeom prst="rect">
            <a:avLst/>
          </a:prstGeom>
          <a:noFill/>
          <a:ln/>
        </p:spPr>
        <p:txBody>
          <a:bodyPr wrap="square" lIns="0" tIns="0" rIns="0" bIns="0" rtlCol="0" anchor="t"/>
          <a:lstStyle/>
          <a:p>
            <a:pPr marL="0" indent="0">
              <a:lnSpc>
                <a:spcPct val="112000"/>
              </a:lnSpc>
              <a:buNone/>
            </a:pPr>
            <a:r>
              <a:rPr lang="en-US" sz="950" dirty="0">
                <a:solidFill>
                  <a:srgbClr val="7FE3FF"/>
                </a:solidFill>
                <a:latin typeface="Courier New" pitchFamily="34" charset="0"/>
                <a:ea typeface="Courier New" pitchFamily="34" charset="-122"/>
                <a:cs typeface="Courier New" pitchFamily="34" charset="-120"/>
              </a:rPr>
              <a:t>import { DatabaseSync } from 'node:sqlite';</a:t>
            </a:r>
            <a:endParaRPr lang="en-US" sz="950" dirty="0"/>
          </a:p>
          <a:p>
            <a:pPr marL="0" indent="0">
              <a:lnSpc>
                <a:spcPct val="112000"/>
              </a:lnSpc>
              <a:buNone/>
            </a:pPr>
            <a:r>
              <a:rPr lang="en-US" sz="950" dirty="0">
                <a:solidFill>
                  <a:srgbClr val="7FE3FF"/>
                </a:solidFill>
                <a:latin typeface="Courier New" pitchFamily="34" charset="0"/>
                <a:ea typeface="Courier New" pitchFamily="34" charset="-122"/>
                <a:cs typeface="Courier New" pitchFamily="34" charset="-120"/>
              </a:rPr>
              <a:t>const db = new DatabaseSync('records.db');</a:t>
            </a:r>
            <a:endParaRPr lang="en-US" sz="950" dirty="0"/>
          </a:p>
        </p:txBody>
      </p:sp>
      <p:sp>
        <p:nvSpPr>
          <p:cNvPr id="9" name="Shape 7"/>
          <p:cNvSpPr/>
          <p:nvPr/>
        </p:nvSpPr>
        <p:spPr>
          <a:xfrm>
            <a:off x="4681728" y="1188720"/>
            <a:ext cx="4005072" cy="786384"/>
          </a:xfrm>
          <a:prstGeom prst="rect">
            <a:avLst/>
          </a:prstGeom>
          <a:solidFill>
            <a:srgbClr val="EAF7FE"/>
          </a:solidFill>
          <a:ln w="12700">
            <a:solidFill>
              <a:srgbClr val="EAF7FE"/>
            </a:solidFill>
            <a:prstDash val="solid"/>
          </a:ln>
        </p:spPr>
        <p:txBody>
          <a:bodyPr/>
          <a:lstStyle/>
          <a:p>
            <a:endParaRPr lang="en-US"/>
          </a:p>
        </p:txBody>
      </p:sp>
      <p:sp>
        <p:nvSpPr>
          <p:cNvPr id="10" name="Shape 8"/>
          <p:cNvSpPr/>
          <p:nvPr/>
        </p:nvSpPr>
        <p:spPr>
          <a:xfrm>
            <a:off x="4681728" y="1188720"/>
            <a:ext cx="54864" cy="786384"/>
          </a:xfrm>
          <a:prstGeom prst="rect">
            <a:avLst/>
          </a:prstGeom>
          <a:solidFill>
            <a:srgbClr val="00879B"/>
          </a:solidFill>
          <a:ln w="12700">
            <a:solidFill>
              <a:srgbClr val="00879B"/>
            </a:solidFill>
            <a:prstDash val="solid"/>
          </a:ln>
        </p:spPr>
        <p:txBody>
          <a:bodyPr/>
          <a:lstStyle/>
          <a:p>
            <a:endParaRPr lang="en-US"/>
          </a:p>
        </p:txBody>
      </p:sp>
      <p:sp>
        <p:nvSpPr>
          <p:cNvPr id="11" name="Text 9"/>
          <p:cNvSpPr/>
          <p:nvPr/>
        </p:nvSpPr>
        <p:spPr>
          <a:xfrm>
            <a:off x="4864608" y="1261872"/>
            <a:ext cx="3657600" cy="182880"/>
          </a:xfrm>
          <a:prstGeom prst="rect">
            <a:avLst/>
          </a:prstGeom>
          <a:noFill/>
          <a:ln/>
        </p:spPr>
        <p:txBody>
          <a:bodyPr wrap="square" lIns="0" tIns="0" rIns="0" bIns="0" rtlCol="0" anchor="ctr"/>
          <a:lstStyle/>
          <a:p>
            <a:pPr marL="0" indent="0">
              <a:buNone/>
            </a:pPr>
            <a:r>
              <a:rPr lang="en-US" sz="800" b="1" kern="0" spc="120" dirty="0">
                <a:solidFill>
                  <a:srgbClr val="00879B"/>
                </a:solidFill>
                <a:latin typeface="Calibri" pitchFamily="34" charset="0"/>
                <a:ea typeface="Calibri" pitchFamily="34" charset="-122"/>
                <a:cs typeface="Calibri" pitchFamily="34" charset="-120"/>
              </a:rPr>
              <a:t>THE FILE IS THE DATABASE</a:t>
            </a:r>
            <a:endParaRPr lang="en-US" sz="800" dirty="0"/>
          </a:p>
        </p:txBody>
      </p:sp>
      <p:sp>
        <p:nvSpPr>
          <p:cNvPr id="12" name="Text 10"/>
          <p:cNvSpPr/>
          <p:nvPr/>
        </p:nvSpPr>
        <p:spPr>
          <a:xfrm>
            <a:off x="4864608" y="1463040"/>
            <a:ext cx="3675888" cy="457200"/>
          </a:xfrm>
          <a:prstGeom prst="rect">
            <a:avLst/>
          </a:prstGeom>
          <a:noFill/>
          <a:ln/>
        </p:spPr>
        <p:txBody>
          <a:bodyPr wrap="square" lIns="0" tIns="0" rIns="0" bIns="0" rtlCol="0" anchor="t"/>
          <a:lstStyle/>
          <a:p>
            <a:pPr marL="0" indent="0">
              <a:lnSpc>
                <a:spcPct val="105000"/>
              </a:lnSpc>
              <a:buNone/>
            </a:pPr>
            <a:r>
              <a:rPr lang="en-US" sz="850" dirty="0">
                <a:solidFill>
                  <a:srgbClr val="0A2A43"/>
                </a:solidFill>
                <a:latin typeface="Calibri" pitchFamily="34" charset="0"/>
                <a:ea typeface="Calibri" pitchFamily="34" charset="-122"/>
                <a:cs typeface="Calibri" pitchFamily="34" charset="-120"/>
              </a:rPr>
              <a:t>records.db appears in your folder. Open it in your SQLite viewer and watch rows arrive as you work. No server, no password, no install.</a:t>
            </a:r>
            <a:endParaRPr lang="en-US" sz="850" dirty="0"/>
          </a:p>
        </p:txBody>
      </p:sp>
      <p:sp>
        <p:nvSpPr>
          <p:cNvPr id="13" name="Text 11"/>
          <p:cNvSpPr/>
          <p:nvPr/>
        </p:nvSpPr>
        <p:spPr>
          <a:xfrm>
            <a:off x="457200" y="2066544"/>
            <a:ext cx="73152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THE SCHEMA YOU ARE GIVEN — RENAME THE LABELS, KEEP THE SHAPE</a:t>
            </a:r>
            <a:endParaRPr lang="en-US" sz="800" dirty="0"/>
          </a:p>
        </p:txBody>
      </p:sp>
      <p:sp>
        <p:nvSpPr>
          <p:cNvPr id="14" name="Shape 12"/>
          <p:cNvSpPr/>
          <p:nvPr/>
        </p:nvSpPr>
        <p:spPr>
          <a:xfrm>
            <a:off x="457200" y="2267712"/>
            <a:ext cx="1700784" cy="256032"/>
          </a:xfrm>
          <a:prstGeom prst="rect">
            <a:avLst/>
          </a:prstGeom>
          <a:solidFill>
            <a:srgbClr val="0A2A43"/>
          </a:solidFill>
          <a:ln w="12700">
            <a:solidFill>
              <a:srgbClr val="0A2A43"/>
            </a:solidFill>
            <a:prstDash val="solid"/>
          </a:ln>
        </p:spPr>
        <p:txBody>
          <a:bodyPr/>
          <a:lstStyle/>
          <a:p>
            <a:endParaRPr lang="en-US"/>
          </a:p>
        </p:txBody>
      </p:sp>
      <p:sp>
        <p:nvSpPr>
          <p:cNvPr id="15" name="Text 13"/>
          <p:cNvSpPr/>
          <p:nvPr/>
        </p:nvSpPr>
        <p:spPr>
          <a:xfrm>
            <a:off x="548640" y="2267712"/>
            <a:ext cx="153619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COLUMN</a:t>
            </a:r>
            <a:endParaRPr lang="en-US" sz="700" dirty="0"/>
          </a:p>
        </p:txBody>
      </p:sp>
      <p:sp>
        <p:nvSpPr>
          <p:cNvPr id="16" name="Shape 14"/>
          <p:cNvSpPr/>
          <p:nvPr/>
        </p:nvSpPr>
        <p:spPr>
          <a:xfrm>
            <a:off x="2194560" y="2267712"/>
            <a:ext cx="1243584" cy="256032"/>
          </a:xfrm>
          <a:prstGeom prst="rect">
            <a:avLst/>
          </a:prstGeom>
          <a:solidFill>
            <a:srgbClr val="0A2A43"/>
          </a:solidFill>
          <a:ln w="12700">
            <a:solidFill>
              <a:srgbClr val="0A2A43"/>
            </a:solidFill>
            <a:prstDash val="solid"/>
          </a:ln>
        </p:spPr>
        <p:txBody>
          <a:bodyPr/>
          <a:lstStyle/>
          <a:p>
            <a:endParaRPr lang="en-US"/>
          </a:p>
        </p:txBody>
      </p:sp>
      <p:sp>
        <p:nvSpPr>
          <p:cNvPr id="17" name="Text 15"/>
          <p:cNvSpPr/>
          <p:nvPr/>
        </p:nvSpPr>
        <p:spPr>
          <a:xfrm>
            <a:off x="2286000" y="2267712"/>
            <a:ext cx="107899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TYPE</a:t>
            </a:r>
            <a:endParaRPr lang="en-US" sz="700" dirty="0"/>
          </a:p>
        </p:txBody>
      </p:sp>
      <p:sp>
        <p:nvSpPr>
          <p:cNvPr id="18" name="Shape 16"/>
          <p:cNvSpPr/>
          <p:nvPr/>
        </p:nvSpPr>
        <p:spPr>
          <a:xfrm>
            <a:off x="3474720" y="2267712"/>
            <a:ext cx="5175504" cy="256032"/>
          </a:xfrm>
          <a:prstGeom prst="rect">
            <a:avLst/>
          </a:prstGeom>
          <a:solidFill>
            <a:srgbClr val="0A2A43"/>
          </a:solidFill>
          <a:ln w="12700">
            <a:solidFill>
              <a:srgbClr val="0A2A43"/>
            </a:solidFill>
            <a:prstDash val="solid"/>
          </a:ln>
        </p:spPr>
        <p:txBody>
          <a:bodyPr/>
          <a:lstStyle/>
          <a:p>
            <a:endParaRPr lang="en-US"/>
          </a:p>
        </p:txBody>
      </p:sp>
      <p:sp>
        <p:nvSpPr>
          <p:cNvPr id="19" name="Text 17"/>
          <p:cNvSpPr/>
          <p:nvPr/>
        </p:nvSpPr>
        <p:spPr>
          <a:xfrm>
            <a:off x="3566160" y="2267712"/>
            <a:ext cx="5010912" cy="256032"/>
          </a:xfrm>
          <a:prstGeom prst="rect">
            <a:avLst/>
          </a:prstGeom>
          <a:noFill/>
          <a:ln/>
        </p:spPr>
        <p:txBody>
          <a:bodyPr wrap="square" lIns="0" tIns="0" rIns="0" bIns="0" rtlCol="0" anchor="ctr"/>
          <a:lstStyle/>
          <a:p>
            <a:pPr marL="0" indent="0">
              <a:buNone/>
            </a:pPr>
            <a:r>
              <a:rPr lang="en-US" sz="700" b="1" kern="0" spc="80" dirty="0">
                <a:solidFill>
                  <a:srgbClr val="FFFFFF"/>
                </a:solidFill>
                <a:latin typeface="Calibri" pitchFamily="34" charset="0"/>
                <a:ea typeface="Calibri" pitchFamily="34" charset="-122"/>
                <a:cs typeface="Calibri" pitchFamily="34" charset="-120"/>
              </a:rPr>
              <a:t>WHAT IT HOLDS</a:t>
            </a:r>
            <a:endParaRPr lang="en-US" sz="700" dirty="0"/>
          </a:p>
        </p:txBody>
      </p:sp>
      <p:sp>
        <p:nvSpPr>
          <p:cNvPr id="20" name="Shape 18"/>
          <p:cNvSpPr/>
          <p:nvPr/>
        </p:nvSpPr>
        <p:spPr>
          <a:xfrm>
            <a:off x="457200" y="2560320"/>
            <a:ext cx="1700784" cy="237744"/>
          </a:xfrm>
          <a:prstGeom prst="rect">
            <a:avLst/>
          </a:prstGeom>
          <a:solidFill>
            <a:srgbClr val="EAF7FE"/>
          </a:solidFill>
          <a:ln w="6350">
            <a:solidFill>
              <a:srgbClr val="D6EDF9"/>
            </a:solidFill>
            <a:prstDash val="solid"/>
          </a:ln>
        </p:spPr>
        <p:txBody>
          <a:bodyPr/>
          <a:lstStyle/>
          <a:p>
            <a:endParaRPr lang="en-US"/>
          </a:p>
        </p:txBody>
      </p:sp>
      <p:sp>
        <p:nvSpPr>
          <p:cNvPr id="21" name="Text 19"/>
          <p:cNvSpPr/>
          <p:nvPr/>
        </p:nvSpPr>
        <p:spPr>
          <a:xfrm>
            <a:off x="548640" y="2560320"/>
            <a:ext cx="1536192" cy="237744"/>
          </a:xfrm>
          <a:prstGeom prst="rect">
            <a:avLst/>
          </a:prstGeom>
          <a:noFill/>
          <a:ln/>
        </p:spPr>
        <p:txBody>
          <a:bodyPr wrap="square" lIns="0" tIns="0" rIns="0" bIns="0" rtlCol="0" anchor="ctr"/>
          <a:lstStyle/>
          <a:p>
            <a:pPr marL="0" indent="0">
              <a:buNone/>
            </a:pPr>
            <a:r>
              <a:rPr lang="en-US" sz="750" b="1" dirty="0">
                <a:solidFill>
                  <a:srgbClr val="00879B"/>
                </a:solidFill>
                <a:latin typeface="Courier New" pitchFamily="34" charset="0"/>
                <a:ea typeface="Courier New" pitchFamily="34" charset="-122"/>
                <a:cs typeface="Courier New" pitchFamily="34" charset="-120"/>
              </a:rPr>
              <a:t>id</a:t>
            </a:r>
            <a:endParaRPr lang="en-US" sz="750" dirty="0"/>
          </a:p>
        </p:txBody>
      </p:sp>
      <p:sp>
        <p:nvSpPr>
          <p:cNvPr id="22" name="Shape 20"/>
          <p:cNvSpPr/>
          <p:nvPr/>
        </p:nvSpPr>
        <p:spPr>
          <a:xfrm>
            <a:off x="2194560" y="2560320"/>
            <a:ext cx="1243584" cy="237744"/>
          </a:xfrm>
          <a:prstGeom prst="rect">
            <a:avLst/>
          </a:prstGeom>
          <a:solidFill>
            <a:srgbClr val="EAF7FE"/>
          </a:solidFill>
          <a:ln w="6350">
            <a:solidFill>
              <a:srgbClr val="D6EDF9"/>
            </a:solidFill>
            <a:prstDash val="solid"/>
          </a:ln>
        </p:spPr>
        <p:txBody>
          <a:bodyPr/>
          <a:lstStyle/>
          <a:p>
            <a:endParaRPr lang="en-US"/>
          </a:p>
        </p:txBody>
      </p:sp>
      <p:sp>
        <p:nvSpPr>
          <p:cNvPr id="23" name="Text 21"/>
          <p:cNvSpPr/>
          <p:nvPr/>
        </p:nvSpPr>
        <p:spPr>
          <a:xfrm>
            <a:off x="2286000" y="2560320"/>
            <a:ext cx="1078992" cy="237744"/>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INTEGER</a:t>
            </a:r>
            <a:endParaRPr lang="en-US" sz="850" dirty="0"/>
          </a:p>
        </p:txBody>
      </p:sp>
      <p:sp>
        <p:nvSpPr>
          <p:cNvPr id="24" name="Shape 22"/>
          <p:cNvSpPr/>
          <p:nvPr/>
        </p:nvSpPr>
        <p:spPr>
          <a:xfrm>
            <a:off x="3474720" y="2560320"/>
            <a:ext cx="5175504" cy="237744"/>
          </a:xfrm>
          <a:prstGeom prst="rect">
            <a:avLst/>
          </a:prstGeom>
          <a:solidFill>
            <a:srgbClr val="EAF7FE"/>
          </a:solidFill>
          <a:ln w="6350">
            <a:solidFill>
              <a:srgbClr val="D6EDF9"/>
            </a:solidFill>
            <a:prstDash val="solid"/>
          </a:ln>
        </p:spPr>
        <p:txBody>
          <a:bodyPr/>
          <a:lstStyle/>
          <a:p>
            <a:endParaRPr lang="en-US"/>
          </a:p>
        </p:txBody>
      </p:sp>
      <p:sp>
        <p:nvSpPr>
          <p:cNvPr id="25" name="Text 23"/>
          <p:cNvSpPr/>
          <p:nvPr/>
        </p:nvSpPr>
        <p:spPr>
          <a:xfrm>
            <a:off x="3566160" y="2560320"/>
            <a:ext cx="5010912" cy="237744"/>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the primary key — the database fills this in for you</a:t>
            </a:r>
            <a:endParaRPr lang="en-US" sz="850" dirty="0"/>
          </a:p>
        </p:txBody>
      </p:sp>
      <p:sp>
        <p:nvSpPr>
          <p:cNvPr id="26" name="Shape 24"/>
          <p:cNvSpPr/>
          <p:nvPr/>
        </p:nvSpPr>
        <p:spPr>
          <a:xfrm>
            <a:off x="457200" y="2816352"/>
            <a:ext cx="1700784" cy="237744"/>
          </a:xfrm>
          <a:prstGeom prst="rect">
            <a:avLst/>
          </a:prstGeom>
          <a:solidFill>
            <a:srgbClr val="FFFFFF"/>
          </a:solidFill>
          <a:ln w="6350">
            <a:solidFill>
              <a:srgbClr val="D6EDF9"/>
            </a:solidFill>
            <a:prstDash val="solid"/>
          </a:ln>
        </p:spPr>
        <p:txBody>
          <a:bodyPr/>
          <a:lstStyle/>
          <a:p>
            <a:endParaRPr lang="en-US"/>
          </a:p>
        </p:txBody>
      </p:sp>
      <p:sp>
        <p:nvSpPr>
          <p:cNvPr id="27" name="Text 25"/>
          <p:cNvSpPr/>
          <p:nvPr/>
        </p:nvSpPr>
        <p:spPr>
          <a:xfrm>
            <a:off x="548640" y="2816352"/>
            <a:ext cx="1536192" cy="237744"/>
          </a:xfrm>
          <a:prstGeom prst="rect">
            <a:avLst/>
          </a:prstGeom>
          <a:noFill/>
          <a:ln/>
        </p:spPr>
        <p:txBody>
          <a:bodyPr wrap="square" lIns="0" tIns="0" rIns="0" bIns="0" rtlCol="0" anchor="ctr"/>
          <a:lstStyle/>
          <a:p>
            <a:pPr marL="0" indent="0">
              <a:buNone/>
            </a:pPr>
            <a:r>
              <a:rPr lang="en-US" sz="750" b="1" dirty="0">
                <a:solidFill>
                  <a:srgbClr val="00879B"/>
                </a:solidFill>
                <a:latin typeface="Courier New" pitchFamily="34" charset="0"/>
                <a:ea typeface="Courier New" pitchFamily="34" charset="-122"/>
                <a:cs typeface="Courier New" pitchFamily="34" charset="-120"/>
              </a:rPr>
              <a:t>title, body</a:t>
            </a:r>
            <a:endParaRPr lang="en-US" sz="750" dirty="0"/>
          </a:p>
        </p:txBody>
      </p:sp>
      <p:sp>
        <p:nvSpPr>
          <p:cNvPr id="28" name="Shape 26"/>
          <p:cNvSpPr/>
          <p:nvPr/>
        </p:nvSpPr>
        <p:spPr>
          <a:xfrm>
            <a:off x="2194560" y="2816352"/>
            <a:ext cx="1243584" cy="237744"/>
          </a:xfrm>
          <a:prstGeom prst="rect">
            <a:avLst/>
          </a:prstGeom>
          <a:solidFill>
            <a:srgbClr val="FFFFFF"/>
          </a:solidFill>
          <a:ln w="6350">
            <a:solidFill>
              <a:srgbClr val="D6EDF9"/>
            </a:solidFill>
            <a:prstDash val="solid"/>
          </a:ln>
        </p:spPr>
        <p:txBody>
          <a:bodyPr/>
          <a:lstStyle/>
          <a:p>
            <a:endParaRPr lang="en-US"/>
          </a:p>
        </p:txBody>
      </p:sp>
      <p:sp>
        <p:nvSpPr>
          <p:cNvPr id="29" name="Text 27"/>
          <p:cNvSpPr/>
          <p:nvPr/>
        </p:nvSpPr>
        <p:spPr>
          <a:xfrm>
            <a:off x="2286000" y="2816352"/>
            <a:ext cx="1078992" cy="237744"/>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TEXT</a:t>
            </a:r>
            <a:endParaRPr lang="en-US" sz="850" dirty="0"/>
          </a:p>
        </p:txBody>
      </p:sp>
      <p:sp>
        <p:nvSpPr>
          <p:cNvPr id="30" name="Shape 28"/>
          <p:cNvSpPr/>
          <p:nvPr/>
        </p:nvSpPr>
        <p:spPr>
          <a:xfrm>
            <a:off x="3474720" y="2816352"/>
            <a:ext cx="5175504" cy="237744"/>
          </a:xfrm>
          <a:prstGeom prst="rect">
            <a:avLst/>
          </a:prstGeom>
          <a:solidFill>
            <a:srgbClr val="FFFFFF"/>
          </a:solidFill>
          <a:ln w="6350">
            <a:solidFill>
              <a:srgbClr val="D6EDF9"/>
            </a:solidFill>
            <a:prstDash val="solid"/>
          </a:ln>
        </p:spPr>
        <p:txBody>
          <a:bodyPr/>
          <a:lstStyle/>
          <a:p>
            <a:endParaRPr lang="en-US"/>
          </a:p>
        </p:txBody>
      </p:sp>
      <p:sp>
        <p:nvSpPr>
          <p:cNvPr id="31" name="Text 29"/>
          <p:cNvSpPr/>
          <p:nvPr/>
        </p:nvSpPr>
        <p:spPr>
          <a:xfrm>
            <a:off x="3566160" y="2816352"/>
            <a:ext cx="5010912" cy="237744"/>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your record's own words, whatever your domain calls them</a:t>
            </a:r>
            <a:endParaRPr lang="en-US" sz="850" dirty="0"/>
          </a:p>
        </p:txBody>
      </p:sp>
      <p:sp>
        <p:nvSpPr>
          <p:cNvPr id="32" name="Shape 30"/>
          <p:cNvSpPr/>
          <p:nvPr/>
        </p:nvSpPr>
        <p:spPr>
          <a:xfrm>
            <a:off x="457200" y="3072384"/>
            <a:ext cx="1700784" cy="237744"/>
          </a:xfrm>
          <a:prstGeom prst="rect">
            <a:avLst/>
          </a:prstGeom>
          <a:solidFill>
            <a:srgbClr val="EAF7FE"/>
          </a:solidFill>
          <a:ln w="6350">
            <a:solidFill>
              <a:srgbClr val="D6EDF9"/>
            </a:solidFill>
            <a:prstDash val="solid"/>
          </a:ln>
        </p:spPr>
        <p:txBody>
          <a:bodyPr/>
          <a:lstStyle/>
          <a:p>
            <a:endParaRPr lang="en-US"/>
          </a:p>
        </p:txBody>
      </p:sp>
      <p:sp>
        <p:nvSpPr>
          <p:cNvPr id="33" name="Text 31"/>
          <p:cNvSpPr/>
          <p:nvPr/>
        </p:nvSpPr>
        <p:spPr>
          <a:xfrm>
            <a:off x="548640" y="3072384"/>
            <a:ext cx="1536192" cy="237744"/>
          </a:xfrm>
          <a:prstGeom prst="rect">
            <a:avLst/>
          </a:prstGeom>
          <a:noFill/>
          <a:ln/>
        </p:spPr>
        <p:txBody>
          <a:bodyPr wrap="square" lIns="0" tIns="0" rIns="0" bIns="0" rtlCol="0" anchor="ctr"/>
          <a:lstStyle/>
          <a:p>
            <a:pPr marL="0" indent="0">
              <a:buNone/>
            </a:pPr>
            <a:r>
              <a:rPr lang="en-US" sz="750" b="1" dirty="0">
                <a:solidFill>
                  <a:srgbClr val="00879B"/>
                </a:solidFill>
                <a:latin typeface="Courier New" pitchFamily="34" charset="0"/>
                <a:ea typeface="Courier New" pitchFamily="34" charset="-122"/>
                <a:cs typeface="Courier New" pitchFamily="34" charset="-120"/>
              </a:rPr>
              <a:t>tags, summary</a:t>
            </a:r>
            <a:endParaRPr lang="en-US" sz="750" dirty="0"/>
          </a:p>
        </p:txBody>
      </p:sp>
      <p:sp>
        <p:nvSpPr>
          <p:cNvPr id="34" name="Shape 32"/>
          <p:cNvSpPr/>
          <p:nvPr/>
        </p:nvSpPr>
        <p:spPr>
          <a:xfrm>
            <a:off x="2194560" y="3072384"/>
            <a:ext cx="1243584" cy="237744"/>
          </a:xfrm>
          <a:prstGeom prst="rect">
            <a:avLst/>
          </a:prstGeom>
          <a:solidFill>
            <a:srgbClr val="EAF7FE"/>
          </a:solidFill>
          <a:ln w="6350">
            <a:solidFill>
              <a:srgbClr val="D6EDF9"/>
            </a:solidFill>
            <a:prstDash val="solid"/>
          </a:ln>
        </p:spPr>
        <p:txBody>
          <a:bodyPr/>
          <a:lstStyle/>
          <a:p>
            <a:endParaRPr lang="en-US"/>
          </a:p>
        </p:txBody>
      </p:sp>
      <p:sp>
        <p:nvSpPr>
          <p:cNvPr id="35" name="Text 33"/>
          <p:cNvSpPr/>
          <p:nvPr/>
        </p:nvSpPr>
        <p:spPr>
          <a:xfrm>
            <a:off x="2286000" y="3072384"/>
            <a:ext cx="1078992" cy="237744"/>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TEXT</a:t>
            </a:r>
            <a:endParaRPr lang="en-US" sz="850" dirty="0"/>
          </a:p>
        </p:txBody>
      </p:sp>
      <p:sp>
        <p:nvSpPr>
          <p:cNvPr id="36" name="Shape 34"/>
          <p:cNvSpPr/>
          <p:nvPr/>
        </p:nvSpPr>
        <p:spPr>
          <a:xfrm>
            <a:off x="3474720" y="3072384"/>
            <a:ext cx="5175504" cy="237744"/>
          </a:xfrm>
          <a:prstGeom prst="rect">
            <a:avLst/>
          </a:prstGeom>
          <a:solidFill>
            <a:srgbClr val="EAF7FE"/>
          </a:solidFill>
          <a:ln w="6350">
            <a:solidFill>
              <a:srgbClr val="D6EDF9"/>
            </a:solidFill>
            <a:prstDash val="solid"/>
          </a:ln>
        </p:spPr>
        <p:txBody>
          <a:bodyPr/>
          <a:lstStyle/>
          <a:p>
            <a:endParaRPr lang="en-US"/>
          </a:p>
        </p:txBody>
      </p:sp>
      <p:sp>
        <p:nvSpPr>
          <p:cNvPr id="37" name="Text 35"/>
          <p:cNvSpPr/>
          <p:nvPr/>
        </p:nvSpPr>
        <p:spPr>
          <a:xfrm>
            <a:off x="3566160" y="3072384"/>
            <a:ext cx="5010912" cy="237744"/>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written by the model this afternoon, not by the user</a:t>
            </a:r>
            <a:endParaRPr lang="en-US" sz="850" dirty="0"/>
          </a:p>
        </p:txBody>
      </p:sp>
      <p:sp>
        <p:nvSpPr>
          <p:cNvPr id="38" name="Shape 36"/>
          <p:cNvSpPr/>
          <p:nvPr/>
        </p:nvSpPr>
        <p:spPr>
          <a:xfrm>
            <a:off x="457200" y="3328416"/>
            <a:ext cx="1700784" cy="237744"/>
          </a:xfrm>
          <a:prstGeom prst="rect">
            <a:avLst/>
          </a:prstGeom>
          <a:solidFill>
            <a:srgbClr val="FFFFFF"/>
          </a:solidFill>
          <a:ln w="6350">
            <a:solidFill>
              <a:srgbClr val="D6EDF9"/>
            </a:solidFill>
            <a:prstDash val="solid"/>
          </a:ln>
        </p:spPr>
        <p:txBody>
          <a:bodyPr/>
          <a:lstStyle/>
          <a:p>
            <a:endParaRPr lang="en-US"/>
          </a:p>
        </p:txBody>
      </p:sp>
      <p:sp>
        <p:nvSpPr>
          <p:cNvPr id="39" name="Text 37"/>
          <p:cNvSpPr/>
          <p:nvPr/>
        </p:nvSpPr>
        <p:spPr>
          <a:xfrm>
            <a:off x="548640" y="3328416"/>
            <a:ext cx="1536192" cy="237744"/>
          </a:xfrm>
          <a:prstGeom prst="rect">
            <a:avLst/>
          </a:prstGeom>
          <a:noFill/>
          <a:ln/>
        </p:spPr>
        <p:txBody>
          <a:bodyPr wrap="square" lIns="0" tIns="0" rIns="0" bIns="0" rtlCol="0" anchor="ctr"/>
          <a:lstStyle/>
          <a:p>
            <a:pPr marL="0" indent="0">
              <a:buNone/>
            </a:pPr>
            <a:r>
              <a:rPr lang="en-US" sz="750" b="1" dirty="0">
                <a:solidFill>
                  <a:srgbClr val="00879B"/>
                </a:solidFill>
                <a:latin typeface="Courier New" pitchFamily="34" charset="0"/>
                <a:ea typeface="Courier New" pitchFamily="34" charset="-122"/>
                <a:cs typeface="Courier New" pitchFamily="34" charset="-120"/>
              </a:rPr>
              <a:t>user_id</a:t>
            </a:r>
            <a:endParaRPr lang="en-US" sz="750" dirty="0"/>
          </a:p>
        </p:txBody>
      </p:sp>
      <p:sp>
        <p:nvSpPr>
          <p:cNvPr id="40" name="Shape 38"/>
          <p:cNvSpPr/>
          <p:nvPr/>
        </p:nvSpPr>
        <p:spPr>
          <a:xfrm>
            <a:off x="2194560" y="3328416"/>
            <a:ext cx="1243584" cy="237744"/>
          </a:xfrm>
          <a:prstGeom prst="rect">
            <a:avLst/>
          </a:prstGeom>
          <a:solidFill>
            <a:srgbClr val="FFFFFF"/>
          </a:solidFill>
          <a:ln w="6350">
            <a:solidFill>
              <a:srgbClr val="D6EDF9"/>
            </a:solidFill>
            <a:prstDash val="solid"/>
          </a:ln>
        </p:spPr>
        <p:txBody>
          <a:bodyPr/>
          <a:lstStyle/>
          <a:p>
            <a:endParaRPr lang="en-US"/>
          </a:p>
        </p:txBody>
      </p:sp>
      <p:sp>
        <p:nvSpPr>
          <p:cNvPr id="41" name="Text 39"/>
          <p:cNvSpPr/>
          <p:nvPr/>
        </p:nvSpPr>
        <p:spPr>
          <a:xfrm>
            <a:off x="2286000" y="3328416"/>
            <a:ext cx="1078992" cy="237744"/>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INTEGER</a:t>
            </a:r>
            <a:endParaRPr lang="en-US" sz="850" dirty="0"/>
          </a:p>
        </p:txBody>
      </p:sp>
      <p:sp>
        <p:nvSpPr>
          <p:cNvPr id="42" name="Shape 40"/>
          <p:cNvSpPr/>
          <p:nvPr/>
        </p:nvSpPr>
        <p:spPr>
          <a:xfrm>
            <a:off x="3474720" y="3328416"/>
            <a:ext cx="5175504" cy="237744"/>
          </a:xfrm>
          <a:prstGeom prst="rect">
            <a:avLst/>
          </a:prstGeom>
          <a:solidFill>
            <a:srgbClr val="FFFFFF"/>
          </a:solidFill>
          <a:ln w="6350">
            <a:solidFill>
              <a:srgbClr val="D6EDF9"/>
            </a:solidFill>
            <a:prstDash val="solid"/>
          </a:ln>
        </p:spPr>
        <p:txBody>
          <a:bodyPr/>
          <a:lstStyle/>
          <a:p>
            <a:endParaRPr lang="en-US"/>
          </a:p>
        </p:txBody>
      </p:sp>
      <p:sp>
        <p:nvSpPr>
          <p:cNvPr id="43" name="Text 41"/>
          <p:cNvSpPr/>
          <p:nvPr/>
        </p:nvSpPr>
        <p:spPr>
          <a:xfrm>
            <a:off x="3566160" y="3328416"/>
            <a:ext cx="5010912" cy="237744"/>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does nothing today. You will need it tomorrow.</a:t>
            </a:r>
            <a:endParaRPr lang="en-US" sz="850" dirty="0"/>
          </a:p>
        </p:txBody>
      </p:sp>
      <p:sp>
        <p:nvSpPr>
          <p:cNvPr id="44" name="Shape 42"/>
          <p:cNvSpPr/>
          <p:nvPr/>
        </p:nvSpPr>
        <p:spPr>
          <a:xfrm>
            <a:off x="457200" y="3584448"/>
            <a:ext cx="1700784" cy="237744"/>
          </a:xfrm>
          <a:prstGeom prst="rect">
            <a:avLst/>
          </a:prstGeom>
          <a:solidFill>
            <a:srgbClr val="EAF7FE"/>
          </a:solidFill>
          <a:ln w="6350">
            <a:solidFill>
              <a:srgbClr val="D6EDF9"/>
            </a:solidFill>
            <a:prstDash val="solid"/>
          </a:ln>
        </p:spPr>
        <p:txBody>
          <a:bodyPr/>
          <a:lstStyle/>
          <a:p>
            <a:endParaRPr lang="en-US"/>
          </a:p>
        </p:txBody>
      </p:sp>
      <p:sp>
        <p:nvSpPr>
          <p:cNvPr id="45" name="Text 43"/>
          <p:cNvSpPr/>
          <p:nvPr/>
        </p:nvSpPr>
        <p:spPr>
          <a:xfrm>
            <a:off x="548640" y="3584448"/>
            <a:ext cx="1536192" cy="237744"/>
          </a:xfrm>
          <a:prstGeom prst="rect">
            <a:avLst/>
          </a:prstGeom>
          <a:noFill/>
          <a:ln/>
        </p:spPr>
        <p:txBody>
          <a:bodyPr wrap="square" lIns="0" tIns="0" rIns="0" bIns="0" rtlCol="0" anchor="ctr"/>
          <a:lstStyle/>
          <a:p>
            <a:pPr marL="0" indent="0">
              <a:buNone/>
            </a:pPr>
            <a:r>
              <a:rPr lang="en-US" sz="750" b="1" dirty="0">
                <a:solidFill>
                  <a:srgbClr val="00879B"/>
                </a:solidFill>
                <a:latin typeface="Courier New" pitchFamily="34" charset="0"/>
                <a:ea typeface="Courier New" pitchFamily="34" charset="-122"/>
                <a:cs typeface="Courier New" pitchFamily="34" charset="-120"/>
              </a:rPr>
              <a:t>due_date</a:t>
            </a:r>
            <a:endParaRPr lang="en-US" sz="750" dirty="0"/>
          </a:p>
        </p:txBody>
      </p:sp>
      <p:sp>
        <p:nvSpPr>
          <p:cNvPr id="46" name="Shape 44"/>
          <p:cNvSpPr/>
          <p:nvPr/>
        </p:nvSpPr>
        <p:spPr>
          <a:xfrm>
            <a:off x="2194560" y="3584448"/>
            <a:ext cx="1243584" cy="237744"/>
          </a:xfrm>
          <a:prstGeom prst="rect">
            <a:avLst/>
          </a:prstGeom>
          <a:solidFill>
            <a:srgbClr val="EAF7FE"/>
          </a:solidFill>
          <a:ln w="6350">
            <a:solidFill>
              <a:srgbClr val="D6EDF9"/>
            </a:solidFill>
            <a:prstDash val="solid"/>
          </a:ln>
        </p:spPr>
        <p:txBody>
          <a:bodyPr/>
          <a:lstStyle/>
          <a:p>
            <a:endParaRPr lang="en-US"/>
          </a:p>
        </p:txBody>
      </p:sp>
      <p:sp>
        <p:nvSpPr>
          <p:cNvPr id="47" name="Text 45"/>
          <p:cNvSpPr/>
          <p:nvPr/>
        </p:nvSpPr>
        <p:spPr>
          <a:xfrm>
            <a:off x="2286000" y="3584448"/>
            <a:ext cx="1078992" cy="237744"/>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TEXT</a:t>
            </a:r>
            <a:endParaRPr lang="en-US" sz="850" dirty="0"/>
          </a:p>
        </p:txBody>
      </p:sp>
      <p:sp>
        <p:nvSpPr>
          <p:cNvPr id="48" name="Shape 46"/>
          <p:cNvSpPr/>
          <p:nvPr/>
        </p:nvSpPr>
        <p:spPr>
          <a:xfrm>
            <a:off x="3474720" y="3584448"/>
            <a:ext cx="5175504" cy="237744"/>
          </a:xfrm>
          <a:prstGeom prst="rect">
            <a:avLst/>
          </a:prstGeom>
          <a:solidFill>
            <a:srgbClr val="EAF7FE"/>
          </a:solidFill>
          <a:ln w="6350">
            <a:solidFill>
              <a:srgbClr val="D6EDF9"/>
            </a:solidFill>
            <a:prstDash val="solid"/>
          </a:ln>
        </p:spPr>
        <p:txBody>
          <a:bodyPr/>
          <a:lstStyle/>
          <a:p>
            <a:endParaRPr lang="en-US"/>
          </a:p>
        </p:txBody>
      </p:sp>
      <p:sp>
        <p:nvSpPr>
          <p:cNvPr id="49" name="Text 47"/>
          <p:cNvSpPr/>
          <p:nvPr/>
        </p:nvSpPr>
        <p:spPr>
          <a:xfrm>
            <a:off x="3566160" y="3584448"/>
            <a:ext cx="5010912" cy="237744"/>
          </a:xfrm>
          <a:prstGeom prst="rect">
            <a:avLst/>
          </a:prstGeom>
          <a:noFill/>
          <a:ln/>
        </p:spPr>
        <p:txBody>
          <a:bodyPr wrap="square" lIns="0" tIns="0" rIns="0" bIns="0" rtlCol="0" anchor="ctr"/>
          <a:lstStyle/>
          <a:p>
            <a:pPr marL="0" indent="0">
              <a:buNone/>
            </a:pPr>
            <a:r>
              <a:rPr lang="en-US" sz="850" dirty="0">
                <a:solidFill>
                  <a:srgbClr val="0A2A43"/>
                </a:solidFill>
                <a:latin typeface="Calibri" pitchFamily="34" charset="0"/>
                <a:ea typeface="Calibri" pitchFamily="34" charset="-122"/>
                <a:cs typeface="Calibri" pitchFamily="34" charset="-120"/>
              </a:rPr>
              <a:t>does nothing today. Your agent will need it on Friday.</a:t>
            </a:r>
            <a:endParaRPr lang="en-US" sz="850" dirty="0"/>
          </a:p>
        </p:txBody>
      </p:sp>
      <p:sp>
        <p:nvSpPr>
          <p:cNvPr id="50" name="Shape 48"/>
          <p:cNvSpPr/>
          <p:nvPr/>
        </p:nvSpPr>
        <p:spPr>
          <a:xfrm>
            <a:off x="457200" y="3913632"/>
            <a:ext cx="8229600" cy="274320"/>
          </a:xfrm>
          <a:prstGeom prst="rect">
            <a:avLst/>
          </a:prstGeom>
          <a:solidFill>
            <a:srgbClr val="FDEAEA"/>
          </a:solidFill>
          <a:ln w="12700">
            <a:solidFill>
              <a:srgbClr val="FDEAEA"/>
            </a:solidFill>
            <a:prstDash val="solid"/>
          </a:ln>
        </p:spPr>
        <p:txBody>
          <a:bodyPr/>
          <a:lstStyle/>
          <a:p>
            <a:endParaRPr lang="en-US"/>
          </a:p>
        </p:txBody>
      </p:sp>
      <p:sp>
        <p:nvSpPr>
          <p:cNvPr id="51" name="Text 49"/>
          <p:cNvSpPr/>
          <p:nvPr/>
        </p:nvSpPr>
        <p:spPr>
          <a:xfrm>
            <a:off x="566928" y="3913632"/>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Adding a column now is free. Adding one on Thursday means a migration, and possibly losing everyone's data mid-workshop. That is why those two are already there.</a:t>
            </a:r>
            <a:endParaRPr lang="en-US" sz="800" dirty="0"/>
          </a:p>
        </p:txBody>
      </p:sp>
      <p:sp>
        <p:nvSpPr>
          <p:cNvPr id="52" name="Shape 50"/>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53" name="Shape 51"/>
          <p:cNvSpPr/>
          <p:nvPr/>
        </p:nvSpPr>
        <p:spPr>
          <a:xfrm>
            <a:off x="457200" y="4334256"/>
            <a:ext cx="54864" cy="512064"/>
          </a:xfrm>
          <a:prstGeom prst="rect">
            <a:avLst/>
          </a:prstGeom>
          <a:solidFill>
            <a:srgbClr val="00879B"/>
          </a:solidFill>
          <a:ln w="12700">
            <a:solidFill>
              <a:srgbClr val="00879B"/>
            </a:solidFill>
            <a:prstDash val="solid"/>
          </a:ln>
        </p:spPr>
        <p:txBody>
          <a:bodyPr/>
          <a:lstStyle/>
          <a:p>
            <a:endParaRPr lang="en-US"/>
          </a:p>
        </p:txBody>
      </p:sp>
      <p:sp>
        <p:nvSpPr>
          <p:cNvPr id="54" name="Text 52"/>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You write the queries, not the schema. Your thinking time today belongs to Block 3, not to typing CREATE TABLE.</a:t>
            </a:r>
            <a:endParaRPr lang="en-US" sz="1000" dirty="0"/>
          </a:p>
        </p:txBody>
      </p:sp>
    </p:spTree>
    <p:extLst>
      <p:ext uri="{BB962C8B-B14F-4D97-AF65-F5344CB8AC3E}">
        <p14:creationId xmlns:p14="http://schemas.microsoft.com/office/powerpoint/2010/main" val="746166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79B"/>
          </a:solidFill>
          <a:ln w="12700">
            <a:solidFill>
              <a:srgbClr val="00879B"/>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5C7C93"/>
                </a:solidFill>
                <a:latin typeface="Calibri" pitchFamily="34" charset="0"/>
                <a:ea typeface="Calibri" pitchFamily="34" charset="-122"/>
                <a:cs typeface="Calibri" pitchFamily="34" charset="-120"/>
              </a:rPr>
              <a:t>BLOCK 2</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Four Statements Cover Everything You Build Today</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Shape 4"/>
          <p:cNvSpPr/>
          <p:nvPr/>
        </p:nvSpPr>
        <p:spPr>
          <a:xfrm>
            <a:off x="457200" y="987552"/>
            <a:ext cx="8229600" cy="493776"/>
          </a:xfrm>
          <a:prstGeom prst="rect">
            <a:avLst/>
          </a:prstGeom>
          <a:solidFill>
            <a:srgbClr val="FFFFFF"/>
          </a:solidFill>
          <a:ln w="9525">
            <a:solidFill>
              <a:srgbClr val="D6EDF9"/>
            </a:solidFill>
            <a:prstDash val="solid"/>
          </a:ln>
        </p:spPr>
        <p:txBody>
          <a:bodyPr/>
          <a:lstStyle/>
          <a:p>
            <a:endParaRPr lang="en-US"/>
          </a:p>
        </p:txBody>
      </p:sp>
      <p:sp>
        <p:nvSpPr>
          <p:cNvPr id="7" name="Shape 5"/>
          <p:cNvSpPr/>
          <p:nvPr/>
        </p:nvSpPr>
        <p:spPr>
          <a:xfrm>
            <a:off x="457200" y="987552"/>
            <a:ext cx="1005840" cy="493776"/>
          </a:xfrm>
          <a:prstGeom prst="rect">
            <a:avLst/>
          </a:prstGeom>
          <a:solidFill>
            <a:srgbClr val="12795C"/>
          </a:solidFill>
          <a:ln w="12700">
            <a:solidFill>
              <a:srgbClr val="12795C"/>
            </a:solidFill>
            <a:prstDash val="solid"/>
          </a:ln>
        </p:spPr>
        <p:txBody>
          <a:bodyPr/>
          <a:lstStyle/>
          <a:p>
            <a:endParaRPr lang="en-US"/>
          </a:p>
        </p:txBody>
      </p:sp>
      <p:sp>
        <p:nvSpPr>
          <p:cNvPr id="8" name="Text 6"/>
          <p:cNvSpPr/>
          <p:nvPr/>
        </p:nvSpPr>
        <p:spPr>
          <a:xfrm>
            <a:off x="457200" y="987552"/>
            <a:ext cx="1005840" cy="49377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INSERT</a:t>
            </a:r>
            <a:endParaRPr lang="en-US" sz="800" dirty="0"/>
          </a:p>
        </p:txBody>
      </p:sp>
      <p:sp>
        <p:nvSpPr>
          <p:cNvPr id="9" name="Text 7"/>
          <p:cNvSpPr/>
          <p:nvPr/>
        </p:nvSpPr>
        <p:spPr>
          <a:xfrm>
            <a:off x="1609344" y="987552"/>
            <a:ext cx="4937760" cy="493776"/>
          </a:xfrm>
          <a:prstGeom prst="rect">
            <a:avLst/>
          </a:prstGeom>
          <a:noFill/>
          <a:ln/>
        </p:spPr>
        <p:txBody>
          <a:bodyPr wrap="square" lIns="0" tIns="0" rIns="0" bIns="0" rtlCol="0" anchor="ctr"/>
          <a:lstStyle/>
          <a:p>
            <a:pPr marL="0" indent="0">
              <a:buNone/>
            </a:pPr>
            <a:r>
              <a:rPr lang="en-US" sz="850" b="1" dirty="0">
                <a:solidFill>
                  <a:srgbClr val="0A2A43"/>
                </a:solidFill>
                <a:latin typeface="Courier New" pitchFamily="34" charset="0"/>
                <a:ea typeface="Courier New" pitchFamily="34" charset="-122"/>
                <a:cs typeface="Courier New" pitchFamily="34" charset="-120"/>
              </a:rPr>
              <a:t>INSERT INTO records (title, body) VALUES (?, ?)</a:t>
            </a:r>
            <a:endParaRPr lang="en-US" sz="850" dirty="0"/>
          </a:p>
        </p:txBody>
      </p:sp>
      <p:sp>
        <p:nvSpPr>
          <p:cNvPr id="10" name="Text 8"/>
          <p:cNvSpPr/>
          <p:nvPr/>
        </p:nvSpPr>
        <p:spPr>
          <a:xfrm>
            <a:off x="6620256" y="987552"/>
            <a:ext cx="1956816" cy="493776"/>
          </a:xfrm>
          <a:prstGeom prst="rect">
            <a:avLst/>
          </a:prstGeom>
          <a:noFill/>
          <a:ln/>
        </p:spPr>
        <p:txBody>
          <a:bodyPr wrap="square" lIns="0" tIns="0" rIns="0" bIns="0" rtlCol="0" anchor="ctr"/>
          <a:lstStyle/>
          <a:p>
            <a:pPr marL="0" indent="0" algn="r">
              <a:buNone/>
            </a:pPr>
            <a:r>
              <a:rPr lang="en-US" sz="800" dirty="0">
                <a:solidFill>
                  <a:srgbClr val="5C7C93"/>
                </a:solidFill>
                <a:latin typeface="Calibri" pitchFamily="34" charset="0"/>
                <a:ea typeface="Calibri" pitchFamily="34" charset="-122"/>
                <a:cs typeface="Calibri" pitchFamily="34" charset="-120"/>
              </a:rPr>
              <a:t>POST — create</a:t>
            </a:r>
            <a:endParaRPr lang="en-US" sz="800" dirty="0"/>
          </a:p>
        </p:txBody>
      </p:sp>
      <p:sp>
        <p:nvSpPr>
          <p:cNvPr id="11" name="Shape 9"/>
          <p:cNvSpPr/>
          <p:nvPr/>
        </p:nvSpPr>
        <p:spPr>
          <a:xfrm>
            <a:off x="457200" y="1554480"/>
            <a:ext cx="8229600" cy="493776"/>
          </a:xfrm>
          <a:prstGeom prst="rect">
            <a:avLst/>
          </a:prstGeom>
          <a:solidFill>
            <a:srgbClr val="FFFFFF"/>
          </a:solidFill>
          <a:ln w="9525">
            <a:solidFill>
              <a:srgbClr val="D6EDF9"/>
            </a:solidFill>
            <a:prstDash val="solid"/>
          </a:ln>
        </p:spPr>
        <p:txBody>
          <a:bodyPr/>
          <a:lstStyle/>
          <a:p>
            <a:endParaRPr lang="en-US"/>
          </a:p>
        </p:txBody>
      </p:sp>
      <p:sp>
        <p:nvSpPr>
          <p:cNvPr id="12" name="Shape 10"/>
          <p:cNvSpPr/>
          <p:nvPr/>
        </p:nvSpPr>
        <p:spPr>
          <a:xfrm>
            <a:off x="457200" y="1554480"/>
            <a:ext cx="1005840" cy="493776"/>
          </a:xfrm>
          <a:prstGeom prst="rect">
            <a:avLst/>
          </a:prstGeom>
          <a:solidFill>
            <a:srgbClr val="0077B6"/>
          </a:solidFill>
          <a:ln w="12700">
            <a:solidFill>
              <a:srgbClr val="0077B6"/>
            </a:solidFill>
            <a:prstDash val="solid"/>
          </a:ln>
        </p:spPr>
        <p:txBody>
          <a:bodyPr/>
          <a:lstStyle/>
          <a:p>
            <a:endParaRPr lang="en-US"/>
          </a:p>
        </p:txBody>
      </p:sp>
      <p:sp>
        <p:nvSpPr>
          <p:cNvPr id="13" name="Text 11"/>
          <p:cNvSpPr/>
          <p:nvPr/>
        </p:nvSpPr>
        <p:spPr>
          <a:xfrm>
            <a:off x="457200" y="1554480"/>
            <a:ext cx="1005840" cy="49377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SELECT</a:t>
            </a:r>
            <a:endParaRPr lang="en-US" sz="800" dirty="0"/>
          </a:p>
        </p:txBody>
      </p:sp>
      <p:sp>
        <p:nvSpPr>
          <p:cNvPr id="14" name="Text 12"/>
          <p:cNvSpPr/>
          <p:nvPr/>
        </p:nvSpPr>
        <p:spPr>
          <a:xfrm>
            <a:off x="1609344" y="1554480"/>
            <a:ext cx="4937760" cy="493776"/>
          </a:xfrm>
          <a:prstGeom prst="rect">
            <a:avLst/>
          </a:prstGeom>
          <a:noFill/>
          <a:ln/>
        </p:spPr>
        <p:txBody>
          <a:bodyPr wrap="square" lIns="0" tIns="0" rIns="0" bIns="0" rtlCol="0" anchor="ctr"/>
          <a:lstStyle/>
          <a:p>
            <a:pPr marL="0" indent="0">
              <a:buNone/>
            </a:pPr>
            <a:r>
              <a:rPr lang="en-US" sz="850" b="1" dirty="0">
                <a:solidFill>
                  <a:srgbClr val="0A2A43"/>
                </a:solidFill>
                <a:latin typeface="Courier New" pitchFamily="34" charset="0"/>
                <a:ea typeface="Courier New" pitchFamily="34" charset="-122"/>
                <a:cs typeface="Courier New" pitchFamily="34" charset="-120"/>
              </a:rPr>
              <a:t>SELECT * FROM records ORDER BY id DESC</a:t>
            </a:r>
            <a:endParaRPr lang="en-US" sz="850" dirty="0"/>
          </a:p>
        </p:txBody>
      </p:sp>
      <p:sp>
        <p:nvSpPr>
          <p:cNvPr id="15" name="Text 13"/>
          <p:cNvSpPr/>
          <p:nvPr/>
        </p:nvSpPr>
        <p:spPr>
          <a:xfrm>
            <a:off x="6620256" y="1554480"/>
            <a:ext cx="1956816" cy="493776"/>
          </a:xfrm>
          <a:prstGeom prst="rect">
            <a:avLst/>
          </a:prstGeom>
          <a:noFill/>
          <a:ln/>
        </p:spPr>
        <p:txBody>
          <a:bodyPr wrap="square" lIns="0" tIns="0" rIns="0" bIns="0" rtlCol="0" anchor="ctr"/>
          <a:lstStyle/>
          <a:p>
            <a:pPr marL="0" indent="0" algn="r">
              <a:buNone/>
            </a:pPr>
            <a:r>
              <a:rPr lang="en-US" sz="800" dirty="0">
                <a:solidFill>
                  <a:srgbClr val="5C7C93"/>
                </a:solidFill>
                <a:latin typeface="Calibri" pitchFamily="34" charset="0"/>
                <a:ea typeface="Calibri" pitchFamily="34" charset="-122"/>
                <a:cs typeface="Calibri" pitchFamily="34" charset="-120"/>
              </a:rPr>
              <a:t>GET — list and read</a:t>
            </a:r>
            <a:endParaRPr lang="en-US" sz="800" dirty="0"/>
          </a:p>
        </p:txBody>
      </p:sp>
      <p:sp>
        <p:nvSpPr>
          <p:cNvPr id="16" name="Shape 14"/>
          <p:cNvSpPr/>
          <p:nvPr/>
        </p:nvSpPr>
        <p:spPr>
          <a:xfrm>
            <a:off x="457200" y="2121408"/>
            <a:ext cx="8229600" cy="493776"/>
          </a:xfrm>
          <a:prstGeom prst="rect">
            <a:avLst/>
          </a:prstGeom>
          <a:solidFill>
            <a:srgbClr val="FFFFFF"/>
          </a:solidFill>
          <a:ln w="9525">
            <a:solidFill>
              <a:srgbClr val="D6EDF9"/>
            </a:solidFill>
            <a:prstDash val="solid"/>
          </a:ln>
        </p:spPr>
        <p:txBody>
          <a:bodyPr/>
          <a:lstStyle/>
          <a:p>
            <a:endParaRPr lang="en-US"/>
          </a:p>
        </p:txBody>
      </p:sp>
      <p:sp>
        <p:nvSpPr>
          <p:cNvPr id="17" name="Shape 15"/>
          <p:cNvSpPr/>
          <p:nvPr/>
        </p:nvSpPr>
        <p:spPr>
          <a:xfrm>
            <a:off x="457200" y="2121408"/>
            <a:ext cx="1005840" cy="493776"/>
          </a:xfrm>
          <a:prstGeom prst="rect">
            <a:avLst/>
          </a:prstGeom>
          <a:solidFill>
            <a:srgbClr val="B86A0E"/>
          </a:solidFill>
          <a:ln w="12700">
            <a:solidFill>
              <a:srgbClr val="B86A0E"/>
            </a:solidFill>
            <a:prstDash val="solid"/>
          </a:ln>
        </p:spPr>
        <p:txBody>
          <a:bodyPr/>
          <a:lstStyle/>
          <a:p>
            <a:endParaRPr lang="en-US"/>
          </a:p>
        </p:txBody>
      </p:sp>
      <p:sp>
        <p:nvSpPr>
          <p:cNvPr id="18" name="Text 16"/>
          <p:cNvSpPr/>
          <p:nvPr/>
        </p:nvSpPr>
        <p:spPr>
          <a:xfrm>
            <a:off x="457200" y="2121408"/>
            <a:ext cx="1005840" cy="49377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UPDATE</a:t>
            </a:r>
            <a:endParaRPr lang="en-US" sz="800" dirty="0"/>
          </a:p>
        </p:txBody>
      </p:sp>
      <p:sp>
        <p:nvSpPr>
          <p:cNvPr id="19" name="Text 17"/>
          <p:cNvSpPr/>
          <p:nvPr/>
        </p:nvSpPr>
        <p:spPr>
          <a:xfrm>
            <a:off x="1609344" y="2121408"/>
            <a:ext cx="4937760" cy="493776"/>
          </a:xfrm>
          <a:prstGeom prst="rect">
            <a:avLst/>
          </a:prstGeom>
          <a:noFill/>
          <a:ln/>
        </p:spPr>
        <p:txBody>
          <a:bodyPr wrap="square" lIns="0" tIns="0" rIns="0" bIns="0" rtlCol="0" anchor="ctr"/>
          <a:lstStyle/>
          <a:p>
            <a:pPr marL="0" indent="0">
              <a:buNone/>
            </a:pPr>
            <a:r>
              <a:rPr lang="en-US" sz="850" b="1" dirty="0">
                <a:solidFill>
                  <a:srgbClr val="0A2A43"/>
                </a:solidFill>
                <a:latin typeface="Courier New" pitchFamily="34" charset="0"/>
                <a:ea typeface="Courier New" pitchFamily="34" charset="-122"/>
                <a:cs typeface="Courier New" pitchFamily="34" charset="-120"/>
              </a:rPr>
              <a:t>UPDATE records SET summary = ? WHERE id = ?</a:t>
            </a:r>
            <a:endParaRPr lang="en-US" sz="850" dirty="0"/>
          </a:p>
        </p:txBody>
      </p:sp>
      <p:sp>
        <p:nvSpPr>
          <p:cNvPr id="20" name="Text 18"/>
          <p:cNvSpPr/>
          <p:nvPr/>
        </p:nvSpPr>
        <p:spPr>
          <a:xfrm>
            <a:off x="6620256" y="2121408"/>
            <a:ext cx="1956816" cy="493776"/>
          </a:xfrm>
          <a:prstGeom prst="rect">
            <a:avLst/>
          </a:prstGeom>
          <a:noFill/>
          <a:ln/>
        </p:spPr>
        <p:txBody>
          <a:bodyPr wrap="square" lIns="0" tIns="0" rIns="0" bIns="0" rtlCol="0" anchor="ctr"/>
          <a:lstStyle/>
          <a:p>
            <a:pPr marL="0" indent="0" algn="r">
              <a:buNone/>
            </a:pPr>
            <a:r>
              <a:rPr lang="en-US" sz="800" dirty="0">
                <a:solidFill>
                  <a:srgbClr val="5C7C93"/>
                </a:solidFill>
                <a:latin typeface="Calibri" pitchFamily="34" charset="0"/>
                <a:ea typeface="Calibri" pitchFamily="34" charset="-122"/>
                <a:cs typeface="Calibri" pitchFamily="34" charset="-120"/>
              </a:rPr>
              <a:t>PUT and enrich</a:t>
            </a:r>
            <a:endParaRPr lang="en-US" sz="800" dirty="0"/>
          </a:p>
        </p:txBody>
      </p:sp>
      <p:sp>
        <p:nvSpPr>
          <p:cNvPr id="21" name="Shape 19"/>
          <p:cNvSpPr/>
          <p:nvPr/>
        </p:nvSpPr>
        <p:spPr>
          <a:xfrm>
            <a:off x="457200" y="2688336"/>
            <a:ext cx="8229600" cy="493776"/>
          </a:xfrm>
          <a:prstGeom prst="rect">
            <a:avLst/>
          </a:prstGeom>
          <a:solidFill>
            <a:srgbClr val="FFFFFF"/>
          </a:solidFill>
          <a:ln w="9525">
            <a:solidFill>
              <a:srgbClr val="D6EDF9"/>
            </a:solidFill>
            <a:prstDash val="solid"/>
          </a:ln>
        </p:spPr>
        <p:txBody>
          <a:bodyPr/>
          <a:lstStyle/>
          <a:p>
            <a:endParaRPr lang="en-US"/>
          </a:p>
        </p:txBody>
      </p:sp>
      <p:sp>
        <p:nvSpPr>
          <p:cNvPr id="22" name="Shape 20"/>
          <p:cNvSpPr/>
          <p:nvPr/>
        </p:nvSpPr>
        <p:spPr>
          <a:xfrm>
            <a:off x="457200" y="2688336"/>
            <a:ext cx="1005840" cy="493776"/>
          </a:xfrm>
          <a:prstGeom prst="rect">
            <a:avLst/>
          </a:prstGeom>
          <a:solidFill>
            <a:srgbClr val="B83232"/>
          </a:solidFill>
          <a:ln w="12700">
            <a:solidFill>
              <a:srgbClr val="B83232"/>
            </a:solidFill>
            <a:prstDash val="solid"/>
          </a:ln>
        </p:spPr>
        <p:txBody>
          <a:bodyPr/>
          <a:lstStyle/>
          <a:p>
            <a:endParaRPr lang="en-US"/>
          </a:p>
        </p:txBody>
      </p:sp>
      <p:sp>
        <p:nvSpPr>
          <p:cNvPr id="23" name="Text 21"/>
          <p:cNvSpPr/>
          <p:nvPr/>
        </p:nvSpPr>
        <p:spPr>
          <a:xfrm>
            <a:off x="457200" y="2688336"/>
            <a:ext cx="1005840" cy="49377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DELETE</a:t>
            </a:r>
            <a:endParaRPr lang="en-US" sz="800" dirty="0"/>
          </a:p>
        </p:txBody>
      </p:sp>
      <p:sp>
        <p:nvSpPr>
          <p:cNvPr id="24" name="Text 22"/>
          <p:cNvSpPr/>
          <p:nvPr/>
        </p:nvSpPr>
        <p:spPr>
          <a:xfrm>
            <a:off x="1609344" y="2688336"/>
            <a:ext cx="4937760" cy="493776"/>
          </a:xfrm>
          <a:prstGeom prst="rect">
            <a:avLst/>
          </a:prstGeom>
          <a:noFill/>
          <a:ln/>
        </p:spPr>
        <p:txBody>
          <a:bodyPr wrap="square" lIns="0" tIns="0" rIns="0" bIns="0" rtlCol="0" anchor="ctr"/>
          <a:lstStyle/>
          <a:p>
            <a:pPr marL="0" indent="0">
              <a:buNone/>
            </a:pPr>
            <a:r>
              <a:rPr lang="en-US" sz="850" b="1" dirty="0">
                <a:solidFill>
                  <a:srgbClr val="0A2A43"/>
                </a:solidFill>
                <a:latin typeface="Courier New" pitchFamily="34" charset="0"/>
                <a:ea typeface="Courier New" pitchFamily="34" charset="-122"/>
                <a:cs typeface="Courier New" pitchFamily="34" charset="-120"/>
              </a:rPr>
              <a:t>DELETE FROM records WHERE id = ?</a:t>
            </a:r>
            <a:endParaRPr lang="en-US" sz="850" dirty="0"/>
          </a:p>
        </p:txBody>
      </p:sp>
      <p:sp>
        <p:nvSpPr>
          <p:cNvPr id="25" name="Text 23"/>
          <p:cNvSpPr/>
          <p:nvPr/>
        </p:nvSpPr>
        <p:spPr>
          <a:xfrm>
            <a:off x="6620256" y="2688336"/>
            <a:ext cx="1956816" cy="493776"/>
          </a:xfrm>
          <a:prstGeom prst="rect">
            <a:avLst/>
          </a:prstGeom>
          <a:noFill/>
          <a:ln/>
        </p:spPr>
        <p:txBody>
          <a:bodyPr wrap="square" lIns="0" tIns="0" rIns="0" bIns="0" rtlCol="0" anchor="ctr"/>
          <a:lstStyle/>
          <a:p>
            <a:pPr marL="0" indent="0" algn="r">
              <a:buNone/>
            </a:pPr>
            <a:r>
              <a:rPr lang="en-US" sz="800" dirty="0">
                <a:solidFill>
                  <a:srgbClr val="5C7C93"/>
                </a:solidFill>
                <a:latin typeface="Calibri" pitchFamily="34" charset="0"/>
                <a:ea typeface="Calibri" pitchFamily="34" charset="-122"/>
                <a:cs typeface="Calibri" pitchFamily="34" charset="-120"/>
              </a:rPr>
              <a:t>DELETE — remove</a:t>
            </a:r>
            <a:endParaRPr lang="en-US" sz="800" dirty="0"/>
          </a:p>
        </p:txBody>
      </p:sp>
      <p:sp>
        <p:nvSpPr>
          <p:cNvPr id="26" name="Shape 24"/>
          <p:cNvSpPr/>
          <p:nvPr/>
        </p:nvSpPr>
        <p:spPr>
          <a:xfrm>
            <a:off x="457200" y="3291840"/>
            <a:ext cx="8229600" cy="658368"/>
          </a:xfrm>
          <a:prstGeom prst="rect">
            <a:avLst/>
          </a:prstGeom>
          <a:solidFill>
            <a:srgbClr val="EAF7FE"/>
          </a:solidFill>
          <a:ln w="12700">
            <a:solidFill>
              <a:srgbClr val="EAF7FE"/>
            </a:solidFill>
            <a:prstDash val="solid"/>
          </a:ln>
        </p:spPr>
        <p:txBody>
          <a:bodyPr/>
          <a:lstStyle/>
          <a:p>
            <a:endParaRPr lang="en-US"/>
          </a:p>
        </p:txBody>
      </p:sp>
      <p:sp>
        <p:nvSpPr>
          <p:cNvPr id="27" name="Shape 25"/>
          <p:cNvSpPr/>
          <p:nvPr/>
        </p:nvSpPr>
        <p:spPr>
          <a:xfrm>
            <a:off x="457200" y="3291840"/>
            <a:ext cx="54864" cy="658368"/>
          </a:xfrm>
          <a:prstGeom prst="rect">
            <a:avLst/>
          </a:prstGeom>
          <a:solidFill>
            <a:srgbClr val="2E5AA8"/>
          </a:solidFill>
          <a:ln w="12700">
            <a:solidFill>
              <a:srgbClr val="2E5AA8"/>
            </a:solidFill>
            <a:prstDash val="solid"/>
          </a:ln>
        </p:spPr>
        <p:txBody>
          <a:bodyPr/>
          <a:lstStyle/>
          <a:p>
            <a:endParaRPr lang="en-US"/>
          </a:p>
        </p:txBody>
      </p:sp>
      <p:sp>
        <p:nvSpPr>
          <p:cNvPr id="28" name="Text 26"/>
          <p:cNvSpPr/>
          <p:nvPr/>
        </p:nvSpPr>
        <p:spPr>
          <a:xfrm>
            <a:off x="658368" y="3364992"/>
            <a:ext cx="5486400" cy="182880"/>
          </a:xfrm>
          <a:prstGeom prst="rect">
            <a:avLst/>
          </a:prstGeom>
          <a:noFill/>
          <a:ln/>
        </p:spPr>
        <p:txBody>
          <a:bodyPr wrap="square" lIns="0" tIns="0" rIns="0" bIns="0" rtlCol="0" anchor="ctr"/>
          <a:lstStyle/>
          <a:p>
            <a:pPr marL="0" indent="0">
              <a:buNone/>
            </a:pPr>
            <a:r>
              <a:rPr lang="en-US" sz="800" b="1" kern="0" spc="120" dirty="0">
                <a:solidFill>
                  <a:srgbClr val="2E5AA8"/>
                </a:solidFill>
                <a:latin typeface="Calibri" pitchFamily="34" charset="0"/>
                <a:ea typeface="Calibri" pitchFamily="34" charset="-122"/>
                <a:cs typeface="Calibri" pitchFamily="34" charset="-120"/>
              </a:rPr>
              <a:t>ONE THING SQLITE CANNOT DO: STORE AN ARRAY</a:t>
            </a:r>
            <a:endParaRPr lang="en-US" sz="800" dirty="0"/>
          </a:p>
        </p:txBody>
      </p:sp>
      <p:sp>
        <p:nvSpPr>
          <p:cNvPr id="29" name="Text 27"/>
          <p:cNvSpPr/>
          <p:nvPr/>
        </p:nvSpPr>
        <p:spPr>
          <a:xfrm>
            <a:off x="658368" y="3566160"/>
            <a:ext cx="7863840" cy="347472"/>
          </a:xfrm>
          <a:prstGeom prst="rect">
            <a:avLst/>
          </a:prstGeom>
          <a:noFill/>
          <a:ln/>
        </p:spPr>
        <p:txBody>
          <a:bodyPr wrap="square" lIns="0" tIns="0" rIns="0" bIns="0" rtlCol="0" anchor="ctr"/>
          <a:lstStyle/>
          <a:p>
            <a:pPr marL="0" indent="0">
              <a:buNone/>
            </a:pPr>
            <a:r>
              <a:rPr lang="en-US" sz="900" dirty="0">
                <a:solidFill>
                  <a:srgbClr val="0A2A43"/>
                </a:solidFill>
                <a:latin typeface="Calibri" pitchFamily="34" charset="0"/>
                <a:ea typeface="Calibri" pitchFamily="34" charset="-122"/>
                <a:cs typeface="Calibri" pitchFamily="34" charset="-120"/>
              </a:rPr>
              <a:t>Your tags are an array in JavaScript. Store JSON.stringify(tags) in a TEXT column and JSON.parse it on the way out. Remember this trick — you will use exactly the same one tomorrow to store embeddings.</a:t>
            </a:r>
            <a:endParaRPr lang="en-US" sz="900" dirty="0"/>
          </a:p>
        </p:txBody>
      </p:sp>
      <p:sp>
        <p:nvSpPr>
          <p:cNvPr id="30" name="Shape 28"/>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31" name="Shape 29"/>
          <p:cNvSpPr/>
          <p:nvPr/>
        </p:nvSpPr>
        <p:spPr>
          <a:xfrm>
            <a:off x="457200" y="4334256"/>
            <a:ext cx="54864" cy="512064"/>
          </a:xfrm>
          <a:prstGeom prst="rect">
            <a:avLst/>
          </a:prstGeom>
          <a:solidFill>
            <a:srgbClr val="00879B"/>
          </a:solidFill>
          <a:ln w="12700">
            <a:solidFill>
              <a:srgbClr val="00879B"/>
            </a:solidFill>
            <a:prstDash val="solid"/>
          </a:ln>
        </p:spPr>
        <p:txBody>
          <a:bodyPr/>
          <a:lstStyle/>
          <a:p>
            <a:endParaRPr lang="en-US"/>
          </a:p>
        </p:txBody>
      </p:sp>
      <p:sp>
        <p:nvSpPr>
          <p:cNvPr id="32" name="Text 30"/>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Four statements, five routes. If you can map each route to its statement, you have understood the whole block.</a:t>
            </a:r>
            <a:endParaRPr lang="en-US" sz="1000" dirty="0"/>
          </a:p>
        </p:txBody>
      </p:sp>
    </p:spTree>
    <p:extLst>
      <p:ext uri="{BB962C8B-B14F-4D97-AF65-F5344CB8AC3E}">
        <p14:creationId xmlns:p14="http://schemas.microsoft.com/office/powerpoint/2010/main" val="1864492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79B"/>
          </a:solidFill>
          <a:ln w="12700">
            <a:solidFill>
              <a:srgbClr val="00879B"/>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5C7C93"/>
                </a:solidFill>
                <a:latin typeface="Calibri" pitchFamily="34" charset="0"/>
                <a:ea typeface="Calibri" pitchFamily="34" charset="-122"/>
                <a:cs typeface="Calibri" pitchFamily="34" charset="-120"/>
              </a:rPr>
              <a:t>BLOCK 2</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Why You Never Build SQL By Hand</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Text 4"/>
          <p:cNvSpPr/>
          <p:nvPr/>
        </p:nvSpPr>
        <p:spPr>
          <a:xfrm>
            <a:off x="457200" y="969264"/>
            <a:ext cx="45720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THIS LOOKS COMPLETELY REASONABLE</a:t>
            </a:r>
            <a:endParaRPr lang="en-US" sz="800" dirty="0"/>
          </a:p>
        </p:txBody>
      </p:sp>
      <p:sp>
        <p:nvSpPr>
          <p:cNvPr id="7" name="Shape 5"/>
          <p:cNvSpPr/>
          <p:nvPr/>
        </p:nvSpPr>
        <p:spPr>
          <a:xfrm>
            <a:off x="457200" y="1170432"/>
            <a:ext cx="4023360" cy="512064"/>
          </a:xfrm>
          <a:prstGeom prst="rect">
            <a:avLst/>
          </a:prstGeom>
          <a:solidFill>
            <a:srgbClr val="0A2A43"/>
          </a:solidFill>
          <a:ln w="12700">
            <a:solidFill>
              <a:srgbClr val="0A2A43"/>
            </a:solidFill>
            <a:prstDash val="solid"/>
          </a:ln>
        </p:spPr>
        <p:txBody>
          <a:bodyPr/>
          <a:lstStyle/>
          <a:p>
            <a:endParaRPr lang="en-US"/>
          </a:p>
        </p:txBody>
      </p:sp>
      <p:sp>
        <p:nvSpPr>
          <p:cNvPr id="8" name="Text 6"/>
          <p:cNvSpPr/>
          <p:nvPr/>
        </p:nvSpPr>
        <p:spPr>
          <a:xfrm>
            <a:off x="640080" y="1261872"/>
            <a:ext cx="3694176" cy="329184"/>
          </a:xfrm>
          <a:prstGeom prst="rect">
            <a:avLst/>
          </a:prstGeom>
          <a:noFill/>
          <a:ln/>
        </p:spPr>
        <p:txBody>
          <a:bodyPr wrap="square" lIns="0" tIns="0" rIns="0" bIns="0" rtlCol="0" anchor="t"/>
          <a:lstStyle/>
          <a:p>
            <a:pPr marL="0" indent="0">
              <a:lnSpc>
                <a:spcPct val="112000"/>
              </a:lnSpc>
              <a:buNone/>
            </a:pPr>
            <a:r>
              <a:rPr lang="en-US" sz="950" dirty="0">
                <a:solidFill>
                  <a:srgbClr val="F5A9A9"/>
                </a:solidFill>
                <a:latin typeface="Courier New" pitchFamily="34" charset="0"/>
                <a:ea typeface="Courier New" pitchFamily="34" charset="-122"/>
                <a:cs typeface="Courier New" pitchFamily="34" charset="-120"/>
              </a:rPr>
              <a:t>`SELECT * FROM records</a:t>
            </a:r>
            <a:endParaRPr lang="en-US" sz="950" dirty="0"/>
          </a:p>
          <a:p>
            <a:pPr marL="0" indent="0">
              <a:lnSpc>
                <a:spcPct val="112000"/>
              </a:lnSpc>
              <a:buNone/>
            </a:pPr>
            <a:r>
              <a:rPr lang="en-US" sz="950" dirty="0">
                <a:solidFill>
                  <a:srgbClr val="F5A9A9"/>
                </a:solidFill>
                <a:latin typeface="Courier New" pitchFamily="34" charset="0"/>
                <a:ea typeface="Courier New" pitchFamily="34" charset="-122"/>
                <a:cs typeface="Courier New" pitchFamily="34" charset="-120"/>
              </a:rPr>
              <a:t>   WHERE title = '${input}'`</a:t>
            </a:r>
            <a:endParaRPr lang="en-US" sz="950" dirty="0"/>
          </a:p>
        </p:txBody>
      </p:sp>
      <p:sp>
        <p:nvSpPr>
          <p:cNvPr id="9" name="Text 7"/>
          <p:cNvSpPr/>
          <p:nvPr/>
        </p:nvSpPr>
        <p:spPr>
          <a:xfrm>
            <a:off x="4681728" y="969264"/>
            <a:ext cx="36576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UNTIL SOMEONE TYPES THIS</a:t>
            </a:r>
            <a:endParaRPr lang="en-US" sz="800" dirty="0"/>
          </a:p>
        </p:txBody>
      </p:sp>
      <p:sp>
        <p:nvSpPr>
          <p:cNvPr id="10" name="Shape 8"/>
          <p:cNvSpPr/>
          <p:nvPr/>
        </p:nvSpPr>
        <p:spPr>
          <a:xfrm>
            <a:off x="4681728" y="1170432"/>
            <a:ext cx="4005072" cy="512064"/>
          </a:xfrm>
          <a:prstGeom prst="rect">
            <a:avLst/>
          </a:prstGeom>
          <a:solidFill>
            <a:srgbClr val="0A2A43"/>
          </a:solidFill>
          <a:ln w="12700">
            <a:solidFill>
              <a:srgbClr val="0A2A43"/>
            </a:solidFill>
            <a:prstDash val="solid"/>
          </a:ln>
        </p:spPr>
        <p:txBody>
          <a:bodyPr/>
          <a:lstStyle/>
          <a:p>
            <a:endParaRPr lang="en-US"/>
          </a:p>
        </p:txBody>
      </p:sp>
      <p:sp>
        <p:nvSpPr>
          <p:cNvPr id="11" name="Text 9"/>
          <p:cNvSpPr/>
          <p:nvPr/>
        </p:nvSpPr>
        <p:spPr>
          <a:xfrm>
            <a:off x="4864608" y="1261872"/>
            <a:ext cx="3675888" cy="329184"/>
          </a:xfrm>
          <a:prstGeom prst="rect">
            <a:avLst/>
          </a:prstGeom>
          <a:noFill/>
          <a:ln/>
        </p:spPr>
        <p:txBody>
          <a:bodyPr wrap="square" lIns="0" tIns="0" rIns="0" bIns="0" rtlCol="0" anchor="t"/>
          <a:lstStyle/>
          <a:p>
            <a:pPr marL="0" indent="0">
              <a:lnSpc>
                <a:spcPct val="112000"/>
              </a:lnSpc>
              <a:buNone/>
            </a:pPr>
            <a:r>
              <a:rPr lang="en-US" sz="950" dirty="0">
                <a:solidFill>
                  <a:srgbClr val="F5A9A9"/>
                </a:solidFill>
                <a:latin typeface="Courier New" pitchFamily="34" charset="0"/>
                <a:ea typeface="Courier New" pitchFamily="34" charset="-122"/>
                <a:cs typeface="Courier New" pitchFamily="34" charset="-120"/>
              </a:rPr>
              <a:t>';  DROP TABLE records;  --</a:t>
            </a:r>
            <a:endParaRPr lang="en-US" sz="950" dirty="0"/>
          </a:p>
        </p:txBody>
      </p:sp>
      <p:sp>
        <p:nvSpPr>
          <p:cNvPr id="12" name="Shape 10"/>
          <p:cNvSpPr/>
          <p:nvPr/>
        </p:nvSpPr>
        <p:spPr>
          <a:xfrm>
            <a:off x="457200" y="1828800"/>
            <a:ext cx="8229600" cy="694944"/>
          </a:xfrm>
          <a:prstGeom prst="rect">
            <a:avLst/>
          </a:prstGeom>
          <a:solidFill>
            <a:srgbClr val="0A2A43"/>
          </a:solidFill>
          <a:ln w="12700">
            <a:solidFill>
              <a:srgbClr val="0A2A43"/>
            </a:solidFill>
            <a:prstDash val="solid"/>
          </a:ln>
        </p:spPr>
        <p:txBody>
          <a:bodyPr/>
          <a:lstStyle/>
          <a:p>
            <a:endParaRPr lang="en-US"/>
          </a:p>
        </p:txBody>
      </p:sp>
      <p:sp>
        <p:nvSpPr>
          <p:cNvPr id="13" name="Shape 11"/>
          <p:cNvSpPr/>
          <p:nvPr/>
        </p:nvSpPr>
        <p:spPr>
          <a:xfrm>
            <a:off x="457200" y="1828800"/>
            <a:ext cx="73152" cy="694944"/>
          </a:xfrm>
          <a:prstGeom prst="rect">
            <a:avLst/>
          </a:prstGeom>
          <a:solidFill>
            <a:srgbClr val="B83232"/>
          </a:solidFill>
          <a:ln w="12700">
            <a:solidFill>
              <a:srgbClr val="B83232"/>
            </a:solidFill>
            <a:prstDash val="solid"/>
          </a:ln>
        </p:spPr>
        <p:txBody>
          <a:bodyPr/>
          <a:lstStyle/>
          <a:p>
            <a:endParaRPr lang="en-US"/>
          </a:p>
        </p:txBody>
      </p:sp>
      <p:sp>
        <p:nvSpPr>
          <p:cNvPr id="14" name="Text 12"/>
          <p:cNvSpPr/>
          <p:nvPr/>
        </p:nvSpPr>
        <p:spPr>
          <a:xfrm>
            <a:off x="731520" y="1883664"/>
            <a:ext cx="777240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Your table is gone. Not corrupted — gone.</a:t>
            </a:r>
            <a:endParaRPr lang="en-US" sz="1500" dirty="0"/>
          </a:p>
        </p:txBody>
      </p:sp>
      <p:sp>
        <p:nvSpPr>
          <p:cNvPr id="15" name="Text 13"/>
          <p:cNvSpPr/>
          <p:nvPr/>
        </p:nvSpPr>
        <p:spPr>
          <a:xfrm>
            <a:off x="731520" y="2176272"/>
            <a:ext cx="7772400" cy="292608"/>
          </a:xfrm>
          <a:prstGeom prst="rect">
            <a:avLst/>
          </a:prstGeom>
          <a:noFill/>
          <a:ln/>
        </p:spPr>
        <p:txBody>
          <a:bodyPr wrap="square" lIns="0" tIns="0" rIns="0" bIns="0" rtlCol="0" anchor="ctr"/>
          <a:lstStyle/>
          <a:p>
            <a:pPr marL="0" indent="0">
              <a:buNone/>
            </a:pPr>
            <a:r>
              <a:rPr lang="en-US" sz="950" dirty="0">
                <a:solidFill>
                  <a:srgbClr val="BFE3F5"/>
                </a:solidFill>
                <a:latin typeface="Calibri" pitchFamily="34" charset="0"/>
                <a:ea typeface="Calibri" pitchFamily="34" charset="-122"/>
                <a:cs typeface="Calibri" pitchFamily="34" charset="-120"/>
              </a:rPr>
              <a:t>The database did nothing wrong. It was handed a valid instruction and it followed it. You wrote the instruction — you just did not realise your user was helping.</a:t>
            </a:r>
            <a:endParaRPr lang="en-US" sz="950" dirty="0"/>
          </a:p>
        </p:txBody>
      </p:sp>
      <p:sp>
        <p:nvSpPr>
          <p:cNvPr id="16" name="Text 14"/>
          <p:cNvSpPr/>
          <p:nvPr/>
        </p:nvSpPr>
        <p:spPr>
          <a:xfrm>
            <a:off x="457200" y="2651760"/>
            <a:ext cx="45720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THE FIX IS ONE CHARACTER</a:t>
            </a:r>
            <a:endParaRPr lang="en-US" sz="800" dirty="0"/>
          </a:p>
        </p:txBody>
      </p:sp>
      <p:sp>
        <p:nvSpPr>
          <p:cNvPr id="17" name="Shape 15"/>
          <p:cNvSpPr/>
          <p:nvPr/>
        </p:nvSpPr>
        <p:spPr>
          <a:xfrm>
            <a:off x="457200" y="2871216"/>
            <a:ext cx="4023360" cy="512064"/>
          </a:xfrm>
          <a:prstGeom prst="rect">
            <a:avLst/>
          </a:prstGeom>
          <a:solidFill>
            <a:srgbClr val="0A2A43"/>
          </a:solidFill>
          <a:ln w="12700">
            <a:solidFill>
              <a:srgbClr val="0A2A43"/>
            </a:solidFill>
            <a:prstDash val="solid"/>
          </a:ln>
        </p:spPr>
        <p:txBody>
          <a:bodyPr/>
          <a:lstStyle/>
          <a:p>
            <a:endParaRPr lang="en-US"/>
          </a:p>
        </p:txBody>
      </p:sp>
      <p:sp>
        <p:nvSpPr>
          <p:cNvPr id="18" name="Text 16"/>
          <p:cNvSpPr/>
          <p:nvPr/>
        </p:nvSpPr>
        <p:spPr>
          <a:xfrm>
            <a:off x="640080" y="2962656"/>
            <a:ext cx="3694176" cy="329184"/>
          </a:xfrm>
          <a:prstGeom prst="rect">
            <a:avLst/>
          </a:prstGeom>
          <a:noFill/>
          <a:ln/>
        </p:spPr>
        <p:txBody>
          <a:bodyPr wrap="square" lIns="0" tIns="0" rIns="0" bIns="0" rtlCol="0" anchor="t"/>
          <a:lstStyle/>
          <a:p>
            <a:pPr marL="0" indent="0">
              <a:lnSpc>
                <a:spcPct val="112000"/>
              </a:lnSpc>
              <a:buNone/>
            </a:pPr>
            <a:r>
              <a:rPr lang="en-US" sz="950" dirty="0">
                <a:solidFill>
                  <a:srgbClr val="7FE3FF"/>
                </a:solidFill>
                <a:latin typeface="Courier New" pitchFamily="34" charset="0"/>
                <a:ea typeface="Courier New" pitchFamily="34" charset="-122"/>
                <a:cs typeface="Courier New" pitchFamily="34" charset="-120"/>
              </a:rPr>
              <a:t>db.prepare('... WHERE title = ?')</a:t>
            </a:r>
            <a:endParaRPr lang="en-US" sz="950" dirty="0"/>
          </a:p>
          <a:p>
            <a:pPr marL="0" indent="0">
              <a:lnSpc>
                <a:spcPct val="112000"/>
              </a:lnSpc>
              <a:buNone/>
            </a:pPr>
            <a:r>
              <a:rPr lang="en-US" sz="950" dirty="0">
                <a:solidFill>
                  <a:srgbClr val="7FE3FF"/>
                </a:solidFill>
                <a:latin typeface="Courier New" pitchFamily="34" charset="0"/>
                <a:ea typeface="Courier New" pitchFamily="34" charset="-122"/>
                <a:cs typeface="Courier New" pitchFamily="34" charset="-120"/>
              </a:rPr>
              <a:t>  .all(input)</a:t>
            </a:r>
            <a:endParaRPr lang="en-US" sz="950" dirty="0"/>
          </a:p>
        </p:txBody>
      </p:sp>
      <p:sp>
        <p:nvSpPr>
          <p:cNvPr id="19" name="Shape 17"/>
          <p:cNvSpPr/>
          <p:nvPr/>
        </p:nvSpPr>
        <p:spPr>
          <a:xfrm>
            <a:off x="4681728" y="2871216"/>
            <a:ext cx="4005072" cy="512064"/>
          </a:xfrm>
          <a:prstGeom prst="rect">
            <a:avLst/>
          </a:prstGeom>
          <a:solidFill>
            <a:srgbClr val="E8F4EE"/>
          </a:solidFill>
          <a:ln w="12700">
            <a:solidFill>
              <a:srgbClr val="E8F4EE"/>
            </a:solidFill>
            <a:prstDash val="solid"/>
          </a:ln>
        </p:spPr>
        <p:txBody>
          <a:bodyPr/>
          <a:lstStyle/>
          <a:p>
            <a:endParaRPr lang="en-US"/>
          </a:p>
        </p:txBody>
      </p:sp>
      <p:sp>
        <p:nvSpPr>
          <p:cNvPr id="20" name="Text 18"/>
          <p:cNvSpPr/>
          <p:nvPr/>
        </p:nvSpPr>
        <p:spPr>
          <a:xfrm>
            <a:off x="4864608" y="2871216"/>
            <a:ext cx="3675888" cy="512064"/>
          </a:xfrm>
          <a:prstGeom prst="rect">
            <a:avLst/>
          </a:prstGeom>
          <a:noFill/>
          <a:ln/>
        </p:spPr>
        <p:txBody>
          <a:bodyPr wrap="square" lIns="0" tIns="0" rIns="0" bIns="0" rtlCol="0" anchor="ctr"/>
          <a:lstStyle/>
          <a:p>
            <a:pPr marL="0" indent="0">
              <a:buNone/>
            </a:pPr>
            <a:r>
              <a:rPr lang="en-US" sz="850" b="1" dirty="0">
                <a:solidFill>
                  <a:srgbClr val="12795C"/>
                </a:solidFill>
                <a:latin typeface="Calibri" pitchFamily="34" charset="0"/>
                <a:ea typeface="Calibri" pitchFamily="34" charset="-122"/>
                <a:cs typeface="Calibri" pitchFamily="34" charset="-120"/>
              </a:rPr>
              <a:t>The ? is a placeholder. The driver sends your input as a value, never as instructions — so it can never become a command.</a:t>
            </a:r>
            <a:endParaRPr lang="en-US" sz="850" dirty="0"/>
          </a:p>
        </p:txBody>
      </p:sp>
      <p:sp>
        <p:nvSpPr>
          <p:cNvPr id="21" name="Shape 19"/>
          <p:cNvSpPr/>
          <p:nvPr/>
        </p:nvSpPr>
        <p:spPr>
          <a:xfrm>
            <a:off x="457200" y="3529584"/>
            <a:ext cx="8229600" cy="566928"/>
          </a:xfrm>
          <a:prstGeom prst="rect">
            <a:avLst/>
          </a:prstGeom>
          <a:solidFill>
            <a:srgbClr val="FDEAEA"/>
          </a:solidFill>
          <a:ln w="12700">
            <a:solidFill>
              <a:srgbClr val="FDEAEA"/>
            </a:solidFill>
            <a:prstDash val="solid"/>
          </a:ln>
        </p:spPr>
        <p:txBody>
          <a:bodyPr/>
          <a:lstStyle/>
          <a:p>
            <a:endParaRPr lang="en-US"/>
          </a:p>
        </p:txBody>
      </p:sp>
      <p:sp>
        <p:nvSpPr>
          <p:cNvPr id="22" name="Shape 20"/>
          <p:cNvSpPr/>
          <p:nvPr/>
        </p:nvSpPr>
        <p:spPr>
          <a:xfrm>
            <a:off x="457200" y="3529584"/>
            <a:ext cx="54864" cy="566928"/>
          </a:xfrm>
          <a:prstGeom prst="rect">
            <a:avLst/>
          </a:prstGeom>
          <a:solidFill>
            <a:srgbClr val="B83232"/>
          </a:solidFill>
          <a:ln w="12700">
            <a:solidFill>
              <a:srgbClr val="B83232"/>
            </a:solidFill>
            <a:prstDash val="solid"/>
          </a:ln>
        </p:spPr>
        <p:txBody>
          <a:bodyPr/>
          <a:lstStyle/>
          <a:p>
            <a:endParaRPr lang="en-US"/>
          </a:p>
        </p:txBody>
      </p:sp>
      <p:sp>
        <p:nvSpPr>
          <p:cNvPr id="23" name="Text 21"/>
          <p:cNvSpPr/>
          <p:nvPr/>
        </p:nvSpPr>
        <p:spPr>
          <a:xfrm>
            <a:off x="658368" y="3584448"/>
            <a:ext cx="5486400" cy="182880"/>
          </a:xfrm>
          <a:prstGeom prst="rect">
            <a:avLst/>
          </a:prstGeom>
          <a:noFill/>
          <a:ln/>
        </p:spPr>
        <p:txBody>
          <a:bodyPr wrap="square" lIns="0" tIns="0" rIns="0" bIns="0" rtlCol="0" anchor="ctr"/>
          <a:lstStyle/>
          <a:p>
            <a:pPr marL="0" indent="0">
              <a:buNone/>
            </a:pPr>
            <a:r>
              <a:rPr lang="en-US" sz="800" b="1" kern="0" spc="120" dirty="0">
                <a:solidFill>
                  <a:srgbClr val="B83232"/>
                </a:solidFill>
                <a:latin typeface="Calibri" pitchFamily="34" charset="0"/>
                <a:ea typeface="Calibri" pitchFamily="34" charset="-122"/>
                <a:cs typeface="Calibri" pitchFamily="34" charset="-120"/>
              </a:rPr>
              <a:t>THE RULE — NO EXCEPTIONS, NO "JUST THIS ONCE"</a:t>
            </a:r>
            <a:endParaRPr lang="en-US" sz="800" dirty="0"/>
          </a:p>
        </p:txBody>
      </p:sp>
      <p:sp>
        <p:nvSpPr>
          <p:cNvPr id="24" name="Text 22"/>
          <p:cNvSpPr/>
          <p:nvPr/>
        </p:nvSpPr>
        <p:spPr>
          <a:xfrm>
            <a:off x="658368" y="3767328"/>
            <a:ext cx="7863840" cy="292608"/>
          </a:xfrm>
          <a:prstGeom prst="rect">
            <a:avLst/>
          </a:prstGeom>
          <a:noFill/>
          <a:ln/>
        </p:spPr>
        <p:txBody>
          <a:bodyPr wrap="square" lIns="0" tIns="0" rIns="0" bIns="0" rtlCol="0" anchor="ctr"/>
          <a:lstStyle/>
          <a:p>
            <a:pPr marL="0" indent="0">
              <a:buNone/>
            </a:pPr>
            <a:r>
              <a:rPr lang="en-US" sz="900" dirty="0">
                <a:solidFill>
                  <a:srgbClr val="B83232"/>
                </a:solidFill>
                <a:latin typeface="Calibri" pitchFamily="34" charset="0"/>
                <a:ea typeface="Calibri" pitchFamily="34" charset="-122"/>
                <a:cs typeface="Calibri" pitchFamily="34" charset="-120"/>
              </a:rPr>
              <a:t>If a value came from outside your program, it goes in a placeholder. This is also one of the planted defects in Friday's paper.</a:t>
            </a:r>
            <a:endParaRPr lang="en-US" sz="900" dirty="0"/>
          </a:p>
        </p:txBody>
      </p:sp>
      <p:sp>
        <p:nvSpPr>
          <p:cNvPr id="25" name="Shape 23"/>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26" name="Shape 24"/>
          <p:cNvSpPr/>
          <p:nvPr/>
        </p:nvSpPr>
        <p:spPr>
          <a:xfrm>
            <a:off x="457200" y="4334256"/>
            <a:ext cx="54864" cy="512064"/>
          </a:xfrm>
          <a:prstGeom prst="rect">
            <a:avLst/>
          </a:prstGeom>
          <a:solidFill>
            <a:srgbClr val="00879B"/>
          </a:solidFill>
          <a:ln w="12700">
            <a:solidFill>
              <a:srgbClr val="00879B"/>
            </a:solidFill>
            <a:prstDash val="solid"/>
          </a:ln>
        </p:spPr>
        <p:txBody>
          <a:bodyPr/>
          <a:lstStyle/>
          <a:p>
            <a:endParaRPr lang="en-US"/>
          </a:p>
        </p:txBody>
      </p:sp>
      <p:sp>
        <p:nvSpPr>
          <p:cNvPr id="27" name="Text 25"/>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This is the oldest attack in the book and it still works every year — because somewhere, someone is still building the string.</a:t>
            </a:r>
            <a:endParaRPr lang="en-US" sz="1000" dirty="0"/>
          </a:p>
        </p:txBody>
      </p:sp>
    </p:spTree>
    <p:extLst>
      <p:ext uri="{BB962C8B-B14F-4D97-AF65-F5344CB8AC3E}">
        <p14:creationId xmlns:p14="http://schemas.microsoft.com/office/powerpoint/2010/main" val="1711514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5AA8"/>
          </a:solidFill>
          <a:ln w="12700">
            <a:solidFill>
              <a:srgbClr val="2E5AA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5C7C93"/>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The Key Comes Home</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Text 4"/>
          <p:cNvSpPr/>
          <p:nvPr/>
        </p:nvSpPr>
        <p:spPr>
          <a:xfrm>
            <a:off x="457200" y="969264"/>
            <a:ext cx="36576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YESTERDAY</a:t>
            </a:r>
            <a:endParaRPr lang="en-US" sz="800" dirty="0"/>
          </a:p>
        </p:txBody>
      </p:sp>
      <p:sp>
        <p:nvSpPr>
          <p:cNvPr id="7" name="Shape 5"/>
          <p:cNvSpPr/>
          <p:nvPr/>
        </p:nvSpPr>
        <p:spPr>
          <a:xfrm>
            <a:off x="457200" y="1188720"/>
            <a:ext cx="4023360" cy="566928"/>
          </a:xfrm>
          <a:prstGeom prst="rect">
            <a:avLst/>
          </a:prstGeom>
          <a:solidFill>
            <a:srgbClr val="FDEAEA"/>
          </a:solidFill>
          <a:ln w="12700">
            <a:solidFill>
              <a:srgbClr val="FDEAEA"/>
            </a:solidFill>
            <a:prstDash val="solid"/>
          </a:ln>
        </p:spPr>
        <p:txBody>
          <a:bodyPr/>
          <a:lstStyle/>
          <a:p>
            <a:endParaRPr lang="en-US"/>
          </a:p>
        </p:txBody>
      </p:sp>
      <p:sp>
        <p:nvSpPr>
          <p:cNvPr id="8" name="Shape 6"/>
          <p:cNvSpPr/>
          <p:nvPr/>
        </p:nvSpPr>
        <p:spPr>
          <a:xfrm>
            <a:off x="566928" y="1280160"/>
            <a:ext cx="1280160" cy="384048"/>
          </a:xfrm>
          <a:prstGeom prst="rect">
            <a:avLst/>
          </a:prstGeom>
          <a:solidFill>
            <a:srgbClr val="B83232"/>
          </a:solidFill>
          <a:ln w="12700">
            <a:solidFill>
              <a:srgbClr val="B83232"/>
            </a:solidFill>
            <a:prstDash val="solid"/>
          </a:ln>
        </p:spPr>
        <p:txBody>
          <a:bodyPr/>
          <a:lstStyle/>
          <a:p>
            <a:endParaRPr lang="en-US"/>
          </a:p>
        </p:txBody>
      </p:sp>
      <p:sp>
        <p:nvSpPr>
          <p:cNvPr id="9" name="Text 7"/>
          <p:cNvSpPr/>
          <p:nvPr/>
        </p:nvSpPr>
        <p:spPr>
          <a:xfrm>
            <a:off x="566928" y="1280160"/>
            <a:ext cx="1280160"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BROWSER</a:t>
            </a:r>
            <a:endParaRPr lang="en-US" sz="800" dirty="0"/>
          </a:p>
        </p:txBody>
      </p:sp>
      <p:sp>
        <p:nvSpPr>
          <p:cNvPr id="10" name="Text 8"/>
          <p:cNvSpPr/>
          <p:nvPr/>
        </p:nvSpPr>
        <p:spPr>
          <a:xfrm>
            <a:off x="1920240" y="1353312"/>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194560" y="1280160"/>
            <a:ext cx="1280160" cy="384048"/>
          </a:xfrm>
          <a:prstGeom prst="rect">
            <a:avLst/>
          </a:prstGeom>
          <a:solidFill>
            <a:srgbClr val="B83232"/>
          </a:solidFill>
          <a:ln w="12700">
            <a:solidFill>
              <a:srgbClr val="B83232"/>
            </a:solidFill>
            <a:prstDash val="solid"/>
          </a:ln>
        </p:spPr>
        <p:txBody>
          <a:bodyPr/>
          <a:lstStyle/>
          <a:p>
            <a:endParaRPr lang="en-US"/>
          </a:p>
        </p:txBody>
      </p:sp>
      <p:sp>
        <p:nvSpPr>
          <p:cNvPr id="12" name="Text 10"/>
          <p:cNvSpPr/>
          <p:nvPr/>
        </p:nvSpPr>
        <p:spPr>
          <a:xfrm>
            <a:off x="2194560" y="1280160"/>
            <a:ext cx="1280160" cy="38404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THE MODEL</a:t>
            </a:r>
            <a:endParaRPr lang="en-US" sz="800" dirty="0"/>
          </a:p>
        </p:txBody>
      </p:sp>
      <p:sp>
        <p:nvSpPr>
          <p:cNvPr id="13" name="Text 11"/>
          <p:cNvSpPr/>
          <p:nvPr/>
        </p:nvSpPr>
        <p:spPr>
          <a:xfrm>
            <a:off x="3566160" y="1280160"/>
            <a:ext cx="822960" cy="384048"/>
          </a:xfrm>
          <a:prstGeom prst="rect">
            <a:avLst/>
          </a:prstGeom>
          <a:noFill/>
          <a:ln/>
        </p:spPr>
        <p:txBody>
          <a:bodyPr wrap="square" lIns="0" tIns="0" rIns="0" bIns="0" rtlCol="0" anchor="ctr"/>
          <a:lstStyle/>
          <a:p>
            <a:pPr marL="0" indent="0">
              <a:buNone/>
            </a:pPr>
            <a:r>
              <a:rPr lang="en-US" sz="750" b="1" dirty="0">
                <a:solidFill>
                  <a:srgbClr val="B83232"/>
                </a:solidFill>
                <a:latin typeface="Calibri" pitchFamily="34" charset="0"/>
                <a:ea typeface="Calibri" pitchFamily="34" charset="-122"/>
                <a:cs typeface="Calibri" pitchFamily="34" charset="-120"/>
              </a:rPr>
              <a:t>key visible</a:t>
            </a:r>
            <a:endParaRPr lang="en-US" sz="750" dirty="0"/>
          </a:p>
        </p:txBody>
      </p:sp>
      <p:sp>
        <p:nvSpPr>
          <p:cNvPr id="14" name="Text 12"/>
          <p:cNvSpPr/>
          <p:nvPr/>
        </p:nvSpPr>
        <p:spPr>
          <a:xfrm>
            <a:off x="4681728" y="969264"/>
            <a:ext cx="36576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FROM TODAY</a:t>
            </a:r>
            <a:endParaRPr lang="en-US" sz="800" dirty="0"/>
          </a:p>
        </p:txBody>
      </p:sp>
      <p:sp>
        <p:nvSpPr>
          <p:cNvPr id="15" name="Shape 13"/>
          <p:cNvSpPr/>
          <p:nvPr/>
        </p:nvSpPr>
        <p:spPr>
          <a:xfrm>
            <a:off x="4681728" y="1188720"/>
            <a:ext cx="4005072" cy="566928"/>
          </a:xfrm>
          <a:prstGeom prst="rect">
            <a:avLst/>
          </a:prstGeom>
          <a:solidFill>
            <a:srgbClr val="E8F4EE"/>
          </a:solidFill>
          <a:ln w="12700">
            <a:solidFill>
              <a:srgbClr val="E8F4EE"/>
            </a:solidFill>
            <a:prstDash val="solid"/>
          </a:ln>
        </p:spPr>
        <p:txBody>
          <a:bodyPr/>
          <a:lstStyle/>
          <a:p>
            <a:endParaRPr lang="en-US"/>
          </a:p>
        </p:txBody>
      </p:sp>
      <p:sp>
        <p:nvSpPr>
          <p:cNvPr id="16" name="Shape 14"/>
          <p:cNvSpPr/>
          <p:nvPr/>
        </p:nvSpPr>
        <p:spPr>
          <a:xfrm>
            <a:off x="4791456" y="1280160"/>
            <a:ext cx="1060704" cy="384048"/>
          </a:xfrm>
          <a:prstGeom prst="rect">
            <a:avLst/>
          </a:prstGeom>
          <a:solidFill>
            <a:srgbClr val="12795C"/>
          </a:solidFill>
          <a:ln w="12700">
            <a:solidFill>
              <a:srgbClr val="12795C"/>
            </a:solidFill>
            <a:prstDash val="solid"/>
          </a:ln>
        </p:spPr>
        <p:txBody>
          <a:bodyPr/>
          <a:lstStyle/>
          <a:p>
            <a:endParaRPr lang="en-US"/>
          </a:p>
        </p:txBody>
      </p:sp>
      <p:sp>
        <p:nvSpPr>
          <p:cNvPr id="17" name="Text 15"/>
          <p:cNvSpPr/>
          <p:nvPr/>
        </p:nvSpPr>
        <p:spPr>
          <a:xfrm>
            <a:off x="4791456" y="1280160"/>
            <a:ext cx="1060704" cy="38404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BROWSER</a:t>
            </a:r>
            <a:endParaRPr lang="en-US" sz="750" dirty="0"/>
          </a:p>
        </p:txBody>
      </p:sp>
      <p:sp>
        <p:nvSpPr>
          <p:cNvPr id="18" name="Text 16"/>
          <p:cNvSpPr/>
          <p:nvPr/>
        </p:nvSpPr>
        <p:spPr>
          <a:xfrm>
            <a:off x="5907024" y="1353312"/>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6163056" y="1280160"/>
            <a:ext cx="1188720" cy="384048"/>
          </a:xfrm>
          <a:prstGeom prst="rect">
            <a:avLst/>
          </a:prstGeom>
          <a:solidFill>
            <a:srgbClr val="12795C"/>
          </a:solidFill>
          <a:ln w="12700">
            <a:solidFill>
              <a:srgbClr val="12795C"/>
            </a:solidFill>
            <a:prstDash val="solid"/>
          </a:ln>
        </p:spPr>
        <p:txBody>
          <a:bodyPr/>
          <a:lstStyle/>
          <a:p>
            <a:endParaRPr lang="en-US"/>
          </a:p>
        </p:txBody>
      </p:sp>
      <p:sp>
        <p:nvSpPr>
          <p:cNvPr id="20" name="Text 18"/>
          <p:cNvSpPr/>
          <p:nvPr/>
        </p:nvSpPr>
        <p:spPr>
          <a:xfrm>
            <a:off x="6163056" y="1280160"/>
            <a:ext cx="1188720" cy="38404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YOUR SERVER</a:t>
            </a:r>
            <a:endParaRPr lang="en-US" sz="750" dirty="0"/>
          </a:p>
        </p:txBody>
      </p:sp>
      <p:sp>
        <p:nvSpPr>
          <p:cNvPr id="21" name="Text 19"/>
          <p:cNvSpPr/>
          <p:nvPr/>
        </p:nvSpPr>
        <p:spPr>
          <a:xfrm>
            <a:off x="7406640" y="1353312"/>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7626096" y="1280160"/>
            <a:ext cx="950976" cy="384048"/>
          </a:xfrm>
          <a:prstGeom prst="rect">
            <a:avLst/>
          </a:prstGeom>
          <a:solidFill>
            <a:srgbClr val="12795C"/>
          </a:solidFill>
          <a:ln w="12700">
            <a:solidFill>
              <a:srgbClr val="12795C"/>
            </a:solidFill>
            <a:prstDash val="solid"/>
          </a:ln>
        </p:spPr>
        <p:txBody>
          <a:bodyPr/>
          <a:lstStyle/>
          <a:p>
            <a:endParaRPr lang="en-US"/>
          </a:p>
        </p:txBody>
      </p:sp>
      <p:sp>
        <p:nvSpPr>
          <p:cNvPr id="23" name="Text 21"/>
          <p:cNvSpPr/>
          <p:nvPr/>
        </p:nvSpPr>
        <p:spPr>
          <a:xfrm>
            <a:off x="7626096" y="1280160"/>
            <a:ext cx="950976" cy="38404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THE MODEL</a:t>
            </a:r>
            <a:endParaRPr lang="en-US" sz="750" dirty="0"/>
          </a:p>
        </p:txBody>
      </p:sp>
      <p:sp>
        <p:nvSpPr>
          <p:cNvPr id="24" name="Text 22"/>
          <p:cNvSpPr/>
          <p:nvPr/>
        </p:nvSpPr>
        <p:spPr>
          <a:xfrm>
            <a:off x="457200" y="1883664"/>
            <a:ext cx="8229600" cy="420624"/>
          </a:xfrm>
          <a:prstGeom prst="rect">
            <a:avLst/>
          </a:prstGeom>
          <a:noFill/>
          <a:ln/>
        </p:spPr>
        <p:txBody>
          <a:bodyPr wrap="square" lIns="0" tIns="0" rIns="0" bIns="0" rtlCol="0" anchor="t"/>
          <a:lstStyle/>
          <a:p>
            <a:pPr marL="0" indent="0">
              <a:lnSpc>
                <a:spcPct val="105000"/>
              </a:lnSpc>
              <a:buNone/>
            </a:pPr>
            <a:r>
              <a:rPr lang="en-US" sz="1000" dirty="0">
                <a:solidFill>
                  <a:srgbClr val="0A2A43"/>
                </a:solidFill>
                <a:latin typeface="Calibri" pitchFamily="34" charset="0"/>
                <a:ea typeface="Calibri" pitchFamily="34" charset="-122"/>
                <a:cs typeface="Calibri" pitchFamily="34" charset="-120"/>
              </a:rPr>
              <a:t>The browser asks your server to do it. Your server holds the key, makes the call, and hands back only the answer. The user never sees a credential because one never reaches them.</a:t>
            </a:r>
            <a:endParaRPr lang="en-US" sz="1000" dirty="0"/>
          </a:p>
        </p:txBody>
      </p:sp>
      <p:sp>
        <p:nvSpPr>
          <p:cNvPr id="25" name="Text 23"/>
          <p:cNvSpPr/>
          <p:nvPr/>
        </p:nvSpPr>
        <p:spPr>
          <a:xfrm>
            <a:off x="457200" y="2395728"/>
            <a:ext cx="45720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WHERE THE KEY ACTUALLY LIVES</a:t>
            </a:r>
            <a:endParaRPr lang="en-US" sz="800" dirty="0"/>
          </a:p>
        </p:txBody>
      </p:sp>
      <p:sp>
        <p:nvSpPr>
          <p:cNvPr id="26" name="Shape 24"/>
          <p:cNvSpPr/>
          <p:nvPr/>
        </p:nvSpPr>
        <p:spPr>
          <a:xfrm>
            <a:off x="457200" y="2615184"/>
            <a:ext cx="4023360" cy="804672"/>
          </a:xfrm>
          <a:prstGeom prst="rect">
            <a:avLst/>
          </a:prstGeom>
          <a:solidFill>
            <a:srgbClr val="0A2A43"/>
          </a:solidFill>
          <a:ln w="12700">
            <a:solidFill>
              <a:srgbClr val="0A2A43"/>
            </a:solidFill>
            <a:prstDash val="solid"/>
          </a:ln>
        </p:spPr>
        <p:txBody>
          <a:bodyPr/>
          <a:lstStyle/>
          <a:p>
            <a:endParaRPr lang="en-US"/>
          </a:p>
        </p:txBody>
      </p:sp>
      <p:sp>
        <p:nvSpPr>
          <p:cNvPr id="27" name="Text 25"/>
          <p:cNvSpPr/>
          <p:nvPr/>
        </p:nvSpPr>
        <p:spPr>
          <a:xfrm>
            <a:off x="640080" y="2706624"/>
            <a:ext cx="3694176" cy="621792"/>
          </a:xfrm>
          <a:prstGeom prst="rect">
            <a:avLst/>
          </a:prstGeom>
          <a:noFill/>
          <a:ln/>
        </p:spPr>
        <p:txBody>
          <a:bodyPr wrap="square" lIns="0" tIns="0" rIns="0" bIns="0" rtlCol="0" anchor="t"/>
          <a:lstStyle/>
          <a:p>
            <a:pPr marL="0" indent="0">
              <a:lnSpc>
                <a:spcPct val="112000"/>
              </a:lnSpc>
              <a:buNone/>
            </a:pPr>
            <a:r>
              <a:rPr lang="en-US" sz="950" dirty="0">
                <a:solidFill>
                  <a:srgbClr val="F0C070"/>
                </a:solidFill>
                <a:latin typeface="Courier New" pitchFamily="34" charset="0"/>
                <a:ea typeface="Courier New" pitchFamily="34" charset="-122"/>
                <a:cs typeface="Courier New" pitchFamily="34" charset="-120"/>
              </a:rPr>
              <a:t>.env        GROQ_API_KEY=sk-...</a:t>
            </a:r>
            <a:endParaRPr lang="en-US" sz="950" dirty="0"/>
          </a:p>
          <a:p>
            <a:pPr marL="0" indent="0">
              <a:lnSpc>
                <a:spcPct val="112000"/>
              </a:lnSpc>
              <a:buNone/>
            </a:pPr>
            <a:r>
              <a:rPr lang="en-US" sz="950" dirty="0">
                <a:solidFill>
                  <a:srgbClr val="F0C070"/>
                </a:solidFill>
                <a:latin typeface="Courier New" pitchFamily="34" charset="0"/>
                <a:ea typeface="Courier New" pitchFamily="34" charset="-122"/>
                <a:cs typeface="Courier New" pitchFamily="34" charset="-120"/>
              </a:rPr>
              <a:t>.gitignore  .env</a:t>
            </a:r>
            <a:endParaRPr lang="en-US" sz="950" dirty="0"/>
          </a:p>
          <a:p>
            <a:pPr marL="0" indent="0">
              <a:lnSpc>
                <a:spcPct val="112000"/>
              </a:lnSpc>
              <a:buNone/>
            </a:pPr>
            <a:r>
              <a:rPr lang="en-US" sz="950" dirty="0">
                <a:solidFill>
                  <a:srgbClr val="F0C070"/>
                </a:solidFill>
                <a:latin typeface="Courier New" pitchFamily="34" charset="0"/>
                <a:ea typeface="Courier New" pitchFamily="34" charset="-122"/>
                <a:cs typeface="Courier New" pitchFamily="34" charset="-120"/>
              </a:rPr>
              <a:t>server.js   process.env.GROQ_API_KEY</a:t>
            </a:r>
            <a:endParaRPr lang="en-US" sz="950" dirty="0"/>
          </a:p>
        </p:txBody>
      </p:sp>
      <p:sp>
        <p:nvSpPr>
          <p:cNvPr id="28" name="Shape 26"/>
          <p:cNvSpPr/>
          <p:nvPr/>
        </p:nvSpPr>
        <p:spPr>
          <a:xfrm>
            <a:off x="4681728" y="2615184"/>
            <a:ext cx="4005072" cy="804672"/>
          </a:xfrm>
          <a:prstGeom prst="rect">
            <a:avLst/>
          </a:prstGeom>
          <a:solidFill>
            <a:srgbClr val="FFFFFF"/>
          </a:solidFill>
          <a:ln w="9525">
            <a:solidFill>
              <a:srgbClr val="D6EDF9"/>
            </a:solidFill>
            <a:prstDash val="solid"/>
          </a:ln>
        </p:spPr>
        <p:txBody>
          <a:bodyPr/>
          <a:lstStyle/>
          <a:p>
            <a:endParaRPr lang="en-US"/>
          </a:p>
        </p:txBody>
      </p:sp>
      <p:sp>
        <p:nvSpPr>
          <p:cNvPr id="29" name="Shape 27"/>
          <p:cNvSpPr/>
          <p:nvPr/>
        </p:nvSpPr>
        <p:spPr>
          <a:xfrm>
            <a:off x="4681728" y="2615184"/>
            <a:ext cx="54864" cy="804672"/>
          </a:xfrm>
          <a:prstGeom prst="rect">
            <a:avLst/>
          </a:prstGeom>
          <a:solidFill>
            <a:srgbClr val="2E5AA8"/>
          </a:solidFill>
          <a:ln w="12700">
            <a:solidFill>
              <a:srgbClr val="2E5AA8"/>
            </a:solidFill>
            <a:prstDash val="solid"/>
          </a:ln>
        </p:spPr>
        <p:txBody>
          <a:bodyPr/>
          <a:lstStyle/>
          <a:p>
            <a:endParaRPr lang="en-US"/>
          </a:p>
        </p:txBody>
      </p:sp>
      <p:sp>
        <p:nvSpPr>
          <p:cNvPr id="30" name="Text 28"/>
          <p:cNvSpPr/>
          <p:nvPr/>
        </p:nvSpPr>
        <p:spPr>
          <a:xfrm>
            <a:off x="4864608" y="2688336"/>
            <a:ext cx="3657600" cy="182880"/>
          </a:xfrm>
          <a:prstGeom prst="rect">
            <a:avLst/>
          </a:prstGeom>
          <a:noFill/>
          <a:ln/>
        </p:spPr>
        <p:txBody>
          <a:bodyPr wrap="square" lIns="0" tIns="0" rIns="0" bIns="0" rtlCol="0" anchor="ctr"/>
          <a:lstStyle/>
          <a:p>
            <a:pPr marL="0" indent="0">
              <a:buNone/>
            </a:pPr>
            <a:r>
              <a:rPr lang="en-US" sz="800" b="1" kern="0" spc="120" dirty="0">
                <a:solidFill>
                  <a:srgbClr val="2E5AA8"/>
                </a:solidFill>
                <a:latin typeface="Calibri" pitchFamily="34" charset="0"/>
                <a:ea typeface="Calibri" pitchFamily="34" charset="-122"/>
                <a:cs typeface="Calibri" pitchFamily="34" charset="-120"/>
              </a:rPr>
              <a:t>THE NEW ENDPOINT</a:t>
            </a:r>
            <a:endParaRPr lang="en-US" sz="800" dirty="0"/>
          </a:p>
        </p:txBody>
      </p:sp>
      <p:sp>
        <p:nvSpPr>
          <p:cNvPr id="31" name="Text 29"/>
          <p:cNvSpPr/>
          <p:nvPr/>
        </p:nvSpPr>
        <p:spPr>
          <a:xfrm>
            <a:off x="4864608" y="2871216"/>
            <a:ext cx="3675888" cy="219456"/>
          </a:xfrm>
          <a:prstGeom prst="rect">
            <a:avLst/>
          </a:prstGeom>
          <a:noFill/>
          <a:ln/>
        </p:spPr>
        <p:txBody>
          <a:bodyPr wrap="square" lIns="0" tIns="0" rIns="0" bIns="0" rtlCol="0" anchor="ctr"/>
          <a:lstStyle/>
          <a:p>
            <a:pPr marL="0" indent="0">
              <a:buNone/>
            </a:pPr>
            <a:r>
              <a:rPr lang="en-US" sz="850" b="1" dirty="0">
                <a:solidFill>
                  <a:srgbClr val="2E5AA8"/>
                </a:solidFill>
                <a:latin typeface="Courier New" pitchFamily="34" charset="0"/>
                <a:ea typeface="Courier New" pitchFamily="34" charset="-122"/>
                <a:cs typeface="Courier New" pitchFamily="34" charset="-120"/>
              </a:rPr>
              <a:t>POST /api/records/:id/enrich</a:t>
            </a:r>
            <a:endParaRPr lang="en-US" sz="850" dirty="0"/>
          </a:p>
        </p:txBody>
      </p:sp>
      <p:sp>
        <p:nvSpPr>
          <p:cNvPr id="32" name="Text 30"/>
          <p:cNvSpPr/>
          <p:nvPr/>
        </p:nvSpPr>
        <p:spPr>
          <a:xfrm>
            <a:off x="4864608" y="3090672"/>
            <a:ext cx="3675888" cy="292608"/>
          </a:xfrm>
          <a:prstGeom prst="rect">
            <a:avLst/>
          </a:prstGeom>
          <a:noFill/>
          <a:ln/>
        </p:spPr>
        <p:txBody>
          <a:bodyPr wrap="square" lIns="0" tIns="0" rIns="0" bIns="0" rtlCol="0" anchor="t"/>
          <a:lstStyle/>
          <a:p>
            <a:pPr marL="0" indent="0">
              <a:buNone/>
            </a:pPr>
            <a:r>
              <a:rPr lang="en-US" sz="800" dirty="0">
                <a:solidFill>
                  <a:srgbClr val="5C7C93"/>
                </a:solidFill>
                <a:latin typeface="Calibri" pitchFamily="34" charset="0"/>
                <a:ea typeface="Calibri" pitchFamily="34" charset="-122"/>
                <a:cs typeface="Calibri" pitchFamily="34" charset="-120"/>
              </a:rPr>
              <a:t>Read the record → ask the model → check the answer → save it. Four steps, one route.</a:t>
            </a:r>
            <a:endParaRPr lang="en-US" sz="800" dirty="0"/>
          </a:p>
        </p:txBody>
      </p:sp>
      <p:sp>
        <p:nvSpPr>
          <p:cNvPr id="33" name="Shape 31"/>
          <p:cNvSpPr/>
          <p:nvPr/>
        </p:nvSpPr>
        <p:spPr>
          <a:xfrm>
            <a:off x="457200" y="3547872"/>
            <a:ext cx="8229600" cy="274320"/>
          </a:xfrm>
          <a:prstGeom prst="rect">
            <a:avLst/>
          </a:prstGeom>
          <a:solidFill>
            <a:srgbClr val="FDEAEA"/>
          </a:solidFill>
          <a:ln w="12700">
            <a:solidFill>
              <a:srgbClr val="FDEAEA"/>
            </a:solidFill>
            <a:prstDash val="solid"/>
          </a:ln>
        </p:spPr>
        <p:txBody>
          <a:bodyPr/>
          <a:lstStyle/>
          <a:p>
            <a:endParaRPr lang="en-US"/>
          </a:p>
        </p:txBody>
      </p:sp>
      <p:sp>
        <p:nvSpPr>
          <p:cNvPr id="34" name="Text 32"/>
          <p:cNvSpPr/>
          <p:nvPr/>
        </p:nvSpPr>
        <p:spPr>
          <a:xfrm>
            <a:off x="566928" y="3547872"/>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Add .env to .gitignore BEFORE your first commit today. Bots scan public commits for keys within minutes, and a leaked key gets used, not reported.</a:t>
            </a:r>
            <a:endParaRPr lang="en-US" sz="800" dirty="0"/>
          </a:p>
        </p:txBody>
      </p:sp>
      <p:sp>
        <p:nvSpPr>
          <p:cNvPr id="35" name="Text 33"/>
          <p:cNvSpPr/>
          <p:nvPr/>
        </p:nvSpPr>
        <p:spPr>
          <a:xfrm>
            <a:off x="457200" y="3895344"/>
            <a:ext cx="8229600" cy="310896"/>
          </a:xfrm>
          <a:prstGeom prst="rect">
            <a:avLst/>
          </a:prstGeom>
          <a:noFill/>
          <a:ln/>
        </p:spPr>
        <p:txBody>
          <a:bodyPr wrap="square" lIns="0" tIns="0" rIns="0" bIns="0" rtlCol="0" anchor="t"/>
          <a:lstStyle/>
          <a:p>
            <a:pPr marL="0" indent="0">
              <a:lnSpc>
                <a:spcPct val="105000"/>
              </a:lnSpc>
              <a:buNone/>
            </a:pPr>
            <a:r>
              <a:rPr lang="en-US" sz="950" i="1" dirty="0">
                <a:solidFill>
                  <a:srgbClr val="5C7C93"/>
                </a:solidFill>
                <a:latin typeface="Calibri" pitchFamily="34" charset="0"/>
                <a:ea typeface="Calibri" pitchFamily="34" charset="-122"/>
                <a:cs typeface="Calibri" pitchFamily="34" charset="-120"/>
              </a:rPr>
              <a:t>This is the whole reason servers exist. Not speed, not scale — the ability to hold something the user must not have.</a:t>
            </a:r>
            <a:endParaRPr lang="en-US" sz="950" dirty="0"/>
          </a:p>
        </p:txBody>
      </p:sp>
      <p:sp>
        <p:nvSpPr>
          <p:cNvPr id="36" name="Shape 34"/>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37" name="Shape 35"/>
          <p:cNvSpPr/>
          <p:nvPr/>
        </p:nvSpPr>
        <p:spPr>
          <a:xfrm>
            <a:off x="457200" y="4334256"/>
            <a:ext cx="54864" cy="512064"/>
          </a:xfrm>
          <a:prstGeom prst="rect">
            <a:avLst/>
          </a:prstGeom>
          <a:solidFill>
            <a:srgbClr val="2E5AA8"/>
          </a:solidFill>
          <a:ln w="12700">
            <a:solidFill>
              <a:srgbClr val="2E5AA8"/>
            </a:solidFill>
            <a:prstDash val="solid"/>
          </a:ln>
        </p:spPr>
        <p:txBody>
          <a:bodyPr/>
          <a:lstStyle/>
          <a:p>
            <a:endParaRPr lang="en-US"/>
          </a:p>
        </p:txBody>
      </p:sp>
      <p:sp>
        <p:nvSpPr>
          <p:cNvPr id="38" name="Text 36"/>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Yesterday's problem is now solved, permanently, by about six lines of code. That is what the whole day was for.</a:t>
            </a:r>
            <a:endParaRPr lang="en-US" sz="1000" dirty="0"/>
          </a:p>
        </p:txBody>
      </p:sp>
    </p:spTree>
    <p:extLst>
      <p:ext uri="{BB962C8B-B14F-4D97-AF65-F5344CB8AC3E}">
        <p14:creationId xmlns:p14="http://schemas.microsoft.com/office/powerpoint/2010/main" val="870323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5AA8"/>
          </a:solidFill>
          <a:ln w="12700">
            <a:solidFill>
              <a:srgbClr val="2E5AA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5C7C93"/>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Never Let Model Output Reach Your Database</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Shape 4"/>
          <p:cNvSpPr/>
          <p:nvPr/>
        </p:nvSpPr>
        <p:spPr>
          <a:xfrm>
            <a:off x="457200" y="987552"/>
            <a:ext cx="1883664" cy="402336"/>
          </a:xfrm>
          <a:prstGeom prst="rect">
            <a:avLst/>
          </a:prstGeom>
          <a:solidFill>
            <a:srgbClr val="0077B6"/>
          </a:solidFill>
          <a:ln w="12700">
            <a:solidFill>
              <a:srgbClr val="0077B6"/>
            </a:solidFill>
            <a:prstDash val="solid"/>
          </a:ln>
        </p:spPr>
        <p:txBody>
          <a:bodyPr/>
          <a:lstStyle/>
          <a:p>
            <a:endParaRPr lang="en-US"/>
          </a:p>
        </p:txBody>
      </p:sp>
      <p:sp>
        <p:nvSpPr>
          <p:cNvPr id="7" name="Text 5"/>
          <p:cNvSpPr/>
          <p:nvPr/>
        </p:nvSpPr>
        <p:spPr>
          <a:xfrm>
            <a:off x="457200" y="987552"/>
            <a:ext cx="1883664"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CALL</a:t>
            </a:r>
            <a:endParaRPr lang="en-US" sz="1000" dirty="0"/>
          </a:p>
        </p:txBody>
      </p:sp>
      <p:sp>
        <p:nvSpPr>
          <p:cNvPr id="8" name="Text 6"/>
          <p:cNvSpPr/>
          <p:nvPr/>
        </p:nvSpPr>
        <p:spPr>
          <a:xfrm>
            <a:off x="2377440" y="1078992"/>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560320" y="987552"/>
            <a:ext cx="1883664" cy="402336"/>
          </a:xfrm>
          <a:prstGeom prst="rect">
            <a:avLst/>
          </a:prstGeom>
          <a:solidFill>
            <a:srgbClr val="00879B"/>
          </a:solidFill>
          <a:ln w="12700">
            <a:solidFill>
              <a:srgbClr val="00879B"/>
            </a:solidFill>
            <a:prstDash val="solid"/>
          </a:ln>
        </p:spPr>
        <p:txBody>
          <a:bodyPr/>
          <a:lstStyle/>
          <a:p>
            <a:endParaRPr lang="en-US"/>
          </a:p>
        </p:txBody>
      </p:sp>
      <p:sp>
        <p:nvSpPr>
          <p:cNvPr id="10" name="Text 8"/>
          <p:cNvSpPr/>
          <p:nvPr/>
        </p:nvSpPr>
        <p:spPr>
          <a:xfrm>
            <a:off x="2560320" y="987552"/>
            <a:ext cx="1883664"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PARSE</a:t>
            </a:r>
            <a:endParaRPr lang="en-US" sz="1000" dirty="0"/>
          </a:p>
        </p:txBody>
      </p:sp>
      <p:sp>
        <p:nvSpPr>
          <p:cNvPr id="11" name="Text 9"/>
          <p:cNvSpPr/>
          <p:nvPr/>
        </p:nvSpPr>
        <p:spPr>
          <a:xfrm>
            <a:off x="4480560" y="1078992"/>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4663440" y="987552"/>
            <a:ext cx="1883664" cy="402336"/>
          </a:xfrm>
          <a:prstGeom prst="rect">
            <a:avLst/>
          </a:prstGeom>
          <a:solidFill>
            <a:srgbClr val="B83232"/>
          </a:solidFill>
          <a:ln w="12700">
            <a:solidFill>
              <a:srgbClr val="B83232"/>
            </a:solidFill>
            <a:prstDash val="solid"/>
          </a:ln>
        </p:spPr>
        <p:txBody>
          <a:bodyPr/>
          <a:lstStyle/>
          <a:p>
            <a:endParaRPr lang="en-US"/>
          </a:p>
        </p:txBody>
      </p:sp>
      <p:sp>
        <p:nvSpPr>
          <p:cNvPr id="13" name="Text 11"/>
          <p:cNvSpPr/>
          <p:nvPr/>
        </p:nvSpPr>
        <p:spPr>
          <a:xfrm>
            <a:off x="4663440" y="987552"/>
            <a:ext cx="1883664"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VALIDATE</a:t>
            </a:r>
            <a:endParaRPr lang="en-US" sz="1000" dirty="0"/>
          </a:p>
        </p:txBody>
      </p:sp>
      <p:sp>
        <p:nvSpPr>
          <p:cNvPr id="14" name="Text 12"/>
          <p:cNvSpPr/>
          <p:nvPr/>
        </p:nvSpPr>
        <p:spPr>
          <a:xfrm>
            <a:off x="6583680" y="1078992"/>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6766560" y="987552"/>
            <a:ext cx="1883664" cy="402336"/>
          </a:xfrm>
          <a:prstGeom prst="rect">
            <a:avLst/>
          </a:prstGeom>
          <a:solidFill>
            <a:srgbClr val="12795C"/>
          </a:solidFill>
          <a:ln w="12700">
            <a:solidFill>
              <a:srgbClr val="12795C"/>
            </a:solidFill>
            <a:prstDash val="solid"/>
          </a:ln>
        </p:spPr>
        <p:txBody>
          <a:bodyPr/>
          <a:lstStyle/>
          <a:p>
            <a:endParaRPr lang="en-US"/>
          </a:p>
        </p:txBody>
      </p:sp>
      <p:sp>
        <p:nvSpPr>
          <p:cNvPr id="16" name="Text 14"/>
          <p:cNvSpPr/>
          <p:nvPr/>
        </p:nvSpPr>
        <p:spPr>
          <a:xfrm>
            <a:off x="6766560" y="987552"/>
            <a:ext cx="1883664"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STORE</a:t>
            </a:r>
            <a:endParaRPr lang="en-US" sz="1000" dirty="0"/>
          </a:p>
        </p:txBody>
      </p:sp>
      <p:sp>
        <p:nvSpPr>
          <p:cNvPr id="17" name="Text 15"/>
          <p:cNvSpPr/>
          <p:nvPr/>
        </p:nvSpPr>
        <p:spPr>
          <a:xfrm>
            <a:off x="457200" y="1444752"/>
            <a:ext cx="8229600" cy="237744"/>
          </a:xfrm>
          <a:prstGeom prst="rect">
            <a:avLst/>
          </a:prstGeom>
          <a:noFill/>
          <a:ln/>
        </p:spPr>
        <p:txBody>
          <a:bodyPr wrap="square" lIns="0" tIns="0" rIns="0" bIns="0" rtlCol="0" anchor="ctr"/>
          <a:lstStyle/>
          <a:p>
            <a:pPr marL="0" indent="0">
              <a:buNone/>
            </a:pPr>
            <a:r>
              <a:rPr lang="en-US" sz="950" i="1" dirty="0">
                <a:solidFill>
                  <a:srgbClr val="5C7C93"/>
                </a:solidFill>
                <a:latin typeface="Calibri" pitchFamily="34" charset="0"/>
                <a:ea typeface="Calibri" pitchFamily="34" charset="-122"/>
                <a:cs typeface="Calibri" pitchFamily="34" charset="-120"/>
              </a:rPr>
              <a:t>Yesterday you skipped the third box. Today it is the point of the block.</a:t>
            </a:r>
            <a:endParaRPr lang="en-US" sz="950" dirty="0"/>
          </a:p>
        </p:txBody>
      </p:sp>
      <p:sp>
        <p:nvSpPr>
          <p:cNvPr id="18" name="Text 16"/>
          <p:cNvSpPr/>
          <p:nvPr/>
        </p:nvSpPr>
        <p:spPr>
          <a:xfrm>
            <a:off x="457200" y="1737360"/>
            <a:ext cx="54864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WHAT VALIDATE ACTUALLY CHECKS</a:t>
            </a:r>
            <a:endParaRPr lang="en-US" sz="800" dirty="0"/>
          </a:p>
        </p:txBody>
      </p:sp>
      <p:sp>
        <p:nvSpPr>
          <p:cNvPr id="19" name="Shape 17"/>
          <p:cNvSpPr/>
          <p:nvPr/>
        </p:nvSpPr>
        <p:spPr>
          <a:xfrm>
            <a:off x="457200" y="1956816"/>
            <a:ext cx="8229600" cy="329184"/>
          </a:xfrm>
          <a:prstGeom prst="rect">
            <a:avLst/>
          </a:prstGeom>
          <a:solidFill>
            <a:srgbClr val="EAF7FE"/>
          </a:solidFill>
          <a:ln w="6350">
            <a:solidFill>
              <a:srgbClr val="D6EDF9"/>
            </a:solidFill>
            <a:prstDash val="solid"/>
          </a:ln>
        </p:spPr>
        <p:txBody>
          <a:bodyPr/>
          <a:lstStyle/>
          <a:p>
            <a:endParaRPr lang="en-US"/>
          </a:p>
        </p:txBody>
      </p:sp>
      <p:sp>
        <p:nvSpPr>
          <p:cNvPr id="20" name="Text 18"/>
          <p:cNvSpPr/>
          <p:nvPr/>
        </p:nvSpPr>
        <p:spPr>
          <a:xfrm>
            <a:off x="566928" y="1956816"/>
            <a:ext cx="237744" cy="329184"/>
          </a:xfrm>
          <a:prstGeom prst="rect">
            <a:avLst/>
          </a:prstGeom>
          <a:noFill/>
          <a:ln/>
        </p:spPr>
        <p:txBody>
          <a:bodyPr wrap="square" lIns="0" tIns="0" rIns="0" bIns="0" rtlCol="0" anchor="ctr"/>
          <a:lstStyle/>
          <a:p>
            <a:pPr marL="0" indent="0">
              <a:buNone/>
            </a:pPr>
            <a:r>
              <a:rPr lang="en-US" sz="900" b="1" dirty="0">
                <a:solidFill>
                  <a:srgbClr val="12795C"/>
                </a:solidFill>
                <a:latin typeface="Calibri" pitchFamily="34" charset="0"/>
                <a:ea typeface="Calibri" pitchFamily="34" charset="-122"/>
                <a:cs typeface="Calibri" pitchFamily="34" charset="-120"/>
              </a:rPr>
              <a:t>✓</a:t>
            </a:r>
            <a:endParaRPr lang="en-US" sz="900" dirty="0"/>
          </a:p>
        </p:txBody>
      </p:sp>
      <p:sp>
        <p:nvSpPr>
          <p:cNvPr id="21" name="Text 19"/>
          <p:cNvSpPr/>
          <p:nvPr/>
        </p:nvSpPr>
        <p:spPr>
          <a:xfrm>
            <a:off x="841248" y="1956816"/>
            <a:ext cx="2834640" cy="329184"/>
          </a:xfrm>
          <a:prstGeom prst="rect">
            <a:avLst/>
          </a:prstGeom>
          <a:noFill/>
          <a:ln/>
        </p:spPr>
        <p:txBody>
          <a:bodyPr wrap="square" lIns="0" tIns="0" rIns="0" bIns="0" rtlCol="0" anchor="ctr"/>
          <a:lstStyle/>
          <a:p>
            <a:pPr marL="0" indent="0">
              <a:buNone/>
            </a:pPr>
            <a:r>
              <a:rPr lang="en-US" sz="850" b="1" dirty="0">
                <a:solidFill>
                  <a:srgbClr val="0A2A43"/>
                </a:solidFill>
                <a:latin typeface="Calibri" pitchFamily="34" charset="0"/>
                <a:ea typeface="Calibri" pitchFamily="34" charset="-122"/>
                <a:cs typeface="Calibri" pitchFamily="34" charset="-120"/>
              </a:rPr>
              <a:t>Did it parse at all?</a:t>
            </a:r>
            <a:endParaRPr lang="en-US" sz="850" dirty="0"/>
          </a:p>
        </p:txBody>
      </p:sp>
      <p:sp>
        <p:nvSpPr>
          <p:cNvPr id="22" name="Text 20"/>
          <p:cNvSpPr/>
          <p:nvPr/>
        </p:nvSpPr>
        <p:spPr>
          <a:xfrm>
            <a:off x="3749040" y="1956816"/>
            <a:ext cx="4846320" cy="329184"/>
          </a:xfrm>
          <a:prstGeom prst="rect">
            <a:avLst/>
          </a:prstGeom>
          <a:noFill/>
          <a:ln/>
        </p:spPr>
        <p:txBody>
          <a:bodyPr wrap="square" lIns="0" tIns="0" rIns="0" bIns="0" rtlCol="0" anchor="ctr"/>
          <a:lstStyle/>
          <a:p>
            <a:pPr marL="0" indent="0">
              <a:buNone/>
            </a:pPr>
            <a:r>
              <a:rPr lang="en-US" sz="850" dirty="0">
                <a:solidFill>
                  <a:srgbClr val="5C7C93"/>
                </a:solidFill>
                <a:latin typeface="Calibri" pitchFamily="34" charset="0"/>
                <a:ea typeface="Calibri" pitchFamily="34" charset="-122"/>
                <a:cs typeface="Calibri" pitchFamily="34" charset="-120"/>
              </a:rPr>
              <a:t>JSON.parse inside try / catch. Never outside.</a:t>
            </a:r>
            <a:endParaRPr lang="en-US" sz="850" dirty="0"/>
          </a:p>
        </p:txBody>
      </p:sp>
      <p:sp>
        <p:nvSpPr>
          <p:cNvPr id="23" name="Shape 21"/>
          <p:cNvSpPr/>
          <p:nvPr/>
        </p:nvSpPr>
        <p:spPr>
          <a:xfrm>
            <a:off x="457200" y="2322576"/>
            <a:ext cx="8229600" cy="329184"/>
          </a:xfrm>
          <a:prstGeom prst="rect">
            <a:avLst/>
          </a:prstGeom>
          <a:solidFill>
            <a:srgbClr val="FFFFFF"/>
          </a:solidFill>
          <a:ln w="6350">
            <a:solidFill>
              <a:srgbClr val="D6EDF9"/>
            </a:solidFill>
            <a:prstDash val="solid"/>
          </a:ln>
        </p:spPr>
        <p:txBody>
          <a:bodyPr/>
          <a:lstStyle/>
          <a:p>
            <a:endParaRPr lang="en-US"/>
          </a:p>
        </p:txBody>
      </p:sp>
      <p:sp>
        <p:nvSpPr>
          <p:cNvPr id="24" name="Text 22"/>
          <p:cNvSpPr/>
          <p:nvPr/>
        </p:nvSpPr>
        <p:spPr>
          <a:xfrm>
            <a:off x="566928" y="2322576"/>
            <a:ext cx="237744" cy="329184"/>
          </a:xfrm>
          <a:prstGeom prst="rect">
            <a:avLst/>
          </a:prstGeom>
          <a:noFill/>
          <a:ln/>
        </p:spPr>
        <p:txBody>
          <a:bodyPr wrap="square" lIns="0" tIns="0" rIns="0" bIns="0" rtlCol="0" anchor="ctr"/>
          <a:lstStyle/>
          <a:p>
            <a:pPr marL="0" indent="0">
              <a:buNone/>
            </a:pPr>
            <a:r>
              <a:rPr lang="en-US" sz="900" b="1" dirty="0">
                <a:solidFill>
                  <a:srgbClr val="12795C"/>
                </a:solidFill>
                <a:latin typeface="Calibri" pitchFamily="34" charset="0"/>
                <a:ea typeface="Calibri" pitchFamily="34" charset="-122"/>
                <a:cs typeface="Calibri" pitchFamily="34" charset="-120"/>
              </a:rPr>
              <a:t>✓</a:t>
            </a:r>
            <a:endParaRPr lang="en-US" sz="900" dirty="0"/>
          </a:p>
        </p:txBody>
      </p:sp>
      <p:sp>
        <p:nvSpPr>
          <p:cNvPr id="25" name="Text 23"/>
          <p:cNvSpPr/>
          <p:nvPr/>
        </p:nvSpPr>
        <p:spPr>
          <a:xfrm>
            <a:off x="841248" y="2322576"/>
            <a:ext cx="2834640" cy="329184"/>
          </a:xfrm>
          <a:prstGeom prst="rect">
            <a:avLst/>
          </a:prstGeom>
          <a:noFill/>
          <a:ln/>
        </p:spPr>
        <p:txBody>
          <a:bodyPr wrap="square" lIns="0" tIns="0" rIns="0" bIns="0" rtlCol="0" anchor="ctr"/>
          <a:lstStyle/>
          <a:p>
            <a:pPr marL="0" indent="0">
              <a:buNone/>
            </a:pPr>
            <a:r>
              <a:rPr lang="en-US" sz="850" b="1" dirty="0">
                <a:solidFill>
                  <a:srgbClr val="0A2A43"/>
                </a:solidFill>
                <a:latin typeface="Calibri" pitchFamily="34" charset="0"/>
                <a:ea typeface="Calibri" pitchFamily="34" charset="-122"/>
                <a:cs typeface="Calibri" pitchFamily="34" charset="-120"/>
              </a:rPr>
              <a:t>Is summary a string?</a:t>
            </a:r>
            <a:endParaRPr lang="en-US" sz="850" dirty="0"/>
          </a:p>
        </p:txBody>
      </p:sp>
      <p:sp>
        <p:nvSpPr>
          <p:cNvPr id="26" name="Text 24"/>
          <p:cNvSpPr/>
          <p:nvPr/>
        </p:nvSpPr>
        <p:spPr>
          <a:xfrm>
            <a:off x="3749040" y="2322576"/>
            <a:ext cx="4846320" cy="329184"/>
          </a:xfrm>
          <a:prstGeom prst="rect">
            <a:avLst/>
          </a:prstGeom>
          <a:noFill/>
          <a:ln/>
        </p:spPr>
        <p:txBody>
          <a:bodyPr wrap="square" lIns="0" tIns="0" rIns="0" bIns="0" rtlCol="0" anchor="ctr"/>
          <a:lstStyle/>
          <a:p>
            <a:pPr marL="0" indent="0">
              <a:buNone/>
            </a:pPr>
            <a:r>
              <a:rPr lang="en-US" sz="850" dirty="0">
                <a:solidFill>
                  <a:srgbClr val="5C7C93"/>
                </a:solidFill>
                <a:latin typeface="Calibri" pitchFamily="34" charset="0"/>
                <a:ea typeface="Calibri" pitchFamily="34" charset="-122"/>
                <a:cs typeface="Calibri" pitchFamily="34" charset="-120"/>
              </a:rPr>
              <a:t>And is it a sensible length, not nine hundred words?</a:t>
            </a:r>
            <a:endParaRPr lang="en-US" sz="850" dirty="0"/>
          </a:p>
        </p:txBody>
      </p:sp>
      <p:sp>
        <p:nvSpPr>
          <p:cNvPr id="27" name="Shape 25"/>
          <p:cNvSpPr/>
          <p:nvPr/>
        </p:nvSpPr>
        <p:spPr>
          <a:xfrm>
            <a:off x="457200" y="2688336"/>
            <a:ext cx="8229600" cy="329184"/>
          </a:xfrm>
          <a:prstGeom prst="rect">
            <a:avLst/>
          </a:prstGeom>
          <a:solidFill>
            <a:srgbClr val="EAF7FE"/>
          </a:solidFill>
          <a:ln w="6350">
            <a:solidFill>
              <a:srgbClr val="D6EDF9"/>
            </a:solidFill>
            <a:prstDash val="solid"/>
          </a:ln>
        </p:spPr>
        <p:txBody>
          <a:bodyPr/>
          <a:lstStyle/>
          <a:p>
            <a:endParaRPr lang="en-US"/>
          </a:p>
        </p:txBody>
      </p:sp>
      <p:sp>
        <p:nvSpPr>
          <p:cNvPr id="28" name="Text 26"/>
          <p:cNvSpPr/>
          <p:nvPr/>
        </p:nvSpPr>
        <p:spPr>
          <a:xfrm>
            <a:off x="566928" y="2688336"/>
            <a:ext cx="237744" cy="329184"/>
          </a:xfrm>
          <a:prstGeom prst="rect">
            <a:avLst/>
          </a:prstGeom>
          <a:noFill/>
          <a:ln/>
        </p:spPr>
        <p:txBody>
          <a:bodyPr wrap="square" lIns="0" tIns="0" rIns="0" bIns="0" rtlCol="0" anchor="ctr"/>
          <a:lstStyle/>
          <a:p>
            <a:pPr marL="0" indent="0">
              <a:buNone/>
            </a:pPr>
            <a:r>
              <a:rPr lang="en-US" sz="900" b="1" dirty="0">
                <a:solidFill>
                  <a:srgbClr val="12795C"/>
                </a:solidFill>
                <a:latin typeface="Calibri" pitchFamily="34" charset="0"/>
                <a:ea typeface="Calibri" pitchFamily="34" charset="-122"/>
                <a:cs typeface="Calibri" pitchFamily="34" charset="-120"/>
              </a:rPr>
              <a:t>✓</a:t>
            </a:r>
            <a:endParaRPr lang="en-US" sz="900" dirty="0"/>
          </a:p>
        </p:txBody>
      </p:sp>
      <p:sp>
        <p:nvSpPr>
          <p:cNvPr id="29" name="Text 27"/>
          <p:cNvSpPr/>
          <p:nvPr/>
        </p:nvSpPr>
        <p:spPr>
          <a:xfrm>
            <a:off x="841248" y="2688336"/>
            <a:ext cx="2834640" cy="329184"/>
          </a:xfrm>
          <a:prstGeom prst="rect">
            <a:avLst/>
          </a:prstGeom>
          <a:noFill/>
          <a:ln/>
        </p:spPr>
        <p:txBody>
          <a:bodyPr wrap="square" lIns="0" tIns="0" rIns="0" bIns="0" rtlCol="0" anchor="ctr"/>
          <a:lstStyle/>
          <a:p>
            <a:pPr marL="0" indent="0">
              <a:buNone/>
            </a:pPr>
            <a:r>
              <a:rPr lang="en-US" sz="850" b="1" dirty="0">
                <a:solidFill>
                  <a:srgbClr val="0A2A43"/>
                </a:solidFill>
                <a:latin typeface="Calibri" pitchFamily="34" charset="0"/>
                <a:ea typeface="Calibri" pitchFamily="34" charset="-122"/>
                <a:cs typeface="Calibri" pitchFamily="34" charset="-120"/>
              </a:rPr>
              <a:t>Is tags an array of strings?</a:t>
            </a:r>
            <a:endParaRPr lang="en-US" sz="850" dirty="0"/>
          </a:p>
        </p:txBody>
      </p:sp>
      <p:sp>
        <p:nvSpPr>
          <p:cNvPr id="30" name="Text 28"/>
          <p:cNvSpPr/>
          <p:nvPr/>
        </p:nvSpPr>
        <p:spPr>
          <a:xfrm>
            <a:off x="3749040" y="2688336"/>
            <a:ext cx="4846320" cy="329184"/>
          </a:xfrm>
          <a:prstGeom prst="rect">
            <a:avLst/>
          </a:prstGeom>
          <a:noFill/>
          <a:ln/>
        </p:spPr>
        <p:txBody>
          <a:bodyPr wrap="square" lIns="0" tIns="0" rIns="0" bIns="0" rtlCol="0" anchor="ctr"/>
          <a:lstStyle/>
          <a:p>
            <a:pPr marL="0" indent="0">
              <a:buNone/>
            </a:pPr>
            <a:r>
              <a:rPr lang="en-US" sz="850" dirty="0">
                <a:solidFill>
                  <a:srgbClr val="5C7C93"/>
                </a:solidFill>
                <a:latin typeface="Calibri" pitchFamily="34" charset="0"/>
                <a:ea typeface="Calibri" pitchFamily="34" charset="-122"/>
                <a:cs typeface="Calibri" pitchFamily="34" charset="-120"/>
              </a:rPr>
              <a:t>Trim it to three yourself. Never trust the count you asked for.</a:t>
            </a:r>
            <a:endParaRPr lang="en-US" sz="850" dirty="0"/>
          </a:p>
        </p:txBody>
      </p:sp>
      <p:sp>
        <p:nvSpPr>
          <p:cNvPr id="31" name="Shape 29"/>
          <p:cNvSpPr/>
          <p:nvPr/>
        </p:nvSpPr>
        <p:spPr>
          <a:xfrm>
            <a:off x="457200" y="3054096"/>
            <a:ext cx="8229600" cy="329184"/>
          </a:xfrm>
          <a:prstGeom prst="rect">
            <a:avLst/>
          </a:prstGeom>
          <a:solidFill>
            <a:srgbClr val="FFFFFF"/>
          </a:solidFill>
          <a:ln w="6350">
            <a:solidFill>
              <a:srgbClr val="D6EDF9"/>
            </a:solidFill>
            <a:prstDash val="solid"/>
          </a:ln>
        </p:spPr>
        <p:txBody>
          <a:bodyPr/>
          <a:lstStyle/>
          <a:p>
            <a:endParaRPr lang="en-US"/>
          </a:p>
        </p:txBody>
      </p:sp>
      <p:sp>
        <p:nvSpPr>
          <p:cNvPr id="32" name="Text 30"/>
          <p:cNvSpPr/>
          <p:nvPr/>
        </p:nvSpPr>
        <p:spPr>
          <a:xfrm>
            <a:off x="566928" y="3054096"/>
            <a:ext cx="237744" cy="329184"/>
          </a:xfrm>
          <a:prstGeom prst="rect">
            <a:avLst/>
          </a:prstGeom>
          <a:noFill/>
          <a:ln/>
        </p:spPr>
        <p:txBody>
          <a:bodyPr wrap="square" lIns="0" tIns="0" rIns="0" bIns="0" rtlCol="0" anchor="ctr"/>
          <a:lstStyle/>
          <a:p>
            <a:pPr marL="0" indent="0">
              <a:buNone/>
            </a:pPr>
            <a:r>
              <a:rPr lang="en-US" sz="900" b="1" dirty="0">
                <a:solidFill>
                  <a:srgbClr val="12795C"/>
                </a:solidFill>
                <a:latin typeface="Calibri" pitchFamily="34" charset="0"/>
                <a:ea typeface="Calibri" pitchFamily="34" charset="-122"/>
                <a:cs typeface="Calibri" pitchFamily="34" charset="-120"/>
              </a:rPr>
              <a:t>✓</a:t>
            </a:r>
            <a:endParaRPr lang="en-US" sz="900" dirty="0"/>
          </a:p>
        </p:txBody>
      </p:sp>
      <p:sp>
        <p:nvSpPr>
          <p:cNvPr id="33" name="Text 31"/>
          <p:cNvSpPr/>
          <p:nvPr/>
        </p:nvSpPr>
        <p:spPr>
          <a:xfrm>
            <a:off x="841248" y="3054096"/>
            <a:ext cx="2834640" cy="329184"/>
          </a:xfrm>
          <a:prstGeom prst="rect">
            <a:avLst/>
          </a:prstGeom>
          <a:noFill/>
          <a:ln/>
        </p:spPr>
        <p:txBody>
          <a:bodyPr wrap="square" lIns="0" tIns="0" rIns="0" bIns="0" rtlCol="0" anchor="ctr"/>
          <a:lstStyle/>
          <a:p>
            <a:pPr marL="0" indent="0">
              <a:buNone/>
            </a:pPr>
            <a:r>
              <a:rPr lang="en-US" sz="850" b="1" dirty="0">
                <a:solidFill>
                  <a:srgbClr val="0A2A43"/>
                </a:solidFill>
                <a:latin typeface="Calibri" pitchFamily="34" charset="0"/>
                <a:ea typeface="Calibri" pitchFamily="34" charset="-122"/>
                <a:cs typeface="Calibri" pitchFamily="34" charset="-120"/>
              </a:rPr>
              <a:t>Is anything missing?</a:t>
            </a:r>
            <a:endParaRPr lang="en-US" sz="850" dirty="0"/>
          </a:p>
        </p:txBody>
      </p:sp>
      <p:sp>
        <p:nvSpPr>
          <p:cNvPr id="34" name="Text 32"/>
          <p:cNvSpPr/>
          <p:nvPr/>
        </p:nvSpPr>
        <p:spPr>
          <a:xfrm>
            <a:off x="3749040" y="3054096"/>
            <a:ext cx="4846320" cy="329184"/>
          </a:xfrm>
          <a:prstGeom prst="rect">
            <a:avLst/>
          </a:prstGeom>
          <a:noFill/>
          <a:ln/>
        </p:spPr>
        <p:txBody>
          <a:bodyPr wrap="square" lIns="0" tIns="0" rIns="0" bIns="0" rtlCol="0" anchor="ctr"/>
          <a:lstStyle/>
          <a:p>
            <a:pPr marL="0" indent="0">
              <a:buNone/>
            </a:pPr>
            <a:r>
              <a:rPr lang="en-US" sz="850" dirty="0">
                <a:solidFill>
                  <a:srgbClr val="5C7C93"/>
                </a:solidFill>
                <a:latin typeface="Calibri" pitchFamily="34" charset="0"/>
                <a:ea typeface="Calibri" pitchFamily="34" charset="-122"/>
                <a:cs typeface="Calibri" pitchFamily="34" charset="-120"/>
              </a:rPr>
              <a:t>A field you did not get is not a field you store as undefined.</a:t>
            </a:r>
            <a:endParaRPr lang="en-US" sz="850" dirty="0"/>
          </a:p>
        </p:txBody>
      </p:sp>
      <p:sp>
        <p:nvSpPr>
          <p:cNvPr id="35" name="Shape 33"/>
          <p:cNvSpPr/>
          <p:nvPr/>
        </p:nvSpPr>
        <p:spPr>
          <a:xfrm>
            <a:off x="457200" y="3456432"/>
            <a:ext cx="8229600" cy="621792"/>
          </a:xfrm>
          <a:prstGeom prst="rect">
            <a:avLst/>
          </a:prstGeom>
          <a:solidFill>
            <a:srgbClr val="0A2A43"/>
          </a:solidFill>
          <a:ln w="12700">
            <a:solidFill>
              <a:srgbClr val="0A2A43"/>
            </a:solidFill>
            <a:prstDash val="solid"/>
          </a:ln>
        </p:spPr>
        <p:txBody>
          <a:bodyPr/>
          <a:lstStyle/>
          <a:p>
            <a:endParaRPr lang="en-US"/>
          </a:p>
        </p:txBody>
      </p:sp>
      <p:sp>
        <p:nvSpPr>
          <p:cNvPr id="36" name="Shape 34"/>
          <p:cNvSpPr/>
          <p:nvPr/>
        </p:nvSpPr>
        <p:spPr>
          <a:xfrm>
            <a:off x="457200" y="3456432"/>
            <a:ext cx="73152" cy="621792"/>
          </a:xfrm>
          <a:prstGeom prst="rect">
            <a:avLst/>
          </a:prstGeom>
          <a:solidFill>
            <a:srgbClr val="00B0F0"/>
          </a:solidFill>
          <a:ln w="12700">
            <a:solidFill>
              <a:srgbClr val="00B0F0"/>
            </a:solidFill>
            <a:prstDash val="solid"/>
          </a:ln>
        </p:spPr>
        <p:txBody>
          <a:bodyPr/>
          <a:lstStyle/>
          <a:p>
            <a:endParaRPr lang="en-US"/>
          </a:p>
        </p:txBody>
      </p:sp>
      <p:sp>
        <p:nvSpPr>
          <p:cNvPr id="37" name="Text 35"/>
          <p:cNvSpPr/>
          <p:nvPr/>
        </p:nvSpPr>
        <p:spPr>
          <a:xfrm>
            <a:off x="731520" y="3493008"/>
            <a:ext cx="77724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Your schema is a promise you made. The model has never read it.</a:t>
            </a:r>
            <a:endParaRPr lang="en-US" sz="1300" dirty="0"/>
          </a:p>
        </p:txBody>
      </p:sp>
      <p:sp>
        <p:nvSpPr>
          <p:cNvPr id="38" name="Text 36"/>
          <p:cNvSpPr/>
          <p:nvPr/>
        </p:nvSpPr>
        <p:spPr>
          <a:xfrm>
            <a:off x="731520" y="3767328"/>
            <a:ext cx="7772400" cy="274320"/>
          </a:xfrm>
          <a:prstGeom prst="rect">
            <a:avLst/>
          </a:prstGeom>
          <a:noFill/>
          <a:ln/>
        </p:spPr>
        <p:txBody>
          <a:bodyPr wrap="square" lIns="0" tIns="0" rIns="0" bIns="0" rtlCol="0" anchor="ctr"/>
          <a:lstStyle/>
          <a:p>
            <a:pPr marL="0" indent="0">
              <a:buNone/>
            </a:pPr>
            <a:r>
              <a:rPr lang="en-US" sz="900" dirty="0">
                <a:solidFill>
                  <a:srgbClr val="BFE3F5"/>
                </a:solidFill>
                <a:latin typeface="Calibri" pitchFamily="34" charset="0"/>
                <a:ea typeface="Calibri" pitchFamily="34" charset="-122"/>
                <a:cs typeface="Calibri" pitchFamily="34" charset="-120"/>
              </a:rPr>
              <a:t>When validation fails: save the record without its enrichment, mark it, and let the user press the button again. Never crash, and never store something you did not check.</a:t>
            </a:r>
            <a:endParaRPr lang="en-US" sz="900" dirty="0"/>
          </a:p>
        </p:txBody>
      </p:sp>
      <p:sp>
        <p:nvSpPr>
          <p:cNvPr id="39" name="Shape 37"/>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40" name="Shape 38"/>
          <p:cNvSpPr/>
          <p:nvPr/>
        </p:nvSpPr>
        <p:spPr>
          <a:xfrm>
            <a:off x="457200" y="4334256"/>
            <a:ext cx="54864" cy="512064"/>
          </a:xfrm>
          <a:prstGeom prst="rect">
            <a:avLst/>
          </a:prstGeom>
          <a:solidFill>
            <a:srgbClr val="2E5AA8"/>
          </a:solidFill>
          <a:ln w="12700">
            <a:solidFill>
              <a:srgbClr val="2E5AA8"/>
            </a:solidFill>
            <a:prstDash val="solid"/>
          </a:ln>
        </p:spPr>
        <p:txBody>
          <a:bodyPr/>
          <a:lstStyle/>
          <a:p>
            <a:endParaRPr lang="en-US"/>
          </a:p>
        </p:txBody>
      </p:sp>
      <p:sp>
        <p:nvSpPr>
          <p:cNvPr id="41" name="Text 39"/>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Treat the model exactly like a form filled in by a stranger. You would validate that. This is no different.</a:t>
            </a:r>
            <a:endParaRPr lang="en-US" sz="1000" dirty="0"/>
          </a:p>
        </p:txBody>
      </p:sp>
    </p:spTree>
    <p:extLst>
      <p:ext uri="{BB962C8B-B14F-4D97-AF65-F5344CB8AC3E}">
        <p14:creationId xmlns:p14="http://schemas.microsoft.com/office/powerpoint/2010/main" val="62556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5AA8"/>
          </a:solidFill>
          <a:ln w="12700">
            <a:solidFill>
              <a:srgbClr val="2E5AA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5C7C93"/>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Slow, Flaky and Expensive — Design For It</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Shape 4"/>
          <p:cNvSpPr/>
          <p:nvPr/>
        </p:nvSpPr>
        <p:spPr>
          <a:xfrm>
            <a:off x="457200" y="1005840"/>
            <a:ext cx="2633472" cy="1591056"/>
          </a:xfrm>
          <a:prstGeom prst="rect">
            <a:avLst/>
          </a:prstGeom>
          <a:solidFill>
            <a:srgbClr val="FFFFFF"/>
          </a:solidFill>
          <a:ln w="9525">
            <a:solidFill>
              <a:srgbClr val="D6EDF9"/>
            </a:solidFill>
            <a:prstDash val="solid"/>
          </a:ln>
        </p:spPr>
        <p:txBody>
          <a:bodyPr/>
          <a:lstStyle/>
          <a:p>
            <a:endParaRPr lang="en-US"/>
          </a:p>
        </p:txBody>
      </p:sp>
      <p:sp>
        <p:nvSpPr>
          <p:cNvPr id="7" name="Shape 5"/>
          <p:cNvSpPr/>
          <p:nvPr/>
        </p:nvSpPr>
        <p:spPr>
          <a:xfrm>
            <a:off x="457200" y="1005840"/>
            <a:ext cx="2633472" cy="329184"/>
          </a:xfrm>
          <a:prstGeom prst="rect">
            <a:avLst/>
          </a:prstGeom>
          <a:solidFill>
            <a:srgbClr val="B86A0E"/>
          </a:solidFill>
          <a:ln w="12700">
            <a:solidFill>
              <a:srgbClr val="B86A0E"/>
            </a:solidFill>
            <a:prstDash val="solid"/>
          </a:ln>
        </p:spPr>
        <p:txBody>
          <a:bodyPr/>
          <a:lstStyle/>
          <a:p>
            <a:endParaRPr lang="en-US"/>
          </a:p>
        </p:txBody>
      </p:sp>
      <p:sp>
        <p:nvSpPr>
          <p:cNvPr id="8" name="Text 6"/>
          <p:cNvSpPr/>
          <p:nvPr/>
        </p:nvSpPr>
        <p:spPr>
          <a:xfrm>
            <a:off x="457200" y="1005840"/>
            <a:ext cx="2633472"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TIMEOUT</a:t>
            </a:r>
            <a:endParaRPr lang="en-US" sz="900" dirty="0"/>
          </a:p>
        </p:txBody>
      </p:sp>
      <p:sp>
        <p:nvSpPr>
          <p:cNvPr id="9" name="Text 7"/>
          <p:cNvSpPr/>
          <p:nvPr/>
        </p:nvSpPr>
        <p:spPr>
          <a:xfrm>
            <a:off x="640080" y="1408176"/>
            <a:ext cx="2322576" cy="365760"/>
          </a:xfrm>
          <a:prstGeom prst="rect">
            <a:avLst/>
          </a:prstGeom>
          <a:noFill/>
          <a:ln/>
        </p:spPr>
        <p:txBody>
          <a:bodyPr wrap="square" lIns="0" tIns="0" rIns="0" bIns="0" rtlCol="0" anchor="t"/>
          <a:lstStyle/>
          <a:p>
            <a:pPr marL="0" indent="0">
              <a:lnSpc>
                <a:spcPct val="105000"/>
              </a:lnSpc>
              <a:buNone/>
            </a:pPr>
            <a:r>
              <a:rPr lang="en-US" sz="900" b="1" dirty="0">
                <a:solidFill>
                  <a:srgbClr val="0A2A43"/>
                </a:solidFill>
                <a:latin typeface="Calibri" pitchFamily="34" charset="0"/>
                <a:ea typeface="Calibri" pitchFamily="34" charset="-122"/>
                <a:cs typeface="Calibri" pitchFamily="34" charset="-120"/>
              </a:rPr>
              <a:t>Models hang. Sometimes forever.</a:t>
            </a:r>
            <a:endParaRPr lang="en-US" sz="900" dirty="0"/>
          </a:p>
        </p:txBody>
      </p:sp>
      <p:sp>
        <p:nvSpPr>
          <p:cNvPr id="10" name="Text 8"/>
          <p:cNvSpPr/>
          <p:nvPr/>
        </p:nvSpPr>
        <p:spPr>
          <a:xfrm>
            <a:off x="640080" y="1810512"/>
            <a:ext cx="2322576" cy="731520"/>
          </a:xfrm>
          <a:prstGeom prst="rect">
            <a:avLst/>
          </a:prstGeom>
          <a:noFill/>
          <a:ln/>
        </p:spPr>
        <p:txBody>
          <a:bodyPr wrap="square" lIns="0" tIns="0" rIns="0" bIns="0" rtlCol="0" anchor="t"/>
          <a:lstStyle/>
          <a:p>
            <a:pPr marL="0" indent="0">
              <a:lnSpc>
                <a:spcPct val="108000"/>
              </a:lnSpc>
              <a:buNone/>
            </a:pPr>
            <a:r>
              <a:rPr lang="en-US" sz="800" dirty="0">
                <a:solidFill>
                  <a:srgbClr val="5C7C93"/>
                </a:solidFill>
                <a:latin typeface="Calibri" pitchFamily="34" charset="0"/>
                <a:ea typeface="Calibri" pitchFamily="34" charset="-122"/>
                <a:cs typeface="Calibri" pitchFamily="34" charset="-120"/>
              </a:rPr>
              <a:t>AbortController with about ten seconds. Without one, a single stuck call holds a connection open until you restart the server.</a:t>
            </a:r>
            <a:endParaRPr lang="en-US" sz="800" dirty="0"/>
          </a:p>
        </p:txBody>
      </p:sp>
      <p:sp>
        <p:nvSpPr>
          <p:cNvPr id="11" name="Shape 9"/>
          <p:cNvSpPr/>
          <p:nvPr/>
        </p:nvSpPr>
        <p:spPr>
          <a:xfrm>
            <a:off x="3255264" y="1005840"/>
            <a:ext cx="2633472" cy="1591056"/>
          </a:xfrm>
          <a:prstGeom prst="rect">
            <a:avLst/>
          </a:prstGeom>
          <a:solidFill>
            <a:srgbClr val="FFFFFF"/>
          </a:solidFill>
          <a:ln w="9525">
            <a:solidFill>
              <a:srgbClr val="D6EDF9"/>
            </a:solidFill>
            <a:prstDash val="solid"/>
          </a:ln>
        </p:spPr>
        <p:txBody>
          <a:bodyPr/>
          <a:lstStyle/>
          <a:p>
            <a:endParaRPr lang="en-US"/>
          </a:p>
        </p:txBody>
      </p:sp>
      <p:sp>
        <p:nvSpPr>
          <p:cNvPr id="12" name="Shape 10"/>
          <p:cNvSpPr/>
          <p:nvPr/>
        </p:nvSpPr>
        <p:spPr>
          <a:xfrm>
            <a:off x="3255264" y="1005840"/>
            <a:ext cx="2633472" cy="329184"/>
          </a:xfrm>
          <a:prstGeom prst="rect">
            <a:avLst/>
          </a:prstGeom>
          <a:solidFill>
            <a:srgbClr val="0077B6"/>
          </a:solidFill>
          <a:ln w="12700">
            <a:solidFill>
              <a:srgbClr val="0077B6"/>
            </a:solidFill>
            <a:prstDash val="solid"/>
          </a:ln>
        </p:spPr>
        <p:txBody>
          <a:bodyPr/>
          <a:lstStyle/>
          <a:p>
            <a:endParaRPr lang="en-US"/>
          </a:p>
        </p:txBody>
      </p:sp>
      <p:sp>
        <p:nvSpPr>
          <p:cNvPr id="13" name="Text 11"/>
          <p:cNvSpPr/>
          <p:nvPr/>
        </p:nvSpPr>
        <p:spPr>
          <a:xfrm>
            <a:off x="3255264" y="1005840"/>
            <a:ext cx="2633472"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RETRY</a:t>
            </a:r>
            <a:endParaRPr lang="en-US" sz="900" dirty="0"/>
          </a:p>
        </p:txBody>
      </p:sp>
      <p:sp>
        <p:nvSpPr>
          <p:cNvPr id="14" name="Text 12"/>
          <p:cNvSpPr/>
          <p:nvPr/>
        </p:nvSpPr>
        <p:spPr>
          <a:xfrm>
            <a:off x="3438144" y="1408176"/>
            <a:ext cx="2322576" cy="365760"/>
          </a:xfrm>
          <a:prstGeom prst="rect">
            <a:avLst/>
          </a:prstGeom>
          <a:noFill/>
          <a:ln/>
        </p:spPr>
        <p:txBody>
          <a:bodyPr wrap="square" lIns="0" tIns="0" rIns="0" bIns="0" rtlCol="0" anchor="t"/>
          <a:lstStyle/>
          <a:p>
            <a:pPr marL="0" indent="0">
              <a:lnSpc>
                <a:spcPct val="105000"/>
              </a:lnSpc>
              <a:buNone/>
            </a:pPr>
            <a:r>
              <a:rPr lang="en-US" sz="900" b="1" dirty="0">
                <a:solidFill>
                  <a:srgbClr val="0A2A43"/>
                </a:solidFill>
                <a:latin typeface="Calibri" pitchFamily="34" charset="0"/>
                <a:ea typeface="Calibri" pitchFamily="34" charset="-122"/>
                <a:cs typeface="Calibri" pitchFamily="34" charset="-120"/>
              </a:rPr>
              <a:t>But only once, and only sometimes.</a:t>
            </a:r>
            <a:endParaRPr lang="en-US" sz="900" dirty="0"/>
          </a:p>
        </p:txBody>
      </p:sp>
      <p:sp>
        <p:nvSpPr>
          <p:cNvPr id="15" name="Text 13"/>
          <p:cNvSpPr/>
          <p:nvPr/>
        </p:nvSpPr>
        <p:spPr>
          <a:xfrm>
            <a:off x="3438144" y="1810512"/>
            <a:ext cx="2322576" cy="731520"/>
          </a:xfrm>
          <a:prstGeom prst="rect">
            <a:avLst/>
          </a:prstGeom>
          <a:noFill/>
          <a:ln/>
        </p:spPr>
        <p:txBody>
          <a:bodyPr wrap="square" lIns="0" tIns="0" rIns="0" bIns="0" rtlCol="0" anchor="t"/>
          <a:lstStyle/>
          <a:p>
            <a:pPr marL="0" indent="0">
              <a:lnSpc>
                <a:spcPct val="108000"/>
              </a:lnSpc>
              <a:buNone/>
            </a:pPr>
            <a:r>
              <a:rPr lang="en-US" sz="800" dirty="0">
                <a:solidFill>
                  <a:srgbClr val="5C7C93"/>
                </a:solidFill>
                <a:latin typeface="Calibri" pitchFamily="34" charset="0"/>
                <a:ea typeface="Calibri" pitchFamily="34" charset="-122"/>
                <a:cs typeface="Calibri" pitchFamily="34" charset="-120"/>
              </a:rPr>
              <a:t>Retry a 429 or a 5xx after a short wait. Never retry a 400 — it will fail in exactly the same way, twice as expensively.</a:t>
            </a:r>
            <a:endParaRPr lang="en-US" sz="800" dirty="0"/>
          </a:p>
        </p:txBody>
      </p:sp>
      <p:sp>
        <p:nvSpPr>
          <p:cNvPr id="16" name="Shape 14"/>
          <p:cNvSpPr/>
          <p:nvPr/>
        </p:nvSpPr>
        <p:spPr>
          <a:xfrm>
            <a:off x="6053328" y="1005840"/>
            <a:ext cx="2633472" cy="1591056"/>
          </a:xfrm>
          <a:prstGeom prst="rect">
            <a:avLst/>
          </a:prstGeom>
          <a:solidFill>
            <a:srgbClr val="FFFFFF"/>
          </a:solidFill>
          <a:ln w="9525">
            <a:solidFill>
              <a:srgbClr val="D6EDF9"/>
            </a:solidFill>
            <a:prstDash val="solid"/>
          </a:ln>
        </p:spPr>
        <p:txBody>
          <a:bodyPr/>
          <a:lstStyle/>
          <a:p>
            <a:endParaRPr lang="en-US"/>
          </a:p>
        </p:txBody>
      </p:sp>
      <p:sp>
        <p:nvSpPr>
          <p:cNvPr id="17" name="Shape 15"/>
          <p:cNvSpPr/>
          <p:nvPr/>
        </p:nvSpPr>
        <p:spPr>
          <a:xfrm>
            <a:off x="6053328" y="1005840"/>
            <a:ext cx="2633472" cy="329184"/>
          </a:xfrm>
          <a:prstGeom prst="rect">
            <a:avLst/>
          </a:prstGeom>
          <a:solidFill>
            <a:srgbClr val="12795C"/>
          </a:solidFill>
          <a:ln w="12700">
            <a:solidFill>
              <a:srgbClr val="12795C"/>
            </a:solidFill>
            <a:prstDash val="solid"/>
          </a:ln>
        </p:spPr>
        <p:txBody>
          <a:bodyPr/>
          <a:lstStyle/>
          <a:p>
            <a:endParaRPr lang="en-US"/>
          </a:p>
        </p:txBody>
      </p:sp>
      <p:sp>
        <p:nvSpPr>
          <p:cNvPr id="18" name="Text 16"/>
          <p:cNvSpPr/>
          <p:nvPr/>
        </p:nvSpPr>
        <p:spPr>
          <a:xfrm>
            <a:off x="6053328" y="1005840"/>
            <a:ext cx="2633472"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CACHE</a:t>
            </a:r>
            <a:endParaRPr lang="en-US" sz="900" dirty="0"/>
          </a:p>
        </p:txBody>
      </p:sp>
      <p:sp>
        <p:nvSpPr>
          <p:cNvPr id="19" name="Text 17"/>
          <p:cNvSpPr/>
          <p:nvPr/>
        </p:nvSpPr>
        <p:spPr>
          <a:xfrm>
            <a:off x="6236208" y="1408176"/>
            <a:ext cx="2322576" cy="365760"/>
          </a:xfrm>
          <a:prstGeom prst="rect">
            <a:avLst/>
          </a:prstGeom>
          <a:noFill/>
          <a:ln/>
        </p:spPr>
        <p:txBody>
          <a:bodyPr wrap="square" lIns="0" tIns="0" rIns="0" bIns="0" rtlCol="0" anchor="t"/>
          <a:lstStyle/>
          <a:p>
            <a:pPr marL="0" indent="0">
              <a:lnSpc>
                <a:spcPct val="105000"/>
              </a:lnSpc>
              <a:buNone/>
            </a:pPr>
            <a:r>
              <a:rPr lang="en-US" sz="900" b="1" dirty="0">
                <a:solidFill>
                  <a:srgbClr val="0A2A43"/>
                </a:solidFill>
                <a:latin typeface="Calibri" pitchFamily="34" charset="0"/>
                <a:ea typeface="Calibri" pitchFamily="34" charset="-122"/>
                <a:cs typeface="Calibri" pitchFamily="34" charset="-120"/>
              </a:rPr>
              <a:t>Do not pay twice for the same answer.</a:t>
            </a:r>
            <a:endParaRPr lang="en-US" sz="900" dirty="0"/>
          </a:p>
        </p:txBody>
      </p:sp>
      <p:sp>
        <p:nvSpPr>
          <p:cNvPr id="20" name="Text 18"/>
          <p:cNvSpPr/>
          <p:nvPr/>
        </p:nvSpPr>
        <p:spPr>
          <a:xfrm>
            <a:off x="6236208" y="1810512"/>
            <a:ext cx="2322576" cy="731520"/>
          </a:xfrm>
          <a:prstGeom prst="rect">
            <a:avLst/>
          </a:prstGeom>
          <a:noFill/>
          <a:ln/>
        </p:spPr>
        <p:txBody>
          <a:bodyPr wrap="square" lIns="0" tIns="0" rIns="0" bIns="0" rtlCol="0" anchor="t"/>
          <a:lstStyle/>
          <a:p>
            <a:pPr marL="0" indent="0">
              <a:lnSpc>
                <a:spcPct val="108000"/>
              </a:lnSpc>
              <a:buNone/>
            </a:pPr>
            <a:r>
              <a:rPr lang="en-US" sz="800" dirty="0">
                <a:solidFill>
                  <a:srgbClr val="5C7C93"/>
                </a:solidFill>
                <a:latin typeface="Calibri" pitchFamily="34" charset="0"/>
                <a:ea typeface="Calibri" pitchFamily="34" charset="-122"/>
                <a:cs typeface="Calibri" pitchFamily="34" charset="-120"/>
              </a:rPr>
              <a:t>If the body has not changed since you last enriched it, skip the call entirely and keep the summary you already stored.</a:t>
            </a:r>
            <a:endParaRPr lang="en-US" sz="800" dirty="0"/>
          </a:p>
        </p:txBody>
      </p:sp>
      <p:sp>
        <p:nvSpPr>
          <p:cNvPr id="21" name="Shape 19"/>
          <p:cNvSpPr/>
          <p:nvPr/>
        </p:nvSpPr>
        <p:spPr>
          <a:xfrm>
            <a:off x="457200" y="2779776"/>
            <a:ext cx="8229600" cy="676656"/>
          </a:xfrm>
          <a:prstGeom prst="rect">
            <a:avLst/>
          </a:prstGeom>
          <a:solidFill>
            <a:srgbClr val="0A2A43"/>
          </a:solidFill>
          <a:ln w="12700">
            <a:solidFill>
              <a:srgbClr val="0A2A43"/>
            </a:solidFill>
            <a:prstDash val="solid"/>
          </a:ln>
        </p:spPr>
        <p:txBody>
          <a:bodyPr/>
          <a:lstStyle/>
          <a:p>
            <a:endParaRPr lang="en-US"/>
          </a:p>
        </p:txBody>
      </p:sp>
      <p:sp>
        <p:nvSpPr>
          <p:cNvPr id="22" name="Shape 20"/>
          <p:cNvSpPr/>
          <p:nvPr/>
        </p:nvSpPr>
        <p:spPr>
          <a:xfrm>
            <a:off x="457200" y="2779776"/>
            <a:ext cx="73152" cy="676656"/>
          </a:xfrm>
          <a:prstGeom prst="rect">
            <a:avLst/>
          </a:prstGeom>
          <a:solidFill>
            <a:srgbClr val="2E5AA8"/>
          </a:solidFill>
          <a:ln w="12700">
            <a:solidFill>
              <a:srgbClr val="2E5AA8"/>
            </a:solidFill>
            <a:prstDash val="solid"/>
          </a:ln>
        </p:spPr>
        <p:txBody>
          <a:bodyPr/>
          <a:lstStyle/>
          <a:p>
            <a:endParaRPr lang="en-US"/>
          </a:p>
        </p:txBody>
      </p:sp>
      <p:sp>
        <p:nvSpPr>
          <p:cNvPr id="23" name="Text 21"/>
          <p:cNvSpPr/>
          <p:nvPr/>
        </p:nvSpPr>
        <p:spPr>
          <a:xfrm>
            <a:off x="731520" y="2816352"/>
            <a:ext cx="7772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 model call is the slowest, least reliable and most expensive line in your application.</a:t>
            </a:r>
            <a:endParaRPr lang="en-US" sz="1300" dirty="0"/>
          </a:p>
        </p:txBody>
      </p:sp>
      <p:sp>
        <p:nvSpPr>
          <p:cNvPr id="24" name="Text 22"/>
          <p:cNvSpPr/>
          <p:nvPr/>
        </p:nvSpPr>
        <p:spPr>
          <a:xfrm>
            <a:off x="731520" y="3108960"/>
            <a:ext cx="7772400" cy="274320"/>
          </a:xfrm>
          <a:prstGeom prst="rect">
            <a:avLst/>
          </a:prstGeom>
          <a:noFill/>
          <a:ln/>
        </p:spPr>
        <p:txBody>
          <a:bodyPr wrap="square" lIns="0" tIns="0" rIns="0" bIns="0" rtlCol="0" anchor="ctr"/>
          <a:lstStyle/>
          <a:p>
            <a:pPr marL="0" indent="0">
              <a:buNone/>
            </a:pPr>
            <a:r>
              <a:rPr lang="en-US" sz="900" dirty="0">
                <a:solidFill>
                  <a:srgbClr val="BFE3F5"/>
                </a:solidFill>
                <a:latin typeface="Calibri" pitchFamily="34" charset="0"/>
                <a:ea typeface="Calibri" pitchFamily="34" charset="-122"/>
                <a:cs typeface="Calibri" pitchFamily="34" charset="-120"/>
              </a:rPr>
              <a:t>Treat it exactly as you would any call to a flaky third party you do not control — because that is precisely what it is.</a:t>
            </a:r>
            <a:endParaRPr lang="en-US" sz="900" dirty="0"/>
          </a:p>
        </p:txBody>
      </p:sp>
      <p:sp>
        <p:nvSpPr>
          <p:cNvPr id="25" name="Text 23"/>
          <p:cNvSpPr/>
          <p:nvPr/>
        </p:nvSpPr>
        <p:spPr>
          <a:xfrm>
            <a:off x="457200" y="3602736"/>
            <a:ext cx="54864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IF YOU ONLY DO ONE OF THE THREE</a:t>
            </a:r>
            <a:endParaRPr lang="en-US" sz="800" dirty="0"/>
          </a:p>
        </p:txBody>
      </p:sp>
      <p:sp>
        <p:nvSpPr>
          <p:cNvPr id="26" name="Text 24"/>
          <p:cNvSpPr/>
          <p:nvPr/>
        </p:nvSpPr>
        <p:spPr>
          <a:xfrm>
            <a:off x="457200" y="3822192"/>
            <a:ext cx="8229600" cy="402336"/>
          </a:xfrm>
          <a:prstGeom prst="rect">
            <a:avLst/>
          </a:prstGeom>
          <a:noFill/>
          <a:ln/>
        </p:spPr>
        <p:txBody>
          <a:bodyPr wrap="square" lIns="0" tIns="0" rIns="0" bIns="0" rtlCol="0" anchor="t"/>
          <a:lstStyle/>
          <a:p>
            <a:pPr marL="0" indent="0">
              <a:lnSpc>
                <a:spcPct val="105000"/>
              </a:lnSpc>
              <a:buNone/>
            </a:pPr>
            <a:r>
              <a:rPr lang="en-US" sz="950" dirty="0">
                <a:solidFill>
                  <a:srgbClr val="0A2A43"/>
                </a:solidFill>
                <a:latin typeface="Calibri" pitchFamily="34" charset="0"/>
                <a:ea typeface="Calibri" pitchFamily="34" charset="-122"/>
                <a:cs typeface="Calibri" pitchFamily="34" charset="-120"/>
              </a:rPr>
              <a:t>Do caching. It makes your app faster, cheaper and kinder to the shared quota — all from a single if statement — and it is the one your classmates will thank you for.</a:t>
            </a:r>
            <a:endParaRPr lang="en-US" sz="950" dirty="0"/>
          </a:p>
        </p:txBody>
      </p:sp>
      <p:sp>
        <p:nvSpPr>
          <p:cNvPr id="27" name="Shape 25"/>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28" name="Shape 26"/>
          <p:cNvSpPr/>
          <p:nvPr/>
        </p:nvSpPr>
        <p:spPr>
          <a:xfrm>
            <a:off x="457200" y="4334256"/>
            <a:ext cx="54864" cy="512064"/>
          </a:xfrm>
          <a:prstGeom prst="rect">
            <a:avLst/>
          </a:prstGeom>
          <a:solidFill>
            <a:srgbClr val="2E5AA8"/>
          </a:solidFill>
          <a:ln w="12700">
            <a:solidFill>
              <a:srgbClr val="2E5AA8"/>
            </a:solidFill>
            <a:prstDash val="solid"/>
          </a:ln>
        </p:spPr>
        <p:txBody>
          <a:bodyPr/>
          <a:lstStyle/>
          <a:p>
            <a:endParaRPr lang="en-US"/>
          </a:p>
        </p:txBody>
      </p:sp>
      <p:sp>
        <p:nvSpPr>
          <p:cNvPr id="29" name="Text 27"/>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Every one of these is a Stretch task today and a required habit in any job you take afterwards.</a:t>
            </a:r>
            <a:endParaRPr lang="en-US" sz="1000" dirty="0"/>
          </a:p>
        </p:txBody>
      </p:sp>
    </p:spTree>
    <p:extLst>
      <p:ext uri="{BB962C8B-B14F-4D97-AF65-F5344CB8AC3E}">
        <p14:creationId xmlns:p14="http://schemas.microsoft.com/office/powerpoint/2010/main" val="1996270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2795C"/>
          </a:solidFill>
          <a:ln w="12700">
            <a:solidFill>
              <a:srgbClr val="12795C"/>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5C7C93"/>
                </a:solidFill>
                <a:latin typeface="Calibri" pitchFamily="34" charset="0"/>
                <a:ea typeface="Calibri" pitchFamily="34" charset="-122"/>
                <a:cs typeface="Calibri" pitchFamily="34" charset="-120"/>
              </a:rPr>
              <a:t>BLOCK 4</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One Click, End to End</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Shape 4"/>
          <p:cNvSpPr/>
          <p:nvPr/>
        </p:nvSpPr>
        <p:spPr>
          <a:xfrm>
            <a:off x="457200" y="1042416"/>
            <a:ext cx="1207008" cy="1243584"/>
          </a:xfrm>
          <a:prstGeom prst="rect">
            <a:avLst/>
          </a:prstGeom>
          <a:solidFill>
            <a:srgbClr val="FFFFFF"/>
          </a:solidFill>
          <a:ln w="9525">
            <a:solidFill>
              <a:srgbClr val="D6EDF9"/>
            </a:solidFill>
            <a:prstDash val="solid"/>
          </a:ln>
        </p:spPr>
        <p:txBody>
          <a:bodyPr/>
          <a:lstStyle/>
          <a:p>
            <a:endParaRPr lang="en-US"/>
          </a:p>
        </p:txBody>
      </p:sp>
      <p:sp>
        <p:nvSpPr>
          <p:cNvPr id="7" name="Shape 5"/>
          <p:cNvSpPr/>
          <p:nvPr/>
        </p:nvSpPr>
        <p:spPr>
          <a:xfrm>
            <a:off x="457200" y="1042416"/>
            <a:ext cx="1207008" cy="292608"/>
          </a:xfrm>
          <a:prstGeom prst="rect">
            <a:avLst/>
          </a:prstGeom>
          <a:solidFill>
            <a:srgbClr val="0077B6"/>
          </a:solidFill>
          <a:ln w="12700">
            <a:solidFill>
              <a:srgbClr val="0077B6"/>
            </a:solidFill>
            <a:prstDash val="solid"/>
          </a:ln>
        </p:spPr>
        <p:txBody>
          <a:bodyPr/>
          <a:lstStyle/>
          <a:p>
            <a:endParaRPr lang="en-US"/>
          </a:p>
        </p:txBody>
      </p:sp>
      <p:sp>
        <p:nvSpPr>
          <p:cNvPr id="8" name="Text 6"/>
          <p:cNvSpPr/>
          <p:nvPr/>
        </p:nvSpPr>
        <p:spPr>
          <a:xfrm>
            <a:off x="457200" y="1042416"/>
            <a:ext cx="1207008"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CLICK</a:t>
            </a:r>
            <a:endParaRPr lang="en-US" sz="800" dirty="0"/>
          </a:p>
        </p:txBody>
      </p:sp>
      <p:sp>
        <p:nvSpPr>
          <p:cNvPr id="9" name="Shape 7"/>
          <p:cNvSpPr/>
          <p:nvPr/>
        </p:nvSpPr>
        <p:spPr>
          <a:xfrm>
            <a:off x="914400" y="1408176"/>
            <a:ext cx="274320" cy="274320"/>
          </a:xfrm>
          <a:prstGeom prst="rect">
            <a:avLst/>
          </a:prstGeom>
          <a:solidFill>
            <a:srgbClr val="0077B6"/>
          </a:solidFill>
          <a:ln w="12700">
            <a:solidFill>
              <a:srgbClr val="0077B6"/>
            </a:solidFill>
            <a:prstDash val="solid"/>
          </a:ln>
        </p:spPr>
        <p:txBody>
          <a:bodyPr/>
          <a:lstStyle/>
          <a:p>
            <a:endParaRPr lang="en-US"/>
          </a:p>
        </p:txBody>
      </p:sp>
      <p:sp>
        <p:nvSpPr>
          <p:cNvPr id="10" name="Text 8"/>
          <p:cNvSpPr/>
          <p:nvPr/>
        </p:nvSpPr>
        <p:spPr>
          <a:xfrm>
            <a:off x="914400" y="1408176"/>
            <a:ext cx="27432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1" name="Text 9"/>
          <p:cNvSpPr/>
          <p:nvPr/>
        </p:nvSpPr>
        <p:spPr>
          <a:xfrm>
            <a:off x="548640" y="1737360"/>
            <a:ext cx="1024128" cy="512064"/>
          </a:xfrm>
          <a:prstGeom prst="rect">
            <a:avLst/>
          </a:prstGeom>
          <a:noFill/>
          <a:ln/>
        </p:spPr>
        <p:txBody>
          <a:bodyPr wrap="square" lIns="0" tIns="0" rIns="0" bIns="0" rtlCol="0" anchor="t"/>
          <a:lstStyle/>
          <a:p>
            <a:pPr marL="0" indent="0" algn="ctr">
              <a:lnSpc>
                <a:spcPct val="108000"/>
              </a:lnSpc>
              <a:buNone/>
            </a:pPr>
            <a:r>
              <a:rPr lang="en-US" sz="700" dirty="0">
                <a:solidFill>
                  <a:srgbClr val="5C7C93"/>
                </a:solidFill>
                <a:latin typeface="Calibri" pitchFamily="34" charset="0"/>
                <a:ea typeface="Calibri" pitchFamily="34" charset="-122"/>
                <a:cs typeface="Calibri" pitchFamily="34" charset="-120"/>
              </a:rPr>
              <a:t>Browser sends</a:t>
            </a:r>
            <a:endParaRPr lang="en-US" sz="700" dirty="0"/>
          </a:p>
          <a:p>
            <a:pPr marL="0" indent="0" algn="ctr">
              <a:lnSpc>
                <a:spcPct val="108000"/>
              </a:lnSpc>
              <a:buNone/>
            </a:pPr>
            <a:r>
              <a:rPr lang="en-US" sz="700" dirty="0">
                <a:solidFill>
                  <a:srgbClr val="5C7C93"/>
                </a:solidFill>
                <a:latin typeface="Calibri" pitchFamily="34" charset="0"/>
                <a:ea typeface="Calibri" pitchFamily="34" charset="-122"/>
                <a:cs typeface="Calibri" pitchFamily="34" charset="-120"/>
              </a:rPr>
              <a:t>POST .../enrich</a:t>
            </a:r>
            <a:endParaRPr lang="en-US" sz="700" dirty="0"/>
          </a:p>
        </p:txBody>
      </p:sp>
      <p:sp>
        <p:nvSpPr>
          <p:cNvPr id="12" name="Text 10"/>
          <p:cNvSpPr/>
          <p:nvPr/>
        </p:nvSpPr>
        <p:spPr>
          <a:xfrm>
            <a:off x="1682496" y="1554480"/>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1828800" y="1042416"/>
            <a:ext cx="1207008" cy="1243584"/>
          </a:xfrm>
          <a:prstGeom prst="rect">
            <a:avLst/>
          </a:prstGeom>
          <a:solidFill>
            <a:srgbClr val="FFFFFF"/>
          </a:solidFill>
          <a:ln w="9525">
            <a:solidFill>
              <a:srgbClr val="D6EDF9"/>
            </a:solidFill>
            <a:prstDash val="solid"/>
          </a:ln>
        </p:spPr>
        <p:txBody>
          <a:bodyPr/>
          <a:lstStyle/>
          <a:p>
            <a:endParaRPr lang="en-US"/>
          </a:p>
        </p:txBody>
      </p:sp>
      <p:sp>
        <p:nvSpPr>
          <p:cNvPr id="14" name="Shape 12"/>
          <p:cNvSpPr/>
          <p:nvPr/>
        </p:nvSpPr>
        <p:spPr>
          <a:xfrm>
            <a:off x="1828800" y="1042416"/>
            <a:ext cx="1207008" cy="292608"/>
          </a:xfrm>
          <a:prstGeom prst="rect">
            <a:avLst/>
          </a:prstGeom>
          <a:solidFill>
            <a:srgbClr val="00879B"/>
          </a:solidFill>
          <a:ln w="12700">
            <a:solidFill>
              <a:srgbClr val="00879B"/>
            </a:solidFill>
            <a:prstDash val="solid"/>
          </a:ln>
        </p:spPr>
        <p:txBody>
          <a:bodyPr/>
          <a:lstStyle/>
          <a:p>
            <a:endParaRPr lang="en-US"/>
          </a:p>
        </p:txBody>
      </p:sp>
      <p:sp>
        <p:nvSpPr>
          <p:cNvPr id="15" name="Text 13"/>
          <p:cNvSpPr/>
          <p:nvPr/>
        </p:nvSpPr>
        <p:spPr>
          <a:xfrm>
            <a:off x="1828800" y="1042416"/>
            <a:ext cx="1207008"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ROUTE</a:t>
            </a:r>
            <a:endParaRPr lang="en-US" sz="800" dirty="0"/>
          </a:p>
        </p:txBody>
      </p:sp>
      <p:sp>
        <p:nvSpPr>
          <p:cNvPr id="16" name="Shape 14"/>
          <p:cNvSpPr/>
          <p:nvPr/>
        </p:nvSpPr>
        <p:spPr>
          <a:xfrm>
            <a:off x="2286000" y="1408176"/>
            <a:ext cx="274320" cy="274320"/>
          </a:xfrm>
          <a:prstGeom prst="rect">
            <a:avLst/>
          </a:prstGeom>
          <a:solidFill>
            <a:srgbClr val="00879B"/>
          </a:solidFill>
          <a:ln w="12700">
            <a:solidFill>
              <a:srgbClr val="00879B"/>
            </a:solidFill>
            <a:prstDash val="solid"/>
          </a:ln>
        </p:spPr>
        <p:txBody>
          <a:bodyPr/>
          <a:lstStyle/>
          <a:p>
            <a:endParaRPr lang="en-US"/>
          </a:p>
        </p:txBody>
      </p:sp>
      <p:sp>
        <p:nvSpPr>
          <p:cNvPr id="17" name="Text 15"/>
          <p:cNvSpPr/>
          <p:nvPr/>
        </p:nvSpPr>
        <p:spPr>
          <a:xfrm>
            <a:off x="2286000" y="1408176"/>
            <a:ext cx="27432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8" name="Text 16"/>
          <p:cNvSpPr/>
          <p:nvPr/>
        </p:nvSpPr>
        <p:spPr>
          <a:xfrm>
            <a:off x="1920240" y="1737360"/>
            <a:ext cx="1024128" cy="512064"/>
          </a:xfrm>
          <a:prstGeom prst="rect">
            <a:avLst/>
          </a:prstGeom>
          <a:noFill/>
          <a:ln/>
        </p:spPr>
        <p:txBody>
          <a:bodyPr wrap="square" lIns="0" tIns="0" rIns="0" bIns="0" rtlCol="0" anchor="t"/>
          <a:lstStyle/>
          <a:p>
            <a:pPr marL="0" indent="0" algn="ctr">
              <a:lnSpc>
                <a:spcPct val="108000"/>
              </a:lnSpc>
              <a:buNone/>
            </a:pPr>
            <a:r>
              <a:rPr lang="en-US" sz="700" dirty="0">
                <a:solidFill>
                  <a:srgbClr val="5C7C93"/>
                </a:solidFill>
                <a:latin typeface="Calibri" pitchFamily="34" charset="0"/>
                <a:ea typeface="Calibri" pitchFamily="34" charset="-122"/>
                <a:cs typeface="Calibri" pitchFamily="34" charset="-120"/>
              </a:rPr>
              <a:t>Express matches</a:t>
            </a:r>
            <a:endParaRPr lang="en-US" sz="700" dirty="0"/>
          </a:p>
          <a:p>
            <a:pPr marL="0" indent="0" algn="ctr">
              <a:lnSpc>
                <a:spcPct val="108000"/>
              </a:lnSpc>
              <a:buNone/>
            </a:pPr>
            <a:r>
              <a:rPr lang="en-US" sz="700" dirty="0">
                <a:solidFill>
                  <a:srgbClr val="5C7C93"/>
                </a:solidFill>
                <a:latin typeface="Calibri" pitchFamily="34" charset="0"/>
                <a:ea typeface="Calibri" pitchFamily="34" charset="-122"/>
                <a:cs typeface="Calibri" pitchFamily="34" charset="-120"/>
              </a:rPr>
              <a:t>it to a function</a:t>
            </a:r>
            <a:endParaRPr lang="en-US" sz="700" dirty="0"/>
          </a:p>
        </p:txBody>
      </p:sp>
      <p:sp>
        <p:nvSpPr>
          <p:cNvPr id="19" name="Text 17"/>
          <p:cNvSpPr/>
          <p:nvPr/>
        </p:nvSpPr>
        <p:spPr>
          <a:xfrm>
            <a:off x="3054096" y="1554480"/>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3200400" y="1042416"/>
            <a:ext cx="1207008" cy="1243584"/>
          </a:xfrm>
          <a:prstGeom prst="rect">
            <a:avLst/>
          </a:prstGeom>
          <a:solidFill>
            <a:srgbClr val="FFFFFF"/>
          </a:solidFill>
          <a:ln w="9525">
            <a:solidFill>
              <a:srgbClr val="D6EDF9"/>
            </a:solidFill>
            <a:prstDash val="solid"/>
          </a:ln>
        </p:spPr>
        <p:txBody>
          <a:bodyPr/>
          <a:lstStyle/>
          <a:p>
            <a:endParaRPr lang="en-US"/>
          </a:p>
        </p:txBody>
      </p:sp>
      <p:sp>
        <p:nvSpPr>
          <p:cNvPr id="21" name="Shape 19"/>
          <p:cNvSpPr/>
          <p:nvPr/>
        </p:nvSpPr>
        <p:spPr>
          <a:xfrm>
            <a:off x="3200400" y="1042416"/>
            <a:ext cx="1207008" cy="292608"/>
          </a:xfrm>
          <a:prstGeom prst="rect">
            <a:avLst/>
          </a:prstGeom>
          <a:solidFill>
            <a:srgbClr val="B86A0E"/>
          </a:solidFill>
          <a:ln w="12700">
            <a:solidFill>
              <a:srgbClr val="B86A0E"/>
            </a:solidFill>
            <a:prstDash val="solid"/>
          </a:ln>
        </p:spPr>
        <p:txBody>
          <a:bodyPr/>
          <a:lstStyle/>
          <a:p>
            <a:endParaRPr lang="en-US"/>
          </a:p>
        </p:txBody>
      </p:sp>
      <p:sp>
        <p:nvSpPr>
          <p:cNvPr id="22" name="Text 20"/>
          <p:cNvSpPr/>
          <p:nvPr/>
        </p:nvSpPr>
        <p:spPr>
          <a:xfrm>
            <a:off x="3200400" y="1042416"/>
            <a:ext cx="1207008"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READ</a:t>
            </a:r>
            <a:endParaRPr lang="en-US" sz="800" dirty="0"/>
          </a:p>
        </p:txBody>
      </p:sp>
      <p:sp>
        <p:nvSpPr>
          <p:cNvPr id="23" name="Shape 21"/>
          <p:cNvSpPr/>
          <p:nvPr/>
        </p:nvSpPr>
        <p:spPr>
          <a:xfrm>
            <a:off x="3657600" y="1408176"/>
            <a:ext cx="274320" cy="274320"/>
          </a:xfrm>
          <a:prstGeom prst="rect">
            <a:avLst/>
          </a:prstGeom>
          <a:solidFill>
            <a:srgbClr val="B86A0E"/>
          </a:solidFill>
          <a:ln w="12700">
            <a:solidFill>
              <a:srgbClr val="B86A0E"/>
            </a:solidFill>
            <a:prstDash val="solid"/>
          </a:ln>
        </p:spPr>
        <p:txBody>
          <a:bodyPr/>
          <a:lstStyle/>
          <a:p>
            <a:endParaRPr lang="en-US"/>
          </a:p>
        </p:txBody>
      </p:sp>
      <p:sp>
        <p:nvSpPr>
          <p:cNvPr id="24" name="Text 22"/>
          <p:cNvSpPr/>
          <p:nvPr/>
        </p:nvSpPr>
        <p:spPr>
          <a:xfrm>
            <a:off x="3657600" y="1408176"/>
            <a:ext cx="27432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5" name="Text 23"/>
          <p:cNvSpPr/>
          <p:nvPr/>
        </p:nvSpPr>
        <p:spPr>
          <a:xfrm>
            <a:off x="3291840" y="1737360"/>
            <a:ext cx="1024128" cy="512064"/>
          </a:xfrm>
          <a:prstGeom prst="rect">
            <a:avLst/>
          </a:prstGeom>
          <a:noFill/>
          <a:ln/>
        </p:spPr>
        <p:txBody>
          <a:bodyPr wrap="square" lIns="0" tIns="0" rIns="0" bIns="0" rtlCol="0" anchor="t"/>
          <a:lstStyle/>
          <a:p>
            <a:pPr marL="0" indent="0" algn="ctr">
              <a:lnSpc>
                <a:spcPct val="108000"/>
              </a:lnSpc>
              <a:buNone/>
            </a:pPr>
            <a:r>
              <a:rPr lang="en-US" sz="700" dirty="0">
                <a:solidFill>
                  <a:srgbClr val="5C7C93"/>
                </a:solidFill>
                <a:latin typeface="Calibri" pitchFamily="34" charset="0"/>
                <a:ea typeface="Calibri" pitchFamily="34" charset="-122"/>
                <a:cs typeface="Calibri" pitchFamily="34" charset="-120"/>
              </a:rPr>
              <a:t>SQLite returns</a:t>
            </a:r>
            <a:endParaRPr lang="en-US" sz="700" dirty="0"/>
          </a:p>
          <a:p>
            <a:pPr marL="0" indent="0" algn="ctr">
              <a:lnSpc>
                <a:spcPct val="108000"/>
              </a:lnSpc>
              <a:buNone/>
            </a:pPr>
            <a:r>
              <a:rPr lang="en-US" sz="700" dirty="0">
                <a:solidFill>
                  <a:srgbClr val="5C7C93"/>
                </a:solidFill>
                <a:latin typeface="Calibri" pitchFamily="34" charset="0"/>
                <a:ea typeface="Calibri" pitchFamily="34" charset="-122"/>
                <a:cs typeface="Calibri" pitchFamily="34" charset="-120"/>
              </a:rPr>
              <a:t>the record</a:t>
            </a:r>
            <a:endParaRPr lang="en-US" sz="700" dirty="0"/>
          </a:p>
        </p:txBody>
      </p:sp>
      <p:sp>
        <p:nvSpPr>
          <p:cNvPr id="26" name="Text 24"/>
          <p:cNvSpPr/>
          <p:nvPr/>
        </p:nvSpPr>
        <p:spPr>
          <a:xfrm>
            <a:off x="4425696" y="1554480"/>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27" name="Shape 25"/>
          <p:cNvSpPr/>
          <p:nvPr/>
        </p:nvSpPr>
        <p:spPr>
          <a:xfrm>
            <a:off x="4572000" y="1042416"/>
            <a:ext cx="1207008" cy="1243584"/>
          </a:xfrm>
          <a:prstGeom prst="rect">
            <a:avLst/>
          </a:prstGeom>
          <a:solidFill>
            <a:srgbClr val="FFFFFF"/>
          </a:solidFill>
          <a:ln w="9525">
            <a:solidFill>
              <a:srgbClr val="D6EDF9"/>
            </a:solidFill>
            <a:prstDash val="solid"/>
          </a:ln>
        </p:spPr>
        <p:txBody>
          <a:bodyPr/>
          <a:lstStyle/>
          <a:p>
            <a:endParaRPr lang="en-US"/>
          </a:p>
        </p:txBody>
      </p:sp>
      <p:sp>
        <p:nvSpPr>
          <p:cNvPr id="28" name="Shape 26"/>
          <p:cNvSpPr/>
          <p:nvPr/>
        </p:nvSpPr>
        <p:spPr>
          <a:xfrm>
            <a:off x="4572000" y="1042416"/>
            <a:ext cx="1207008" cy="292608"/>
          </a:xfrm>
          <a:prstGeom prst="rect">
            <a:avLst/>
          </a:prstGeom>
          <a:solidFill>
            <a:srgbClr val="2E5AA8"/>
          </a:solidFill>
          <a:ln w="12700">
            <a:solidFill>
              <a:srgbClr val="2E5AA8"/>
            </a:solidFill>
            <a:prstDash val="solid"/>
          </a:ln>
        </p:spPr>
        <p:txBody>
          <a:bodyPr/>
          <a:lstStyle/>
          <a:p>
            <a:endParaRPr lang="en-US"/>
          </a:p>
        </p:txBody>
      </p:sp>
      <p:sp>
        <p:nvSpPr>
          <p:cNvPr id="29" name="Text 27"/>
          <p:cNvSpPr/>
          <p:nvPr/>
        </p:nvSpPr>
        <p:spPr>
          <a:xfrm>
            <a:off x="4572000" y="1042416"/>
            <a:ext cx="1207008"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ASK</a:t>
            </a:r>
            <a:endParaRPr lang="en-US" sz="800" dirty="0"/>
          </a:p>
        </p:txBody>
      </p:sp>
      <p:sp>
        <p:nvSpPr>
          <p:cNvPr id="30" name="Shape 28"/>
          <p:cNvSpPr/>
          <p:nvPr/>
        </p:nvSpPr>
        <p:spPr>
          <a:xfrm>
            <a:off x="5029200" y="1408176"/>
            <a:ext cx="274320" cy="274320"/>
          </a:xfrm>
          <a:prstGeom prst="rect">
            <a:avLst/>
          </a:prstGeom>
          <a:solidFill>
            <a:srgbClr val="2E5AA8"/>
          </a:solidFill>
          <a:ln w="12700">
            <a:solidFill>
              <a:srgbClr val="2E5AA8"/>
            </a:solidFill>
            <a:prstDash val="solid"/>
          </a:ln>
        </p:spPr>
        <p:txBody>
          <a:bodyPr/>
          <a:lstStyle/>
          <a:p>
            <a:endParaRPr lang="en-US"/>
          </a:p>
        </p:txBody>
      </p:sp>
      <p:sp>
        <p:nvSpPr>
          <p:cNvPr id="31" name="Text 29"/>
          <p:cNvSpPr/>
          <p:nvPr/>
        </p:nvSpPr>
        <p:spPr>
          <a:xfrm>
            <a:off x="5029200" y="1408176"/>
            <a:ext cx="27432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2" name="Text 30"/>
          <p:cNvSpPr/>
          <p:nvPr/>
        </p:nvSpPr>
        <p:spPr>
          <a:xfrm>
            <a:off x="4663440" y="1737360"/>
            <a:ext cx="1024128" cy="512064"/>
          </a:xfrm>
          <a:prstGeom prst="rect">
            <a:avLst/>
          </a:prstGeom>
          <a:noFill/>
          <a:ln/>
        </p:spPr>
        <p:txBody>
          <a:bodyPr wrap="square" lIns="0" tIns="0" rIns="0" bIns="0" rtlCol="0" anchor="t"/>
          <a:lstStyle/>
          <a:p>
            <a:pPr marL="0" indent="0" algn="ctr">
              <a:lnSpc>
                <a:spcPct val="108000"/>
              </a:lnSpc>
              <a:buNone/>
            </a:pPr>
            <a:r>
              <a:rPr lang="en-US" sz="700" dirty="0">
                <a:solidFill>
                  <a:srgbClr val="5C7C93"/>
                </a:solidFill>
                <a:latin typeface="Calibri" pitchFamily="34" charset="0"/>
                <a:ea typeface="Calibri" pitchFamily="34" charset="-122"/>
                <a:cs typeface="Calibri" pitchFamily="34" charset="-120"/>
              </a:rPr>
              <a:t>Model called,</a:t>
            </a:r>
            <a:endParaRPr lang="en-US" sz="700" dirty="0"/>
          </a:p>
          <a:p>
            <a:pPr marL="0" indent="0" algn="ctr">
              <a:lnSpc>
                <a:spcPct val="108000"/>
              </a:lnSpc>
              <a:buNone/>
            </a:pPr>
            <a:r>
              <a:rPr lang="en-US" sz="700" dirty="0">
                <a:solidFill>
                  <a:srgbClr val="5C7C93"/>
                </a:solidFill>
                <a:latin typeface="Calibri" pitchFamily="34" charset="0"/>
                <a:ea typeface="Calibri" pitchFamily="34" charset="-122"/>
                <a:cs typeface="Calibri" pitchFamily="34" charset="-120"/>
              </a:rPr>
              <a:t>key from .env</a:t>
            </a:r>
            <a:endParaRPr lang="en-US" sz="700" dirty="0"/>
          </a:p>
        </p:txBody>
      </p:sp>
      <p:sp>
        <p:nvSpPr>
          <p:cNvPr id="33" name="Text 31"/>
          <p:cNvSpPr/>
          <p:nvPr/>
        </p:nvSpPr>
        <p:spPr>
          <a:xfrm>
            <a:off x="5797296" y="1554480"/>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34" name="Shape 32"/>
          <p:cNvSpPr/>
          <p:nvPr/>
        </p:nvSpPr>
        <p:spPr>
          <a:xfrm>
            <a:off x="5943600" y="1042416"/>
            <a:ext cx="1207008" cy="1243584"/>
          </a:xfrm>
          <a:prstGeom prst="rect">
            <a:avLst/>
          </a:prstGeom>
          <a:solidFill>
            <a:srgbClr val="FFFFFF"/>
          </a:solidFill>
          <a:ln w="9525">
            <a:solidFill>
              <a:srgbClr val="D6EDF9"/>
            </a:solidFill>
            <a:prstDash val="solid"/>
          </a:ln>
        </p:spPr>
        <p:txBody>
          <a:bodyPr/>
          <a:lstStyle/>
          <a:p>
            <a:endParaRPr lang="en-US"/>
          </a:p>
        </p:txBody>
      </p:sp>
      <p:sp>
        <p:nvSpPr>
          <p:cNvPr id="35" name="Shape 33"/>
          <p:cNvSpPr/>
          <p:nvPr/>
        </p:nvSpPr>
        <p:spPr>
          <a:xfrm>
            <a:off x="5943600" y="1042416"/>
            <a:ext cx="1207008" cy="292608"/>
          </a:xfrm>
          <a:prstGeom prst="rect">
            <a:avLst/>
          </a:prstGeom>
          <a:solidFill>
            <a:srgbClr val="B83232"/>
          </a:solidFill>
          <a:ln w="12700">
            <a:solidFill>
              <a:srgbClr val="B83232"/>
            </a:solidFill>
            <a:prstDash val="solid"/>
          </a:ln>
        </p:spPr>
        <p:txBody>
          <a:bodyPr/>
          <a:lstStyle/>
          <a:p>
            <a:endParaRPr lang="en-US"/>
          </a:p>
        </p:txBody>
      </p:sp>
      <p:sp>
        <p:nvSpPr>
          <p:cNvPr id="36" name="Text 34"/>
          <p:cNvSpPr/>
          <p:nvPr/>
        </p:nvSpPr>
        <p:spPr>
          <a:xfrm>
            <a:off x="5943600" y="1042416"/>
            <a:ext cx="1207008"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CHECK</a:t>
            </a:r>
            <a:endParaRPr lang="en-US" sz="800" dirty="0"/>
          </a:p>
        </p:txBody>
      </p:sp>
      <p:sp>
        <p:nvSpPr>
          <p:cNvPr id="37" name="Shape 35"/>
          <p:cNvSpPr/>
          <p:nvPr/>
        </p:nvSpPr>
        <p:spPr>
          <a:xfrm>
            <a:off x="6400800" y="1408176"/>
            <a:ext cx="274320" cy="274320"/>
          </a:xfrm>
          <a:prstGeom prst="rect">
            <a:avLst/>
          </a:prstGeom>
          <a:solidFill>
            <a:srgbClr val="B83232"/>
          </a:solidFill>
          <a:ln w="12700">
            <a:solidFill>
              <a:srgbClr val="B83232"/>
            </a:solidFill>
            <a:prstDash val="solid"/>
          </a:ln>
        </p:spPr>
        <p:txBody>
          <a:bodyPr/>
          <a:lstStyle/>
          <a:p>
            <a:endParaRPr lang="en-US"/>
          </a:p>
        </p:txBody>
      </p:sp>
      <p:sp>
        <p:nvSpPr>
          <p:cNvPr id="38" name="Text 36"/>
          <p:cNvSpPr/>
          <p:nvPr/>
        </p:nvSpPr>
        <p:spPr>
          <a:xfrm>
            <a:off x="6400800" y="1408176"/>
            <a:ext cx="27432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39" name="Text 37"/>
          <p:cNvSpPr/>
          <p:nvPr/>
        </p:nvSpPr>
        <p:spPr>
          <a:xfrm>
            <a:off x="6035040" y="1737360"/>
            <a:ext cx="1024128" cy="512064"/>
          </a:xfrm>
          <a:prstGeom prst="rect">
            <a:avLst/>
          </a:prstGeom>
          <a:noFill/>
          <a:ln/>
        </p:spPr>
        <p:txBody>
          <a:bodyPr wrap="square" lIns="0" tIns="0" rIns="0" bIns="0" rtlCol="0" anchor="t"/>
          <a:lstStyle/>
          <a:p>
            <a:pPr marL="0" indent="0" algn="ctr">
              <a:lnSpc>
                <a:spcPct val="108000"/>
              </a:lnSpc>
              <a:buNone/>
            </a:pPr>
            <a:r>
              <a:rPr lang="en-US" sz="700" dirty="0">
                <a:solidFill>
                  <a:srgbClr val="5C7C93"/>
                </a:solidFill>
                <a:latin typeface="Calibri" pitchFamily="34" charset="0"/>
                <a:ea typeface="Calibri" pitchFamily="34" charset="-122"/>
                <a:cs typeface="Calibri" pitchFamily="34" charset="-120"/>
              </a:rPr>
              <a:t>Validate, then</a:t>
            </a:r>
            <a:endParaRPr lang="en-US" sz="700" dirty="0"/>
          </a:p>
          <a:p>
            <a:pPr marL="0" indent="0" algn="ctr">
              <a:lnSpc>
                <a:spcPct val="108000"/>
              </a:lnSpc>
              <a:buNone/>
            </a:pPr>
            <a:r>
              <a:rPr lang="en-US" sz="700" dirty="0">
                <a:solidFill>
                  <a:srgbClr val="5C7C93"/>
                </a:solidFill>
                <a:latin typeface="Calibri" pitchFamily="34" charset="0"/>
                <a:ea typeface="Calibri" pitchFamily="34" charset="-122"/>
                <a:cs typeface="Calibri" pitchFamily="34" charset="-120"/>
              </a:rPr>
              <a:t>UPDATE the row</a:t>
            </a:r>
            <a:endParaRPr lang="en-US" sz="700" dirty="0"/>
          </a:p>
        </p:txBody>
      </p:sp>
      <p:sp>
        <p:nvSpPr>
          <p:cNvPr id="40" name="Text 38"/>
          <p:cNvSpPr/>
          <p:nvPr/>
        </p:nvSpPr>
        <p:spPr>
          <a:xfrm>
            <a:off x="7168896" y="1554480"/>
            <a:ext cx="201168" cy="219456"/>
          </a:xfrm>
          <a:prstGeom prst="rect">
            <a:avLst/>
          </a:prstGeom>
          <a:noFill/>
          <a:ln/>
        </p:spPr>
        <p:txBody>
          <a:bodyPr wrap="square" lIns="0" tIns="0" rIns="0" bIns="0" rtlCol="0" anchor="ctr"/>
          <a:lstStyle/>
          <a:p>
            <a:pPr marL="0" indent="0" algn="ctr">
              <a:buNone/>
            </a:pPr>
            <a:r>
              <a:rPr lang="en-US" sz="1600" b="1" dirty="0">
                <a:solidFill>
                  <a:srgbClr val="8FBFD9"/>
                </a:solidFill>
                <a:latin typeface="Calibri" pitchFamily="34" charset="0"/>
                <a:ea typeface="Calibri" pitchFamily="34" charset="-122"/>
                <a:cs typeface="Calibri" pitchFamily="34" charset="-120"/>
              </a:rPr>
              <a:t>›</a:t>
            </a:r>
            <a:endParaRPr lang="en-US" sz="1600" dirty="0"/>
          </a:p>
        </p:txBody>
      </p:sp>
      <p:sp>
        <p:nvSpPr>
          <p:cNvPr id="41" name="Shape 39"/>
          <p:cNvSpPr/>
          <p:nvPr/>
        </p:nvSpPr>
        <p:spPr>
          <a:xfrm>
            <a:off x="7315200" y="1042416"/>
            <a:ext cx="1207008" cy="1243584"/>
          </a:xfrm>
          <a:prstGeom prst="rect">
            <a:avLst/>
          </a:prstGeom>
          <a:solidFill>
            <a:srgbClr val="FFFFFF"/>
          </a:solidFill>
          <a:ln w="9525">
            <a:solidFill>
              <a:srgbClr val="D6EDF9"/>
            </a:solidFill>
            <a:prstDash val="solid"/>
          </a:ln>
        </p:spPr>
        <p:txBody>
          <a:bodyPr/>
          <a:lstStyle/>
          <a:p>
            <a:endParaRPr lang="en-US"/>
          </a:p>
        </p:txBody>
      </p:sp>
      <p:sp>
        <p:nvSpPr>
          <p:cNvPr id="42" name="Shape 40"/>
          <p:cNvSpPr/>
          <p:nvPr/>
        </p:nvSpPr>
        <p:spPr>
          <a:xfrm>
            <a:off x="7315200" y="1042416"/>
            <a:ext cx="1207008" cy="292608"/>
          </a:xfrm>
          <a:prstGeom prst="rect">
            <a:avLst/>
          </a:prstGeom>
          <a:solidFill>
            <a:srgbClr val="12795C"/>
          </a:solidFill>
          <a:ln w="12700">
            <a:solidFill>
              <a:srgbClr val="12795C"/>
            </a:solidFill>
            <a:prstDash val="solid"/>
          </a:ln>
        </p:spPr>
        <p:txBody>
          <a:bodyPr/>
          <a:lstStyle/>
          <a:p>
            <a:endParaRPr lang="en-US"/>
          </a:p>
        </p:txBody>
      </p:sp>
      <p:sp>
        <p:nvSpPr>
          <p:cNvPr id="43" name="Text 41"/>
          <p:cNvSpPr/>
          <p:nvPr/>
        </p:nvSpPr>
        <p:spPr>
          <a:xfrm>
            <a:off x="7315200" y="1042416"/>
            <a:ext cx="1207008"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RENDER</a:t>
            </a:r>
            <a:endParaRPr lang="en-US" sz="800" dirty="0"/>
          </a:p>
        </p:txBody>
      </p:sp>
      <p:sp>
        <p:nvSpPr>
          <p:cNvPr id="44" name="Shape 42"/>
          <p:cNvSpPr/>
          <p:nvPr/>
        </p:nvSpPr>
        <p:spPr>
          <a:xfrm>
            <a:off x="7772400" y="1408176"/>
            <a:ext cx="274320" cy="274320"/>
          </a:xfrm>
          <a:prstGeom prst="rect">
            <a:avLst/>
          </a:prstGeom>
          <a:solidFill>
            <a:srgbClr val="12795C"/>
          </a:solidFill>
          <a:ln w="12700">
            <a:solidFill>
              <a:srgbClr val="12795C"/>
            </a:solidFill>
            <a:prstDash val="solid"/>
          </a:ln>
        </p:spPr>
        <p:txBody>
          <a:bodyPr/>
          <a:lstStyle/>
          <a:p>
            <a:endParaRPr lang="en-US"/>
          </a:p>
        </p:txBody>
      </p:sp>
      <p:sp>
        <p:nvSpPr>
          <p:cNvPr id="45" name="Text 43"/>
          <p:cNvSpPr/>
          <p:nvPr/>
        </p:nvSpPr>
        <p:spPr>
          <a:xfrm>
            <a:off x="7772400" y="1408176"/>
            <a:ext cx="27432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46" name="Text 44"/>
          <p:cNvSpPr/>
          <p:nvPr/>
        </p:nvSpPr>
        <p:spPr>
          <a:xfrm>
            <a:off x="7406640" y="1737360"/>
            <a:ext cx="1024128" cy="512064"/>
          </a:xfrm>
          <a:prstGeom prst="rect">
            <a:avLst/>
          </a:prstGeom>
          <a:noFill/>
          <a:ln/>
        </p:spPr>
        <p:txBody>
          <a:bodyPr wrap="square" lIns="0" tIns="0" rIns="0" bIns="0" rtlCol="0" anchor="t"/>
          <a:lstStyle/>
          <a:p>
            <a:pPr marL="0" indent="0" algn="ctr">
              <a:lnSpc>
                <a:spcPct val="108000"/>
              </a:lnSpc>
              <a:buNone/>
            </a:pPr>
            <a:r>
              <a:rPr lang="en-US" sz="700" dirty="0">
                <a:solidFill>
                  <a:srgbClr val="5C7C93"/>
                </a:solidFill>
                <a:latin typeface="Calibri" pitchFamily="34" charset="0"/>
                <a:ea typeface="Calibri" pitchFamily="34" charset="-122"/>
                <a:cs typeface="Calibri" pitchFamily="34" charset="-120"/>
              </a:rPr>
              <a:t>JSON back, the</a:t>
            </a:r>
            <a:endParaRPr lang="en-US" sz="700" dirty="0"/>
          </a:p>
          <a:p>
            <a:pPr marL="0" indent="0" algn="ctr">
              <a:lnSpc>
                <a:spcPct val="108000"/>
              </a:lnSpc>
              <a:buNone/>
            </a:pPr>
            <a:r>
              <a:rPr lang="en-US" sz="700" dirty="0">
                <a:solidFill>
                  <a:srgbClr val="5C7C93"/>
                </a:solidFill>
                <a:latin typeface="Calibri" pitchFamily="34" charset="0"/>
                <a:ea typeface="Calibri" pitchFamily="34" charset="-122"/>
                <a:cs typeface="Calibri" pitchFamily="34" charset="-120"/>
              </a:rPr>
              <a:t>screen updates</a:t>
            </a:r>
            <a:endParaRPr lang="en-US" sz="700" dirty="0"/>
          </a:p>
        </p:txBody>
      </p:sp>
      <p:sp>
        <p:nvSpPr>
          <p:cNvPr id="47" name="Text 45"/>
          <p:cNvSpPr/>
          <p:nvPr/>
        </p:nvSpPr>
        <p:spPr>
          <a:xfrm>
            <a:off x="457200" y="2670048"/>
            <a:ext cx="5486400" cy="182880"/>
          </a:xfrm>
          <a:prstGeom prst="rect">
            <a:avLst/>
          </a:prstGeom>
          <a:noFill/>
          <a:ln/>
        </p:spPr>
        <p:txBody>
          <a:bodyPr wrap="square" lIns="0" tIns="0" rIns="0" bIns="0" rtlCol="0" anchor="ctr"/>
          <a:lstStyle/>
          <a:p>
            <a:pPr marL="0" indent="0">
              <a:buNone/>
            </a:pPr>
            <a:r>
              <a:rPr lang="en-US" sz="800" b="1" kern="0" spc="120" dirty="0">
                <a:solidFill>
                  <a:srgbClr val="5C7C93"/>
                </a:solidFill>
                <a:latin typeface="Calibri" pitchFamily="34" charset="0"/>
                <a:ea typeface="Calibri" pitchFamily="34" charset="-122"/>
                <a:cs typeface="Calibri" pitchFamily="34" charset="-120"/>
              </a:rPr>
              <a:t>SIX STEPS. YOU WROTE FIVE OF THEM TODAY.</a:t>
            </a:r>
            <a:endParaRPr lang="en-US" sz="800" dirty="0"/>
          </a:p>
        </p:txBody>
      </p:sp>
      <p:sp>
        <p:nvSpPr>
          <p:cNvPr id="48" name="Text 46"/>
          <p:cNvSpPr/>
          <p:nvPr/>
        </p:nvSpPr>
        <p:spPr>
          <a:xfrm>
            <a:off x="457200" y="2889504"/>
            <a:ext cx="8229600" cy="475488"/>
          </a:xfrm>
          <a:prstGeom prst="rect">
            <a:avLst/>
          </a:prstGeom>
          <a:noFill/>
          <a:ln/>
        </p:spPr>
        <p:txBody>
          <a:bodyPr wrap="square" lIns="0" tIns="0" rIns="0" bIns="0" rtlCol="0" anchor="t"/>
          <a:lstStyle/>
          <a:p>
            <a:pPr marL="0" indent="0">
              <a:lnSpc>
                <a:spcPct val="105000"/>
              </a:lnSpc>
              <a:buNone/>
            </a:pPr>
            <a:r>
              <a:rPr lang="en-US" sz="950" dirty="0">
                <a:solidFill>
                  <a:srgbClr val="0A2A43"/>
                </a:solidFill>
                <a:latin typeface="Calibri" pitchFamily="34" charset="0"/>
                <a:ea typeface="Calibri" pitchFamily="34" charset="-122"/>
                <a:cs typeface="Calibri" pitchFamily="34" charset="-120"/>
              </a:rPr>
              <a:t>Every arrow on that row is somewhere it can fail — a bad id, a database error, a timeout, malformed JSON, a dead network. Handle four of them and your project is already more robust than most student work ever gets.</a:t>
            </a:r>
            <a:endParaRPr lang="en-US" sz="950" dirty="0"/>
          </a:p>
        </p:txBody>
      </p:sp>
      <p:sp>
        <p:nvSpPr>
          <p:cNvPr id="49" name="Shape 47"/>
          <p:cNvSpPr/>
          <p:nvPr/>
        </p:nvSpPr>
        <p:spPr>
          <a:xfrm>
            <a:off x="457200" y="3474720"/>
            <a:ext cx="8229600" cy="621792"/>
          </a:xfrm>
          <a:prstGeom prst="rect">
            <a:avLst/>
          </a:prstGeom>
          <a:solidFill>
            <a:srgbClr val="EAF7FE"/>
          </a:solidFill>
          <a:ln w="12700">
            <a:solidFill>
              <a:srgbClr val="EAF7FE"/>
            </a:solidFill>
            <a:prstDash val="solid"/>
          </a:ln>
        </p:spPr>
        <p:txBody>
          <a:bodyPr/>
          <a:lstStyle/>
          <a:p>
            <a:endParaRPr lang="en-US"/>
          </a:p>
        </p:txBody>
      </p:sp>
      <p:sp>
        <p:nvSpPr>
          <p:cNvPr id="50" name="Shape 48"/>
          <p:cNvSpPr/>
          <p:nvPr/>
        </p:nvSpPr>
        <p:spPr>
          <a:xfrm>
            <a:off x="457200" y="3474720"/>
            <a:ext cx="54864" cy="621792"/>
          </a:xfrm>
          <a:prstGeom prst="rect">
            <a:avLst/>
          </a:prstGeom>
          <a:solidFill>
            <a:srgbClr val="12795C"/>
          </a:solidFill>
          <a:ln w="12700">
            <a:solidFill>
              <a:srgbClr val="12795C"/>
            </a:solidFill>
            <a:prstDash val="solid"/>
          </a:ln>
        </p:spPr>
        <p:txBody>
          <a:bodyPr/>
          <a:lstStyle/>
          <a:p>
            <a:endParaRPr lang="en-US"/>
          </a:p>
        </p:txBody>
      </p:sp>
      <p:sp>
        <p:nvSpPr>
          <p:cNvPr id="51" name="Text 49"/>
          <p:cNvSpPr/>
          <p:nvPr/>
        </p:nvSpPr>
        <p:spPr>
          <a:xfrm>
            <a:off x="658368" y="3474720"/>
            <a:ext cx="7863840" cy="621792"/>
          </a:xfrm>
          <a:prstGeom prst="rect">
            <a:avLst/>
          </a:prstGeom>
          <a:noFill/>
          <a:ln/>
        </p:spPr>
        <p:txBody>
          <a:bodyPr wrap="square" lIns="0" tIns="0" rIns="0" bIns="0" rtlCol="0" anchor="ctr"/>
          <a:lstStyle/>
          <a:p>
            <a:pPr marL="0" indent="0">
              <a:buNone/>
            </a:pPr>
            <a:r>
              <a:rPr lang="en-US" sz="900" dirty="0">
                <a:solidFill>
                  <a:srgbClr val="0A2A43"/>
                </a:solidFill>
                <a:latin typeface="Calibri" pitchFamily="34" charset="0"/>
                <a:ea typeface="Calibri" pitchFamily="34" charset="-122"/>
                <a:cs typeface="Calibri" pitchFamily="34" charset="-120"/>
              </a:rPr>
              <a:t>Draw this. On paper, for your own domain, with your own route names. Students who can draw their own request path debug in minutes; students who cannot debug by changing lines at random and hoping.</a:t>
            </a:r>
            <a:endParaRPr lang="en-US" sz="900" dirty="0"/>
          </a:p>
        </p:txBody>
      </p:sp>
      <p:sp>
        <p:nvSpPr>
          <p:cNvPr id="52" name="Shape 50"/>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53" name="Shape 51"/>
          <p:cNvSpPr/>
          <p:nvPr/>
        </p:nvSpPr>
        <p:spPr>
          <a:xfrm>
            <a:off x="457200" y="4334256"/>
            <a:ext cx="54864" cy="512064"/>
          </a:xfrm>
          <a:prstGeom prst="rect">
            <a:avLst/>
          </a:prstGeom>
          <a:solidFill>
            <a:srgbClr val="12795C"/>
          </a:solidFill>
          <a:ln w="12700">
            <a:solidFill>
              <a:srgbClr val="12795C"/>
            </a:solidFill>
            <a:prstDash val="solid"/>
          </a:ln>
        </p:spPr>
        <p:txBody>
          <a:bodyPr/>
          <a:lstStyle/>
          <a:p>
            <a:endParaRPr lang="en-US"/>
          </a:p>
        </p:txBody>
      </p:sp>
      <p:sp>
        <p:nvSpPr>
          <p:cNvPr id="54" name="Text 52"/>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This diagram is the answer to half the short-answer questions on Friday's paper. It is worth ten minutes on paper today.</a:t>
            </a:r>
            <a:endParaRPr lang="en-US" sz="1000" dirty="0"/>
          </a:p>
        </p:txBody>
      </p:sp>
    </p:spTree>
    <p:extLst>
      <p:ext uri="{BB962C8B-B14F-4D97-AF65-F5344CB8AC3E}">
        <p14:creationId xmlns:p14="http://schemas.microsoft.com/office/powerpoint/2010/main" val="268125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2795C"/>
          </a:solidFill>
          <a:ln w="12700">
            <a:solidFill>
              <a:srgbClr val="12795C"/>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5C7C93"/>
                </a:solidFill>
                <a:latin typeface="Calibri" pitchFamily="34" charset="0"/>
                <a:ea typeface="Calibri" pitchFamily="34" charset="-122"/>
                <a:cs typeface="Calibri" pitchFamily="34" charset="-120"/>
              </a:rPr>
              <a:t>BLOCK 4</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Today's Lab</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Shape 4"/>
          <p:cNvSpPr/>
          <p:nvPr/>
        </p:nvSpPr>
        <p:spPr>
          <a:xfrm>
            <a:off x="457200" y="1005840"/>
            <a:ext cx="4023360" cy="2651760"/>
          </a:xfrm>
          <a:prstGeom prst="rect">
            <a:avLst/>
          </a:prstGeom>
          <a:solidFill>
            <a:srgbClr val="FFFFFF"/>
          </a:solidFill>
          <a:ln w="9525">
            <a:solidFill>
              <a:srgbClr val="D6EDF9"/>
            </a:solidFill>
            <a:prstDash val="solid"/>
          </a:ln>
        </p:spPr>
        <p:txBody>
          <a:bodyPr/>
          <a:lstStyle/>
          <a:p>
            <a:endParaRPr lang="en-US"/>
          </a:p>
        </p:txBody>
      </p:sp>
      <p:sp>
        <p:nvSpPr>
          <p:cNvPr id="7" name="Shape 5"/>
          <p:cNvSpPr/>
          <p:nvPr/>
        </p:nvSpPr>
        <p:spPr>
          <a:xfrm>
            <a:off x="457200" y="1005840"/>
            <a:ext cx="4023360" cy="310896"/>
          </a:xfrm>
          <a:prstGeom prst="rect">
            <a:avLst/>
          </a:prstGeom>
          <a:solidFill>
            <a:srgbClr val="12795C"/>
          </a:solidFill>
          <a:ln w="12700">
            <a:solidFill>
              <a:srgbClr val="12795C"/>
            </a:solidFill>
            <a:prstDash val="solid"/>
          </a:ln>
        </p:spPr>
        <p:txBody>
          <a:bodyPr/>
          <a:lstStyle/>
          <a:p>
            <a:endParaRPr lang="en-US"/>
          </a:p>
        </p:txBody>
      </p:sp>
      <p:sp>
        <p:nvSpPr>
          <p:cNvPr id="8" name="Text 6"/>
          <p:cNvSpPr/>
          <p:nvPr/>
        </p:nvSpPr>
        <p:spPr>
          <a:xfrm>
            <a:off x="457200" y="1005840"/>
            <a:ext cx="402336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CORE  —  EVERYONE FINISHES THIS</a:t>
            </a:r>
            <a:endParaRPr lang="en-US" sz="900" dirty="0"/>
          </a:p>
        </p:txBody>
      </p:sp>
      <p:sp>
        <p:nvSpPr>
          <p:cNvPr id="9" name="Text 7"/>
          <p:cNvSpPr/>
          <p:nvPr/>
        </p:nvSpPr>
        <p:spPr>
          <a:xfrm>
            <a:off x="621792" y="1408176"/>
            <a:ext cx="219456" cy="237744"/>
          </a:xfrm>
          <a:prstGeom prst="rect">
            <a:avLst/>
          </a:prstGeom>
          <a:noFill/>
          <a:ln/>
        </p:spPr>
        <p:txBody>
          <a:bodyPr wrap="square" lIns="0" tIns="0" rIns="0" bIns="0" rtlCol="0" anchor="ctr"/>
          <a:lstStyle/>
          <a:p>
            <a:pPr marL="0" indent="0">
              <a:buNone/>
            </a:pPr>
            <a:r>
              <a:rPr lang="en-US" sz="1000" dirty="0">
                <a:solidFill>
                  <a:srgbClr val="12795C"/>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877824" y="1408176"/>
            <a:ext cx="3474720" cy="237744"/>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Express serving your frontend from public/</a:t>
            </a:r>
            <a:endParaRPr lang="en-US" sz="800" dirty="0"/>
          </a:p>
        </p:txBody>
      </p:sp>
      <p:sp>
        <p:nvSpPr>
          <p:cNvPr id="11" name="Text 9"/>
          <p:cNvSpPr/>
          <p:nvPr/>
        </p:nvSpPr>
        <p:spPr>
          <a:xfrm>
            <a:off x="621792" y="1682496"/>
            <a:ext cx="219456" cy="237744"/>
          </a:xfrm>
          <a:prstGeom prst="rect">
            <a:avLst/>
          </a:prstGeom>
          <a:noFill/>
          <a:ln/>
        </p:spPr>
        <p:txBody>
          <a:bodyPr wrap="square" lIns="0" tIns="0" rIns="0" bIns="0" rtlCol="0" anchor="ctr"/>
          <a:lstStyle/>
          <a:p>
            <a:pPr marL="0" indent="0">
              <a:buNone/>
            </a:pPr>
            <a:r>
              <a:rPr lang="en-US" sz="1000" dirty="0">
                <a:solidFill>
                  <a:srgbClr val="12795C"/>
                </a:solidFill>
                <a:latin typeface="Calibri" pitchFamily="34" charset="0"/>
                <a:ea typeface="Calibri" pitchFamily="34" charset="-122"/>
                <a:cs typeface="Calibri" pitchFamily="34" charset="-120"/>
              </a:rPr>
              <a:t>▢</a:t>
            </a:r>
            <a:endParaRPr lang="en-US" sz="1000" dirty="0"/>
          </a:p>
        </p:txBody>
      </p:sp>
      <p:sp>
        <p:nvSpPr>
          <p:cNvPr id="12" name="Text 10"/>
          <p:cNvSpPr/>
          <p:nvPr/>
        </p:nvSpPr>
        <p:spPr>
          <a:xfrm>
            <a:off x="877824" y="1682496"/>
            <a:ext cx="3474720" cy="237744"/>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All five routes working, tested in a REST client</a:t>
            </a:r>
            <a:endParaRPr lang="en-US" sz="800" dirty="0"/>
          </a:p>
        </p:txBody>
      </p:sp>
      <p:sp>
        <p:nvSpPr>
          <p:cNvPr id="13" name="Text 11"/>
          <p:cNvSpPr/>
          <p:nvPr/>
        </p:nvSpPr>
        <p:spPr>
          <a:xfrm>
            <a:off x="621792" y="1956816"/>
            <a:ext cx="219456" cy="237744"/>
          </a:xfrm>
          <a:prstGeom prst="rect">
            <a:avLst/>
          </a:prstGeom>
          <a:noFill/>
          <a:ln/>
        </p:spPr>
        <p:txBody>
          <a:bodyPr wrap="square" lIns="0" tIns="0" rIns="0" bIns="0" rtlCol="0" anchor="ctr"/>
          <a:lstStyle/>
          <a:p>
            <a:pPr marL="0" indent="0">
              <a:buNone/>
            </a:pPr>
            <a:r>
              <a:rPr lang="en-US" sz="1000" dirty="0">
                <a:solidFill>
                  <a:srgbClr val="12795C"/>
                </a:solidFill>
                <a:latin typeface="Calibri" pitchFamily="34" charset="0"/>
                <a:ea typeface="Calibri" pitchFamily="34" charset="-122"/>
                <a:cs typeface="Calibri" pitchFamily="34" charset="-120"/>
              </a:rPr>
              <a:t>▢</a:t>
            </a:r>
            <a:endParaRPr lang="en-US" sz="1000" dirty="0"/>
          </a:p>
        </p:txBody>
      </p:sp>
      <p:sp>
        <p:nvSpPr>
          <p:cNvPr id="14" name="Text 12"/>
          <p:cNvSpPr/>
          <p:nvPr/>
        </p:nvSpPr>
        <p:spPr>
          <a:xfrm>
            <a:off x="877824" y="1956816"/>
            <a:ext cx="3474720" cy="237744"/>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Records persist — refresh and they are still there</a:t>
            </a:r>
            <a:endParaRPr lang="en-US" sz="800" dirty="0"/>
          </a:p>
        </p:txBody>
      </p:sp>
      <p:sp>
        <p:nvSpPr>
          <p:cNvPr id="15" name="Text 13"/>
          <p:cNvSpPr/>
          <p:nvPr/>
        </p:nvSpPr>
        <p:spPr>
          <a:xfrm>
            <a:off x="621792" y="2231136"/>
            <a:ext cx="219456" cy="237744"/>
          </a:xfrm>
          <a:prstGeom prst="rect">
            <a:avLst/>
          </a:prstGeom>
          <a:noFill/>
          <a:ln/>
        </p:spPr>
        <p:txBody>
          <a:bodyPr wrap="square" lIns="0" tIns="0" rIns="0" bIns="0" rtlCol="0" anchor="ctr"/>
          <a:lstStyle/>
          <a:p>
            <a:pPr marL="0" indent="0">
              <a:buNone/>
            </a:pPr>
            <a:r>
              <a:rPr lang="en-US" sz="1000" dirty="0">
                <a:solidFill>
                  <a:srgbClr val="12795C"/>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877824" y="2231136"/>
            <a:ext cx="3474720" cy="237744"/>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Every query uses ? placeholders</a:t>
            </a:r>
            <a:endParaRPr lang="en-US" sz="800" dirty="0"/>
          </a:p>
        </p:txBody>
      </p:sp>
      <p:sp>
        <p:nvSpPr>
          <p:cNvPr id="17" name="Text 15"/>
          <p:cNvSpPr/>
          <p:nvPr/>
        </p:nvSpPr>
        <p:spPr>
          <a:xfrm>
            <a:off x="621792" y="2505456"/>
            <a:ext cx="219456" cy="237744"/>
          </a:xfrm>
          <a:prstGeom prst="rect">
            <a:avLst/>
          </a:prstGeom>
          <a:noFill/>
          <a:ln/>
        </p:spPr>
        <p:txBody>
          <a:bodyPr wrap="square" lIns="0" tIns="0" rIns="0" bIns="0" rtlCol="0" anchor="ctr"/>
          <a:lstStyle/>
          <a:p>
            <a:pPr marL="0" indent="0">
              <a:buNone/>
            </a:pPr>
            <a:r>
              <a:rPr lang="en-US" sz="1000" dirty="0">
                <a:solidFill>
                  <a:srgbClr val="12795C"/>
                </a:solidFill>
                <a:latin typeface="Calibri" pitchFamily="34" charset="0"/>
                <a:ea typeface="Calibri" pitchFamily="34" charset="-122"/>
                <a:cs typeface="Calibri" pitchFamily="34" charset="-120"/>
              </a:rPr>
              <a:t>▢</a:t>
            </a:r>
            <a:endParaRPr lang="en-US" sz="1000" dirty="0"/>
          </a:p>
        </p:txBody>
      </p:sp>
      <p:sp>
        <p:nvSpPr>
          <p:cNvPr id="18" name="Text 16"/>
          <p:cNvSpPr/>
          <p:nvPr/>
        </p:nvSpPr>
        <p:spPr>
          <a:xfrm>
            <a:off x="877824" y="2505456"/>
            <a:ext cx="3474720" cy="237744"/>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POST /enrich calls the model server-side</a:t>
            </a:r>
            <a:endParaRPr lang="en-US" sz="800" dirty="0"/>
          </a:p>
        </p:txBody>
      </p:sp>
      <p:sp>
        <p:nvSpPr>
          <p:cNvPr id="19" name="Text 17"/>
          <p:cNvSpPr/>
          <p:nvPr/>
        </p:nvSpPr>
        <p:spPr>
          <a:xfrm>
            <a:off x="621792" y="2779776"/>
            <a:ext cx="219456" cy="237744"/>
          </a:xfrm>
          <a:prstGeom prst="rect">
            <a:avLst/>
          </a:prstGeom>
          <a:noFill/>
          <a:ln/>
        </p:spPr>
        <p:txBody>
          <a:bodyPr wrap="square" lIns="0" tIns="0" rIns="0" bIns="0" rtlCol="0" anchor="ctr"/>
          <a:lstStyle/>
          <a:p>
            <a:pPr marL="0" indent="0">
              <a:buNone/>
            </a:pPr>
            <a:r>
              <a:rPr lang="en-US" sz="1000" dirty="0">
                <a:solidFill>
                  <a:srgbClr val="12795C"/>
                </a:solidFill>
                <a:latin typeface="Calibri" pitchFamily="34" charset="0"/>
                <a:ea typeface="Calibri" pitchFamily="34" charset="-122"/>
                <a:cs typeface="Calibri" pitchFamily="34" charset="-120"/>
              </a:rPr>
              <a:t>▢</a:t>
            </a:r>
            <a:endParaRPr lang="en-US" sz="1000" dirty="0"/>
          </a:p>
        </p:txBody>
      </p:sp>
      <p:sp>
        <p:nvSpPr>
          <p:cNvPr id="20" name="Text 18"/>
          <p:cNvSpPr/>
          <p:nvPr/>
        </p:nvSpPr>
        <p:spPr>
          <a:xfrm>
            <a:off x="877824" y="2779776"/>
            <a:ext cx="3474720" cy="237744"/>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The response is validated before it is stored</a:t>
            </a:r>
            <a:endParaRPr lang="en-US" sz="800" dirty="0"/>
          </a:p>
        </p:txBody>
      </p:sp>
      <p:sp>
        <p:nvSpPr>
          <p:cNvPr id="21" name="Text 19"/>
          <p:cNvSpPr/>
          <p:nvPr/>
        </p:nvSpPr>
        <p:spPr>
          <a:xfrm>
            <a:off x="621792" y="3054096"/>
            <a:ext cx="219456" cy="237744"/>
          </a:xfrm>
          <a:prstGeom prst="rect">
            <a:avLst/>
          </a:prstGeom>
          <a:noFill/>
          <a:ln/>
        </p:spPr>
        <p:txBody>
          <a:bodyPr wrap="square" lIns="0" tIns="0" rIns="0" bIns="0" rtlCol="0" anchor="ctr"/>
          <a:lstStyle/>
          <a:p>
            <a:pPr marL="0" indent="0">
              <a:buNone/>
            </a:pPr>
            <a:r>
              <a:rPr lang="en-US" sz="1000" dirty="0">
                <a:solidFill>
                  <a:srgbClr val="12795C"/>
                </a:solidFill>
                <a:latin typeface="Calibri" pitchFamily="34" charset="0"/>
                <a:ea typeface="Calibri" pitchFamily="34" charset="-122"/>
                <a:cs typeface="Calibri" pitchFamily="34" charset="-120"/>
              </a:rPr>
              <a:t>▢</a:t>
            </a:r>
            <a:endParaRPr lang="en-US" sz="1000" dirty="0"/>
          </a:p>
        </p:txBody>
      </p:sp>
      <p:sp>
        <p:nvSpPr>
          <p:cNvPr id="22" name="Text 20"/>
          <p:cNvSpPr/>
          <p:nvPr/>
        </p:nvSpPr>
        <p:spPr>
          <a:xfrm>
            <a:off x="877824" y="3054096"/>
            <a:ext cx="3474720" cy="237744"/>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GET /api/records/search?q= keyword search</a:t>
            </a:r>
            <a:endParaRPr lang="en-US" sz="800" dirty="0"/>
          </a:p>
        </p:txBody>
      </p:sp>
      <p:sp>
        <p:nvSpPr>
          <p:cNvPr id="23" name="Text 21"/>
          <p:cNvSpPr/>
          <p:nvPr/>
        </p:nvSpPr>
        <p:spPr>
          <a:xfrm>
            <a:off x="621792" y="3328416"/>
            <a:ext cx="219456" cy="237744"/>
          </a:xfrm>
          <a:prstGeom prst="rect">
            <a:avLst/>
          </a:prstGeom>
          <a:noFill/>
          <a:ln/>
        </p:spPr>
        <p:txBody>
          <a:bodyPr wrap="square" lIns="0" tIns="0" rIns="0" bIns="0" rtlCol="0" anchor="ctr"/>
          <a:lstStyle/>
          <a:p>
            <a:pPr marL="0" indent="0">
              <a:buNone/>
            </a:pPr>
            <a:r>
              <a:rPr lang="en-US" sz="1000" dirty="0">
                <a:solidFill>
                  <a:srgbClr val="12795C"/>
                </a:solidFill>
                <a:latin typeface="Calibri" pitchFamily="34" charset="0"/>
                <a:ea typeface="Calibri" pitchFamily="34" charset="-122"/>
                <a:cs typeface="Calibri" pitchFamily="34" charset="-120"/>
              </a:rPr>
              <a:t>▢</a:t>
            </a:r>
            <a:endParaRPr lang="en-US" sz="1000" dirty="0"/>
          </a:p>
        </p:txBody>
      </p:sp>
      <p:sp>
        <p:nvSpPr>
          <p:cNvPr id="24" name="Text 22"/>
          <p:cNvSpPr/>
          <p:nvPr/>
        </p:nvSpPr>
        <p:spPr>
          <a:xfrm>
            <a:off x="877824" y="3328416"/>
            <a:ext cx="3474720" cy="237744"/>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.env is in .gitignore, and pushed</a:t>
            </a:r>
            <a:endParaRPr lang="en-US" sz="800" dirty="0"/>
          </a:p>
        </p:txBody>
      </p:sp>
      <p:sp>
        <p:nvSpPr>
          <p:cNvPr id="25" name="Shape 23"/>
          <p:cNvSpPr/>
          <p:nvPr/>
        </p:nvSpPr>
        <p:spPr>
          <a:xfrm>
            <a:off x="4681728" y="1005840"/>
            <a:ext cx="4005072" cy="2651760"/>
          </a:xfrm>
          <a:prstGeom prst="rect">
            <a:avLst/>
          </a:prstGeom>
          <a:solidFill>
            <a:srgbClr val="FFFFFF"/>
          </a:solidFill>
          <a:ln w="9525">
            <a:solidFill>
              <a:srgbClr val="D6EDF9"/>
            </a:solidFill>
            <a:prstDash val="solid"/>
          </a:ln>
        </p:spPr>
        <p:txBody>
          <a:bodyPr/>
          <a:lstStyle/>
          <a:p>
            <a:endParaRPr lang="en-US"/>
          </a:p>
        </p:txBody>
      </p:sp>
      <p:sp>
        <p:nvSpPr>
          <p:cNvPr id="26" name="Shape 24"/>
          <p:cNvSpPr/>
          <p:nvPr/>
        </p:nvSpPr>
        <p:spPr>
          <a:xfrm>
            <a:off x="4681728" y="1005840"/>
            <a:ext cx="4005072" cy="310896"/>
          </a:xfrm>
          <a:prstGeom prst="rect">
            <a:avLst/>
          </a:prstGeom>
          <a:solidFill>
            <a:srgbClr val="2E5AA8"/>
          </a:solidFill>
          <a:ln w="12700">
            <a:solidFill>
              <a:srgbClr val="2E5AA8"/>
            </a:solidFill>
            <a:prstDash val="solid"/>
          </a:ln>
        </p:spPr>
        <p:txBody>
          <a:bodyPr/>
          <a:lstStyle/>
          <a:p>
            <a:endParaRPr lang="en-US"/>
          </a:p>
        </p:txBody>
      </p:sp>
      <p:sp>
        <p:nvSpPr>
          <p:cNvPr id="27" name="Text 25"/>
          <p:cNvSpPr/>
          <p:nvPr/>
        </p:nvSpPr>
        <p:spPr>
          <a:xfrm>
            <a:off x="4681728" y="1005840"/>
            <a:ext cx="4005072"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STRETCH  —  IF YOU ARE AHEAD</a:t>
            </a:r>
            <a:endParaRPr lang="en-US" sz="900" dirty="0"/>
          </a:p>
        </p:txBody>
      </p:sp>
      <p:sp>
        <p:nvSpPr>
          <p:cNvPr id="28" name="Text 26"/>
          <p:cNvSpPr/>
          <p:nvPr/>
        </p:nvSpPr>
        <p:spPr>
          <a:xfrm>
            <a:off x="4846320" y="1426464"/>
            <a:ext cx="219456" cy="310896"/>
          </a:xfrm>
          <a:prstGeom prst="rect">
            <a:avLst/>
          </a:prstGeom>
          <a:noFill/>
          <a:ln/>
        </p:spPr>
        <p:txBody>
          <a:bodyPr wrap="square" lIns="0" tIns="0" rIns="0" bIns="0" rtlCol="0" anchor="ctr"/>
          <a:lstStyle/>
          <a:p>
            <a:pPr marL="0" indent="0">
              <a:buNone/>
            </a:pPr>
            <a:r>
              <a:rPr lang="en-US" sz="1200" b="1" dirty="0">
                <a:solidFill>
                  <a:srgbClr val="2E5AA8"/>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5102352" y="1426464"/>
            <a:ext cx="3438144" cy="310896"/>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Cache: skip enrichment when the body has not changed</a:t>
            </a:r>
            <a:endParaRPr lang="en-US" sz="800" dirty="0"/>
          </a:p>
        </p:txBody>
      </p:sp>
      <p:sp>
        <p:nvSpPr>
          <p:cNvPr id="30" name="Text 28"/>
          <p:cNvSpPr/>
          <p:nvPr/>
        </p:nvSpPr>
        <p:spPr>
          <a:xfrm>
            <a:off x="4846320" y="1792224"/>
            <a:ext cx="219456" cy="310896"/>
          </a:xfrm>
          <a:prstGeom prst="rect">
            <a:avLst/>
          </a:prstGeom>
          <a:noFill/>
          <a:ln/>
        </p:spPr>
        <p:txBody>
          <a:bodyPr wrap="square" lIns="0" tIns="0" rIns="0" bIns="0" rtlCol="0" anchor="ctr"/>
          <a:lstStyle/>
          <a:p>
            <a:pPr marL="0" indent="0">
              <a:buNone/>
            </a:pPr>
            <a:r>
              <a:rPr lang="en-US" sz="1200" b="1" dirty="0">
                <a:solidFill>
                  <a:srgbClr val="2E5AA8"/>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5102352" y="1792224"/>
            <a:ext cx="3438144" cy="310896"/>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A ten-second timeout on the model call</a:t>
            </a:r>
            <a:endParaRPr lang="en-US" sz="800" dirty="0"/>
          </a:p>
        </p:txBody>
      </p:sp>
      <p:sp>
        <p:nvSpPr>
          <p:cNvPr id="32" name="Text 30"/>
          <p:cNvSpPr/>
          <p:nvPr/>
        </p:nvSpPr>
        <p:spPr>
          <a:xfrm>
            <a:off x="4846320" y="2157984"/>
            <a:ext cx="219456" cy="310896"/>
          </a:xfrm>
          <a:prstGeom prst="rect">
            <a:avLst/>
          </a:prstGeom>
          <a:noFill/>
          <a:ln/>
        </p:spPr>
        <p:txBody>
          <a:bodyPr wrap="square" lIns="0" tIns="0" rIns="0" bIns="0" rtlCol="0" anchor="ctr"/>
          <a:lstStyle/>
          <a:p>
            <a:pPr marL="0" indent="0">
              <a:buNone/>
            </a:pPr>
            <a:r>
              <a:rPr lang="en-US" sz="1200" b="1" dirty="0">
                <a:solidFill>
                  <a:srgbClr val="2E5AA8"/>
                </a:solidFill>
                <a:latin typeface="Calibri" pitchFamily="34" charset="0"/>
                <a:ea typeface="Calibri" pitchFamily="34" charset="-122"/>
                <a:cs typeface="Calibri" pitchFamily="34" charset="-120"/>
              </a:rPr>
              <a:t>+</a:t>
            </a:r>
            <a:endParaRPr lang="en-US" sz="1200" dirty="0"/>
          </a:p>
        </p:txBody>
      </p:sp>
      <p:sp>
        <p:nvSpPr>
          <p:cNvPr id="33" name="Text 31"/>
          <p:cNvSpPr/>
          <p:nvPr/>
        </p:nvSpPr>
        <p:spPr>
          <a:xfrm>
            <a:off x="5102352" y="2157984"/>
            <a:ext cx="3438144" cy="310896"/>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One retry on 429, none on 400</a:t>
            </a:r>
            <a:endParaRPr lang="en-US" sz="800" dirty="0"/>
          </a:p>
        </p:txBody>
      </p:sp>
      <p:sp>
        <p:nvSpPr>
          <p:cNvPr id="34" name="Text 32"/>
          <p:cNvSpPr/>
          <p:nvPr/>
        </p:nvSpPr>
        <p:spPr>
          <a:xfrm>
            <a:off x="4846320" y="2523744"/>
            <a:ext cx="219456" cy="310896"/>
          </a:xfrm>
          <a:prstGeom prst="rect">
            <a:avLst/>
          </a:prstGeom>
          <a:noFill/>
          <a:ln/>
        </p:spPr>
        <p:txBody>
          <a:bodyPr wrap="square" lIns="0" tIns="0" rIns="0" bIns="0" rtlCol="0" anchor="ctr"/>
          <a:lstStyle/>
          <a:p>
            <a:pPr marL="0" indent="0">
              <a:buNone/>
            </a:pPr>
            <a:r>
              <a:rPr lang="en-US" sz="1200" b="1" dirty="0">
                <a:solidFill>
                  <a:srgbClr val="2E5AA8"/>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5102352" y="2523744"/>
            <a:ext cx="3438144" cy="310896"/>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Pagination on the list route</a:t>
            </a:r>
            <a:endParaRPr lang="en-US" sz="800" dirty="0"/>
          </a:p>
        </p:txBody>
      </p:sp>
      <p:sp>
        <p:nvSpPr>
          <p:cNvPr id="36" name="Text 34"/>
          <p:cNvSpPr/>
          <p:nvPr/>
        </p:nvSpPr>
        <p:spPr>
          <a:xfrm>
            <a:off x="4846320" y="2889504"/>
            <a:ext cx="219456" cy="310896"/>
          </a:xfrm>
          <a:prstGeom prst="rect">
            <a:avLst/>
          </a:prstGeom>
          <a:noFill/>
          <a:ln/>
        </p:spPr>
        <p:txBody>
          <a:bodyPr wrap="square" lIns="0" tIns="0" rIns="0" bIns="0" rtlCol="0" anchor="ctr"/>
          <a:lstStyle/>
          <a:p>
            <a:pPr marL="0" indent="0">
              <a:buNone/>
            </a:pPr>
            <a:r>
              <a:rPr lang="en-US" sz="1200" b="1" dirty="0">
                <a:solidFill>
                  <a:srgbClr val="2E5AA8"/>
                </a:solidFill>
                <a:latin typeface="Calibri" pitchFamily="34" charset="0"/>
                <a:ea typeface="Calibri" pitchFamily="34" charset="-122"/>
                <a:cs typeface="Calibri" pitchFamily="34" charset="-120"/>
              </a:rPr>
              <a:t>+</a:t>
            </a:r>
            <a:endParaRPr lang="en-US" sz="1200" dirty="0"/>
          </a:p>
        </p:txBody>
      </p:sp>
      <p:sp>
        <p:nvSpPr>
          <p:cNvPr id="37" name="Text 35"/>
          <p:cNvSpPr/>
          <p:nvPr/>
        </p:nvSpPr>
        <p:spPr>
          <a:xfrm>
            <a:off x="5102352" y="2889504"/>
            <a:ext cx="3438144" cy="310896"/>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A 404 handler and one consistent error shape</a:t>
            </a:r>
            <a:endParaRPr lang="en-US" sz="800" dirty="0"/>
          </a:p>
        </p:txBody>
      </p:sp>
      <p:sp>
        <p:nvSpPr>
          <p:cNvPr id="38" name="Text 36"/>
          <p:cNvSpPr/>
          <p:nvPr/>
        </p:nvSpPr>
        <p:spPr>
          <a:xfrm>
            <a:off x="4846320" y="3255264"/>
            <a:ext cx="219456" cy="310896"/>
          </a:xfrm>
          <a:prstGeom prst="rect">
            <a:avLst/>
          </a:prstGeom>
          <a:noFill/>
          <a:ln/>
        </p:spPr>
        <p:txBody>
          <a:bodyPr wrap="square" lIns="0" tIns="0" rIns="0" bIns="0" rtlCol="0" anchor="ctr"/>
          <a:lstStyle/>
          <a:p>
            <a:pPr marL="0" indent="0">
              <a:buNone/>
            </a:pPr>
            <a:r>
              <a:rPr lang="en-US" sz="1200" b="1" dirty="0">
                <a:solidFill>
                  <a:srgbClr val="2E5AA8"/>
                </a:solidFill>
                <a:latin typeface="Calibri" pitchFamily="34" charset="0"/>
                <a:ea typeface="Calibri" pitchFamily="34" charset="-122"/>
                <a:cs typeface="Calibri" pitchFamily="34" charset="-120"/>
              </a:rPr>
              <a:t>+</a:t>
            </a:r>
            <a:endParaRPr lang="en-US" sz="1200" dirty="0"/>
          </a:p>
        </p:txBody>
      </p:sp>
      <p:sp>
        <p:nvSpPr>
          <p:cNvPr id="39" name="Text 37"/>
          <p:cNvSpPr/>
          <p:nvPr/>
        </p:nvSpPr>
        <p:spPr>
          <a:xfrm>
            <a:off x="5102352" y="3255264"/>
            <a:ext cx="3438144" cy="310896"/>
          </a:xfrm>
          <a:prstGeom prst="rect">
            <a:avLst/>
          </a:prstGeom>
          <a:noFill/>
          <a:ln/>
        </p:spPr>
        <p:txBody>
          <a:bodyPr wrap="square" lIns="0" tIns="0" rIns="0" bIns="0" rtlCol="0" anchor="ctr"/>
          <a:lstStyle/>
          <a:p>
            <a:pPr marL="0" indent="0">
              <a:buNone/>
            </a:pPr>
            <a:r>
              <a:rPr lang="en-US" sz="800" dirty="0">
                <a:solidFill>
                  <a:srgbClr val="0A2A43"/>
                </a:solidFill>
                <a:latin typeface="Calibri" pitchFamily="34" charset="0"/>
                <a:ea typeface="Calibri" pitchFamily="34" charset="-122"/>
                <a:cs typeface="Calibri" pitchFamily="34" charset="-120"/>
              </a:rPr>
              <a:t>Try the injection payload against your own search — prove it fails</a:t>
            </a:r>
            <a:endParaRPr lang="en-US" sz="800" dirty="0"/>
          </a:p>
        </p:txBody>
      </p:sp>
      <p:sp>
        <p:nvSpPr>
          <p:cNvPr id="40" name="Shape 38"/>
          <p:cNvSpPr/>
          <p:nvPr/>
        </p:nvSpPr>
        <p:spPr>
          <a:xfrm>
            <a:off x="457200" y="3767328"/>
            <a:ext cx="8229600" cy="274320"/>
          </a:xfrm>
          <a:prstGeom prst="rect">
            <a:avLst/>
          </a:prstGeom>
          <a:solidFill>
            <a:srgbClr val="FDEAEA"/>
          </a:solidFill>
          <a:ln w="12700">
            <a:solidFill>
              <a:srgbClr val="FDEAEA"/>
            </a:solidFill>
            <a:prstDash val="solid"/>
          </a:ln>
        </p:spPr>
        <p:txBody>
          <a:bodyPr/>
          <a:lstStyle/>
          <a:p>
            <a:endParaRPr lang="en-US"/>
          </a:p>
        </p:txBody>
      </p:sp>
      <p:sp>
        <p:nvSpPr>
          <p:cNvPr id="41" name="Text 39"/>
          <p:cNvSpPr/>
          <p:nvPr/>
        </p:nvSpPr>
        <p:spPr>
          <a:xfrm>
            <a:off x="566928" y="3767328"/>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Search is CORE today, not Stretch. Tomorrow's block compares it against semantic search — without it you have nothing to compare.</a:t>
            </a:r>
            <a:endParaRPr lang="en-US" sz="800" dirty="0"/>
          </a:p>
        </p:txBody>
      </p:sp>
      <p:sp>
        <p:nvSpPr>
          <p:cNvPr id="42" name="Shape 40"/>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43" name="Shape 41"/>
          <p:cNvSpPr/>
          <p:nvPr/>
        </p:nvSpPr>
        <p:spPr>
          <a:xfrm>
            <a:off x="457200" y="4334256"/>
            <a:ext cx="54864" cy="512064"/>
          </a:xfrm>
          <a:prstGeom prst="rect">
            <a:avLst/>
          </a:prstGeom>
          <a:solidFill>
            <a:srgbClr val="12795C"/>
          </a:solidFill>
          <a:ln w="12700">
            <a:solidFill>
              <a:srgbClr val="12795C"/>
            </a:solidFill>
            <a:prstDash val="solid"/>
          </a:ln>
        </p:spPr>
        <p:txBody>
          <a:bodyPr/>
          <a:lstStyle/>
          <a:p>
            <a:endParaRPr lang="en-US"/>
          </a:p>
        </p:txBody>
      </p:sp>
      <p:sp>
        <p:nvSpPr>
          <p:cNvPr id="44" name="Text 42"/>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Run git status before every commit today. If .env appears in that list, stop and fix it before you push.</a:t>
            </a:r>
            <a:endParaRPr lang="en-US" sz="1000" dirty="0"/>
          </a:p>
        </p:txBody>
      </p:sp>
    </p:spTree>
    <p:extLst>
      <p:ext uri="{BB962C8B-B14F-4D97-AF65-F5344CB8AC3E}">
        <p14:creationId xmlns:p14="http://schemas.microsoft.com/office/powerpoint/2010/main" val="1284716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2795C"/>
          </a:solidFill>
          <a:ln w="12700">
            <a:solidFill>
              <a:srgbClr val="12795C"/>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5C7C93"/>
                </a:solidFill>
                <a:latin typeface="Calibri" pitchFamily="34" charset="0"/>
                <a:ea typeface="Calibri" pitchFamily="34" charset="-122"/>
                <a:cs typeface="Calibri" pitchFamily="34" charset="-120"/>
              </a:rPr>
              <a:t>DEBRIEF</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A2A43"/>
                </a:solidFill>
                <a:latin typeface="Calibri" pitchFamily="34" charset="0"/>
                <a:ea typeface="Calibri" pitchFamily="34" charset="-122"/>
                <a:cs typeface="Calibri" pitchFamily="34" charset="-120"/>
              </a:rPr>
              <a:t>One Question Before You Go</a:t>
            </a:r>
            <a:endParaRPr lang="en-US" sz="2200" dirty="0"/>
          </a:p>
        </p:txBody>
      </p:sp>
      <p:sp>
        <p:nvSpPr>
          <p:cNvPr id="5" name="Shape 3"/>
          <p:cNvSpPr/>
          <p:nvPr/>
        </p:nvSpPr>
        <p:spPr>
          <a:xfrm>
            <a:off x="457200" y="859536"/>
            <a:ext cx="8229600" cy="10973"/>
          </a:xfrm>
          <a:prstGeom prst="rect">
            <a:avLst/>
          </a:prstGeom>
          <a:solidFill>
            <a:srgbClr val="D6EDF9"/>
          </a:solidFill>
          <a:ln w="12700">
            <a:solidFill>
              <a:srgbClr val="D6EDF9"/>
            </a:solidFill>
            <a:prstDash val="solid"/>
          </a:ln>
        </p:spPr>
        <p:txBody>
          <a:bodyPr/>
          <a:lstStyle/>
          <a:p>
            <a:endParaRPr lang="en-US"/>
          </a:p>
        </p:txBody>
      </p:sp>
      <p:sp>
        <p:nvSpPr>
          <p:cNvPr id="6" name="Shape 4"/>
          <p:cNvSpPr/>
          <p:nvPr/>
        </p:nvSpPr>
        <p:spPr>
          <a:xfrm>
            <a:off x="457200" y="1188720"/>
            <a:ext cx="8229600" cy="1170432"/>
          </a:xfrm>
          <a:prstGeom prst="rect">
            <a:avLst/>
          </a:prstGeom>
          <a:solidFill>
            <a:srgbClr val="0A2A43"/>
          </a:solidFill>
          <a:ln w="12700">
            <a:solidFill>
              <a:srgbClr val="0A2A43"/>
            </a:solidFill>
            <a:prstDash val="solid"/>
          </a:ln>
        </p:spPr>
        <p:txBody>
          <a:bodyPr/>
          <a:lstStyle/>
          <a:p>
            <a:endParaRPr lang="en-US"/>
          </a:p>
        </p:txBody>
      </p:sp>
      <p:sp>
        <p:nvSpPr>
          <p:cNvPr id="7" name="Text 5"/>
          <p:cNvSpPr/>
          <p:nvPr/>
        </p:nvSpPr>
        <p:spPr>
          <a:xfrm>
            <a:off x="731520" y="1188720"/>
            <a:ext cx="7680960" cy="1170432"/>
          </a:xfrm>
          <a:prstGeom prst="rect">
            <a:avLst/>
          </a:prstGeom>
          <a:noFill/>
          <a:ln/>
        </p:spPr>
        <p:txBody>
          <a:bodyPr wrap="square" lIns="0" tIns="0" rIns="0" bIns="0" rtlCol="0" anchor="ctr"/>
          <a:lstStyle/>
          <a:p>
            <a:pPr marL="0" indent="0" algn="ctr">
              <a:lnSpc>
                <a:spcPct val="110000"/>
              </a:lnSpc>
              <a:buNone/>
            </a:pPr>
            <a:r>
              <a:rPr lang="en-US" sz="1800" b="1" dirty="0">
                <a:solidFill>
                  <a:srgbClr val="FFFFFF"/>
                </a:solidFill>
                <a:latin typeface="Calibri" pitchFamily="34" charset="0"/>
                <a:ea typeface="Calibri" pitchFamily="34" charset="-122"/>
                <a:cs typeface="Calibri" pitchFamily="34" charset="-120"/>
              </a:rPr>
              <a:t>“The model returns broken JSON</a:t>
            </a:r>
            <a:endParaRPr lang="en-US" sz="1800" dirty="0"/>
          </a:p>
          <a:p>
            <a:pPr marL="0" indent="0" algn="ctr">
              <a:lnSpc>
                <a:spcPct val="110000"/>
              </a:lnSpc>
              <a:buNone/>
            </a:pPr>
            <a:r>
              <a:rPr lang="en-US" sz="1800" b="1" dirty="0">
                <a:solidFill>
                  <a:srgbClr val="FFFFFF"/>
                </a:solidFill>
                <a:latin typeface="Calibri" pitchFamily="34" charset="0"/>
                <a:ea typeface="Calibri" pitchFamily="34" charset="-122"/>
                <a:cs typeface="Calibri" pitchFamily="34" charset="-120"/>
              </a:rPr>
              <a:t>at two in the morning. What does</a:t>
            </a:r>
            <a:endParaRPr lang="en-US" sz="1800" dirty="0"/>
          </a:p>
          <a:p>
            <a:pPr marL="0" indent="0" algn="ctr">
              <a:lnSpc>
                <a:spcPct val="110000"/>
              </a:lnSpc>
              <a:buNone/>
            </a:pPr>
            <a:r>
              <a:rPr lang="en-US" sz="1800" b="1" dirty="0">
                <a:solidFill>
                  <a:srgbClr val="FFFFFF"/>
                </a:solidFill>
                <a:latin typeface="Calibri" pitchFamily="34" charset="0"/>
                <a:ea typeface="Calibri" pitchFamily="34" charset="-122"/>
                <a:cs typeface="Calibri" pitchFamily="34" charset="-120"/>
              </a:rPr>
              <a:t>your app do?”</a:t>
            </a:r>
            <a:endParaRPr lang="en-US" sz="1800" dirty="0"/>
          </a:p>
        </p:txBody>
      </p:sp>
      <p:sp>
        <p:nvSpPr>
          <p:cNvPr id="8" name="Text 6"/>
          <p:cNvSpPr/>
          <p:nvPr/>
        </p:nvSpPr>
        <p:spPr>
          <a:xfrm>
            <a:off x="457200" y="2487168"/>
            <a:ext cx="8229600" cy="274320"/>
          </a:xfrm>
          <a:prstGeom prst="rect">
            <a:avLst/>
          </a:prstGeom>
          <a:noFill/>
          <a:ln/>
        </p:spPr>
        <p:txBody>
          <a:bodyPr wrap="square" lIns="0" tIns="0" rIns="0" bIns="0" rtlCol="0" anchor="ctr"/>
          <a:lstStyle/>
          <a:p>
            <a:pPr marL="0" indent="0" algn="ctr">
              <a:buNone/>
            </a:pPr>
            <a:r>
              <a:rPr lang="en-US" sz="1100" i="1" dirty="0">
                <a:solidFill>
                  <a:srgbClr val="5C7C93"/>
                </a:solidFill>
                <a:latin typeface="Calibri" pitchFamily="34" charset="0"/>
                <a:ea typeface="Calibri" pitchFamily="34" charset="-122"/>
                <a:cs typeface="Calibri" pitchFamily="34" charset="-120"/>
              </a:rPr>
              <a:t>“It crashes” is an honest answer today. It should not be one tomorrow.</a:t>
            </a:r>
            <a:endParaRPr lang="en-US" sz="1100" dirty="0"/>
          </a:p>
        </p:txBody>
      </p:sp>
      <p:sp>
        <p:nvSpPr>
          <p:cNvPr id="9" name="Shape 7"/>
          <p:cNvSpPr/>
          <p:nvPr/>
        </p:nvSpPr>
        <p:spPr>
          <a:xfrm>
            <a:off x="457200" y="2962656"/>
            <a:ext cx="2633472" cy="1005840"/>
          </a:xfrm>
          <a:prstGeom prst="rect">
            <a:avLst/>
          </a:prstGeom>
          <a:solidFill>
            <a:srgbClr val="FFFFFF"/>
          </a:solidFill>
          <a:ln w="9525">
            <a:solidFill>
              <a:srgbClr val="D6EDF9"/>
            </a:solidFill>
            <a:prstDash val="solid"/>
          </a:ln>
        </p:spPr>
        <p:txBody>
          <a:bodyPr/>
          <a:lstStyle/>
          <a:p>
            <a:endParaRPr lang="en-US"/>
          </a:p>
        </p:txBody>
      </p:sp>
      <p:sp>
        <p:nvSpPr>
          <p:cNvPr id="10" name="Shape 8"/>
          <p:cNvSpPr/>
          <p:nvPr/>
        </p:nvSpPr>
        <p:spPr>
          <a:xfrm>
            <a:off x="457200" y="2962656"/>
            <a:ext cx="54864" cy="1005840"/>
          </a:xfrm>
          <a:prstGeom prst="rect">
            <a:avLst/>
          </a:prstGeom>
          <a:solidFill>
            <a:srgbClr val="B86A0E"/>
          </a:solidFill>
          <a:ln w="12700">
            <a:solidFill>
              <a:srgbClr val="B86A0E"/>
            </a:solidFill>
            <a:prstDash val="solid"/>
          </a:ln>
        </p:spPr>
        <p:txBody>
          <a:bodyPr/>
          <a:lstStyle/>
          <a:p>
            <a:endParaRPr lang="en-US"/>
          </a:p>
        </p:txBody>
      </p:sp>
      <p:sp>
        <p:nvSpPr>
          <p:cNvPr id="11" name="Text 9"/>
          <p:cNvSpPr/>
          <p:nvPr/>
        </p:nvSpPr>
        <p:spPr>
          <a:xfrm>
            <a:off x="640080" y="3054096"/>
            <a:ext cx="2286000" cy="182880"/>
          </a:xfrm>
          <a:prstGeom prst="rect">
            <a:avLst/>
          </a:prstGeom>
          <a:noFill/>
          <a:ln/>
        </p:spPr>
        <p:txBody>
          <a:bodyPr wrap="square" lIns="0" tIns="0" rIns="0" bIns="0" rtlCol="0" anchor="ctr"/>
          <a:lstStyle/>
          <a:p>
            <a:pPr marL="0" indent="0">
              <a:buNone/>
            </a:pPr>
            <a:r>
              <a:rPr lang="en-US" sz="800" b="1" kern="0" spc="120" dirty="0">
                <a:solidFill>
                  <a:srgbClr val="B86A0E"/>
                </a:solidFill>
                <a:latin typeface="Calibri" pitchFamily="34" charset="0"/>
                <a:ea typeface="Calibri" pitchFamily="34" charset="-122"/>
                <a:cs typeface="Calibri" pitchFamily="34" charset="-120"/>
              </a:rPr>
              <a:t>TOMORROW</a:t>
            </a:r>
            <a:endParaRPr lang="en-US" sz="800" dirty="0"/>
          </a:p>
        </p:txBody>
      </p:sp>
      <p:sp>
        <p:nvSpPr>
          <p:cNvPr id="12" name="Text 10"/>
          <p:cNvSpPr/>
          <p:nvPr/>
        </p:nvSpPr>
        <p:spPr>
          <a:xfrm>
            <a:off x="640080" y="3273552"/>
            <a:ext cx="2322576" cy="640080"/>
          </a:xfrm>
          <a:prstGeom prst="rect">
            <a:avLst/>
          </a:prstGeom>
          <a:noFill/>
          <a:ln/>
        </p:spPr>
        <p:txBody>
          <a:bodyPr wrap="square" lIns="0" tIns="0" rIns="0" bIns="0" rtlCol="0" anchor="t"/>
          <a:lstStyle/>
          <a:p>
            <a:pPr marL="0" indent="0">
              <a:lnSpc>
                <a:spcPct val="105000"/>
              </a:lnSpc>
              <a:buNone/>
            </a:pPr>
            <a:r>
              <a:rPr lang="en-US" sz="850" dirty="0">
                <a:solidFill>
                  <a:srgbClr val="0A2A43"/>
                </a:solidFill>
                <a:latin typeface="Calibri" pitchFamily="34" charset="0"/>
                <a:ea typeface="Calibri" pitchFamily="34" charset="-122"/>
                <a:cs typeface="Calibri" pitchFamily="34" charset="-120"/>
              </a:rPr>
              <a:t>Logins, so records belong to someone — and an AI that can finally answer questions about your data.</a:t>
            </a:r>
            <a:endParaRPr lang="en-US" sz="850" dirty="0"/>
          </a:p>
        </p:txBody>
      </p:sp>
      <p:sp>
        <p:nvSpPr>
          <p:cNvPr id="13" name="Shape 11"/>
          <p:cNvSpPr/>
          <p:nvPr/>
        </p:nvSpPr>
        <p:spPr>
          <a:xfrm>
            <a:off x="3255264" y="2962656"/>
            <a:ext cx="2633472" cy="1005840"/>
          </a:xfrm>
          <a:prstGeom prst="rect">
            <a:avLst/>
          </a:prstGeom>
          <a:solidFill>
            <a:srgbClr val="FFFFFF"/>
          </a:solidFill>
          <a:ln w="9525">
            <a:solidFill>
              <a:srgbClr val="D6EDF9"/>
            </a:solidFill>
            <a:prstDash val="solid"/>
          </a:ln>
        </p:spPr>
        <p:txBody>
          <a:bodyPr/>
          <a:lstStyle/>
          <a:p>
            <a:endParaRPr lang="en-US"/>
          </a:p>
        </p:txBody>
      </p:sp>
      <p:sp>
        <p:nvSpPr>
          <p:cNvPr id="14" name="Shape 12"/>
          <p:cNvSpPr/>
          <p:nvPr/>
        </p:nvSpPr>
        <p:spPr>
          <a:xfrm>
            <a:off x="3255264" y="2962656"/>
            <a:ext cx="54864" cy="1005840"/>
          </a:xfrm>
          <a:prstGeom prst="rect">
            <a:avLst/>
          </a:prstGeom>
          <a:solidFill>
            <a:srgbClr val="B83232"/>
          </a:solidFill>
          <a:ln w="12700">
            <a:solidFill>
              <a:srgbClr val="B83232"/>
            </a:solidFill>
            <a:prstDash val="solid"/>
          </a:ln>
        </p:spPr>
        <p:txBody>
          <a:bodyPr/>
          <a:lstStyle/>
          <a:p>
            <a:endParaRPr lang="en-US"/>
          </a:p>
        </p:txBody>
      </p:sp>
      <p:sp>
        <p:nvSpPr>
          <p:cNvPr id="15" name="Text 13"/>
          <p:cNvSpPr/>
          <p:nvPr/>
        </p:nvSpPr>
        <p:spPr>
          <a:xfrm>
            <a:off x="3438144" y="3054096"/>
            <a:ext cx="2286000" cy="182880"/>
          </a:xfrm>
          <a:prstGeom prst="rect">
            <a:avLst/>
          </a:prstGeom>
          <a:noFill/>
          <a:ln/>
        </p:spPr>
        <p:txBody>
          <a:bodyPr wrap="square" lIns="0" tIns="0" rIns="0" bIns="0" rtlCol="0" anchor="ctr"/>
          <a:lstStyle/>
          <a:p>
            <a:pPr marL="0" indent="0">
              <a:buNone/>
            </a:pPr>
            <a:r>
              <a:rPr lang="en-US" sz="800" b="1" kern="0" spc="120" dirty="0">
                <a:solidFill>
                  <a:srgbClr val="B83232"/>
                </a:solidFill>
                <a:latin typeface="Calibri" pitchFamily="34" charset="0"/>
                <a:ea typeface="Calibri" pitchFamily="34" charset="-122"/>
                <a:cs typeface="Calibri" pitchFamily="34" charset="-120"/>
              </a:rPr>
              <a:t>BEFORE YOU GO</a:t>
            </a:r>
            <a:endParaRPr lang="en-US" sz="800" dirty="0"/>
          </a:p>
        </p:txBody>
      </p:sp>
      <p:sp>
        <p:nvSpPr>
          <p:cNvPr id="16" name="Text 14"/>
          <p:cNvSpPr/>
          <p:nvPr/>
        </p:nvSpPr>
        <p:spPr>
          <a:xfrm>
            <a:off x="3438144" y="3273552"/>
            <a:ext cx="2322576" cy="640080"/>
          </a:xfrm>
          <a:prstGeom prst="rect">
            <a:avLst/>
          </a:prstGeom>
          <a:noFill/>
          <a:ln/>
        </p:spPr>
        <p:txBody>
          <a:bodyPr wrap="square" lIns="0" tIns="0" rIns="0" bIns="0" rtlCol="0" anchor="t"/>
          <a:lstStyle/>
          <a:p>
            <a:pPr marL="0" indent="0">
              <a:lnSpc>
                <a:spcPct val="105000"/>
              </a:lnSpc>
              <a:buNone/>
            </a:pPr>
            <a:r>
              <a:rPr lang="en-US" sz="850" dirty="0">
                <a:solidFill>
                  <a:srgbClr val="0A2A43"/>
                </a:solidFill>
                <a:latin typeface="Calibri" pitchFamily="34" charset="0"/>
                <a:ea typeface="Calibri" pitchFamily="34" charset="-122"/>
                <a:cs typeface="Calibri" pitchFamily="34" charset="-120"/>
              </a:rPr>
              <a:t>Check .env is not in your repository. Push your work.</a:t>
            </a:r>
            <a:endParaRPr lang="en-US" sz="850" dirty="0"/>
          </a:p>
        </p:txBody>
      </p:sp>
      <p:sp>
        <p:nvSpPr>
          <p:cNvPr id="17" name="Shape 15"/>
          <p:cNvSpPr/>
          <p:nvPr/>
        </p:nvSpPr>
        <p:spPr>
          <a:xfrm>
            <a:off x="6053328" y="2962656"/>
            <a:ext cx="2633472" cy="1005840"/>
          </a:xfrm>
          <a:prstGeom prst="rect">
            <a:avLst/>
          </a:prstGeom>
          <a:solidFill>
            <a:srgbClr val="FFFFFF"/>
          </a:solidFill>
          <a:ln w="9525">
            <a:solidFill>
              <a:srgbClr val="D6EDF9"/>
            </a:solidFill>
            <a:prstDash val="solid"/>
          </a:ln>
        </p:spPr>
        <p:txBody>
          <a:bodyPr/>
          <a:lstStyle/>
          <a:p>
            <a:endParaRPr lang="en-US"/>
          </a:p>
        </p:txBody>
      </p:sp>
      <p:sp>
        <p:nvSpPr>
          <p:cNvPr id="18" name="Shape 16"/>
          <p:cNvSpPr/>
          <p:nvPr/>
        </p:nvSpPr>
        <p:spPr>
          <a:xfrm>
            <a:off x="6053328" y="2962656"/>
            <a:ext cx="54864" cy="1005840"/>
          </a:xfrm>
          <a:prstGeom prst="rect">
            <a:avLst/>
          </a:prstGeom>
          <a:solidFill>
            <a:srgbClr val="0077B6"/>
          </a:solidFill>
          <a:ln w="12700">
            <a:solidFill>
              <a:srgbClr val="0077B6"/>
            </a:solidFill>
            <a:prstDash val="solid"/>
          </a:ln>
        </p:spPr>
        <p:txBody>
          <a:bodyPr/>
          <a:lstStyle/>
          <a:p>
            <a:endParaRPr lang="en-US"/>
          </a:p>
        </p:txBody>
      </p:sp>
      <p:sp>
        <p:nvSpPr>
          <p:cNvPr id="19" name="Text 17"/>
          <p:cNvSpPr/>
          <p:nvPr/>
        </p:nvSpPr>
        <p:spPr>
          <a:xfrm>
            <a:off x="6236208" y="3054096"/>
            <a:ext cx="2286000" cy="182880"/>
          </a:xfrm>
          <a:prstGeom prst="rect">
            <a:avLst/>
          </a:prstGeom>
          <a:noFill/>
          <a:ln/>
        </p:spPr>
        <p:txBody>
          <a:bodyPr wrap="square" lIns="0" tIns="0" rIns="0" bIns="0" rtlCol="0" anchor="ctr"/>
          <a:lstStyle/>
          <a:p>
            <a:pPr marL="0" indent="0">
              <a:buNone/>
            </a:pPr>
            <a:r>
              <a:rPr lang="en-US" sz="800" b="1" kern="0" spc="120" dirty="0">
                <a:solidFill>
                  <a:srgbClr val="0077B6"/>
                </a:solidFill>
                <a:latin typeface="Calibri" pitchFamily="34" charset="0"/>
                <a:ea typeface="Calibri" pitchFamily="34" charset="-122"/>
                <a:cs typeface="Calibri" pitchFamily="34" charset="-120"/>
              </a:rPr>
              <a:t>BRING</a:t>
            </a:r>
            <a:endParaRPr lang="en-US" sz="800" dirty="0"/>
          </a:p>
        </p:txBody>
      </p:sp>
      <p:sp>
        <p:nvSpPr>
          <p:cNvPr id="20" name="Text 18"/>
          <p:cNvSpPr/>
          <p:nvPr/>
        </p:nvSpPr>
        <p:spPr>
          <a:xfrm>
            <a:off x="6236208" y="3273552"/>
            <a:ext cx="2322576" cy="640080"/>
          </a:xfrm>
          <a:prstGeom prst="rect">
            <a:avLst/>
          </a:prstGeom>
          <a:noFill/>
          <a:ln/>
        </p:spPr>
        <p:txBody>
          <a:bodyPr wrap="square" lIns="0" tIns="0" rIns="0" bIns="0" rtlCol="0" anchor="t"/>
          <a:lstStyle/>
          <a:p>
            <a:pPr marL="0" indent="0">
              <a:lnSpc>
                <a:spcPct val="105000"/>
              </a:lnSpc>
              <a:buNone/>
            </a:pPr>
            <a:r>
              <a:rPr lang="en-US" sz="850" dirty="0">
                <a:solidFill>
                  <a:srgbClr val="0A2A43"/>
                </a:solidFill>
                <a:latin typeface="Calibri" pitchFamily="34" charset="0"/>
                <a:ea typeface="Calibri" pitchFamily="34" charset="-122"/>
                <a:cs typeface="Calibri" pitchFamily="34" charset="-120"/>
              </a:rPr>
              <a:t>A charged laptop. Tomorrow is the most interesting day of the week.</a:t>
            </a:r>
            <a:endParaRPr lang="en-US" sz="850" dirty="0"/>
          </a:p>
        </p:txBody>
      </p:sp>
      <p:sp>
        <p:nvSpPr>
          <p:cNvPr id="21" name="Shape 19"/>
          <p:cNvSpPr/>
          <p:nvPr/>
        </p:nvSpPr>
        <p:spPr>
          <a:xfrm>
            <a:off x="457200" y="4334256"/>
            <a:ext cx="8229600" cy="512064"/>
          </a:xfrm>
          <a:prstGeom prst="rect">
            <a:avLst/>
          </a:prstGeom>
          <a:solidFill>
            <a:srgbClr val="EAF7FE"/>
          </a:solidFill>
          <a:ln w="12700">
            <a:solidFill>
              <a:srgbClr val="EAF7FE"/>
            </a:solidFill>
            <a:prstDash val="solid"/>
          </a:ln>
        </p:spPr>
        <p:txBody>
          <a:bodyPr/>
          <a:lstStyle/>
          <a:p>
            <a:endParaRPr lang="en-US"/>
          </a:p>
        </p:txBody>
      </p:sp>
      <p:sp>
        <p:nvSpPr>
          <p:cNvPr id="22" name="Shape 20"/>
          <p:cNvSpPr/>
          <p:nvPr/>
        </p:nvSpPr>
        <p:spPr>
          <a:xfrm>
            <a:off x="457200" y="4334256"/>
            <a:ext cx="54864" cy="512064"/>
          </a:xfrm>
          <a:prstGeom prst="rect">
            <a:avLst/>
          </a:prstGeom>
          <a:solidFill>
            <a:srgbClr val="12795C"/>
          </a:solidFill>
          <a:ln w="12700">
            <a:solidFill>
              <a:srgbClr val="12795C"/>
            </a:solidFill>
            <a:prstDash val="solid"/>
          </a:ln>
        </p:spPr>
        <p:txBody>
          <a:bodyPr/>
          <a:lstStyle/>
          <a:p>
            <a:endParaRPr lang="en-US"/>
          </a:p>
        </p:txBody>
      </p:sp>
      <p:sp>
        <p:nvSpPr>
          <p:cNvPr id="23" name="Text 21"/>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A2A43"/>
                </a:solidFill>
                <a:latin typeface="Calibri" pitchFamily="34" charset="0"/>
                <a:ea typeface="Calibri" pitchFamily="34" charset="-122"/>
                <a:cs typeface="Calibri" pitchFamily="34" charset="-120"/>
              </a:rPr>
              <a:t>Three tiers, one folder, and a key nobody can steal. That was the hardest day — and you have already finished it.</a:t>
            </a:r>
            <a:endParaRPr lang="en-US" sz="1000" dirty="0"/>
          </a:p>
        </p:txBody>
      </p:sp>
    </p:spTree>
    <p:extLst>
      <p:ext uri="{BB962C8B-B14F-4D97-AF65-F5344CB8AC3E}">
        <p14:creationId xmlns:p14="http://schemas.microsoft.com/office/powerpoint/2010/main" val="3880816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3" name="Text 1"/>
          <p:cNvSpPr/>
          <p:nvPr/>
        </p:nvSpPr>
        <p:spPr>
          <a:xfrm>
            <a:off x="457200" y="932688"/>
            <a:ext cx="7772400" cy="713232"/>
          </a:xfrm>
          <a:prstGeom prst="rect">
            <a:avLst/>
          </a:prstGeom>
          <a:noFill/>
          <a:ln/>
        </p:spPr>
        <p:txBody>
          <a:bodyPr wrap="square" lIns="0" tIns="0" rIns="0" bIns="0" rtlCol="0" anchor="ctr"/>
          <a:lstStyle/>
          <a:p>
            <a:pPr marL="0" indent="0">
              <a:buNone/>
            </a:pPr>
            <a:r>
              <a:rPr lang="en-US" sz="3800" b="1" dirty="0">
                <a:solidFill>
                  <a:srgbClr val="FFFFFF"/>
                </a:solidFill>
                <a:latin typeface="Arial Black" pitchFamily="34" charset="0"/>
                <a:ea typeface="Arial Black" pitchFamily="34" charset="-122"/>
                <a:cs typeface="Arial Black" pitchFamily="34" charset="-120"/>
              </a:rPr>
              <a:t>STORE.</a:t>
            </a:r>
            <a:endParaRPr lang="en-US" sz="3800" dirty="0"/>
          </a:p>
        </p:txBody>
      </p:sp>
      <p:sp>
        <p:nvSpPr>
          <p:cNvPr id="4" name="Text 2"/>
          <p:cNvSpPr/>
          <p:nvPr/>
        </p:nvSpPr>
        <p:spPr>
          <a:xfrm>
            <a:off x="457200" y="1645920"/>
            <a:ext cx="7772400" cy="713232"/>
          </a:xfrm>
          <a:prstGeom prst="rect">
            <a:avLst/>
          </a:prstGeom>
          <a:noFill/>
          <a:ln/>
        </p:spPr>
        <p:txBody>
          <a:bodyPr wrap="square" lIns="0" tIns="0" rIns="0" bIns="0" rtlCol="0" anchor="ctr"/>
          <a:lstStyle/>
          <a:p>
            <a:pPr marL="0" indent="0">
              <a:buNone/>
            </a:pPr>
            <a:r>
              <a:rPr lang="en-US" sz="3800" b="1" dirty="0">
                <a:solidFill>
                  <a:srgbClr val="00B0F0"/>
                </a:solidFill>
                <a:latin typeface="Arial Black" pitchFamily="34" charset="0"/>
                <a:ea typeface="Arial Black" pitchFamily="34" charset="-122"/>
                <a:cs typeface="Arial Black" pitchFamily="34" charset="-120"/>
              </a:rPr>
              <a:t>VALIDATE.</a:t>
            </a:r>
            <a:endParaRPr lang="en-US" sz="3800" dirty="0"/>
          </a:p>
        </p:txBody>
      </p:sp>
      <p:sp>
        <p:nvSpPr>
          <p:cNvPr id="5" name="Text 3"/>
          <p:cNvSpPr/>
          <p:nvPr/>
        </p:nvSpPr>
        <p:spPr>
          <a:xfrm>
            <a:off x="457200" y="2359152"/>
            <a:ext cx="7772400" cy="713232"/>
          </a:xfrm>
          <a:prstGeom prst="rect">
            <a:avLst/>
          </a:prstGeom>
          <a:noFill/>
          <a:ln/>
        </p:spPr>
        <p:txBody>
          <a:bodyPr wrap="square" lIns="0" tIns="0" rIns="0" bIns="0" rtlCol="0" anchor="ctr"/>
          <a:lstStyle/>
          <a:p>
            <a:pPr marL="0" indent="0">
              <a:buNone/>
            </a:pPr>
            <a:r>
              <a:rPr lang="en-US" sz="3800" b="1" dirty="0">
                <a:solidFill>
                  <a:srgbClr val="FFFFFF"/>
                </a:solidFill>
                <a:latin typeface="Arial Black" pitchFamily="34" charset="0"/>
                <a:ea typeface="Arial Black" pitchFamily="34" charset="-122"/>
                <a:cs typeface="Arial Black" pitchFamily="34" charset="-120"/>
              </a:rPr>
              <a:t>SERVE.</a:t>
            </a:r>
            <a:endParaRPr lang="en-US" sz="3800" dirty="0"/>
          </a:p>
        </p:txBody>
      </p:sp>
      <p:sp>
        <p:nvSpPr>
          <p:cNvPr id="6" name="Shape 4"/>
          <p:cNvSpPr/>
          <p:nvPr/>
        </p:nvSpPr>
        <p:spPr>
          <a:xfrm>
            <a:off x="457200" y="3310128"/>
            <a:ext cx="2194560" cy="10973"/>
          </a:xfrm>
          <a:prstGeom prst="rect">
            <a:avLst/>
          </a:prstGeom>
          <a:solidFill>
            <a:srgbClr val="0077B6"/>
          </a:solidFill>
          <a:ln w="12700">
            <a:solidFill>
              <a:srgbClr val="0077B6"/>
            </a:solidFill>
            <a:prstDash val="solid"/>
          </a:ln>
        </p:spPr>
        <p:txBody>
          <a:bodyPr/>
          <a:lstStyle/>
          <a:p>
            <a:endParaRPr lang="en-US"/>
          </a:p>
        </p:txBody>
      </p:sp>
      <p:sp>
        <p:nvSpPr>
          <p:cNvPr id="7" name="Text 5"/>
          <p:cNvSpPr/>
          <p:nvPr/>
        </p:nvSpPr>
        <p:spPr>
          <a:xfrm>
            <a:off x="457200" y="3456432"/>
            <a:ext cx="7772400" cy="256032"/>
          </a:xfrm>
          <a:prstGeom prst="rect">
            <a:avLst/>
          </a:prstGeom>
          <a:noFill/>
          <a:ln/>
        </p:spPr>
        <p:txBody>
          <a:bodyPr wrap="square" lIns="0" tIns="0" rIns="0" bIns="0" rtlCol="0" anchor="ctr"/>
          <a:lstStyle/>
          <a:p>
            <a:pPr marL="0" indent="0">
              <a:buNone/>
            </a:pPr>
            <a:r>
              <a:rPr lang="en-US" sz="1100" dirty="0">
                <a:solidFill>
                  <a:srgbClr val="BFE3F5"/>
                </a:solidFill>
                <a:latin typeface="Calibri" pitchFamily="34" charset="0"/>
                <a:ea typeface="Calibri" pitchFamily="34" charset="-122"/>
                <a:cs typeface="Calibri" pitchFamily="34" charset="-120"/>
              </a:rPr>
              <a:t>Day 3 complete  ·  Full Stack Development with Gen-AI</a:t>
            </a:r>
            <a:endParaRPr lang="en-US" sz="1100" dirty="0"/>
          </a:p>
        </p:txBody>
      </p:sp>
      <p:sp>
        <p:nvSpPr>
          <p:cNvPr id="8" name="Text 6"/>
          <p:cNvSpPr/>
          <p:nvPr/>
        </p:nvSpPr>
        <p:spPr>
          <a:xfrm>
            <a:off x="457200" y="3730752"/>
            <a:ext cx="7772400" cy="256032"/>
          </a:xfrm>
          <a:prstGeom prst="rect">
            <a:avLst/>
          </a:prstGeom>
          <a:noFill/>
          <a:ln/>
        </p:spPr>
        <p:txBody>
          <a:bodyPr wrap="square" lIns="0" tIns="0" rIns="0" bIns="0" rtlCol="0" anchor="ctr"/>
          <a:lstStyle/>
          <a:p>
            <a:pPr marL="0" indent="0">
              <a:buNone/>
            </a:pPr>
            <a:r>
              <a:rPr lang="en-US" sz="900" kern="0" spc="100" dirty="0">
                <a:solidFill>
                  <a:srgbClr val="5C7C93"/>
                </a:solidFill>
                <a:latin typeface="Calibri" pitchFamily="34" charset="0"/>
                <a:ea typeface="Calibri" pitchFamily="34" charset="-122"/>
                <a:cs typeface="Calibri" pitchFamily="34" charset="-120"/>
              </a:rPr>
              <a:t>Tomorrow: who you are, and an AI that has actually read your data.</a:t>
            </a:r>
            <a:endParaRPr lang="en-US" sz="900" dirty="0"/>
          </a:p>
        </p:txBody>
      </p:sp>
    </p:spTree>
    <p:extLst>
      <p:ext uri="{BB962C8B-B14F-4D97-AF65-F5344CB8AC3E}">
        <p14:creationId xmlns:p14="http://schemas.microsoft.com/office/powerpoint/2010/main" val="462115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161BD6E-E47A-7B44-8028-0B8C56A631CE}">
  <we:reference id="wa200010001" version="1.0.0.1" store="en-US" storeType="OMEX"/>
  <we:alternateReferences>
    <we:reference id="wa200010001" version="1.0.0.1" store="en-US" storeType="OMEX"/>
  </we:alternateReferences>
  <we:properties>
    <we:property name="claude.fileId" value="&quot;f20e7240-baef-4feb-b563-af3e8f2c43a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1322</TotalTime>
  <Words>3243</Words>
  <Application>Microsoft Macintosh PowerPoint</Application>
  <PresentationFormat>On-screen Show (16:9)</PresentationFormat>
  <Paragraphs>387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Venkatasubramanian V</cp:lastModifiedBy>
  <cp:revision>3</cp:revision>
  <dcterms:created xsi:type="dcterms:W3CDTF">2026-08-19T06:13:50Z</dcterms:created>
  <dcterms:modified xsi:type="dcterms:W3CDTF">2026-08-20T04:19:33Z</dcterms:modified>
</cp:coreProperties>
</file>