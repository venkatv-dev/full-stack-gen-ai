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46"/>
    <p:restoredTop sz="94610"/>
  </p:normalViewPr>
  <p:slideViewPr>
    <p:cSldViewPr snapToGrid="0" snapToObjects="1">
      <p:cViewPr varScale="1">
        <p:scale>
          <a:sx n="244" d="100"/>
          <a:sy n="244" d="100"/>
        </p:scale>
        <p:origin x="208"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511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the hard day is behind them. Today is conceptually the richest but technically lighter than yesterday — and by the afternoon their app does the thing that makes people say 'wait, 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Promise the payoff early: by mid-afternoon they will ask their own app a question in plain English and get a cited answer. That promise carries them through the auth block, which is the least glamorous part of the week.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run the unauthenticated GET on the projector. Seeing their own endpoint hand over everything with no credentials makes the auth block feel necessary rather than academic.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three questions separate on the whiteboard. Students conflate authentication with authorisation constantly, and question 3 is the one that leaks data in real projects.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decode-your-own-token demo is worth the two minutes. It converts 'JWTs are secure' from a slogan into an accurate mental model, and it is a very common interview question.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two-account test is the most valuable thing on this slide. Make it a checkpoint item and have TAs actually watch students do it — a passing app that leaks is the worst possible outcome of the 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the localStorage honesty. Students are told 'use localStorage' everywhere and never told why it is a compromise — naming the trade-off is the difference between following a tutorial and understanding a decision.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with a student's real record set. The invented answer needs to be on screen, in their own domain, before you explain anything — the fix only feels necessary once they have watched it fail.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three dots on the whiteboard, two together and one far away, and label them. That picture is sufficient — resist any temptation to go near vector maths, it costs the block and buys nothing.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training' point matters. Half the room will assume RAG means teaching the model. Saying plainly that nothing is trained and nothing is remembered removes a genuine conceptual block.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they type the cosine function rather than pasting it. It is the one moment in the week where a genuinely mysterious phrase becomes concrete, and it is worth the five minutes of typing.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the refusal path in front of the room: ask something the records genuinely do not cover and show it declining. Students find that more impressive than a correct answer, and rightly so.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run their own question through both endpoints and read the two result sets aloud. The contrast in their own data is far more persuasive than the example on this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leak test a TA-verified checkpoint item — watched, not self-reported. An app that works but leaks is the one failure mode today that genuinely matters.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for the honest answer: the citation let them verify. Trust came from verifiability, not from fluency — and that distinction is the most transferable idea in the whole week.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demo they just watched. 'You asked your own app a question in plain English and it answered from your own writing, and told you where it looked. That is a real product feature. You built it in one afternoon.'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5" name="Text 3"/>
          <p:cNvSpPr/>
          <p:nvPr/>
        </p:nvSpPr>
        <p:spPr>
          <a:xfrm>
            <a:off x="457200" y="960120"/>
            <a:ext cx="7498080" cy="713232"/>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WHO YOU ARE</a:t>
            </a:r>
            <a:endParaRPr lang="en-US" sz="3400" dirty="0"/>
          </a:p>
        </p:txBody>
      </p:sp>
      <p:sp>
        <p:nvSpPr>
          <p:cNvPr id="6" name="Text 4"/>
          <p:cNvSpPr/>
          <p:nvPr/>
        </p:nvSpPr>
        <p:spPr>
          <a:xfrm>
            <a:off x="457200" y="1664208"/>
            <a:ext cx="7498080" cy="713232"/>
          </a:xfrm>
          <a:prstGeom prst="rect">
            <a:avLst/>
          </a:prstGeom>
          <a:noFill/>
          <a:ln/>
        </p:spPr>
        <p:txBody>
          <a:bodyPr wrap="square" lIns="0" tIns="0" rIns="0" bIns="0" rtlCol="0" anchor="ctr"/>
          <a:lstStyle/>
          <a:p>
            <a:pPr marL="0" indent="0">
              <a:buNone/>
            </a:pPr>
            <a:r>
              <a:rPr lang="en-US" sz="3400" b="1" dirty="0">
                <a:solidFill>
                  <a:srgbClr val="00B0F0"/>
                </a:solidFill>
                <a:latin typeface="Arial Black" pitchFamily="34" charset="0"/>
                <a:ea typeface="Arial Black" pitchFamily="34" charset="-122"/>
                <a:cs typeface="Arial Black" pitchFamily="34" charset="-120"/>
              </a:rPr>
              <a:t>WHAT YOU KNOW</a:t>
            </a:r>
            <a:endParaRPr lang="en-US" sz="3400" dirty="0"/>
          </a:p>
        </p:txBody>
      </p:sp>
      <p:sp>
        <p:nvSpPr>
          <p:cNvPr id="7" name="Shape 5"/>
          <p:cNvSpPr/>
          <p:nvPr/>
        </p:nvSpPr>
        <p:spPr>
          <a:xfrm>
            <a:off x="457200" y="2615184"/>
            <a:ext cx="2194560" cy="10973"/>
          </a:xfrm>
          <a:prstGeom prst="rect">
            <a:avLst/>
          </a:prstGeom>
          <a:solidFill>
            <a:srgbClr val="1B3547"/>
          </a:solidFill>
          <a:ln w="12700">
            <a:solidFill>
              <a:srgbClr val="1B3547"/>
            </a:solidFill>
            <a:prstDash val="solid"/>
          </a:ln>
        </p:spPr>
        <p:txBody>
          <a:bodyPr/>
          <a:lstStyle/>
          <a:p>
            <a:endParaRPr lang="en-US"/>
          </a:p>
        </p:txBody>
      </p:sp>
      <p:sp>
        <p:nvSpPr>
          <p:cNvPr id="8" name="Text 6"/>
          <p:cNvSpPr/>
          <p:nvPr/>
        </p:nvSpPr>
        <p:spPr>
          <a:xfrm>
            <a:off x="457200" y="2761488"/>
            <a:ext cx="6858000" cy="256032"/>
          </a:xfrm>
          <a:prstGeom prst="rect">
            <a:avLst/>
          </a:prstGeom>
          <a:noFill/>
          <a:ln/>
        </p:spPr>
        <p:txBody>
          <a:bodyPr wrap="square" lIns="0" tIns="0" rIns="0" bIns="0" rtlCol="0" anchor="ctr"/>
          <a:lstStyle/>
          <a:p>
            <a:pPr marL="0" indent="0">
              <a:buNone/>
            </a:pPr>
            <a:r>
              <a:rPr lang="en-US" sz="1300" dirty="0">
                <a:solidFill>
                  <a:srgbClr val="C8D6E2"/>
                </a:solidFill>
                <a:latin typeface="Calibri" pitchFamily="34" charset="0"/>
                <a:ea typeface="Calibri" pitchFamily="34" charset="-122"/>
                <a:cs typeface="Calibri" pitchFamily="34" charset="-120"/>
              </a:rPr>
              <a:t>Full Stack Development with Gen-AI  ·  5-Day Intensive</a:t>
            </a:r>
            <a:endParaRPr lang="en-US" sz="1300" dirty="0"/>
          </a:p>
        </p:txBody>
      </p:sp>
      <p:sp>
        <p:nvSpPr>
          <p:cNvPr id="9" name="Text 7"/>
          <p:cNvSpPr/>
          <p:nvPr/>
        </p:nvSpPr>
        <p:spPr>
          <a:xfrm>
            <a:off x="457200" y="3090672"/>
            <a:ext cx="7772400" cy="237744"/>
          </a:xfrm>
          <a:prstGeom prst="rect">
            <a:avLst/>
          </a:prstGeom>
          <a:noFill/>
          <a:ln/>
        </p:spPr>
        <p:txBody>
          <a:bodyPr wrap="square" lIns="0" tIns="0" rIns="0" bIns="0" rtlCol="0" anchor="ctr"/>
          <a:lstStyle/>
          <a:p>
            <a:pPr marL="0" indent="0">
              <a:buNone/>
            </a:pPr>
            <a:r>
              <a:rPr lang="en-US" sz="900" b="1" kern="0" spc="140" dirty="0">
                <a:solidFill>
                  <a:srgbClr val="00B0F0"/>
                </a:solidFill>
                <a:latin typeface="Calibri" pitchFamily="34" charset="0"/>
                <a:ea typeface="Calibri" pitchFamily="34" charset="-122"/>
                <a:cs typeface="Calibri" pitchFamily="34" charset="-120"/>
              </a:rPr>
              <a:t>DAY 4  —  AUTHENTICATION, INTEGRATION &amp; RAG</a:t>
            </a:r>
            <a:endParaRPr lang="en-US" sz="900" dirty="0"/>
          </a:p>
        </p:txBody>
      </p:sp>
    </p:spTree>
    <p:extLst>
      <p:ext uri="{BB962C8B-B14F-4D97-AF65-F5344CB8AC3E}">
        <p14:creationId xmlns:p14="http://schemas.microsoft.com/office/powerpoint/2010/main" val="647444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A8"/>
          </a:solidFill>
          <a:ln w="12700">
            <a:solidFill>
              <a:srgbClr val="0077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TODAY'S AGENDA</a:t>
            </a:r>
            <a:endParaRPr lang="en-US" sz="800" dirty="0"/>
          </a:p>
        </p:txBody>
      </p:sp>
      <p:sp>
        <p:nvSpPr>
          <p:cNvPr id="4" name="Text 2"/>
          <p:cNvSpPr/>
          <p:nvPr/>
        </p:nvSpPr>
        <p:spPr>
          <a:xfrm>
            <a:off x="457200" y="347472"/>
            <a:ext cx="71120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Authentication, Integration &amp; RAG</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1024128"/>
            <a:ext cx="4005072" cy="932688"/>
          </a:xfrm>
          <a:prstGeom prst="rect">
            <a:avLst/>
          </a:prstGeom>
          <a:solidFill>
            <a:srgbClr val="FFFFFF"/>
          </a:solidFill>
          <a:ln w="9525">
            <a:solidFill>
              <a:srgbClr val="DCE5EB"/>
            </a:solidFill>
            <a:prstDash val="solid"/>
          </a:ln>
        </p:spPr>
        <p:txBody>
          <a:bodyPr/>
          <a:lstStyle/>
          <a:p>
            <a:endParaRPr lang="en-US"/>
          </a:p>
        </p:txBody>
      </p:sp>
      <p:sp>
        <p:nvSpPr>
          <p:cNvPr id="7" name="Shape 5"/>
          <p:cNvSpPr/>
          <p:nvPr/>
        </p:nvSpPr>
        <p:spPr>
          <a:xfrm>
            <a:off x="457200" y="1024128"/>
            <a:ext cx="54864" cy="932688"/>
          </a:xfrm>
          <a:prstGeom prst="rect">
            <a:avLst/>
          </a:prstGeom>
          <a:solidFill>
            <a:srgbClr val="0077A8"/>
          </a:solidFill>
          <a:ln w="12700">
            <a:solidFill>
              <a:srgbClr val="0077A8"/>
            </a:solidFill>
            <a:prstDash val="solid"/>
          </a:ln>
        </p:spPr>
        <p:txBody>
          <a:bodyPr/>
          <a:lstStyle/>
          <a:p>
            <a:endParaRPr lang="en-US"/>
          </a:p>
        </p:txBody>
      </p:sp>
      <p:sp>
        <p:nvSpPr>
          <p:cNvPr id="8" name="Shape 6"/>
          <p:cNvSpPr/>
          <p:nvPr/>
        </p:nvSpPr>
        <p:spPr>
          <a:xfrm>
            <a:off x="603504" y="1316736"/>
            <a:ext cx="329184" cy="329184"/>
          </a:xfrm>
          <a:prstGeom prst="rect">
            <a:avLst/>
          </a:prstGeom>
          <a:solidFill>
            <a:srgbClr val="0077A8"/>
          </a:solidFill>
          <a:ln w="12700">
            <a:solidFill>
              <a:srgbClr val="0077A8"/>
            </a:solidFill>
            <a:prstDash val="solid"/>
          </a:ln>
        </p:spPr>
        <p:txBody>
          <a:bodyPr/>
          <a:lstStyle/>
          <a:p>
            <a:endParaRPr lang="en-US"/>
          </a:p>
        </p:txBody>
      </p:sp>
      <p:sp>
        <p:nvSpPr>
          <p:cNvPr id="9" name="Text 7"/>
          <p:cNvSpPr/>
          <p:nvPr/>
        </p:nvSpPr>
        <p:spPr>
          <a:xfrm>
            <a:off x="603504"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Text 8"/>
          <p:cNvSpPr/>
          <p:nvPr/>
        </p:nvSpPr>
        <p:spPr>
          <a:xfrm>
            <a:off x="1042416" y="1152144"/>
            <a:ext cx="3273552" cy="402336"/>
          </a:xfrm>
          <a:prstGeom prst="rect">
            <a:avLst/>
          </a:prstGeom>
          <a:noFill/>
          <a:ln/>
        </p:spPr>
        <p:txBody>
          <a:bodyPr wrap="square" lIns="0" tIns="0" rIns="0" bIns="0" rtlCol="0" anchor="ctr"/>
          <a:lstStyle/>
          <a:p>
            <a:pPr marL="0" indent="0">
              <a:buNone/>
            </a:pPr>
            <a:r>
              <a:rPr lang="en-US" sz="1100" b="1" dirty="0">
                <a:solidFill>
                  <a:srgbClr val="0B1E2D"/>
                </a:solidFill>
                <a:latin typeface="Calibri" pitchFamily="34" charset="0"/>
                <a:ea typeface="Calibri" pitchFamily="34" charset="-122"/>
                <a:cs typeface="Calibri" pitchFamily="34" charset="-120"/>
              </a:rPr>
              <a:t>Identity on the Server</a:t>
            </a:r>
            <a:endParaRPr lang="en-US" sz="1100" dirty="0"/>
          </a:p>
        </p:txBody>
      </p:sp>
      <p:sp>
        <p:nvSpPr>
          <p:cNvPr id="11" name="Text 9"/>
          <p:cNvSpPr/>
          <p:nvPr/>
        </p:nvSpPr>
        <p:spPr>
          <a:xfrm>
            <a:off x="1042416"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Hashing passwords, issuing tokens, protecting routes, and making records belong to somebody</a:t>
            </a:r>
            <a:endParaRPr lang="en-US" sz="750" dirty="0"/>
          </a:p>
        </p:txBody>
      </p:sp>
      <p:sp>
        <p:nvSpPr>
          <p:cNvPr id="12" name="Shape 10"/>
          <p:cNvSpPr/>
          <p:nvPr/>
        </p:nvSpPr>
        <p:spPr>
          <a:xfrm>
            <a:off x="4681728" y="1024128"/>
            <a:ext cx="4005072" cy="932688"/>
          </a:xfrm>
          <a:prstGeom prst="rect">
            <a:avLst/>
          </a:prstGeom>
          <a:solidFill>
            <a:srgbClr val="FFFFFF"/>
          </a:solidFill>
          <a:ln w="9525">
            <a:solidFill>
              <a:srgbClr val="DCE5EB"/>
            </a:solidFill>
            <a:prstDash val="solid"/>
          </a:ln>
        </p:spPr>
        <p:txBody>
          <a:bodyPr/>
          <a:lstStyle/>
          <a:p>
            <a:endParaRPr lang="en-US"/>
          </a:p>
        </p:txBody>
      </p:sp>
      <p:sp>
        <p:nvSpPr>
          <p:cNvPr id="13" name="Shape 11"/>
          <p:cNvSpPr/>
          <p:nvPr/>
        </p:nvSpPr>
        <p:spPr>
          <a:xfrm>
            <a:off x="4681728" y="1024128"/>
            <a:ext cx="54864" cy="932688"/>
          </a:xfrm>
          <a:prstGeom prst="rect">
            <a:avLst/>
          </a:prstGeom>
          <a:solidFill>
            <a:srgbClr val="00658F"/>
          </a:solidFill>
          <a:ln w="12700">
            <a:solidFill>
              <a:srgbClr val="00658F"/>
            </a:solidFill>
            <a:prstDash val="solid"/>
          </a:ln>
        </p:spPr>
        <p:txBody>
          <a:bodyPr/>
          <a:lstStyle/>
          <a:p>
            <a:endParaRPr lang="en-US"/>
          </a:p>
        </p:txBody>
      </p:sp>
      <p:sp>
        <p:nvSpPr>
          <p:cNvPr id="14" name="Shape 12"/>
          <p:cNvSpPr/>
          <p:nvPr/>
        </p:nvSpPr>
        <p:spPr>
          <a:xfrm>
            <a:off x="4828032" y="1316736"/>
            <a:ext cx="329184" cy="329184"/>
          </a:xfrm>
          <a:prstGeom prst="rect">
            <a:avLst/>
          </a:prstGeom>
          <a:solidFill>
            <a:srgbClr val="00658F"/>
          </a:solidFill>
          <a:ln w="12700">
            <a:solidFill>
              <a:srgbClr val="00658F"/>
            </a:solidFill>
            <a:prstDash val="solid"/>
          </a:ln>
        </p:spPr>
        <p:txBody>
          <a:bodyPr/>
          <a:lstStyle/>
          <a:p>
            <a:endParaRPr lang="en-US"/>
          </a:p>
        </p:txBody>
      </p:sp>
      <p:sp>
        <p:nvSpPr>
          <p:cNvPr id="15" name="Text 13"/>
          <p:cNvSpPr/>
          <p:nvPr/>
        </p:nvSpPr>
        <p:spPr>
          <a:xfrm>
            <a:off x="4828032" y="1316736"/>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Text 14"/>
          <p:cNvSpPr/>
          <p:nvPr/>
        </p:nvSpPr>
        <p:spPr>
          <a:xfrm>
            <a:off x="5266944" y="1152144"/>
            <a:ext cx="3273552" cy="402336"/>
          </a:xfrm>
          <a:prstGeom prst="rect">
            <a:avLst/>
          </a:prstGeom>
          <a:noFill/>
          <a:ln/>
        </p:spPr>
        <p:txBody>
          <a:bodyPr wrap="square" lIns="0" tIns="0" rIns="0" bIns="0" rtlCol="0" anchor="ctr"/>
          <a:lstStyle/>
          <a:p>
            <a:pPr marL="0" indent="0">
              <a:buNone/>
            </a:pPr>
            <a:r>
              <a:rPr lang="en-US" sz="1100" b="1" dirty="0">
                <a:solidFill>
                  <a:srgbClr val="0B1E2D"/>
                </a:solidFill>
                <a:latin typeface="Calibri" pitchFamily="34" charset="0"/>
                <a:ea typeface="Calibri" pitchFamily="34" charset="-122"/>
                <a:cs typeface="Calibri" pitchFamily="34" charset="-120"/>
              </a:rPr>
              <a:t>Identity in the Browser</a:t>
            </a:r>
            <a:endParaRPr lang="en-US" sz="1100" dirty="0"/>
          </a:p>
        </p:txBody>
      </p:sp>
      <p:sp>
        <p:nvSpPr>
          <p:cNvPr id="17" name="Text 15"/>
          <p:cNvSpPr/>
          <p:nvPr/>
        </p:nvSpPr>
        <p:spPr>
          <a:xfrm>
            <a:off x="5266944" y="1536192"/>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The login flow end to end, an authenticated fetch, CORS explained calmly — then a hallucination</a:t>
            </a:r>
            <a:endParaRPr lang="en-US" sz="750" dirty="0"/>
          </a:p>
        </p:txBody>
      </p:sp>
      <p:sp>
        <p:nvSpPr>
          <p:cNvPr id="18" name="Shape 16"/>
          <p:cNvSpPr/>
          <p:nvPr/>
        </p:nvSpPr>
        <p:spPr>
          <a:xfrm>
            <a:off x="457200" y="2084832"/>
            <a:ext cx="4005072" cy="932688"/>
          </a:xfrm>
          <a:prstGeom prst="rect">
            <a:avLst/>
          </a:prstGeom>
          <a:solidFill>
            <a:srgbClr val="FFFFFF"/>
          </a:solidFill>
          <a:ln w="9525">
            <a:solidFill>
              <a:srgbClr val="DCE5EB"/>
            </a:solidFill>
            <a:prstDash val="solid"/>
          </a:ln>
        </p:spPr>
        <p:txBody>
          <a:bodyPr/>
          <a:lstStyle/>
          <a:p>
            <a:endParaRPr lang="en-US"/>
          </a:p>
        </p:txBody>
      </p:sp>
      <p:sp>
        <p:nvSpPr>
          <p:cNvPr id="19" name="Shape 17"/>
          <p:cNvSpPr/>
          <p:nvPr/>
        </p:nvSpPr>
        <p:spPr>
          <a:xfrm>
            <a:off x="457200" y="2084832"/>
            <a:ext cx="54864" cy="932688"/>
          </a:xfrm>
          <a:prstGeom prst="rect">
            <a:avLst/>
          </a:prstGeom>
          <a:solidFill>
            <a:srgbClr val="005478"/>
          </a:solidFill>
          <a:ln w="12700">
            <a:solidFill>
              <a:srgbClr val="005478"/>
            </a:solidFill>
            <a:prstDash val="solid"/>
          </a:ln>
        </p:spPr>
        <p:txBody>
          <a:bodyPr/>
          <a:lstStyle/>
          <a:p>
            <a:endParaRPr lang="en-US"/>
          </a:p>
        </p:txBody>
      </p:sp>
      <p:sp>
        <p:nvSpPr>
          <p:cNvPr id="20" name="Shape 18"/>
          <p:cNvSpPr/>
          <p:nvPr/>
        </p:nvSpPr>
        <p:spPr>
          <a:xfrm>
            <a:off x="603504" y="2377440"/>
            <a:ext cx="329184" cy="329184"/>
          </a:xfrm>
          <a:prstGeom prst="rect">
            <a:avLst/>
          </a:prstGeom>
          <a:solidFill>
            <a:srgbClr val="005478"/>
          </a:solidFill>
          <a:ln w="12700">
            <a:solidFill>
              <a:srgbClr val="005478"/>
            </a:solidFill>
            <a:prstDash val="solid"/>
          </a:ln>
        </p:spPr>
        <p:txBody>
          <a:bodyPr/>
          <a:lstStyle/>
          <a:p>
            <a:endParaRPr lang="en-US"/>
          </a:p>
        </p:txBody>
      </p:sp>
      <p:sp>
        <p:nvSpPr>
          <p:cNvPr id="21" name="Text 19"/>
          <p:cNvSpPr/>
          <p:nvPr/>
        </p:nvSpPr>
        <p:spPr>
          <a:xfrm>
            <a:off x="603504"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1042416" y="2212848"/>
            <a:ext cx="3273552" cy="402336"/>
          </a:xfrm>
          <a:prstGeom prst="rect">
            <a:avLst/>
          </a:prstGeom>
          <a:noFill/>
          <a:ln/>
        </p:spPr>
        <p:txBody>
          <a:bodyPr wrap="square" lIns="0" tIns="0" rIns="0" bIns="0" rtlCol="0" anchor="ctr"/>
          <a:lstStyle/>
          <a:p>
            <a:pPr marL="0" indent="0">
              <a:buNone/>
            </a:pPr>
            <a:r>
              <a:rPr lang="en-US" sz="1100" b="1" dirty="0">
                <a:solidFill>
                  <a:srgbClr val="0B1E2D"/>
                </a:solidFill>
                <a:latin typeface="Calibri" pitchFamily="34" charset="0"/>
                <a:ea typeface="Calibri" pitchFamily="34" charset="-122"/>
                <a:cs typeface="Calibri" pitchFamily="34" charset="-120"/>
              </a:rPr>
              <a:t>Teaching It Your Data</a:t>
            </a:r>
            <a:endParaRPr lang="en-US" sz="1100" dirty="0"/>
          </a:p>
        </p:txBody>
      </p:sp>
      <p:sp>
        <p:nvSpPr>
          <p:cNvPr id="23" name="Text 21"/>
          <p:cNvSpPr/>
          <p:nvPr/>
        </p:nvSpPr>
        <p:spPr>
          <a:xfrm>
            <a:off x="1042416"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Embeddings, cosine similarity by hand, and answers grounded in your own records with citations</a:t>
            </a:r>
            <a:endParaRPr lang="en-US" sz="750" dirty="0"/>
          </a:p>
        </p:txBody>
      </p:sp>
      <p:sp>
        <p:nvSpPr>
          <p:cNvPr id="24" name="Shape 22"/>
          <p:cNvSpPr/>
          <p:nvPr/>
        </p:nvSpPr>
        <p:spPr>
          <a:xfrm>
            <a:off x="4681728" y="2084832"/>
            <a:ext cx="4005072" cy="932688"/>
          </a:xfrm>
          <a:prstGeom prst="rect">
            <a:avLst/>
          </a:prstGeom>
          <a:solidFill>
            <a:srgbClr val="FFFFFF"/>
          </a:solidFill>
          <a:ln w="9525">
            <a:solidFill>
              <a:srgbClr val="DCE5EB"/>
            </a:solidFill>
            <a:prstDash val="solid"/>
          </a:ln>
        </p:spPr>
        <p:txBody>
          <a:bodyPr/>
          <a:lstStyle/>
          <a:p>
            <a:endParaRPr lang="en-US"/>
          </a:p>
        </p:txBody>
      </p:sp>
      <p:sp>
        <p:nvSpPr>
          <p:cNvPr id="25" name="Shape 23"/>
          <p:cNvSpPr/>
          <p:nvPr/>
        </p:nvSpPr>
        <p:spPr>
          <a:xfrm>
            <a:off x="4681728" y="2084832"/>
            <a:ext cx="54864" cy="932688"/>
          </a:xfrm>
          <a:prstGeom prst="rect">
            <a:avLst/>
          </a:prstGeom>
          <a:solidFill>
            <a:srgbClr val="004260"/>
          </a:solidFill>
          <a:ln w="12700">
            <a:solidFill>
              <a:srgbClr val="004260"/>
            </a:solidFill>
            <a:prstDash val="solid"/>
          </a:ln>
        </p:spPr>
        <p:txBody>
          <a:bodyPr/>
          <a:lstStyle/>
          <a:p>
            <a:endParaRPr lang="en-US"/>
          </a:p>
        </p:txBody>
      </p:sp>
      <p:sp>
        <p:nvSpPr>
          <p:cNvPr id="26" name="Shape 24"/>
          <p:cNvSpPr/>
          <p:nvPr/>
        </p:nvSpPr>
        <p:spPr>
          <a:xfrm>
            <a:off x="4828032" y="2377440"/>
            <a:ext cx="329184" cy="329184"/>
          </a:xfrm>
          <a:prstGeom prst="rect">
            <a:avLst/>
          </a:prstGeom>
          <a:solidFill>
            <a:srgbClr val="004260"/>
          </a:solidFill>
          <a:ln w="12700">
            <a:solidFill>
              <a:srgbClr val="004260"/>
            </a:solidFill>
            <a:prstDash val="solid"/>
          </a:ln>
        </p:spPr>
        <p:txBody>
          <a:bodyPr/>
          <a:lstStyle/>
          <a:p>
            <a:endParaRPr lang="en-US"/>
          </a:p>
        </p:txBody>
      </p:sp>
      <p:sp>
        <p:nvSpPr>
          <p:cNvPr id="27" name="Text 25"/>
          <p:cNvSpPr/>
          <p:nvPr/>
        </p:nvSpPr>
        <p:spPr>
          <a:xfrm>
            <a:off x="4828032" y="23774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Text 26"/>
          <p:cNvSpPr/>
          <p:nvPr/>
        </p:nvSpPr>
        <p:spPr>
          <a:xfrm>
            <a:off x="5266944" y="2212848"/>
            <a:ext cx="3273552" cy="402336"/>
          </a:xfrm>
          <a:prstGeom prst="rect">
            <a:avLst/>
          </a:prstGeom>
          <a:noFill/>
          <a:ln/>
        </p:spPr>
        <p:txBody>
          <a:bodyPr wrap="square" lIns="0" tIns="0" rIns="0" bIns="0" rtlCol="0" anchor="ctr"/>
          <a:lstStyle/>
          <a:p>
            <a:pPr marL="0" indent="0">
              <a:buNone/>
            </a:pPr>
            <a:r>
              <a:rPr lang="en-US" sz="1100" b="1" dirty="0">
                <a:solidFill>
                  <a:srgbClr val="0B1E2D"/>
                </a:solidFill>
                <a:latin typeface="Calibri" pitchFamily="34" charset="0"/>
                <a:ea typeface="Calibri" pitchFamily="34" charset="-122"/>
                <a:cs typeface="Calibri" pitchFamily="34" charset="-120"/>
              </a:rPr>
              <a:t>Lab, Demos &amp; Debrief</a:t>
            </a:r>
            <a:endParaRPr lang="en-US" sz="1100" dirty="0"/>
          </a:p>
        </p:txBody>
      </p:sp>
      <p:sp>
        <p:nvSpPr>
          <p:cNvPr id="29" name="Text 27"/>
          <p:cNvSpPr/>
          <p:nvPr/>
        </p:nvSpPr>
        <p:spPr>
          <a:xfrm>
            <a:off x="5266944" y="2596896"/>
            <a:ext cx="3273552" cy="347472"/>
          </a:xfrm>
          <a:prstGeom prst="rect">
            <a:avLst/>
          </a:prstGeom>
          <a:noFill/>
          <a:ln/>
        </p:spPr>
        <p:txBody>
          <a:bodyPr wrap="square" lIns="0" tIns="0" rIns="0" bIns="0" rtlCol="0" anchor="t"/>
          <a:lstStyle/>
          <a:p>
            <a:pPr marL="0" indent="0">
              <a:lnSpc>
                <a:spcPct val="102000"/>
              </a:lnSpc>
              <a:buNone/>
            </a:pPr>
            <a:r>
              <a:rPr lang="en-US" sz="750" dirty="0">
                <a:solidFill>
                  <a:srgbClr val="7A8FA6"/>
                </a:solidFill>
                <a:latin typeface="Calibri" pitchFamily="34" charset="0"/>
                <a:ea typeface="Calibri" pitchFamily="34" charset="-122"/>
                <a:cs typeface="Calibri" pitchFamily="34" charset="-120"/>
              </a:rPr>
              <a:t>Two accounts, one leak test, and asking your own app a real question</a:t>
            </a:r>
            <a:endParaRPr lang="en-US" sz="750" dirty="0"/>
          </a:p>
        </p:txBody>
      </p:sp>
      <p:sp>
        <p:nvSpPr>
          <p:cNvPr id="30" name="Shape 28"/>
          <p:cNvSpPr/>
          <p:nvPr/>
        </p:nvSpPr>
        <p:spPr>
          <a:xfrm>
            <a:off x="457200" y="3255264"/>
            <a:ext cx="8229600" cy="10973"/>
          </a:xfrm>
          <a:prstGeom prst="rect">
            <a:avLst/>
          </a:prstGeom>
          <a:solidFill>
            <a:srgbClr val="D9E2E8"/>
          </a:solidFill>
          <a:ln w="12700">
            <a:solidFill>
              <a:srgbClr val="D9E2E8"/>
            </a:solidFill>
            <a:prstDash val="solid"/>
          </a:ln>
        </p:spPr>
        <p:txBody>
          <a:bodyPr/>
          <a:lstStyle/>
          <a:p>
            <a:endParaRPr lang="en-US"/>
          </a:p>
        </p:txBody>
      </p:sp>
      <p:sp>
        <p:nvSpPr>
          <p:cNvPr id="31" name="Text 29"/>
          <p:cNvSpPr/>
          <p:nvPr/>
        </p:nvSpPr>
        <p:spPr>
          <a:xfrm>
            <a:off x="457200" y="3383280"/>
            <a:ext cx="45720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WHAT YOU WALK OUT WITH TODAY</a:t>
            </a:r>
            <a:endParaRPr lang="en-US" sz="800" dirty="0"/>
          </a:p>
        </p:txBody>
      </p:sp>
      <p:sp>
        <p:nvSpPr>
          <p:cNvPr id="32" name="Text 30"/>
          <p:cNvSpPr/>
          <p:nvPr/>
        </p:nvSpPr>
        <p:spPr>
          <a:xfrm>
            <a:off x="457200" y="3621024"/>
            <a:ext cx="8229600" cy="566928"/>
          </a:xfrm>
          <a:prstGeom prst="rect">
            <a:avLst/>
          </a:prstGeom>
          <a:noFill/>
          <a:ln/>
        </p:spPr>
        <p:txBody>
          <a:bodyPr wrap="square" lIns="0" tIns="0" rIns="0" bIns="0" rtlCol="0" anchor="t"/>
          <a:lstStyle/>
          <a:p>
            <a:pPr marL="0" indent="0">
              <a:lnSpc>
                <a:spcPct val="105000"/>
              </a:lnSpc>
              <a:buNone/>
            </a:pPr>
            <a:r>
              <a:rPr lang="en-US" sz="1100" dirty="0">
                <a:solidFill>
                  <a:srgbClr val="0B1E2D"/>
                </a:solidFill>
                <a:latin typeface="Calibri" pitchFamily="34" charset="0"/>
                <a:ea typeface="Calibri" pitchFamily="34" charset="-122"/>
                <a:cs typeface="Calibri" pitchFamily="34" charset="-120"/>
              </a:rPr>
              <a:t>An app with real users, where your records are yours alone — and an AI that can answer questions about them and show you exactly which records it used.</a:t>
            </a:r>
            <a:endParaRPr lang="en-US" sz="1100" dirty="0"/>
          </a:p>
        </p:txBody>
      </p:sp>
      <p:sp>
        <p:nvSpPr>
          <p:cNvPr id="33" name="Shape 31"/>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34" name="Shape 32"/>
          <p:cNvSpPr/>
          <p:nvPr/>
        </p:nvSpPr>
        <p:spPr>
          <a:xfrm>
            <a:off x="457200" y="4334256"/>
            <a:ext cx="54864" cy="512064"/>
          </a:xfrm>
          <a:prstGeom prst="rect">
            <a:avLst/>
          </a:prstGeom>
          <a:solidFill>
            <a:srgbClr val="0077A8"/>
          </a:solidFill>
          <a:ln w="12700">
            <a:solidFill>
              <a:srgbClr val="0077A8"/>
            </a:solidFill>
            <a:prstDash val="solid"/>
          </a:ln>
        </p:spPr>
        <p:txBody>
          <a:bodyPr/>
          <a:lstStyle/>
          <a:p>
            <a:endParaRPr lang="en-US"/>
          </a:p>
        </p:txBody>
      </p:sp>
      <p:sp>
        <p:nvSpPr>
          <p:cNvPr id="35" name="Text 3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Yesterday was the hardest day. Today is the most interesting one.</a:t>
            </a:r>
            <a:endParaRPr lang="en-US" sz="1000" dirty="0"/>
          </a:p>
        </p:txBody>
      </p:sp>
    </p:spTree>
    <p:extLst>
      <p:ext uri="{BB962C8B-B14F-4D97-AF65-F5344CB8AC3E}">
        <p14:creationId xmlns:p14="http://schemas.microsoft.com/office/powerpoint/2010/main" val="3064564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A8"/>
          </a:solidFill>
          <a:ln w="12700">
            <a:solidFill>
              <a:srgbClr val="0077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Two Things Are Still Missing</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Text 4"/>
          <p:cNvSpPr/>
          <p:nvPr/>
        </p:nvSpPr>
        <p:spPr>
          <a:xfrm>
            <a:off x="457200" y="969264"/>
            <a:ext cx="45720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WHAT YOU HAVE</a:t>
            </a:r>
            <a:endParaRPr lang="en-US" sz="800" dirty="0"/>
          </a:p>
        </p:txBody>
      </p:sp>
      <p:sp>
        <p:nvSpPr>
          <p:cNvPr id="7" name="Shape 5"/>
          <p:cNvSpPr/>
          <p:nvPr/>
        </p:nvSpPr>
        <p:spPr>
          <a:xfrm>
            <a:off x="457200" y="1188720"/>
            <a:ext cx="4023360" cy="310896"/>
          </a:xfrm>
          <a:prstGeom prst="rect">
            <a:avLst/>
          </a:prstGeom>
          <a:solidFill>
            <a:srgbClr val="EFF6FA"/>
          </a:solidFill>
          <a:ln w="6350">
            <a:solidFill>
              <a:srgbClr val="DCE5EB"/>
            </a:solidFill>
            <a:prstDash val="solid"/>
          </a:ln>
        </p:spPr>
        <p:txBody>
          <a:bodyPr/>
          <a:lstStyle/>
          <a:p>
            <a:endParaRPr lang="en-US"/>
          </a:p>
        </p:txBody>
      </p:sp>
      <p:sp>
        <p:nvSpPr>
          <p:cNvPr id="8" name="Text 6"/>
          <p:cNvSpPr/>
          <p:nvPr/>
        </p:nvSpPr>
        <p:spPr>
          <a:xfrm>
            <a:off x="566928" y="1188720"/>
            <a:ext cx="237744" cy="310896"/>
          </a:xfrm>
          <a:prstGeom prst="rect">
            <a:avLst/>
          </a:prstGeom>
          <a:noFill/>
          <a:ln/>
        </p:spPr>
        <p:txBody>
          <a:bodyPr wrap="square" lIns="0" tIns="0" rIns="0" bIns="0" rtlCol="0" anchor="ctr"/>
          <a:lstStyle/>
          <a:p>
            <a:pPr marL="0" indent="0">
              <a:buNone/>
            </a:pPr>
            <a:r>
              <a:rPr lang="en-US" sz="1000" b="1" dirty="0">
                <a:solidFill>
                  <a:srgbClr val="004260"/>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841248" y="1188720"/>
            <a:ext cx="1572768" cy="310896"/>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A real server</a:t>
            </a:r>
            <a:endParaRPr lang="en-US" sz="900" dirty="0"/>
          </a:p>
        </p:txBody>
      </p:sp>
      <p:sp>
        <p:nvSpPr>
          <p:cNvPr id="10" name="Text 8"/>
          <p:cNvSpPr/>
          <p:nvPr/>
        </p:nvSpPr>
        <p:spPr>
          <a:xfrm>
            <a:off x="2432304" y="1188720"/>
            <a:ext cx="1956816" cy="310896"/>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with your key safely behind it</a:t>
            </a:r>
            <a:endParaRPr lang="en-US" sz="750" dirty="0"/>
          </a:p>
        </p:txBody>
      </p:sp>
      <p:sp>
        <p:nvSpPr>
          <p:cNvPr id="11" name="Shape 9"/>
          <p:cNvSpPr/>
          <p:nvPr/>
        </p:nvSpPr>
        <p:spPr>
          <a:xfrm>
            <a:off x="457200" y="1554480"/>
            <a:ext cx="4023360" cy="310896"/>
          </a:xfrm>
          <a:prstGeom prst="rect">
            <a:avLst/>
          </a:prstGeom>
          <a:solidFill>
            <a:srgbClr val="FFFFFF"/>
          </a:solidFill>
          <a:ln w="6350">
            <a:solidFill>
              <a:srgbClr val="DCE5EB"/>
            </a:solidFill>
            <a:prstDash val="solid"/>
          </a:ln>
        </p:spPr>
        <p:txBody>
          <a:bodyPr/>
          <a:lstStyle/>
          <a:p>
            <a:endParaRPr lang="en-US"/>
          </a:p>
        </p:txBody>
      </p:sp>
      <p:sp>
        <p:nvSpPr>
          <p:cNvPr id="12" name="Text 10"/>
          <p:cNvSpPr/>
          <p:nvPr/>
        </p:nvSpPr>
        <p:spPr>
          <a:xfrm>
            <a:off x="566928" y="1554480"/>
            <a:ext cx="237744" cy="310896"/>
          </a:xfrm>
          <a:prstGeom prst="rect">
            <a:avLst/>
          </a:prstGeom>
          <a:noFill/>
          <a:ln/>
        </p:spPr>
        <p:txBody>
          <a:bodyPr wrap="square" lIns="0" tIns="0" rIns="0" bIns="0" rtlCol="0" anchor="ctr"/>
          <a:lstStyle/>
          <a:p>
            <a:pPr marL="0" indent="0">
              <a:buNone/>
            </a:pPr>
            <a:r>
              <a:rPr lang="en-US" sz="1000" b="1" dirty="0">
                <a:solidFill>
                  <a:srgbClr val="004260"/>
                </a:solidFill>
                <a:latin typeface="Calibri" pitchFamily="34" charset="0"/>
                <a:ea typeface="Calibri" pitchFamily="34" charset="-122"/>
                <a:cs typeface="Calibri" pitchFamily="34" charset="-120"/>
              </a:rPr>
              <a:t>✓</a:t>
            </a:r>
            <a:endParaRPr lang="en-US" sz="1000" dirty="0"/>
          </a:p>
        </p:txBody>
      </p:sp>
      <p:sp>
        <p:nvSpPr>
          <p:cNvPr id="13" name="Text 11"/>
          <p:cNvSpPr/>
          <p:nvPr/>
        </p:nvSpPr>
        <p:spPr>
          <a:xfrm>
            <a:off x="841248" y="1554480"/>
            <a:ext cx="1572768" cy="310896"/>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A real database</a:t>
            </a:r>
            <a:endParaRPr lang="en-US" sz="900" dirty="0"/>
          </a:p>
        </p:txBody>
      </p:sp>
      <p:sp>
        <p:nvSpPr>
          <p:cNvPr id="14" name="Text 12"/>
          <p:cNvSpPr/>
          <p:nvPr/>
        </p:nvSpPr>
        <p:spPr>
          <a:xfrm>
            <a:off x="2432304" y="1554480"/>
            <a:ext cx="1956816" cy="310896"/>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records that survive a refresh</a:t>
            </a:r>
            <a:endParaRPr lang="en-US" sz="750" dirty="0"/>
          </a:p>
        </p:txBody>
      </p:sp>
      <p:sp>
        <p:nvSpPr>
          <p:cNvPr id="15" name="Shape 13"/>
          <p:cNvSpPr/>
          <p:nvPr/>
        </p:nvSpPr>
        <p:spPr>
          <a:xfrm>
            <a:off x="457200" y="1920240"/>
            <a:ext cx="4023360" cy="310896"/>
          </a:xfrm>
          <a:prstGeom prst="rect">
            <a:avLst/>
          </a:prstGeom>
          <a:solidFill>
            <a:srgbClr val="EFF6FA"/>
          </a:solidFill>
          <a:ln w="6350">
            <a:solidFill>
              <a:srgbClr val="DCE5EB"/>
            </a:solidFill>
            <a:prstDash val="solid"/>
          </a:ln>
        </p:spPr>
        <p:txBody>
          <a:bodyPr/>
          <a:lstStyle/>
          <a:p>
            <a:endParaRPr lang="en-US"/>
          </a:p>
        </p:txBody>
      </p:sp>
      <p:sp>
        <p:nvSpPr>
          <p:cNvPr id="16" name="Text 14"/>
          <p:cNvSpPr/>
          <p:nvPr/>
        </p:nvSpPr>
        <p:spPr>
          <a:xfrm>
            <a:off x="566928" y="1920240"/>
            <a:ext cx="237744" cy="310896"/>
          </a:xfrm>
          <a:prstGeom prst="rect">
            <a:avLst/>
          </a:prstGeom>
          <a:noFill/>
          <a:ln/>
        </p:spPr>
        <p:txBody>
          <a:bodyPr wrap="square" lIns="0" tIns="0" rIns="0" bIns="0" rtlCol="0" anchor="ctr"/>
          <a:lstStyle/>
          <a:p>
            <a:pPr marL="0" indent="0">
              <a:buNone/>
            </a:pPr>
            <a:r>
              <a:rPr lang="en-US" sz="1000" b="1" dirty="0">
                <a:solidFill>
                  <a:srgbClr val="004260"/>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841248" y="1920240"/>
            <a:ext cx="1572768" cy="310896"/>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Validated AI output</a:t>
            </a:r>
            <a:endParaRPr lang="en-US" sz="900" dirty="0"/>
          </a:p>
        </p:txBody>
      </p:sp>
      <p:sp>
        <p:nvSpPr>
          <p:cNvPr id="18" name="Text 16"/>
          <p:cNvSpPr/>
          <p:nvPr/>
        </p:nvSpPr>
        <p:spPr>
          <a:xfrm>
            <a:off x="2432304" y="1920240"/>
            <a:ext cx="1956816" cy="310896"/>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checked before it is stored</a:t>
            </a:r>
            <a:endParaRPr lang="en-US" sz="750" dirty="0"/>
          </a:p>
        </p:txBody>
      </p:sp>
      <p:sp>
        <p:nvSpPr>
          <p:cNvPr id="19" name="Text 17"/>
          <p:cNvSpPr/>
          <p:nvPr/>
        </p:nvSpPr>
        <p:spPr>
          <a:xfrm>
            <a:off x="4681728" y="969264"/>
            <a:ext cx="36576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TODAY'S ARC</a:t>
            </a:r>
            <a:endParaRPr lang="en-US" sz="800" dirty="0"/>
          </a:p>
        </p:txBody>
      </p:sp>
      <p:sp>
        <p:nvSpPr>
          <p:cNvPr id="20" name="Shape 18"/>
          <p:cNvSpPr/>
          <p:nvPr/>
        </p:nvSpPr>
        <p:spPr>
          <a:xfrm>
            <a:off x="4681728" y="1188720"/>
            <a:ext cx="4005072" cy="365760"/>
          </a:xfrm>
          <a:prstGeom prst="rect">
            <a:avLst/>
          </a:prstGeom>
          <a:solidFill>
            <a:srgbClr val="FFFFFF"/>
          </a:solidFill>
          <a:ln w="9525">
            <a:solidFill>
              <a:srgbClr val="DCE5EB"/>
            </a:solidFill>
            <a:prstDash val="solid"/>
          </a:ln>
        </p:spPr>
        <p:txBody>
          <a:bodyPr/>
          <a:lstStyle/>
          <a:p>
            <a:endParaRPr lang="en-US"/>
          </a:p>
        </p:txBody>
      </p:sp>
      <p:sp>
        <p:nvSpPr>
          <p:cNvPr id="21" name="Shape 19"/>
          <p:cNvSpPr/>
          <p:nvPr/>
        </p:nvSpPr>
        <p:spPr>
          <a:xfrm>
            <a:off x="4681728" y="1188720"/>
            <a:ext cx="54864" cy="365760"/>
          </a:xfrm>
          <a:prstGeom prst="rect">
            <a:avLst/>
          </a:prstGeom>
          <a:solidFill>
            <a:srgbClr val="0077A8"/>
          </a:solidFill>
          <a:ln w="12700">
            <a:solidFill>
              <a:srgbClr val="0077A8"/>
            </a:solidFill>
            <a:prstDash val="solid"/>
          </a:ln>
        </p:spPr>
        <p:txBody>
          <a:bodyPr/>
          <a:lstStyle/>
          <a:p>
            <a:endParaRPr lang="en-US"/>
          </a:p>
        </p:txBody>
      </p:sp>
      <p:sp>
        <p:nvSpPr>
          <p:cNvPr id="22" name="Text 20"/>
          <p:cNvSpPr/>
          <p:nvPr/>
        </p:nvSpPr>
        <p:spPr>
          <a:xfrm>
            <a:off x="4882896" y="1188720"/>
            <a:ext cx="2395728" cy="365760"/>
          </a:xfrm>
          <a:prstGeom prst="rect">
            <a:avLst/>
          </a:prstGeom>
          <a:noFill/>
          <a:ln/>
        </p:spPr>
        <p:txBody>
          <a:bodyPr wrap="square" lIns="0" tIns="0" rIns="0" bIns="0" rtlCol="0" anchor="ctr"/>
          <a:lstStyle/>
          <a:p>
            <a:pPr marL="0" indent="0">
              <a:buNone/>
            </a:pPr>
            <a:r>
              <a:rPr lang="en-US" sz="850" b="1" kern="0" spc="50" dirty="0">
                <a:solidFill>
                  <a:srgbClr val="0B1E2D"/>
                </a:solidFill>
                <a:latin typeface="Calibri" pitchFamily="34" charset="0"/>
                <a:ea typeface="Calibri" pitchFamily="34" charset="-122"/>
                <a:cs typeface="Calibri" pitchFamily="34" charset="-120"/>
              </a:rPr>
              <a:t>PEOPLE CAN REGISTER</a:t>
            </a:r>
            <a:endParaRPr lang="en-US" sz="850" dirty="0"/>
          </a:p>
        </p:txBody>
      </p:sp>
      <p:sp>
        <p:nvSpPr>
          <p:cNvPr id="23" name="Text 21"/>
          <p:cNvSpPr/>
          <p:nvPr/>
        </p:nvSpPr>
        <p:spPr>
          <a:xfrm>
            <a:off x="7278624" y="1188720"/>
            <a:ext cx="1298448" cy="365760"/>
          </a:xfrm>
          <a:prstGeom prst="rect">
            <a:avLst/>
          </a:prstGeom>
          <a:noFill/>
          <a:ln/>
        </p:spPr>
        <p:txBody>
          <a:bodyPr wrap="square" lIns="0" tIns="0" rIns="0" bIns="0" rtlCol="0" anchor="ctr"/>
          <a:lstStyle/>
          <a:p>
            <a:pPr marL="0" indent="0" algn="r">
              <a:buNone/>
            </a:pPr>
            <a:r>
              <a:rPr lang="en-US" sz="700" dirty="0">
                <a:solidFill>
                  <a:srgbClr val="7A8FA6"/>
                </a:solidFill>
                <a:latin typeface="Calibri" pitchFamily="34" charset="0"/>
                <a:ea typeface="Calibri" pitchFamily="34" charset="-122"/>
                <a:cs typeface="Calibri" pitchFamily="34" charset="-120"/>
              </a:rPr>
              <a:t>and prove who they are</a:t>
            </a:r>
            <a:endParaRPr lang="en-US" sz="700" dirty="0"/>
          </a:p>
        </p:txBody>
      </p:sp>
      <p:sp>
        <p:nvSpPr>
          <p:cNvPr id="24" name="Shape 22"/>
          <p:cNvSpPr/>
          <p:nvPr/>
        </p:nvSpPr>
        <p:spPr>
          <a:xfrm>
            <a:off x="4681728" y="1609344"/>
            <a:ext cx="4005072" cy="365760"/>
          </a:xfrm>
          <a:prstGeom prst="rect">
            <a:avLst/>
          </a:prstGeom>
          <a:solidFill>
            <a:srgbClr val="FFFFFF"/>
          </a:solidFill>
          <a:ln w="9525">
            <a:solidFill>
              <a:srgbClr val="DCE5EB"/>
            </a:solidFill>
            <a:prstDash val="solid"/>
          </a:ln>
        </p:spPr>
        <p:txBody>
          <a:bodyPr/>
          <a:lstStyle/>
          <a:p>
            <a:endParaRPr lang="en-US"/>
          </a:p>
        </p:txBody>
      </p:sp>
      <p:sp>
        <p:nvSpPr>
          <p:cNvPr id="25" name="Shape 23"/>
          <p:cNvSpPr/>
          <p:nvPr/>
        </p:nvSpPr>
        <p:spPr>
          <a:xfrm>
            <a:off x="4681728" y="1609344"/>
            <a:ext cx="54864" cy="365760"/>
          </a:xfrm>
          <a:prstGeom prst="rect">
            <a:avLst/>
          </a:prstGeom>
          <a:solidFill>
            <a:srgbClr val="00658F"/>
          </a:solidFill>
          <a:ln w="12700">
            <a:solidFill>
              <a:srgbClr val="00658F"/>
            </a:solidFill>
            <a:prstDash val="solid"/>
          </a:ln>
        </p:spPr>
        <p:txBody>
          <a:bodyPr/>
          <a:lstStyle/>
          <a:p>
            <a:endParaRPr lang="en-US"/>
          </a:p>
        </p:txBody>
      </p:sp>
      <p:sp>
        <p:nvSpPr>
          <p:cNvPr id="26" name="Text 24"/>
          <p:cNvSpPr/>
          <p:nvPr/>
        </p:nvSpPr>
        <p:spPr>
          <a:xfrm>
            <a:off x="4882896" y="1609344"/>
            <a:ext cx="2395728" cy="365760"/>
          </a:xfrm>
          <a:prstGeom prst="rect">
            <a:avLst/>
          </a:prstGeom>
          <a:noFill/>
          <a:ln/>
        </p:spPr>
        <p:txBody>
          <a:bodyPr wrap="square" lIns="0" tIns="0" rIns="0" bIns="0" rtlCol="0" anchor="ctr"/>
          <a:lstStyle/>
          <a:p>
            <a:pPr marL="0" indent="0">
              <a:buNone/>
            </a:pPr>
            <a:r>
              <a:rPr lang="en-US" sz="850" b="1" kern="0" spc="50" dirty="0">
                <a:solidFill>
                  <a:srgbClr val="0B1E2D"/>
                </a:solidFill>
                <a:latin typeface="Calibri" pitchFamily="34" charset="0"/>
                <a:ea typeface="Calibri" pitchFamily="34" charset="-122"/>
                <a:cs typeface="Calibri" pitchFamily="34" charset="-120"/>
              </a:rPr>
              <a:t>RECORDS BELONG TO THEM</a:t>
            </a:r>
            <a:endParaRPr lang="en-US" sz="850" dirty="0"/>
          </a:p>
        </p:txBody>
      </p:sp>
      <p:sp>
        <p:nvSpPr>
          <p:cNvPr id="27" name="Text 25"/>
          <p:cNvSpPr/>
          <p:nvPr/>
        </p:nvSpPr>
        <p:spPr>
          <a:xfrm>
            <a:off x="7278624" y="1609344"/>
            <a:ext cx="1298448" cy="365760"/>
          </a:xfrm>
          <a:prstGeom prst="rect">
            <a:avLst/>
          </a:prstGeom>
          <a:noFill/>
          <a:ln/>
        </p:spPr>
        <p:txBody>
          <a:bodyPr wrap="square" lIns="0" tIns="0" rIns="0" bIns="0" rtlCol="0" anchor="ctr"/>
          <a:lstStyle/>
          <a:p>
            <a:pPr marL="0" indent="0" algn="r">
              <a:buNone/>
            </a:pPr>
            <a:r>
              <a:rPr lang="en-US" sz="700" dirty="0">
                <a:solidFill>
                  <a:srgbClr val="7A8FA6"/>
                </a:solidFill>
                <a:latin typeface="Calibri" pitchFamily="34" charset="0"/>
                <a:ea typeface="Calibri" pitchFamily="34" charset="-122"/>
                <a:cs typeface="Calibri" pitchFamily="34" charset="-120"/>
              </a:rPr>
              <a:t>scoped on every query</a:t>
            </a:r>
            <a:endParaRPr lang="en-US" sz="700" dirty="0"/>
          </a:p>
        </p:txBody>
      </p:sp>
      <p:sp>
        <p:nvSpPr>
          <p:cNvPr id="28" name="Shape 26"/>
          <p:cNvSpPr/>
          <p:nvPr/>
        </p:nvSpPr>
        <p:spPr>
          <a:xfrm>
            <a:off x="4681728" y="2029968"/>
            <a:ext cx="4005072" cy="365760"/>
          </a:xfrm>
          <a:prstGeom prst="rect">
            <a:avLst/>
          </a:prstGeom>
          <a:solidFill>
            <a:srgbClr val="FFFFFF"/>
          </a:solidFill>
          <a:ln w="9525">
            <a:solidFill>
              <a:srgbClr val="DCE5EB"/>
            </a:solidFill>
            <a:prstDash val="solid"/>
          </a:ln>
        </p:spPr>
        <p:txBody>
          <a:bodyPr/>
          <a:lstStyle/>
          <a:p>
            <a:endParaRPr lang="en-US"/>
          </a:p>
        </p:txBody>
      </p:sp>
      <p:sp>
        <p:nvSpPr>
          <p:cNvPr id="29" name="Shape 27"/>
          <p:cNvSpPr/>
          <p:nvPr/>
        </p:nvSpPr>
        <p:spPr>
          <a:xfrm>
            <a:off x="4681728" y="2029968"/>
            <a:ext cx="54864" cy="365760"/>
          </a:xfrm>
          <a:prstGeom prst="rect">
            <a:avLst/>
          </a:prstGeom>
          <a:solidFill>
            <a:srgbClr val="005478"/>
          </a:solidFill>
          <a:ln w="12700">
            <a:solidFill>
              <a:srgbClr val="005478"/>
            </a:solidFill>
            <a:prstDash val="solid"/>
          </a:ln>
        </p:spPr>
        <p:txBody>
          <a:bodyPr/>
          <a:lstStyle/>
          <a:p>
            <a:endParaRPr lang="en-US"/>
          </a:p>
        </p:txBody>
      </p:sp>
      <p:sp>
        <p:nvSpPr>
          <p:cNvPr id="30" name="Text 28"/>
          <p:cNvSpPr/>
          <p:nvPr/>
        </p:nvSpPr>
        <p:spPr>
          <a:xfrm>
            <a:off x="4882896" y="2029968"/>
            <a:ext cx="2395728" cy="365760"/>
          </a:xfrm>
          <a:prstGeom prst="rect">
            <a:avLst/>
          </a:prstGeom>
          <a:noFill/>
          <a:ln/>
        </p:spPr>
        <p:txBody>
          <a:bodyPr wrap="square" lIns="0" tIns="0" rIns="0" bIns="0" rtlCol="0" anchor="ctr"/>
          <a:lstStyle/>
          <a:p>
            <a:pPr marL="0" indent="0">
              <a:buNone/>
            </a:pPr>
            <a:r>
              <a:rPr lang="en-US" sz="850" b="1" kern="0" spc="50" dirty="0">
                <a:solidFill>
                  <a:srgbClr val="0B1E2D"/>
                </a:solidFill>
                <a:latin typeface="Calibri" pitchFamily="34" charset="0"/>
                <a:ea typeface="Calibri" pitchFamily="34" charset="-122"/>
                <a:cs typeface="Calibri" pitchFamily="34" charset="-120"/>
              </a:rPr>
              <a:t>THE MODEL READS YOURS</a:t>
            </a:r>
            <a:endParaRPr lang="en-US" sz="850" dirty="0"/>
          </a:p>
        </p:txBody>
      </p:sp>
      <p:sp>
        <p:nvSpPr>
          <p:cNvPr id="31" name="Text 29"/>
          <p:cNvSpPr/>
          <p:nvPr/>
        </p:nvSpPr>
        <p:spPr>
          <a:xfrm>
            <a:off x="7278624" y="2029968"/>
            <a:ext cx="1298448" cy="365760"/>
          </a:xfrm>
          <a:prstGeom prst="rect">
            <a:avLst/>
          </a:prstGeom>
          <a:noFill/>
          <a:ln/>
        </p:spPr>
        <p:txBody>
          <a:bodyPr wrap="square" lIns="0" tIns="0" rIns="0" bIns="0" rtlCol="0" anchor="ctr"/>
          <a:lstStyle/>
          <a:p>
            <a:pPr marL="0" indent="0" algn="r">
              <a:buNone/>
            </a:pPr>
            <a:r>
              <a:rPr lang="en-US" sz="700" dirty="0">
                <a:solidFill>
                  <a:srgbClr val="7A8FA6"/>
                </a:solidFill>
                <a:latin typeface="Calibri" pitchFamily="34" charset="0"/>
                <a:ea typeface="Calibri" pitchFamily="34" charset="-122"/>
                <a:cs typeface="Calibri" pitchFamily="34" charset="-120"/>
              </a:rPr>
              <a:t>retrieved, not trained</a:t>
            </a:r>
            <a:endParaRPr lang="en-US" sz="700" dirty="0"/>
          </a:p>
        </p:txBody>
      </p:sp>
      <p:sp>
        <p:nvSpPr>
          <p:cNvPr id="32" name="Shape 30"/>
          <p:cNvSpPr/>
          <p:nvPr/>
        </p:nvSpPr>
        <p:spPr>
          <a:xfrm>
            <a:off x="4681728" y="2450592"/>
            <a:ext cx="4005072" cy="365760"/>
          </a:xfrm>
          <a:prstGeom prst="rect">
            <a:avLst/>
          </a:prstGeom>
          <a:solidFill>
            <a:srgbClr val="FFFFFF"/>
          </a:solidFill>
          <a:ln w="9525">
            <a:solidFill>
              <a:srgbClr val="DCE5EB"/>
            </a:solidFill>
            <a:prstDash val="solid"/>
          </a:ln>
        </p:spPr>
        <p:txBody>
          <a:bodyPr/>
          <a:lstStyle/>
          <a:p>
            <a:endParaRPr lang="en-US"/>
          </a:p>
        </p:txBody>
      </p:sp>
      <p:sp>
        <p:nvSpPr>
          <p:cNvPr id="33" name="Shape 31"/>
          <p:cNvSpPr/>
          <p:nvPr/>
        </p:nvSpPr>
        <p:spPr>
          <a:xfrm>
            <a:off x="4681728" y="2450592"/>
            <a:ext cx="54864" cy="365760"/>
          </a:xfrm>
          <a:prstGeom prst="rect">
            <a:avLst/>
          </a:prstGeom>
          <a:solidFill>
            <a:srgbClr val="0077A8"/>
          </a:solidFill>
          <a:ln w="12700">
            <a:solidFill>
              <a:srgbClr val="0077A8"/>
            </a:solidFill>
            <a:prstDash val="solid"/>
          </a:ln>
        </p:spPr>
        <p:txBody>
          <a:bodyPr/>
          <a:lstStyle/>
          <a:p>
            <a:endParaRPr lang="en-US"/>
          </a:p>
        </p:txBody>
      </p:sp>
      <p:sp>
        <p:nvSpPr>
          <p:cNvPr id="34" name="Text 32"/>
          <p:cNvSpPr/>
          <p:nvPr/>
        </p:nvSpPr>
        <p:spPr>
          <a:xfrm>
            <a:off x="4882896" y="2450592"/>
            <a:ext cx="2395728" cy="365760"/>
          </a:xfrm>
          <a:prstGeom prst="rect">
            <a:avLst/>
          </a:prstGeom>
          <a:noFill/>
          <a:ln/>
        </p:spPr>
        <p:txBody>
          <a:bodyPr wrap="square" lIns="0" tIns="0" rIns="0" bIns="0" rtlCol="0" anchor="ctr"/>
          <a:lstStyle/>
          <a:p>
            <a:pPr marL="0" indent="0">
              <a:buNone/>
            </a:pPr>
            <a:r>
              <a:rPr lang="en-US" sz="850" b="1" kern="0" spc="50" dirty="0">
                <a:solidFill>
                  <a:srgbClr val="0B1E2D"/>
                </a:solidFill>
                <a:latin typeface="Calibri" pitchFamily="34" charset="0"/>
                <a:ea typeface="Calibri" pitchFamily="34" charset="-122"/>
                <a:cs typeface="Calibri" pitchFamily="34" charset="-120"/>
              </a:rPr>
              <a:t>AND SHOWS ITS SOURCES</a:t>
            </a:r>
            <a:endParaRPr lang="en-US" sz="850" dirty="0"/>
          </a:p>
        </p:txBody>
      </p:sp>
      <p:sp>
        <p:nvSpPr>
          <p:cNvPr id="35" name="Text 33"/>
          <p:cNvSpPr/>
          <p:nvPr/>
        </p:nvSpPr>
        <p:spPr>
          <a:xfrm>
            <a:off x="7278624" y="2450592"/>
            <a:ext cx="1298448" cy="365760"/>
          </a:xfrm>
          <a:prstGeom prst="rect">
            <a:avLst/>
          </a:prstGeom>
          <a:noFill/>
          <a:ln/>
        </p:spPr>
        <p:txBody>
          <a:bodyPr wrap="square" lIns="0" tIns="0" rIns="0" bIns="0" rtlCol="0" anchor="ctr"/>
          <a:lstStyle/>
          <a:p>
            <a:pPr marL="0" indent="0" algn="r">
              <a:buNone/>
            </a:pPr>
            <a:r>
              <a:rPr lang="en-US" sz="700" dirty="0">
                <a:solidFill>
                  <a:srgbClr val="7A8FA6"/>
                </a:solidFill>
                <a:latin typeface="Calibri" pitchFamily="34" charset="0"/>
                <a:ea typeface="Calibri" pitchFamily="34" charset="-122"/>
                <a:cs typeface="Calibri" pitchFamily="34" charset="-120"/>
              </a:rPr>
              <a:t>so you can check it</a:t>
            </a:r>
            <a:endParaRPr lang="en-US" sz="700" dirty="0"/>
          </a:p>
        </p:txBody>
      </p:sp>
      <p:sp>
        <p:nvSpPr>
          <p:cNvPr id="36" name="Shape 34"/>
          <p:cNvSpPr/>
          <p:nvPr/>
        </p:nvSpPr>
        <p:spPr>
          <a:xfrm>
            <a:off x="457200" y="2926080"/>
            <a:ext cx="4005072" cy="786384"/>
          </a:xfrm>
          <a:prstGeom prst="rect">
            <a:avLst/>
          </a:prstGeom>
          <a:solidFill>
            <a:srgbClr val="FDEAEA"/>
          </a:solidFill>
          <a:ln w="12700">
            <a:solidFill>
              <a:srgbClr val="FDEAEA"/>
            </a:solidFill>
            <a:prstDash val="solid"/>
          </a:ln>
        </p:spPr>
        <p:txBody>
          <a:bodyPr/>
          <a:lstStyle/>
          <a:p>
            <a:endParaRPr lang="en-US"/>
          </a:p>
        </p:txBody>
      </p:sp>
      <p:sp>
        <p:nvSpPr>
          <p:cNvPr id="37" name="Shape 35"/>
          <p:cNvSpPr/>
          <p:nvPr/>
        </p:nvSpPr>
        <p:spPr>
          <a:xfrm>
            <a:off x="457200" y="2926080"/>
            <a:ext cx="54864" cy="786384"/>
          </a:xfrm>
          <a:prstGeom prst="rect">
            <a:avLst/>
          </a:prstGeom>
          <a:solidFill>
            <a:srgbClr val="B83232"/>
          </a:solidFill>
          <a:ln w="12700">
            <a:solidFill>
              <a:srgbClr val="B83232"/>
            </a:solidFill>
            <a:prstDash val="solid"/>
          </a:ln>
        </p:spPr>
        <p:txBody>
          <a:bodyPr/>
          <a:lstStyle/>
          <a:p>
            <a:endParaRPr lang="en-US"/>
          </a:p>
        </p:txBody>
      </p:sp>
      <p:sp>
        <p:nvSpPr>
          <p:cNvPr id="38" name="Text 36"/>
          <p:cNvSpPr/>
          <p:nvPr/>
        </p:nvSpPr>
        <p:spPr>
          <a:xfrm>
            <a:off x="640080" y="2999232"/>
            <a:ext cx="365760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THERE IS NO "YOU" IN YOUR APP</a:t>
            </a:r>
            <a:endParaRPr lang="en-US" sz="750" dirty="0"/>
          </a:p>
        </p:txBody>
      </p:sp>
      <p:sp>
        <p:nvSpPr>
          <p:cNvPr id="39" name="Text 37"/>
          <p:cNvSpPr/>
          <p:nvPr/>
        </p:nvSpPr>
        <p:spPr>
          <a:xfrm>
            <a:off x="640080" y="3200400"/>
            <a:ext cx="3675888" cy="457200"/>
          </a:xfrm>
          <a:prstGeom prst="rect">
            <a:avLst/>
          </a:prstGeom>
          <a:noFill/>
          <a:ln/>
        </p:spPr>
        <p:txBody>
          <a:bodyPr wrap="square" lIns="0" tIns="0" rIns="0" bIns="0" rtlCol="0" anchor="t"/>
          <a:lstStyle/>
          <a:p>
            <a:pPr marL="0" indent="0">
              <a:lnSpc>
                <a:spcPct val="105000"/>
              </a:lnSpc>
              <a:buNone/>
            </a:pPr>
            <a:r>
              <a:rPr lang="en-US" sz="850" dirty="0">
                <a:solidFill>
                  <a:srgbClr val="B83232"/>
                </a:solidFill>
                <a:latin typeface="Calibri" pitchFamily="34" charset="0"/>
                <a:ea typeface="Calibri" pitchFamily="34" charset="-122"/>
                <a:cs typeface="Calibri" pitchFamily="34" charset="-120"/>
              </a:rPr>
              <a:t>Hit GET /api/records with no headers at all, right now. It hands you everything, to anybody.</a:t>
            </a:r>
            <a:endParaRPr lang="en-US" sz="850" dirty="0"/>
          </a:p>
        </p:txBody>
      </p:sp>
      <p:sp>
        <p:nvSpPr>
          <p:cNvPr id="40" name="Shape 38"/>
          <p:cNvSpPr/>
          <p:nvPr/>
        </p:nvSpPr>
        <p:spPr>
          <a:xfrm>
            <a:off x="4681728" y="2926080"/>
            <a:ext cx="4005072" cy="786384"/>
          </a:xfrm>
          <a:prstGeom prst="rect">
            <a:avLst/>
          </a:prstGeom>
          <a:solidFill>
            <a:srgbClr val="FDEAEA"/>
          </a:solidFill>
          <a:ln w="12700">
            <a:solidFill>
              <a:srgbClr val="FDEAEA"/>
            </a:solidFill>
            <a:prstDash val="solid"/>
          </a:ln>
        </p:spPr>
        <p:txBody>
          <a:bodyPr/>
          <a:lstStyle/>
          <a:p>
            <a:endParaRPr lang="en-US"/>
          </a:p>
        </p:txBody>
      </p:sp>
      <p:sp>
        <p:nvSpPr>
          <p:cNvPr id="41" name="Shape 39"/>
          <p:cNvSpPr/>
          <p:nvPr/>
        </p:nvSpPr>
        <p:spPr>
          <a:xfrm>
            <a:off x="4681728" y="2926080"/>
            <a:ext cx="54864" cy="786384"/>
          </a:xfrm>
          <a:prstGeom prst="rect">
            <a:avLst/>
          </a:prstGeom>
          <a:solidFill>
            <a:srgbClr val="B83232"/>
          </a:solidFill>
          <a:ln w="12700">
            <a:solidFill>
              <a:srgbClr val="B83232"/>
            </a:solidFill>
            <a:prstDash val="solid"/>
          </a:ln>
        </p:spPr>
        <p:txBody>
          <a:bodyPr/>
          <a:lstStyle/>
          <a:p>
            <a:endParaRPr lang="en-US"/>
          </a:p>
        </p:txBody>
      </p:sp>
      <p:sp>
        <p:nvSpPr>
          <p:cNvPr id="42" name="Text 40"/>
          <p:cNvSpPr/>
          <p:nvPr/>
        </p:nvSpPr>
        <p:spPr>
          <a:xfrm>
            <a:off x="4864608" y="2999232"/>
            <a:ext cx="365760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THE MODEL HAS READ NOTHING OF YOURS</a:t>
            </a:r>
            <a:endParaRPr lang="en-US" sz="750" dirty="0"/>
          </a:p>
        </p:txBody>
      </p:sp>
      <p:sp>
        <p:nvSpPr>
          <p:cNvPr id="43" name="Text 41"/>
          <p:cNvSpPr/>
          <p:nvPr/>
        </p:nvSpPr>
        <p:spPr>
          <a:xfrm>
            <a:off x="4864608" y="3200400"/>
            <a:ext cx="3675888" cy="457200"/>
          </a:xfrm>
          <a:prstGeom prst="rect">
            <a:avLst/>
          </a:prstGeom>
          <a:noFill/>
          <a:ln/>
        </p:spPr>
        <p:txBody>
          <a:bodyPr wrap="square" lIns="0" tIns="0" rIns="0" bIns="0" rtlCol="0" anchor="t"/>
          <a:lstStyle/>
          <a:p>
            <a:pPr marL="0" indent="0">
              <a:lnSpc>
                <a:spcPct val="105000"/>
              </a:lnSpc>
              <a:buNone/>
            </a:pPr>
            <a:r>
              <a:rPr lang="en-US" sz="850" dirty="0">
                <a:solidFill>
                  <a:srgbClr val="B83232"/>
                </a:solidFill>
                <a:latin typeface="Calibri" pitchFamily="34" charset="0"/>
                <a:ea typeface="Calibri" pitchFamily="34" charset="-122"/>
                <a:cs typeface="Calibri" pitchFamily="34" charset="-120"/>
              </a:rPr>
              <a:t>Every summary it wrote came only from the text you pasted into that one request. It has no memory of you.</a:t>
            </a:r>
            <a:endParaRPr lang="en-US" sz="850" dirty="0"/>
          </a:p>
        </p:txBody>
      </p:sp>
      <p:sp>
        <p:nvSpPr>
          <p:cNvPr id="44" name="Text 42"/>
          <p:cNvSpPr/>
          <p:nvPr/>
        </p:nvSpPr>
        <p:spPr>
          <a:xfrm>
            <a:off x="457200" y="3822192"/>
            <a:ext cx="8229600" cy="365760"/>
          </a:xfrm>
          <a:prstGeom prst="rect">
            <a:avLst/>
          </a:prstGeom>
          <a:noFill/>
          <a:ln/>
        </p:spPr>
        <p:txBody>
          <a:bodyPr wrap="square" lIns="0" tIns="0" rIns="0" bIns="0" rtlCol="0" anchor="t"/>
          <a:lstStyle/>
          <a:p>
            <a:pPr marL="0" indent="0">
              <a:lnSpc>
                <a:spcPct val="105000"/>
              </a:lnSpc>
              <a:buNone/>
            </a:pPr>
            <a:r>
              <a:rPr lang="en-US" sz="1000" dirty="0">
                <a:solidFill>
                  <a:srgbClr val="0B1E2D"/>
                </a:solidFill>
                <a:latin typeface="Calibri" pitchFamily="34" charset="0"/>
                <a:ea typeface="Calibri" pitchFamily="34" charset="-122"/>
                <a:cs typeface="Calibri" pitchFamily="34" charset="-120"/>
              </a:rPr>
              <a:t>One is a security problem. The other is the reason people think AI is less useful than it is. Both get solved today.</a:t>
            </a:r>
            <a:endParaRPr lang="en-US" sz="1000" dirty="0"/>
          </a:p>
        </p:txBody>
      </p:sp>
      <p:sp>
        <p:nvSpPr>
          <p:cNvPr id="45" name="Shape 43"/>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46" name="Shape 44"/>
          <p:cNvSpPr/>
          <p:nvPr/>
        </p:nvSpPr>
        <p:spPr>
          <a:xfrm>
            <a:off x="457200" y="4334256"/>
            <a:ext cx="54864" cy="512064"/>
          </a:xfrm>
          <a:prstGeom prst="rect">
            <a:avLst/>
          </a:prstGeom>
          <a:solidFill>
            <a:srgbClr val="0077A8"/>
          </a:solidFill>
          <a:ln w="12700">
            <a:solidFill>
              <a:srgbClr val="0077A8"/>
            </a:solidFill>
            <a:prstDash val="solid"/>
          </a:ln>
        </p:spPr>
        <p:txBody>
          <a:bodyPr/>
          <a:lstStyle/>
          <a:p>
            <a:endParaRPr lang="en-US"/>
          </a:p>
        </p:txBody>
      </p:sp>
      <p:sp>
        <p:nvSpPr>
          <p:cNvPr id="47" name="Text 45"/>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By this afternoon your app knows two things it does not know now: who is asking, and what they have written.</a:t>
            </a:r>
            <a:endParaRPr lang="en-US" sz="1000" dirty="0"/>
          </a:p>
        </p:txBody>
      </p:sp>
    </p:spTree>
    <p:extLst>
      <p:ext uri="{BB962C8B-B14F-4D97-AF65-F5344CB8AC3E}">
        <p14:creationId xmlns:p14="http://schemas.microsoft.com/office/powerpoint/2010/main" val="150236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A8"/>
          </a:solidFill>
          <a:ln w="12700">
            <a:solidFill>
              <a:srgbClr val="0077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Auth Answers Three Questions, Separately</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1005840"/>
            <a:ext cx="8229600" cy="585216"/>
          </a:xfrm>
          <a:prstGeom prst="rect">
            <a:avLst/>
          </a:prstGeom>
          <a:solidFill>
            <a:srgbClr val="FFFFFF"/>
          </a:solidFill>
          <a:ln w="9525">
            <a:solidFill>
              <a:srgbClr val="DCE5EB"/>
            </a:solidFill>
            <a:prstDash val="solid"/>
          </a:ln>
        </p:spPr>
        <p:txBody>
          <a:bodyPr/>
          <a:lstStyle/>
          <a:p>
            <a:endParaRPr lang="en-US"/>
          </a:p>
        </p:txBody>
      </p:sp>
      <p:sp>
        <p:nvSpPr>
          <p:cNvPr id="7" name="Shape 5"/>
          <p:cNvSpPr/>
          <p:nvPr/>
        </p:nvSpPr>
        <p:spPr>
          <a:xfrm>
            <a:off x="457200" y="1005840"/>
            <a:ext cx="54864" cy="585216"/>
          </a:xfrm>
          <a:prstGeom prst="rect">
            <a:avLst/>
          </a:prstGeom>
          <a:solidFill>
            <a:srgbClr val="0077A8"/>
          </a:solidFill>
          <a:ln w="12700">
            <a:solidFill>
              <a:srgbClr val="0077A8"/>
            </a:solidFill>
            <a:prstDash val="solid"/>
          </a:ln>
        </p:spPr>
        <p:txBody>
          <a:bodyPr/>
          <a:lstStyle/>
          <a:p>
            <a:endParaRPr lang="en-US"/>
          </a:p>
        </p:txBody>
      </p:sp>
      <p:sp>
        <p:nvSpPr>
          <p:cNvPr id="8" name="Shape 6"/>
          <p:cNvSpPr/>
          <p:nvPr/>
        </p:nvSpPr>
        <p:spPr>
          <a:xfrm>
            <a:off x="640080" y="1152144"/>
            <a:ext cx="292608" cy="292608"/>
          </a:xfrm>
          <a:prstGeom prst="rect">
            <a:avLst/>
          </a:prstGeom>
          <a:solidFill>
            <a:srgbClr val="0077A8"/>
          </a:solidFill>
          <a:ln w="12700">
            <a:solidFill>
              <a:srgbClr val="0077A8"/>
            </a:solidFill>
            <a:prstDash val="solid"/>
          </a:ln>
        </p:spPr>
        <p:txBody>
          <a:bodyPr/>
          <a:lstStyle/>
          <a:p>
            <a:endParaRPr lang="en-US"/>
          </a:p>
        </p:txBody>
      </p:sp>
      <p:sp>
        <p:nvSpPr>
          <p:cNvPr id="9" name="Text 7"/>
          <p:cNvSpPr/>
          <p:nvPr/>
        </p:nvSpPr>
        <p:spPr>
          <a:xfrm>
            <a:off x="640080" y="1152144"/>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1042416" y="1005840"/>
            <a:ext cx="1737360" cy="585216"/>
          </a:xfrm>
          <a:prstGeom prst="rect">
            <a:avLst/>
          </a:prstGeom>
          <a:noFill/>
          <a:ln/>
        </p:spPr>
        <p:txBody>
          <a:bodyPr wrap="square" lIns="0" tIns="0" rIns="0" bIns="0" rtlCol="0" anchor="ctr"/>
          <a:lstStyle/>
          <a:p>
            <a:pPr marL="0" indent="0">
              <a:buNone/>
            </a:pPr>
            <a:r>
              <a:rPr lang="en-US" sz="1000" b="1" dirty="0">
                <a:solidFill>
                  <a:srgbClr val="0077A8"/>
                </a:solidFill>
                <a:latin typeface="Calibri" pitchFamily="34" charset="0"/>
                <a:ea typeface="Calibri" pitchFamily="34" charset="-122"/>
                <a:cs typeface="Calibri" pitchFamily="34" charset="-120"/>
              </a:rPr>
              <a:t>WHO ARE YOU?</a:t>
            </a:r>
            <a:endParaRPr lang="en-US" sz="1000" dirty="0"/>
          </a:p>
        </p:txBody>
      </p:sp>
      <p:sp>
        <p:nvSpPr>
          <p:cNvPr id="11" name="Text 9"/>
          <p:cNvSpPr/>
          <p:nvPr/>
        </p:nvSpPr>
        <p:spPr>
          <a:xfrm>
            <a:off x="2798064" y="1005840"/>
            <a:ext cx="1920240" cy="585216"/>
          </a:xfrm>
          <a:prstGeom prst="rect">
            <a:avLst/>
          </a:prstGeom>
          <a:noFill/>
          <a:ln/>
        </p:spPr>
        <p:txBody>
          <a:bodyPr wrap="square" lIns="0" tIns="0" rIns="0" bIns="0" rtlCol="0" anchor="ctr"/>
          <a:lstStyle/>
          <a:p>
            <a:pPr marL="0" indent="0">
              <a:buNone/>
            </a:pPr>
            <a:r>
              <a:rPr lang="en-US" sz="850" b="1" dirty="0">
                <a:solidFill>
                  <a:srgbClr val="0B1E2D"/>
                </a:solidFill>
                <a:latin typeface="Calibri" pitchFamily="34" charset="0"/>
                <a:ea typeface="Calibri" pitchFamily="34" charset="-122"/>
                <a:cs typeface="Calibri" pitchFamily="34" charset="-120"/>
              </a:rPr>
              <a:t>Registration and login</a:t>
            </a:r>
            <a:endParaRPr lang="en-US" sz="850" dirty="0"/>
          </a:p>
        </p:txBody>
      </p:sp>
      <p:sp>
        <p:nvSpPr>
          <p:cNvPr id="12" name="Text 10"/>
          <p:cNvSpPr/>
          <p:nvPr/>
        </p:nvSpPr>
        <p:spPr>
          <a:xfrm>
            <a:off x="4773168" y="1005840"/>
            <a:ext cx="3803904" cy="585216"/>
          </a:xfrm>
          <a:prstGeom prst="rect">
            <a:avLst/>
          </a:prstGeom>
          <a:noFill/>
          <a:ln/>
        </p:spPr>
        <p:txBody>
          <a:bodyPr wrap="square" lIns="0" tIns="0" rIns="0" bIns="0" rtlCol="0" anchor="ctr"/>
          <a:lstStyle/>
          <a:p>
            <a:pPr marL="0" indent="0">
              <a:buNone/>
            </a:pPr>
            <a:r>
              <a:rPr lang="en-US" sz="800" dirty="0">
                <a:solidFill>
                  <a:srgbClr val="7A8FA6"/>
                </a:solidFill>
                <a:latin typeface="Calibri" pitchFamily="34" charset="0"/>
                <a:ea typeface="Calibri" pitchFamily="34" charset="-122"/>
                <a:cs typeface="Calibri" pitchFamily="34" charset="-120"/>
              </a:rPr>
              <a:t>You store an identity and a way to check a claim against it</a:t>
            </a:r>
            <a:endParaRPr lang="en-US" sz="800" dirty="0"/>
          </a:p>
        </p:txBody>
      </p:sp>
      <p:sp>
        <p:nvSpPr>
          <p:cNvPr id="13" name="Shape 11"/>
          <p:cNvSpPr/>
          <p:nvPr/>
        </p:nvSpPr>
        <p:spPr>
          <a:xfrm>
            <a:off x="457200" y="1664208"/>
            <a:ext cx="8229600" cy="585216"/>
          </a:xfrm>
          <a:prstGeom prst="rect">
            <a:avLst/>
          </a:prstGeom>
          <a:solidFill>
            <a:srgbClr val="FFFFFF"/>
          </a:solidFill>
          <a:ln w="9525">
            <a:solidFill>
              <a:srgbClr val="DCE5EB"/>
            </a:solidFill>
            <a:prstDash val="solid"/>
          </a:ln>
        </p:spPr>
        <p:txBody>
          <a:bodyPr/>
          <a:lstStyle/>
          <a:p>
            <a:endParaRPr lang="en-US"/>
          </a:p>
        </p:txBody>
      </p:sp>
      <p:sp>
        <p:nvSpPr>
          <p:cNvPr id="14" name="Shape 12"/>
          <p:cNvSpPr/>
          <p:nvPr/>
        </p:nvSpPr>
        <p:spPr>
          <a:xfrm>
            <a:off x="457200" y="1664208"/>
            <a:ext cx="54864" cy="585216"/>
          </a:xfrm>
          <a:prstGeom prst="rect">
            <a:avLst/>
          </a:prstGeom>
          <a:solidFill>
            <a:srgbClr val="00658F"/>
          </a:solidFill>
          <a:ln w="12700">
            <a:solidFill>
              <a:srgbClr val="00658F"/>
            </a:solidFill>
            <a:prstDash val="solid"/>
          </a:ln>
        </p:spPr>
        <p:txBody>
          <a:bodyPr/>
          <a:lstStyle/>
          <a:p>
            <a:endParaRPr lang="en-US"/>
          </a:p>
        </p:txBody>
      </p:sp>
      <p:sp>
        <p:nvSpPr>
          <p:cNvPr id="15" name="Shape 13"/>
          <p:cNvSpPr/>
          <p:nvPr/>
        </p:nvSpPr>
        <p:spPr>
          <a:xfrm>
            <a:off x="640080" y="1810512"/>
            <a:ext cx="292608" cy="292608"/>
          </a:xfrm>
          <a:prstGeom prst="rect">
            <a:avLst/>
          </a:prstGeom>
          <a:solidFill>
            <a:srgbClr val="00658F"/>
          </a:solidFill>
          <a:ln w="12700">
            <a:solidFill>
              <a:srgbClr val="00658F"/>
            </a:solidFill>
            <a:prstDash val="solid"/>
          </a:ln>
        </p:spPr>
        <p:txBody>
          <a:bodyPr/>
          <a:lstStyle/>
          <a:p>
            <a:endParaRPr lang="en-US"/>
          </a:p>
        </p:txBody>
      </p:sp>
      <p:sp>
        <p:nvSpPr>
          <p:cNvPr id="16" name="Text 14"/>
          <p:cNvSpPr/>
          <p:nvPr/>
        </p:nvSpPr>
        <p:spPr>
          <a:xfrm>
            <a:off x="640080" y="1810512"/>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1042416" y="1664208"/>
            <a:ext cx="1737360" cy="585216"/>
          </a:xfrm>
          <a:prstGeom prst="rect">
            <a:avLst/>
          </a:prstGeom>
          <a:noFill/>
          <a:ln/>
        </p:spPr>
        <p:txBody>
          <a:bodyPr wrap="square" lIns="0" tIns="0" rIns="0" bIns="0" rtlCol="0" anchor="ctr"/>
          <a:lstStyle/>
          <a:p>
            <a:pPr marL="0" indent="0">
              <a:buNone/>
            </a:pPr>
            <a:r>
              <a:rPr lang="en-US" sz="1000" b="1" dirty="0">
                <a:solidFill>
                  <a:srgbClr val="00658F"/>
                </a:solidFill>
                <a:latin typeface="Calibri" pitchFamily="34" charset="0"/>
                <a:ea typeface="Calibri" pitchFamily="34" charset="-122"/>
                <a:cs typeface="Calibri" pitchFamily="34" charset="-120"/>
              </a:rPr>
              <a:t>PROVE IT.</a:t>
            </a:r>
            <a:endParaRPr lang="en-US" sz="1000" dirty="0"/>
          </a:p>
        </p:txBody>
      </p:sp>
      <p:sp>
        <p:nvSpPr>
          <p:cNvPr id="18" name="Text 16"/>
          <p:cNvSpPr/>
          <p:nvPr/>
        </p:nvSpPr>
        <p:spPr>
          <a:xfrm>
            <a:off x="2798064" y="1664208"/>
            <a:ext cx="1920240" cy="585216"/>
          </a:xfrm>
          <a:prstGeom prst="rect">
            <a:avLst/>
          </a:prstGeom>
          <a:noFill/>
          <a:ln/>
        </p:spPr>
        <p:txBody>
          <a:bodyPr wrap="square" lIns="0" tIns="0" rIns="0" bIns="0" rtlCol="0" anchor="ctr"/>
          <a:lstStyle/>
          <a:p>
            <a:pPr marL="0" indent="0">
              <a:buNone/>
            </a:pPr>
            <a:r>
              <a:rPr lang="en-US" sz="850" b="1" dirty="0">
                <a:solidFill>
                  <a:srgbClr val="0B1E2D"/>
                </a:solidFill>
                <a:latin typeface="Calibri" pitchFamily="34" charset="0"/>
                <a:ea typeface="Calibri" pitchFamily="34" charset="-122"/>
                <a:cs typeface="Calibri" pitchFamily="34" charset="-120"/>
              </a:rPr>
              <a:t>A token on every request</a:t>
            </a:r>
            <a:endParaRPr lang="en-US" sz="850" dirty="0"/>
          </a:p>
        </p:txBody>
      </p:sp>
      <p:sp>
        <p:nvSpPr>
          <p:cNvPr id="19" name="Text 17"/>
          <p:cNvSpPr/>
          <p:nvPr/>
        </p:nvSpPr>
        <p:spPr>
          <a:xfrm>
            <a:off x="4773168" y="1664208"/>
            <a:ext cx="3803904" cy="585216"/>
          </a:xfrm>
          <a:prstGeom prst="rect">
            <a:avLst/>
          </a:prstGeom>
          <a:noFill/>
          <a:ln/>
        </p:spPr>
        <p:txBody>
          <a:bodyPr wrap="square" lIns="0" tIns="0" rIns="0" bIns="0" rtlCol="0" anchor="ctr"/>
          <a:lstStyle/>
          <a:p>
            <a:pPr marL="0" indent="0">
              <a:buNone/>
            </a:pPr>
            <a:r>
              <a:rPr lang="en-US" sz="800" dirty="0">
                <a:solidFill>
                  <a:srgbClr val="7A8FA6"/>
                </a:solidFill>
                <a:latin typeface="Calibri" pitchFamily="34" charset="0"/>
                <a:ea typeface="Calibri" pitchFamily="34" charset="-122"/>
                <a:cs typeface="Calibri" pitchFamily="34" charset="-120"/>
              </a:rPr>
              <a:t>HTTP forgets you between requests. Something must carry the proof.</a:t>
            </a:r>
            <a:endParaRPr lang="en-US" sz="800" dirty="0"/>
          </a:p>
        </p:txBody>
      </p:sp>
      <p:sp>
        <p:nvSpPr>
          <p:cNvPr id="20" name="Shape 18"/>
          <p:cNvSpPr/>
          <p:nvPr/>
        </p:nvSpPr>
        <p:spPr>
          <a:xfrm>
            <a:off x="457200" y="2322576"/>
            <a:ext cx="8229600" cy="585216"/>
          </a:xfrm>
          <a:prstGeom prst="rect">
            <a:avLst/>
          </a:prstGeom>
          <a:solidFill>
            <a:srgbClr val="FFFFFF"/>
          </a:solidFill>
          <a:ln w="9525">
            <a:solidFill>
              <a:srgbClr val="DCE5EB"/>
            </a:solidFill>
            <a:prstDash val="solid"/>
          </a:ln>
        </p:spPr>
        <p:txBody>
          <a:bodyPr/>
          <a:lstStyle/>
          <a:p>
            <a:endParaRPr lang="en-US"/>
          </a:p>
        </p:txBody>
      </p:sp>
      <p:sp>
        <p:nvSpPr>
          <p:cNvPr id="21" name="Shape 19"/>
          <p:cNvSpPr/>
          <p:nvPr/>
        </p:nvSpPr>
        <p:spPr>
          <a:xfrm>
            <a:off x="457200" y="2322576"/>
            <a:ext cx="54864" cy="585216"/>
          </a:xfrm>
          <a:prstGeom prst="rect">
            <a:avLst/>
          </a:prstGeom>
          <a:solidFill>
            <a:srgbClr val="0077A8"/>
          </a:solidFill>
          <a:ln w="12700">
            <a:solidFill>
              <a:srgbClr val="0077A8"/>
            </a:solidFill>
            <a:prstDash val="solid"/>
          </a:ln>
        </p:spPr>
        <p:txBody>
          <a:bodyPr/>
          <a:lstStyle/>
          <a:p>
            <a:endParaRPr lang="en-US"/>
          </a:p>
        </p:txBody>
      </p:sp>
      <p:sp>
        <p:nvSpPr>
          <p:cNvPr id="22" name="Shape 20"/>
          <p:cNvSpPr/>
          <p:nvPr/>
        </p:nvSpPr>
        <p:spPr>
          <a:xfrm>
            <a:off x="640080" y="2468880"/>
            <a:ext cx="292608" cy="292608"/>
          </a:xfrm>
          <a:prstGeom prst="rect">
            <a:avLst/>
          </a:prstGeom>
          <a:solidFill>
            <a:srgbClr val="0077A8"/>
          </a:solidFill>
          <a:ln w="12700">
            <a:solidFill>
              <a:srgbClr val="0077A8"/>
            </a:solidFill>
            <a:prstDash val="solid"/>
          </a:ln>
        </p:spPr>
        <p:txBody>
          <a:bodyPr/>
          <a:lstStyle/>
          <a:p>
            <a:endParaRPr lang="en-US"/>
          </a:p>
        </p:txBody>
      </p:sp>
      <p:sp>
        <p:nvSpPr>
          <p:cNvPr id="23" name="Text 21"/>
          <p:cNvSpPr/>
          <p:nvPr/>
        </p:nvSpPr>
        <p:spPr>
          <a:xfrm>
            <a:off x="640080" y="2468880"/>
            <a:ext cx="292608"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4" name="Text 22"/>
          <p:cNvSpPr/>
          <p:nvPr/>
        </p:nvSpPr>
        <p:spPr>
          <a:xfrm>
            <a:off x="1042416" y="2322576"/>
            <a:ext cx="1737360" cy="585216"/>
          </a:xfrm>
          <a:prstGeom prst="rect">
            <a:avLst/>
          </a:prstGeom>
          <a:noFill/>
          <a:ln/>
        </p:spPr>
        <p:txBody>
          <a:bodyPr wrap="square" lIns="0" tIns="0" rIns="0" bIns="0" rtlCol="0" anchor="ctr"/>
          <a:lstStyle/>
          <a:p>
            <a:pPr marL="0" indent="0">
              <a:buNone/>
            </a:pPr>
            <a:r>
              <a:rPr lang="en-US" sz="1000" b="1" dirty="0">
                <a:solidFill>
                  <a:srgbClr val="0077A8"/>
                </a:solidFill>
                <a:latin typeface="Calibri" pitchFamily="34" charset="0"/>
                <a:ea typeface="Calibri" pitchFamily="34" charset="-122"/>
                <a:cs typeface="Calibri" pitchFamily="34" charset="-120"/>
              </a:rPr>
              <a:t>ARE YOU ALLOWED?</a:t>
            </a:r>
            <a:endParaRPr lang="en-US" sz="1000" dirty="0"/>
          </a:p>
        </p:txBody>
      </p:sp>
      <p:sp>
        <p:nvSpPr>
          <p:cNvPr id="25" name="Text 23"/>
          <p:cNvSpPr/>
          <p:nvPr/>
        </p:nvSpPr>
        <p:spPr>
          <a:xfrm>
            <a:off x="2798064" y="2322576"/>
            <a:ext cx="1920240" cy="585216"/>
          </a:xfrm>
          <a:prstGeom prst="rect">
            <a:avLst/>
          </a:prstGeom>
          <a:noFill/>
          <a:ln/>
        </p:spPr>
        <p:txBody>
          <a:bodyPr wrap="square" lIns="0" tIns="0" rIns="0" bIns="0" rtlCol="0" anchor="ctr"/>
          <a:lstStyle/>
          <a:p>
            <a:pPr marL="0" indent="0">
              <a:buNone/>
            </a:pPr>
            <a:r>
              <a:rPr lang="en-US" sz="850" b="1" dirty="0">
                <a:solidFill>
                  <a:srgbClr val="0B1E2D"/>
                </a:solidFill>
                <a:latin typeface="Calibri" pitchFamily="34" charset="0"/>
                <a:ea typeface="Calibri" pitchFamily="34" charset="-122"/>
                <a:cs typeface="Calibri" pitchFamily="34" charset="-120"/>
              </a:rPr>
              <a:t>Ownership on every query</a:t>
            </a:r>
            <a:endParaRPr lang="en-US" sz="850" dirty="0"/>
          </a:p>
        </p:txBody>
      </p:sp>
      <p:sp>
        <p:nvSpPr>
          <p:cNvPr id="26" name="Text 24"/>
          <p:cNvSpPr/>
          <p:nvPr/>
        </p:nvSpPr>
        <p:spPr>
          <a:xfrm>
            <a:off x="4773168" y="2322576"/>
            <a:ext cx="3803904" cy="585216"/>
          </a:xfrm>
          <a:prstGeom prst="rect">
            <a:avLst/>
          </a:prstGeom>
          <a:noFill/>
          <a:ln/>
        </p:spPr>
        <p:txBody>
          <a:bodyPr wrap="square" lIns="0" tIns="0" rIns="0" bIns="0" rtlCol="0" anchor="ctr"/>
          <a:lstStyle/>
          <a:p>
            <a:pPr marL="0" indent="0">
              <a:buNone/>
            </a:pPr>
            <a:r>
              <a:rPr lang="en-US" sz="800" dirty="0">
                <a:solidFill>
                  <a:srgbClr val="7A8FA6"/>
                </a:solidFill>
                <a:latin typeface="Calibri" pitchFamily="34" charset="0"/>
                <a:ea typeface="Calibri" pitchFamily="34" charset="-122"/>
                <a:cs typeface="Calibri" pitchFamily="34" charset="-120"/>
              </a:rPr>
              <a:t>Being logged in is not the same as being allowed to see this record</a:t>
            </a:r>
            <a:endParaRPr lang="en-US" sz="800" dirty="0"/>
          </a:p>
        </p:txBody>
      </p:sp>
      <p:sp>
        <p:nvSpPr>
          <p:cNvPr id="27" name="Shape 25"/>
          <p:cNvSpPr/>
          <p:nvPr/>
        </p:nvSpPr>
        <p:spPr>
          <a:xfrm>
            <a:off x="457200" y="3035808"/>
            <a:ext cx="8229600" cy="822960"/>
          </a:xfrm>
          <a:prstGeom prst="rect">
            <a:avLst/>
          </a:prstGeom>
          <a:solidFill>
            <a:srgbClr val="0B1E2D"/>
          </a:solidFill>
          <a:ln w="12700">
            <a:solidFill>
              <a:srgbClr val="0B1E2D"/>
            </a:solidFill>
            <a:prstDash val="solid"/>
          </a:ln>
        </p:spPr>
        <p:txBody>
          <a:bodyPr/>
          <a:lstStyle/>
          <a:p>
            <a:endParaRPr lang="en-US"/>
          </a:p>
        </p:txBody>
      </p:sp>
      <p:sp>
        <p:nvSpPr>
          <p:cNvPr id="28" name="Shape 26"/>
          <p:cNvSpPr/>
          <p:nvPr/>
        </p:nvSpPr>
        <p:spPr>
          <a:xfrm>
            <a:off x="457200" y="3035808"/>
            <a:ext cx="73152" cy="822960"/>
          </a:xfrm>
          <a:prstGeom prst="rect">
            <a:avLst/>
          </a:prstGeom>
          <a:solidFill>
            <a:srgbClr val="00B0F0"/>
          </a:solidFill>
          <a:ln w="12700">
            <a:solidFill>
              <a:srgbClr val="00B0F0"/>
            </a:solidFill>
            <a:prstDash val="solid"/>
          </a:ln>
        </p:spPr>
        <p:txBody>
          <a:bodyPr/>
          <a:lstStyle/>
          <a:p>
            <a:endParaRPr lang="en-US"/>
          </a:p>
        </p:txBody>
      </p:sp>
      <p:sp>
        <p:nvSpPr>
          <p:cNvPr id="29" name="Text 27"/>
          <p:cNvSpPr/>
          <p:nvPr/>
        </p:nvSpPr>
        <p:spPr>
          <a:xfrm>
            <a:off x="731520" y="3090672"/>
            <a:ext cx="777240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Two rules you never break, in any language, on any project.</a:t>
            </a:r>
            <a:endParaRPr lang="en-US" sz="1300" dirty="0"/>
          </a:p>
        </p:txBody>
      </p:sp>
      <p:sp>
        <p:nvSpPr>
          <p:cNvPr id="30" name="Text 28"/>
          <p:cNvSpPr/>
          <p:nvPr/>
        </p:nvSpPr>
        <p:spPr>
          <a:xfrm>
            <a:off x="731520" y="3346704"/>
            <a:ext cx="7772400" cy="457200"/>
          </a:xfrm>
          <a:prstGeom prst="rect">
            <a:avLst/>
          </a:prstGeom>
          <a:noFill/>
          <a:ln/>
        </p:spPr>
        <p:txBody>
          <a:bodyPr wrap="square" lIns="0" tIns="0" rIns="0" bIns="0" rtlCol="0" anchor="ctr"/>
          <a:lstStyle/>
          <a:p>
            <a:pPr marL="0" indent="0">
              <a:lnSpc>
                <a:spcPct val="110000"/>
              </a:lnSpc>
              <a:buNone/>
            </a:pPr>
            <a:r>
              <a:rPr lang="en-US" sz="900" dirty="0">
                <a:solidFill>
                  <a:srgbClr val="C8D6E2"/>
                </a:solidFill>
                <a:latin typeface="Calibri" pitchFamily="34" charset="0"/>
                <a:ea typeface="Calibri" pitchFamily="34" charset="-122"/>
                <a:cs typeface="Calibri" pitchFamily="34" charset="-120"/>
              </a:rPr>
              <a:t>1.  Never store a password. Store a hash you cannot reverse — not even you should be able to read it.</a:t>
            </a:r>
            <a:endParaRPr lang="en-US" sz="900" dirty="0"/>
          </a:p>
          <a:p>
            <a:pPr marL="0" indent="0">
              <a:lnSpc>
                <a:spcPct val="110000"/>
              </a:lnSpc>
              <a:buNone/>
            </a:pPr>
            <a:r>
              <a:rPr lang="en-US" sz="900" dirty="0">
                <a:solidFill>
                  <a:srgbClr val="C8D6E2"/>
                </a:solidFill>
                <a:latin typeface="Calibri" pitchFamily="34" charset="0"/>
                <a:ea typeface="Calibri" pitchFamily="34" charset="-122"/>
                <a:cs typeface="Calibri" pitchFamily="34" charset="-120"/>
              </a:rPr>
              <a:t>2.  Never trust the client to tell you who it is. Verify the proof on the server, on every single request.</a:t>
            </a:r>
            <a:endParaRPr lang="en-US" sz="900" dirty="0"/>
          </a:p>
        </p:txBody>
      </p:sp>
      <p:sp>
        <p:nvSpPr>
          <p:cNvPr id="31" name="Shape 29"/>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32" name="Shape 30"/>
          <p:cNvSpPr/>
          <p:nvPr/>
        </p:nvSpPr>
        <p:spPr>
          <a:xfrm>
            <a:off x="457200" y="4334256"/>
            <a:ext cx="54864" cy="512064"/>
          </a:xfrm>
          <a:prstGeom prst="rect">
            <a:avLst/>
          </a:prstGeom>
          <a:solidFill>
            <a:srgbClr val="0077A8"/>
          </a:solidFill>
          <a:ln w="12700">
            <a:solidFill>
              <a:srgbClr val="0077A8"/>
            </a:solidFill>
            <a:prstDash val="solid"/>
          </a:ln>
        </p:spPr>
        <p:txBody>
          <a:bodyPr/>
          <a:lstStyle/>
          <a:p>
            <a:endParaRPr lang="en-US"/>
          </a:p>
        </p:txBody>
      </p:sp>
      <p:sp>
        <p:nvSpPr>
          <p:cNvPr id="33" name="Text 3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Almost every real breach you read about is one of those two rules, broken once, in one place.</a:t>
            </a:r>
            <a:endParaRPr lang="en-US" sz="1000" dirty="0"/>
          </a:p>
        </p:txBody>
      </p:sp>
    </p:spTree>
    <p:extLst>
      <p:ext uri="{BB962C8B-B14F-4D97-AF65-F5344CB8AC3E}">
        <p14:creationId xmlns:p14="http://schemas.microsoft.com/office/powerpoint/2010/main" val="2625858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A8"/>
          </a:solidFill>
          <a:ln w="12700">
            <a:solidFill>
              <a:srgbClr val="0077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Hash the Password. Sign a Token.</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87552"/>
            <a:ext cx="4846320" cy="1207008"/>
          </a:xfrm>
          <a:prstGeom prst="rect">
            <a:avLst/>
          </a:prstGeom>
          <a:solidFill>
            <a:srgbClr val="0B1E2D"/>
          </a:solidFill>
          <a:ln w="12700">
            <a:solidFill>
              <a:srgbClr val="0B1E2D"/>
            </a:solidFill>
            <a:prstDash val="solid"/>
          </a:ln>
        </p:spPr>
        <p:txBody>
          <a:bodyPr/>
          <a:lstStyle/>
          <a:p>
            <a:endParaRPr lang="en-US"/>
          </a:p>
        </p:txBody>
      </p:sp>
      <p:sp>
        <p:nvSpPr>
          <p:cNvPr id="7" name="Text 5"/>
          <p:cNvSpPr/>
          <p:nvPr/>
        </p:nvSpPr>
        <p:spPr>
          <a:xfrm>
            <a:off x="640080" y="1078992"/>
            <a:ext cx="4517136" cy="1024128"/>
          </a:xfrm>
          <a:prstGeom prst="rect">
            <a:avLst/>
          </a:prstGeom>
          <a:noFill/>
          <a:ln/>
        </p:spPr>
        <p:txBody>
          <a:bodyPr wrap="square" lIns="0" tIns="0" rIns="0" bIns="0" rtlCol="0" anchor="t"/>
          <a:lstStyle/>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register</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const hash = await bcrypt.hash(password, 10);</a:t>
            </a:r>
            <a:endParaRPr lang="en-US" sz="950" dirty="0"/>
          </a:p>
          <a:p>
            <a:pPr marL="0" indent="0">
              <a:lnSpc>
                <a:spcPct val="112000"/>
              </a:lnSpc>
              <a:buNone/>
            </a:pP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login</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const ok = await bcrypt.compare(password, user.hash);</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const token = jwt.sign({ userId: user.id }, SECRET);</a:t>
            </a:r>
            <a:endParaRPr lang="en-US" sz="950" dirty="0"/>
          </a:p>
        </p:txBody>
      </p:sp>
      <p:sp>
        <p:nvSpPr>
          <p:cNvPr id="8" name="Shape 6"/>
          <p:cNvSpPr/>
          <p:nvPr/>
        </p:nvSpPr>
        <p:spPr>
          <a:xfrm>
            <a:off x="5486400" y="987552"/>
            <a:ext cx="3200400" cy="365760"/>
          </a:xfrm>
          <a:prstGeom prst="rect">
            <a:avLst/>
          </a:prstGeom>
          <a:solidFill>
            <a:srgbClr val="FFFFFF"/>
          </a:solidFill>
          <a:ln w="9525">
            <a:solidFill>
              <a:srgbClr val="DCE5EB"/>
            </a:solidFill>
            <a:prstDash val="solid"/>
          </a:ln>
        </p:spPr>
        <p:txBody>
          <a:bodyPr/>
          <a:lstStyle/>
          <a:p>
            <a:endParaRPr lang="en-US"/>
          </a:p>
        </p:txBody>
      </p:sp>
      <p:sp>
        <p:nvSpPr>
          <p:cNvPr id="9" name="Shape 7"/>
          <p:cNvSpPr/>
          <p:nvPr/>
        </p:nvSpPr>
        <p:spPr>
          <a:xfrm>
            <a:off x="5486400" y="987552"/>
            <a:ext cx="54864" cy="365760"/>
          </a:xfrm>
          <a:prstGeom prst="rect">
            <a:avLst/>
          </a:prstGeom>
          <a:solidFill>
            <a:srgbClr val="0077A8"/>
          </a:solidFill>
          <a:ln w="12700">
            <a:solidFill>
              <a:srgbClr val="0077A8"/>
            </a:solidFill>
            <a:prstDash val="solid"/>
          </a:ln>
        </p:spPr>
        <p:txBody>
          <a:bodyPr/>
          <a:lstStyle/>
          <a:p>
            <a:endParaRPr lang="en-US"/>
          </a:p>
        </p:txBody>
      </p:sp>
      <p:sp>
        <p:nvSpPr>
          <p:cNvPr id="10" name="Text 8"/>
          <p:cNvSpPr/>
          <p:nvPr/>
        </p:nvSpPr>
        <p:spPr>
          <a:xfrm>
            <a:off x="5650992" y="987552"/>
            <a:ext cx="786384" cy="365760"/>
          </a:xfrm>
          <a:prstGeom prst="rect">
            <a:avLst/>
          </a:prstGeom>
          <a:noFill/>
          <a:ln/>
        </p:spPr>
        <p:txBody>
          <a:bodyPr wrap="square" lIns="0" tIns="0" rIns="0" bIns="0" rtlCol="0" anchor="ctr"/>
          <a:lstStyle/>
          <a:p>
            <a:pPr marL="0" indent="0">
              <a:buNone/>
            </a:pPr>
            <a:r>
              <a:rPr lang="en-US" sz="750" b="1" dirty="0">
                <a:solidFill>
                  <a:srgbClr val="0077A8"/>
                </a:solidFill>
                <a:latin typeface="Courier New" pitchFamily="34" charset="0"/>
                <a:ea typeface="Courier New" pitchFamily="34" charset="-122"/>
                <a:cs typeface="Courier New" pitchFamily="34" charset="-120"/>
              </a:rPr>
              <a:t>bcrypt</a:t>
            </a:r>
            <a:endParaRPr lang="en-US" sz="750" dirty="0"/>
          </a:p>
        </p:txBody>
      </p:sp>
      <p:sp>
        <p:nvSpPr>
          <p:cNvPr id="11" name="Text 9"/>
          <p:cNvSpPr/>
          <p:nvPr/>
        </p:nvSpPr>
        <p:spPr>
          <a:xfrm>
            <a:off x="6455664" y="987552"/>
            <a:ext cx="2157984" cy="365760"/>
          </a:xfrm>
          <a:prstGeom prst="rect">
            <a:avLst/>
          </a:prstGeom>
          <a:noFill/>
          <a:ln/>
        </p:spPr>
        <p:txBody>
          <a:bodyPr wrap="square" lIns="0" tIns="0" rIns="0" bIns="0" rtlCol="0" anchor="ctr"/>
          <a:lstStyle/>
          <a:p>
            <a:pPr marL="0" indent="0">
              <a:lnSpc>
                <a:spcPct val="102000"/>
              </a:lnSpc>
              <a:buNone/>
            </a:pPr>
            <a:r>
              <a:rPr lang="en-US" sz="700" dirty="0">
                <a:solidFill>
                  <a:srgbClr val="7A8FA6"/>
                </a:solidFill>
                <a:latin typeface="Calibri" pitchFamily="34" charset="0"/>
                <a:ea typeface="Calibri" pitchFamily="34" charset="-122"/>
                <a:cs typeface="Calibri" pitchFamily="34" charset="-120"/>
              </a:rPr>
              <a:t>You never decrypt. You hash the attempt and compare hashes.</a:t>
            </a:r>
            <a:endParaRPr lang="en-US" sz="700" dirty="0"/>
          </a:p>
        </p:txBody>
      </p:sp>
      <p:sp>
        <p:nvSpPr>
          <p:cNvPr id="12" name="Shape 10"/>
          <p:cNvSpPr/>
          <p:nvPr/>
        </p:nvSpPr>
        <p:spPr>
          <a:xfrm>
            <a:off x="5486400" y="1408176"/>
            <a:ext cx="3200400" cy="365760"/>
          </a:xfrm>
          <a:prstGeom prst="rect">
            <a:avLst/>
          </a:prstGeom>
          <a:solidFill>
            <a:srgbClr val="FFFFFF"/>
          </a:solidFill>
          <a:ln w="9525">
            <a:solidFill>
              <a:srgbClr val="DCE5EB"/>
            </a:solidFill>
            <a:prstDash val="solid"/>
          </a:ln>
        </p:spPr>
        <p:txBody>
          <a:bodyPr/>
          <a:lstStyle/>
          <a:p>
            <a:endParaRPr lang="en-US"/>
          </a:p>
        </p:txBody>
      </p:sp>
      <p:sp>
        <p:nvSpPr>
          <p:cNvPr id="13" name="Shape 11"/>
          <p:cNvSpPr/>
          <p:nvPr/>
        </p:nvSpPr>
        <p:spPr>
          <a:xfrm>
            <a:off x="5486400" y="1408176"/>
            <a:ext cx="54864" cy="365760"/>
          </a:xfrm>
          <a:prstGeom prst="rect">
            <a:avLst/>
          </a:prstGeom>
          <a:solidFill>
            <a:srgbClr val="00658F"/>
          </a:solidFill>
          <a:ln w="12700">
            <a:solidFill>
              <a:srgbClr val="00658F"/>
            </a:solidFill>
            <a:prstDash val="solid"/>
          </a:ln>
        </p:spPr>
        <p:txBody>
          <a:bodyPr/>
          <a:lstStyle/>
          <a:p>
            <a:endParaRPr lang="en-US"/>
          </a:p>
        </p:txBody>
      </p:sp>
      <p:sp>
        <p:nvSpPr>
          <p:cNvPr id="14" name="Text 12"/>
          <p:cNvSpPr/>
          <p:nvPr/>
        </p:nvSpPr>
        <p:spPr>
          <a:xfrm>
            <a:off x="5650992" y="1408176"/>
            <a:ext cx="786384" cy="365760"/>
          </a:xfrm>
          <a:prstGeom prst="rect">
            <a:avLst/>
          </a:prstGeom>
          <a:noFill/>
          <a:ln/>
        </p:spPr>
        <p:txBody>
          <a:bodyPr wrap="square" lIns="0" tIns="0" rIns="0" bIns="0" rtlCol="0" anchor="ctr"/>
          <a:lstStyle/>
          <a:p>
            <a:pPr marL="0" indent="0">
              <a:buNone/>
            </a:pPr>
            <a:r>
              <a:rPr lang="en-US" sz="750" b="1" dirty="0">
                <a:solidFill>
                  <a:srgbClr val="00658F"/>
                </a:solidFill>
                <a:latin typeface="Courier New" pitchFamily="34" charset="0"/>
                <a:ea typeface="Courier New" pitchFamily="34" charset="-122"/>
                <a:cs typeface="Courier New" pitchFamily="34" charset="-120"/>
              </a:rPr>
              <a:t>salting</a:t>
            </a:r>
            <a:endParaRPr lang="en-US" sz="750" dirty="0"/>
          </a:p>
        </p:txBody>
      </p:sp>
      <p:sp>
        <p:nvSpPr>
          <p:cNvPr id="15" name="Text 13"/>
          <p:cNvSpPr/>
          <p:nvPr/>
        </p:nvSpPr>
        <p:spPr>
          <a:xfrm>
            <a:off x="6455664" y="1408176"/>
            <a:ext cx="2157984" cy="365760"/>
          </a:xfrm>
          <a:prstGeom prst="rect">
            <a:avLst/>
          </a:prstGeom>
          <a:noFill/>
          <a:ln/>
        </p:spPr>
        <p:txBody>
          <a:bodyPr wrap="square" lIns="0" tIns="0" rIns="0" bIns="0" rtlCol="0" anchor="ctr"/>
          <a:lstStyle/>
          <a:p>
            <a:pPr marL="0" indent="0">
              <a:lnSpc>
                <a:spcPct val="102000"/>
              </a:lnSpc>
              <a:buNone/>
            </a:pPr>
            <a:r>
              <a:rPr lang="en-US" sz="700" dirty="0">
                <a:solidFill>
                  <a:srgbClr val="7A8FA6"/>
                </a:solidFill>
                <a:latin typeface="Calibri" pitchFamily="34" charset="0"/>
                <a:ea typeface="Calibri" pitchFamily="34" charset="-122"/>
                <a:cs typeface="Calibri" pitchFamily="34" charset="-120"/>
              </a:rPr>
              <a:t>Automatic. Two people with the same password get different hashes.</a:t>
            </a:r>
            <a:endParaRPr lang="en-US" sz="700" dirty="0"/>
          </a:p>
        </p:txBody>
      </p:sp>
      <p:sp>
        <p:nvSpPr>
          <p:cNvPr id="16" name="Shape 14"/>
          <p:cNvSpPr/>
          <p:nvPr/>
        </p:nvSpPr>
        <p:spPr>
          <a:xfrm>
            <a:off x="5486400" y="1828800"/>
            <a:ext cx="3200400" cy="365760"/>
          </a:xfrm>
          <a:prstGeom prst="rect">
            <a:avLst/>
          </a:prstGeom>
          <a:solidFill>
            <a:srgbClr val="FFFFFF"/>
          </a:solidFill>
          <a:ln w="9525">
            <a:solidFill>
              <a:srgbClr val="DCE5EB"/>
            </a:solidFill>
            <a:prstDash val="solid"/>
          </a:ln>
        </p:spPr>
        <p:txBody>
          <a:bodyPr/>
          <a:lstStyle/>
          <a:p>
            <a:endParaRPr lang="en-US"/>
          </a:p>
        </p:txBody>
      </p:sp>
      <p:sp>
        <p:nvSpPr>
          <p:cNvPr id="17" name="Shape 15"/>
          <p:cNvSpPr/>
          <p:nvPr/>
        </p:nvSpPr>
        <p:spPr>
          <a:xfrm>
            <a:off x="5486400" y="1828800"/>
            <a:ext cx="54864" cy="365760"/>
          </a:xfrm>
          <a:prstGeom prst="rect">
            <a:avLst/>
          </a:prstGeom>
          <a:solidFill>
            <a:srgbClr val="005478"/>
          </a:solidFill>
          <a:ln w="12700">
            <a:solidFill>
              <a:srgbClr val="005478"/>
            </a:solidFill>
            <a:prstDash val="solid"/>
          </a:ln>
        </p:spPr>
        <p:txBody>
          <a:bodyPr/>
          <a:lstStyle/>
          <a:p>
            <a:endParaRPr lang="en-US"/>
          </a:p>
        </p:txBody>
      </p:sp>
      <p:sp>
        <p:nvSpPr>
          <p:cNvPr id="18" name="Text 16"/>
          <p:cNvSpPr/>
          <p:nvPr/>
        </p:nvSpPr>
        <p:spPr>
          <a:xfrm>
            <a:off x="5650992" y="1828800"/>
            <a:ext cx="786384" cy="365760"/>
          </a:xfrm>
          <a:prstGeom prst="rect">
            <a:avLst/>
          </a:prstGeom>
          <a:noFill/>
          <a:ln/>
        </p:spPr>
        <p:txBody>
          <a:bodyPr wrap="square" lIns="0" tIns="0" rIns="0" bIns="0" rtlCol="0" anchor="ctr"/>
          <a:lstStyle/>
          <a:p>
            <a:pPr marL="0" indent="0">
              <a:buNone/>
            </a:pPr>
            <a:r>
              <a:rPr lang="en-US" sz="750" b="1" dirty="0">
                <a:solidFill>
                  <a:srgbClr val="005478"/>
                </a:solidFill>
                <a:latin typeface="Courier New" pitchFamily="34" charset="0"/>
                <a:ea typeface="Courier New" pitchFamily="34" charset="-122"/>
                <a:cs typeface="Courier New" pitchFamily="34" charset="-120"/>
              </a:rPr>
              <a:t>jwt.sign</a:t>
            </a:r>
            <a:endParaRPr lang="en-US" sz="750" dirty="0"/>
          </a:p>
        </p:txBody>
      </p:sp>
      <p:sp>
        <p:nvSpPr>
          <p:cNvPr id="19" name="Text 17"/>
          <p:cNvSpPr/>
          <p:nvPr/>
        </p:nvSpPr>
        <p:spPr>
          <a:xfrm>
            <a:off x="6455664" y="1828800"/>
            <a:ext cx="2157984" cy="365760"/>
          </a:xfrm>
          <a:prstGeom prst="rect">
            <a:avLst/>
          </a:prstGeom>
          <a:noFill/>
          <a:ln/>
        </p:spPr>
        <p:txBody>
          <a:bodyPr wrap="square" lIns="0" tIns="0" rIns="0" bIns="0" rtlCol="0" anchor="ctr"/>
          <a:lstStyle/>
          <a:p>
            <a:pPr marL="0" indent="0">
              <a:lnSpc>
                <a:spcPct val="102000"/>
              </a:lnSpc>
              <a:buNone/>
            </a:pPr>
            <a:r>
              <a:rPr lang="en-US" sz="700" dirty="0">
                <a:solidFill>
                  <a:srgbClr val="7A8FA6"/>
                </a:solidFill>
                <a:latin typeface="Calibri" pitchFamily="34" charset="0"/>
                <a:ea typeface="Calibri" pitchFamily="34" charset="-122"/>
                <a:cs typeface="Calibri" pitchFamily="34" charset="-120"/>
              </a:rPr>
              <a:t>Payload plus a signature. Tamper with it and the signature fails.</a:t>
            </a:r>
            <a:endParaRPr lang="en-US" sz="700" dirty="0"/>
          </a:p>
        </p:txBody>
      </p:sp>
      <p:sp>
        <p:nvSpPr>
          <p:cNvPr id="20" name="Shape 18"/>
          <p:cNvSpPr/>
          <p:nvPr/>
        </p:nvSpPr>
        <p:spPr>
          <a:xfrm>
            <a:off x="457200" y="2340864"/>
            <a:ext cx="8229600" cy="786384"/>
          </a:xfrm>
          <a:prstGeom prst="rect">
            <a:avLst/>
          </a:prstGeom>
          <a:solidFill>
            <a:srgbClr val="FDEAEA"/>
          </a:solidFill>
          <a:ln w="12700">
            <a:solidFill>
              <a:srgbClr val="FDEAEA"/>
            </a:solidFill>
            <a:prstDash val="solid"/>
          </a:ln>
        </p:spPr>
        <p:txBody>
          <a:bodyPr/>
          <a:lstStyle/>
          <a:p>
            <a:endParaRPr lang="en-US"/>
          </a:p>
        </p:txBody>
      </p:sp>
      <p:sp>
        <p:nvSpPr>
          <p:cNvPr id="21" name="Shape 19"/>
          <p:cNvSpPr/>
          <p:nvPr/>
        </p:nvSpPr>
        <p:spPr>
          <a:xfrm>
            <a:off x="457200" y="2340864"/>
            <a:ext cx="54864" cy="786384"/>
          </a:xfrm>
          <a:prstGeom prst="rect">
            <a:avLst/>
          </a:prstGeom>
          <a:solidFill>
            <a:srgbClr val="B83232"/>
          </a:solidFill>
          <a:ln w="12700">
            <a:solidFill>
              <a:srgbClr val="B83232"/>
            </a:solidFill>
            <a:prstDash val="solid"/>
          </a:ln>
        </p:spPr>
        <p:txBody>
          <a:bodyPr/>
          <a:lstStyle/>
          <a:p>
            <a:endParaRPr lang="en-US"/>
          </a:p>
        </p:txBody>
      </p:sp>
      <p:sp>
        <p:nvSpPr>
          <p:cNvPr id="22" name="Text 20"/>
          <p:cNvSpPr/>
          <p:nvPr/>
        </p:nvSpPr>
        <p:spPr>
          <a:xfrm>
            <a:off x="658368" y="2414016"/>
            <a:ext cx="64008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A JWT IS NOT ENCRYPTED. IT IS SIGNED. THOSE ARE VERY DIFFERENT THINGS.</a:t>
            </a:r>
            <a:endParaRPr lang="en-US" sz="800" dirty="0"/>
          </a:p>
        </p:txBody>
      </p:sp>
      <p:sp>
        <p:nvSpPr>
          <p:cNvPr id="23" name="Text 21"/>
          <p:cNvSpPr/>
          <p:nvPr/>
        </p:nvSpPr>
        <p:spPr>
          <a:xfrm>
            <a:off x="658368" y="2615184"/>
            <a:ext cx="7863840" cy="438912"/>
          </a:xfrm>
          <a:prstGeom prst="rect">
            <a:avLst/>
          </a:prstGeom>
          <a:noFill/>
          <a:ln/>
        </p:spPr>
        <p:txBody>
          <a:bodyPr wrap="square" lIns="0" tIns="0" rIns="0" bIns="0" rtlCol="0" anchor="t"/>
          <a:lstStyle/>
          <a:p>
            <a:pPr marL="0" indent="0">
              <a:lnSpc>
                <a:spcPct val="105000"/>
              </a:lnSpc>
              <a:buNone/>
            </a:pPr>
            <a:r>
              <a:rPr lang="en-US" sz="850" dirty="0">
                <a:solidFill>
                  <a:srgbClr val="B83232"/>
                </a:solidFill>
                <a:latin typeface="Calibri" pitchFamily="34" charset="0"/>
                <a:ea typeface="Calibri" pitchFamily="34" charset="-122"/>
                <a:cs typeface="Calibri" pitchFamily="34" charset="-120"/>
              </a:rPr>
              <a:t>Anyone holding the token can read every field in the payload — it is just base64. What they cannot do is change it, because they do not have your SECRET. So put an id in there. Never a password, never an email you would not publish, never anything private.</a:t>
            </a:r>
            <a:endParaRPr lang="en-US" sz="850" dirty="0"/>
          </a:p>
        </p:txBody>
      </p:sp>
      <p:sp>
        <p:nvSpPr>
          <p:cNvPr id="24" name="Text 22"/>
          <p:cNvSpPr/>
          <p:nvPr/>
        </p:nvSpPr>
        <p:spPr>
          <a:xfrm>
            <a:off x="457200" y="3236976"/>
            <a:ext cx="54864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DO THIS IN THE ROOM, ONCE</a:t>
            </a:r>
            <a:endParaRPr lang="en-US" sz="800" dirty="0"/>
          </a:p>
        </p:txBody>
      </p:sp>
      <p:sp>
        <p:nvSpPr>
          <p:cNvPr id="25" name="Text 23"/>
          <p:cNvSpPr/>
          <p:nvPr/>
        </p:nvSpPr>
        <p:spPr>
          <a:xfrm>
            <a:off x="457200" y="3456432"/>
            <a:ext cx="8229600" cy="438912"/>
          </a:xfrm>
          <a:prstGeom prst="rect">
            <a:avLst/>
          </a:prstGeom>
          <a:noFill/>
          <a:ln/>
        </p:spPr>
        <p:txBody>
          <a:bodyPr wrap="square" lIns="0" tIns="0" rIns="0" bIns="0" rtlCol="0" anchor="t"/>
          <a:lstStyle/>
          <a:p>
            <a:pPr marL="0" indent="0">
              <a:lnSpc>
                <a:spcPct val="105000"/>
              </a:lnSpc>
              <a:buNone/>
            </a:pPr>
            <a:r>
              <a:rPr lang="en-US" sz="950" dirty="0">
                <a:solidFill>
                  <a:srgbClr val="0B1E2D"/>
                </a:solidFill>
                <a:latin typeface="Calibri" pitchFamily="34" charset="0"/>
                <a:ea typeface="Calibri" pitchFamily="34" charset="-122"/>
                <a:cs typeface="Calibri" pitchFamily="34" charset="-120"/>
              </a:rPr>
              <a:t>Copy your own token and paste it into a JWT decoder. Watch your user id appear on screen without anyone knowing your secret. Ten seconds, and you will never make that mistake in an interview.</a:t>
            </a:r>
            <a:endParaRPr lang="en-US" sz="950" dirty="0"/>
          </a:p>
        </p:txBody>
      </p:sp>
      <p:sp>
        <p:nvSpPr>
          <p:cNvPr id="26" name="Shape 24"/>
          <p:cNvSpPr/>
          <p:nvPr/>
        </p:nvSpPr>
        <p:spPr>
          <a:xfrm>
            <a:off x="457200" y="3913632"/>
            <a:ext cx="8229600" cy="274320"/>
          </a:xfrm>
          <a:prstGeom prst="rect">
            <a:avLst/>
          </a:prstGeom>
          <a:solidFill>
            <a:srgbClr val="FDEAEA"/>
          </a:solidFill>
          <a:ln w="12700">
            <a:solidFill>
              <a:srgbClr val="FDEAEA"/>
            </a:solidFill>
            <a:prstDash val="solid"/>
          </a:ln>
        </p:spPr>
        <p:txBody>
          <a:bodyPr/>
          <a:lstStyle/>
          <a:p>
            <a:endParaRPr lang="en-US"/>
          </a:p>
        </p:txBody>
      </p:sp>
      <p:sp>
        <p:nvSpPr>
          <p:cNvPr id="27" name="Text 25"/>
          <p:cNvSpPr/>
          <p:nvPr/>
        </p:nvSpPr>
        <p:spPr>
          <a:xfrm>
            <a:off x="566928" y="391363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SECRET lives in .env with your API key. A signing secret in your repository means anyone can mint a token for any user.</a:t>
            </a:r>
            <a:endParaRPr lang="en-US" sz="800" dirty="0"/>
          </a:p>
        </p:txBody>
      </p:sp>
      <p:sp>
        <p:nvSpPr>
          <p:cNvPr id="28" name="Shape 26"/>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29" name="Shape 27"/>
          <p:cNvSpPr/>
          <p:nvPr/>
        </p:nvSpPr>
        <p:spPr>
          <a:xfrm>
            <a:off x="457200" y="4334256"/>
            <a:ext cx="54864" cy="512064"/>
          </a:xfrm>
          <a:prstGeom prst="rect">
            <a:avLst/>
          </a:prstGeom>
          <a:solidFill>
            <a:srgbClr val="0077A8"/>
          </a:solidFill>
          <a:ln w="12700">
            <a:solidFill>
              <a:srgbClr val="0077A8"/>
            </a:solidFill>
            <a:prstDash val="solid"/>
          </a:ln>
        </p:spPr>
        <p:txBody>
          <a:bodyPr/>
          <a:lstStyle/>
          <a:p>
            <a:endParaRPr lang="en-US"/>
          </a:p>
        </p:txBody>
      </p:sp>
      <p:sp>
        <p:nvSpPr>
          <p:cNvPr id="30" name="Text 28"/>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Login does not remember anything. It hands over a signed note, and the note does the remembering.</a:t>
            </a:r>
            <a:endParaRPr lang="en-US" sz="1000" dirty="0"/>
          </a:p>
        </p:txBody>
      </p:sp>
    </p:spTree>
    <p:extLst>
      <p:ext uri="{BB962C8B-B14F-4D97-AF65-F5344CB8AC3E}">
        <p14:creationId xmlns:p14="http://schemas.microsoft.com/office/powerpoint/2010/main" val="3612890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77A8"/>
          </a:solidFill>
          <a:ln w="12700">
            <a:solidFill>
              <a:srgbClr val="0077A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1</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One Middleware, Then One WHERE Clause</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87552"/>
            <a:ext cx="1481328" cy="512064"/>
          </a:xfrm>
          <a:prstGeom prst="rect">
            <a:avLst/>
          </a:prstGeom>
          <a:solidFill>
            <a:srgbClr val="14293A"/>
          </a:solidFill>
          <a:ln w="12700">
            <a:solidFill>
              <a:srgbClr val="14293A"/>
            </a:solidFill>
            <a:prstDash val="solid"/>
          </a:ln>
        </p:spPr>
        <p:txBody>
          <a:bodyPr/>
          <a:lstStyle/>
          <a:p>
            <a:endParaRPr lang="en-US"/>
          </a:p>
        </p:txBody>
      </p:sp>
      <p:sp>
        <p:nvSpPr>
          <p:cNvPr id="7" name="Text 5"/>
          <p:cNvSpPr/>
          <p:nvPr/>
        </p:nvSpPr>
        <p:spPr>
          <a:xfrm>
            <a:off x="457200"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REQUEST</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ARRIVES</a:t>
            </a:r>
            <a:endParaRPr lang="en-US" sz="750" dirty="0"/>
          </a:p>
        </p:txBody>
      </p:sp>
      <p:sp>
        <p:nvSpPr>
          <p:cNvPr id="8" name="Text 6"/>
          <p:cNvSpPr/>
          <p:nvPr/>
        </p:nvSpPr>
        <p:spPr>
          <a:xfrm>
            <a:off x="1956816"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121408" y="987552"/>
            <a:ext cx="1481328" cy="512064"/>
          </a:xfrm>
          <a:prstGeom prst="rect">
            <a:avLst/>
          </a:prstGeom>
          <a:solidFill>
            <a:srgbClr val="0077A8"/>
          </a:solidFill>
          <a:ln w="12700">
            <a:solidFill>
              <a:srgbClr val="0077A8"/>
            </a:solidFill>
            <a:prstDash val="solid"/>
          </a:ln>
        </p:spPr>
        <p:txBody>
          <a:bodyPr/>
          <a:lstStyle/>
          <a:p>
            <a:endParaRPr lang="en-US"/>
          </a:p>
        </p:txBody>
      </p:sp>
      <p:sp>
        <p:nvSpPr>
          <p:cNvPr id="10" name="Text 8"/>
          <p:cNvSpPr/>
          <p:nvPr/>
        </p:nvSpPr>
        <p:spPr>
          <a:xfrm>
            <a:off x="2121408"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READ THE</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HEADER</a:t>
            </a:r>
            <a:endParaRPr lang="en-US" sz="750" dirty="0"/>
          </a:p>
        </p:txBody>
      </p:sp>
      <p:sp>
        <p:nvSpPr>
          <p:cNvPr id="11" name="Text 9"/>
          <p:cNvSpPr/>
          <p:nvPr/>
        </p:nvSpPr>
        <p:spPr>
          <a:xfrm>
            <a:off x="3621024"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785616" y="987552"/>
            <a:ext cx="1481328" cy="512064"/>
          </a:xfrm>
          <a:prstGeom prst="rect">
            <a:avLst/>
          </a:prstGeom>
          <a:solidFill>
            <a:srgbClr val="00658F"/>
          </a:solidFill>
          <a:ln w="12700">
            <a:solidFill>
              <a:srgbClr val="00658F"/>
            </a:solidFill>
            <a:prstDash val="solid"/>
          </a:ln>
        </p:spPr>
        <p:txBody>
          <a:bodyPr/>
          <a:lstStyle/>
          <a:p>
            <a:endParaRPr lang="en-US"/>
          </a:p>
        </p:txBody>
      </p:sp>
      <p:sp>
        <p:nvSpPr>
          <p:cNvPr id="13" name="Text 11"/>
          <p:cNvSpPr/>
          <p:nvPr/>
        </p:nvSpPr>
        <p:spPr>
          <a:xfrm>
            <a:off x="3785616"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VERIFY THE</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SIGNATURE</a:t>
            </a:r>
            <a:endParaRPr lang="en-US" sz="750" dirty="0"/>
          </a:p>
        </p:txBody>
      </p:sp>
      <p:sp>
        <p:nvSpPr>
          <p:cNvPr id="14" name="Text 12"/>
          <p:cNvSpPr/>
          <p:nvPr/>
        </p:nvSpPr>
        <p:spPr>
          <a:xfrm>
            <a:off x="5285232"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449824" y="987552"/>
            <a:ext cx="1481328" cy="512064"/>
          </a:xfrm>
          <a:prstGeom prst="rect">
            <a:avLst/>
          </a:prstGeom>
          <a:solidFill>
            <a:srgbClr val="0077A8"/>
          </a:solidFill>
          <a:ln w="12700">
            <a:solidFill>
              <a:srgbClr val="0077A8"/>
            </a:solidFill>
            <a:prstDash val="solid"/>
          </a:ln>
        </p:spPr>
        <p:txBody>
          <a:bodyPr/>
          <a:lstStyle/>
          <a:p>
            <a:endParaRPr lang="en-US"/>
          </a:p>
        </p:txBody>
      </p:sp>
      <p:sp>
        <p:nvSpPr>
          <p:cNvPr id="16" name="Text 14"/>
          <p:cNvSpPr/>
          <p:nvPr/>
        </p:nvSpPr>
        <p:spPr>
          <a:xfrm>
            <a:off x="5449824"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SET</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req.userId</a:t>
            </a:r>
            <a:endParaRPr lang="en-US" sz="750" dirty="0"/>
          </a:p>
        </p:txBody>
      </p:sp>
      <p:sp>
        <p:nvSpPr>
          <p:cNvPr id="17" name="Text 15"/>
          <p:cNvSpPr/>
          <p:nvPr/>
        </p:nvSpPr>
        <p:spPr>
          <a:xfrm>
            <a:off x="6949440"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114032" y="987552"/>
            <a:ext cx="1481328" cy="512064"/>
          </a:xfrm>
          <a:prstGeom prst="rect">
            <a:avLst/>
          </a:prstGeom>
          <a:solidFill>
            <a:srgbClr val="004260"/>
          </a:solidFill>
          <a:ln w="12700">
            <a:solidFill>
              <a:srgbClr val="004260"/>
            </a:solidFill>
            <a:prstDash val="solid"/>
          </a:ln>
        </p:spPr>
        <p:txBody>
          <a:bodyPr/>
          <a:lstStyle/>
          <a:p>
            <a:endParaRPr lang="en-US"/>
          </a:p>
        </p:txBody>
      </p:sp>
      <p:sp>
        <p:nvSpPr>
          <p:cNvPr id="19" name="Text 17"/>
          <p:cNvSpPr/>
          <p:nvPr/>
        </p:nvSpPr>
        <p:spPr>
          <a:xfrm>
            <a:off x="7114032"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YOUR</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HANDLER</a:t>
            </a:r>
            <a:endParaRPr lang="en-US" sz="750" dirty="0"/>
          </a:p>
        </p:txBody>
      </p:sp>
      <p:sp>
        <p:nvSpPr>
          <p:cNvPr id="20" name="Text 18"/>
          <p:cNvSpPr/>
          <p:nvPr/>
        </p:nvSpPr>
        <p:spPr>
          <a:xfrm>
            <a:off x="457200" y="1572768"/>
            <a:ext cx="8229600" cy="237744"/>
          </a:xfrm>
          <a:prstGeom prst="rect">
            <a:avLst/>
          </a:prstGeom>
          <a:noFill/>
          <a:ln/>
        </p:spPr>
        <p:txBody>
          <a:bodyPr wrap="square" lIns="0" tIns="0" rIns="0" bIns="0" rtlCol="0" anchor="ctr"/>
          <a:lstStyle/>
          <a:p>
            <a:pPr marL="0" indent="0">
              <a:buNone/>
            </a:pPr>
            <a:r>
              <a:rPr lang="en-US" sz="900" i="1" dirty="0">
                <a:solidFill>
                  <a:srgbClr val="7A8FA6"/>
                </a:solidFill>
                <a:latin typeface="Calibri" pitchFamily="34" charset="0"/>
                <a:ea typeface="Calibri" pitchFamily="34" charset="-122"/>
                <a:cs typeface="Calibri" pitchFamily="34" charset="-120"/>
              </a:rPr>
              <a:t>No header, or a bad signature? Answer 401 and stop. Your handler never runs.</a:t>
            </a:r>
            <a:endParaRPr lang="en-US" sz="900" dirty="0"/>
          </a:p>
        </p:txBody>
      </p:sp>
      <p:sp>
        <p:nvSpPr>
          <p:cNvPr id="21" name="Text 19"/>
          <p:cNvSpPr/>
          <p:nvPr/>
        </p:nvSpPr>
        <p:spPr>
          <a:xfrm>
            <a:off x="457200" y="1865376"/>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AND THEN EVERY QUERY GETS THE SAME ADDITION</a:t>
            </a:r>
            <a:endParaRPr lang="en-US" sz="800" dirty="0"/>
          </a:p>
        </p:txBody>
      </p:sp>
      <p:sp>
        <p:nvSpPr>
          <p:cNvPr id="22" name="Shape 20"/>
          <p:cNvSpPr/>
          <p:nvPr/>
        </p:nvSpPr>
        <p:spPr>
          <a:xfrm>
            <a:off x="457200" y="2084832"/>
            <a:ext cx="4846320" cy="603504"/>
          </a:xfrm>
          <a:prstGeom prst="rect">
            <a:avLst/>
          </a:prstGeom>
          <a:solidFill>
            <a:srgbClr val="0B1E2D"/>
          </a:solidFill>
          <a:ln w="12700">
            <a:solidFill>
              <a:srgbClr val="0B1E2D"/>
            </a:solidFill>
            <a:prstDash val="solid"/>
          </a:ln>
        </p:spPr>
        <p:txBody>
          <a:bodyPr/>
          <a:lstStyle/>
          <a:p>
            <a:endParaRPr lang="en-US"/>
          </a:p>
        </p:txBody>
      </p:sp>
      <p:sp>
        <p:nvSpPr>
          <p:cNvPr id="23" name="Text 21"/>
          <p:cNvSpPr/>
          <p:nvPr/>
        </p:nvSpPr>
        <p:spPr>
          <a:xfrm>
            <a:off x="640080" y="2176272"/>
            <a:ext cx="4517136" cy="420624"/>
          </a:xfrm>
          <a:prstGeom prst="rect">
            <a:avLst/>
          </a:prstGeom>
          <a:noFill/>
          <a:ln/>
        </p:spPr>
        <p:txBody>
          <a:bodyPr wrap="square" lIns="0" tIns="0" rIns="0" bIns="0" rtlCol="0" anchor="t"/>
          <a:lstStyle/>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SELECT * FROM records WHERE user_id =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DELETE FROM records WHERE id = ? AND user_id = ?</a:t>
            </a:r>
            <a:endParaRPr lang="en-US" sz="950" dirty="0"/>
          </a:p>
        </p:txBody>
      </p:sp>
      <p:sp>
        <p:nvSpPr>
          <p:cNvPr id="24" name="Shape 22"/>
          <p:cNvSpPr/>
          <p:nvPr/>
        </p:nvSpPr>
        <p:spPr>
          <a:xfrm>
            <a:off x="5486400" y="2084832"/>
            <a:ext cx="3200400" cy="603504"/>
          </a:xfrm>
          <a:prstGeom prst="rect">
            <a:avLst/>
          </a:prstGeom>
          <a:solidFill>
            <a:srgbClr val="E6F6FD"/>
          </a:solidFill>
          <a:ln w="12700">
            <a:solidFill>
              <a:srgbClr val="E6F6FD"/>
            </a:solidFill>
            <a:prstDash val="solid"/>
          </a:ln>
        </p:spPr>
        <p:txBody>
          <a:bodyPr/>
          <a:lstStyle/>
          <a:p>
            <a:endParaRPr lang="en-US"/>
          </a:p>
        </p:txBody>
      </p:sp>
      <p:sp>
        <p:nvSpPr>
          <p:cNvPr id="25" name="Text 23"/>
          <p:cNvSpPr/>
          <p:nvPr/>
        </p:nvSpPr>
        <p:spPr>
          <a:xfrm>
            <a:off x="5650992" y="2084832"/>
            <a:ext cx="2889504" cy="603504"/>
          </a:xfrm>
          <a:prstGeom prst="rect">
            <a:avLst/>
          </a:prstGeom>
          <a:noFill/>
          <a:ln/>
        </p:spPr>
        <p:txBody>
          <a:bodyPr wrap="square" lIns="0" tIns="0" rIns="0" bIns="0" rtlCol="0" anchor="ctr"/>
          <a:lstStyle/>
          <a:p>
            <a:pPr marL="0" indent="0">
              <a:lnSpc>
                <a:spcPct val="105000"/>
              </a:lnSpc>
              <a:buNone/>
            </a:pPr>
            <a:r>
              <a:rPr lang="en-US" sz="800" b="1" dirty="0">
                <a:solidFill>
                  <a:srgbClr val="004260"/>
                </a:solidFill>
                <a:latin typeface="Calibri" pitchFamily="34" charset="0"/>
                <a:ea typeface="Calibri" pitchFamily="34" charset="-122"/>
                <a:cs typeface="Calibri" pitchFamily="34" charset="-120"/>
              </a:rPr>
              <a:t>The column has been sitting in your schema since Wednesday, doing nothing. No migration, no lost data.</a:t>
            </a:r>
            <a:endParaRPr lang="en-US" sz="800" dirty="0"/>
          </a:p>
        </p:txBody>
      </p:sp>
      <p:sp>
        <p:nvSpPr>
          <p:cNvPr id="26" name="Shape 24"/>
          <p:cNvSpPr/>
          <p:nvPr/>
        </p:nvSpPr>
        <p:spPr>
          <a:xfrm>
            <a:off x="457200" y="2816352"/>
            <a:ext cx="8229600" cy="859536"/>
          </a:xfrm>
          <a:prstGeom prst="rect">
            <a:avLst/>
          </a:prstGeom>
          <a:solidFill>
            <a:srgbClr val="0B1E2D"/>
          </a:solidFill>
          <a:ln w="12700">
            <a:solidFill>
              <a:srgbClr val="0B1E2D"/>
            </a:solidFill>
            <a:prstDash val="solid"/>
          </a:ln>
        </p:spPr>
        <p:txBody>
          <a:bodyPr/>
          <a:lstStyle/>
          <a:p>
            <a:endParaRPr lang="en-US"/>
          </a:p>
        </p:txBody>
      </p:sp>
      <p:sp>
        <p:nvSpPr>
          <p:cNvPr id="27" name="Shape 25"/>
          <p:cNvSpPr/>
          <p:nvPr/>
        </p:nvSpPr>
        <p:spPr>
          <a:xfrm>
            <a:off x="457200" y="2816352"/>
            <a:ext cx="73152" cy="859536"/>
          </a:xfrm>
          <a:prstGeom prst="rect">
            <a:avLst/>
          </a:prstGeom>
          <a:solidFill>
            <a:srgbClr val="B83232"/>
          </a:solidFill>
          <a:ln w="12700">
            <a:solidFill>
              <a:srgbClr val="B83232"/>
            </a:solidFill>
            <a:prstDash val="solid"/>
          </a:ln>
        </p:spPr>
        <p:txBody>
          <a:bodyPr/>
          <a:lstStyle/>
          <a:p>
            <a:endParaRPr lang="en-US"/>
          </a:p>
        </p:txBody>
      </p:sp>
      <p:sp>
        <p:nvSpPr>
          <p:cNvPr id="28" name="Text 26"/>
          <p:cNvSpPr/>
          <p:nvPr/>
        </p:nvSpPr>
        <p:spPr>
          <a:xfrm>
            <a:off x="731520" y="2871216"/>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Forget the WHERE clause on one route, and that one route leaks everybody's data.</a:t>
            </a:r>
            <a:endParaRPr lang="en-US" sz="1300" dirty="0"/>
          </a:p>
        </p:txBody>
      </p:sp>
      <p:sp>
        <p:nvSpPr>
          <p:cNvPr id="29" name="Text 27"/>
          <p:cNvSpPr/>
          <p:nvPr/>
        </p:nvSpPr>
        <p:spPr>
          <a:xfrm>
            <a:off x="731520" y="3145536"/>
            <a:ext cx="7772400" cy="475488"/>
          </a:xfrm>
          <a:prstGeom prst="rect">
            <a:avLst/>
          </a:prstGeom>
          <a:noFill/>
          <a:ln/>
        </p:spPr>
        <p:txBody>
          <a:bodyPr wrap="square" lIns="0" tIns="0" rIns="0" bIns="0" rtlCol="0" anchor="ctr"/>
          <a:lstStyle/>
          <a:p>
            <a:pPr marL="0" indent="0">
              <a:lnSpc>
                <a:spcPct val="105000"/>
              </a:lnSpc>
              <a:buNone/>
            </a:pPr>
            <a:r>
              <a:rPr lang="en-US" sz="900" dirty="0">
                <a:solidFill>
                  <a:srgbClr val="C8D6E2"/>
                </a:solidFill>
                <a:latin typeface="Calibri" pitchFamily="34" charset="0"/>
                <a:ea typeface="Calibri" pitchFamily="34" charset="-122"/>
                <a:cs typeface="Calibri" pitchFamily="34" charset="-120"/>
              </a:rPr>
              <a:t>Not the app — the route. Being logged in got them past the door; the WHERE clause is what stops them wandering into someone else's room. This exact mistake is behind a remarkable number of real breaches, in student projects and funded startups alike.</a:t>
            </a:r>
            <a:endParaRPr lang="en-US" sz="900" dirty="0"/>
          </a:p>
        </p:txBody>
      </p:sp>
      <p:sp>
        <p:nvSpPr>
          <p:cNvPr id="30" name="Text 28"/>
          <p:cNvSpPr/>
          <p:nvPr/>
        </p:nvSpPr>
        <p:spPr>
          <a:xfrm>
            <a:off x="457200" y="3785616"/>
            <a:ext cx="8229600" cy="402336"/>
          </a:xfrm>
          <a:prstGeom prst="rect">
            <a:avLst/>
          </a:prstGeom>
          <a:noFill/>
          <a:ln/>
        </p:spPr>
        <p:txBody>
          <a:bodyPr wrap="square" lIns="0" tIns="0" rIns="0" bIns="0" rtlCol="0" anchor="t"/>
          <a:lstStyle/>
          <a:p>
            <a:pPr marL="0" indent="0">
              <a:lnSpc>
                <a:spcPct val="105000"/>
              </a:lnSpc>
              <a:buNone/>
            </a:pPr>
            <a:r>
              <a:rPr lang="en-US" sz="950" dirty="0">
                <a:solidFill>
                  <a:srgbClr val="0B1E2D"/>
                </a:solidFill>
                <a:latin typeface="Calibri" pitchFamily="34" charset="0"/>
                <a:ea typeface="Calibri" pitchFamily="34" charset="-122"/>
                <a:cs typeface="Calibri" pitchFamily="34" charset="-120"/>
              </a:rPr>
              <a:t>Check it by hand: make two accounts, note an id from the first, then ask for that id while logged in as the second. You should get a 404, not a record.</a:t>
            </a:r>
            <a:endParaRPr lang="en-US" sz="950" dirty="0"/>
          </a:p>
        </p:txBody>
      </p:sp>
      <p:sp>
        <p:nvSpPr>
          <p:cNvPr id="31" name="Shape 29"/>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32" name="Shape 30"/>
          <p:cNvSpPr/>
          <p:nvPr/>
        </p:nvSpPr>
        <p:spPr>
          <a:xfrm>
            <a:off x="457200" y="4334256"/>
            <a:ext cx="54864" cy="512064"/>
          </a:xfrm>
          <a:prstGeom prst="rect">
            <a:avLst/>
          </a:prstGeom>
          <a:solidFill>
            <a:srgbClr val="0077A8"/>
          </a:solidFill>
          <a:ln w="12700">
            <a:solidFill>
              <a:srgbClr val="0077A8"/>
            </a:solidFill>
            <a:prstDash val="solid"/>
          </a:ln>
        </p:spPr>
        <p:txBody>
          <a:bodyPr/>
          <a:lstStyle/>
          <a:p>
            <a:endParaRPr lang="en-US"/>
          </a:p>
        </p:txBody>
      </p:sp>
      <p:sp>
        <p:nvSpPr>
          <p:cNvPr id="33" name="Text 3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Authentication is the door. Authorisation is every room inside. Today you build both, and you test both.</a:t>
            </a:r>
            <a:endParaRPr lang="en-US" sz="1000" dirty="0"/>
          </a:p>
        </p:txBody>
      </p:sp>
    </p:spTree>
    <p:extLst>
      <p:ext uri="{BB962C8B-B14F-4D97-AF65-F5344CB8AC3E}">
        <p14:creationId xmlns:p14="http://schemas.microsoft.com/office/powerpoint/2010/main" val="146030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58F"/>
          </a:solidFill>
          <a:ln w="12700">
            <a:solidFill>
              <a:srgbClr val="00658F"/>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The Login Flow, End to End</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87552"/>
            <a:ext cx="1481328" cy="512064"/>
          </a:xfrm>
          <a:prstGeom prst="rect">
            <a:avLst/>
          </a:prstGeom>
          <a:solidFill>
            <a:srgbClr val="00658F"/>
          </a:solidFill>
          <a:ln w="12700">
            <a:solidFill>
              <a:srgbClr val="00658F"/>
            </a:solidFill>
            <a:prstDash val="solid"/>
          </a:ln>
        </p:spPr>
        <p:txBody>
          <a:bodyPr/>
          <a:lstStyle/>
          <a:p>
            <a:endParaRPr lang="en-US"/>
          </a:p>
        </p:txBody>
      </p:sp>
      <p:sp>
        <p:nvSpPr>
          <p:cNvPr id="7" name="Text 5"/>
          <p:cNvSpPr/>
          <p:nvPr/>
        </p:nvSpPr>
        <p:spPr>
          <a:xfrm>
            <a:off x="457200"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FORM</a:t>
            </a:r>
            <a:endParaRPr lang="en-US" sz="750" dirty="0"/>
          </a:p>
        </p:txBody>
      </p:sp>
      <p:sp>
        <p:nvSpPr>
          <p:cNvPr id="8" name="Text 6"/>
          <p:cNvSpPr/>
          <p:nvPr/>
        </p:nvSpPr>
        <p:spPr>
          <a:xfrm>
            <a:off x="1956816"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121408" y="987552"/>
            <a:ext cx="1481328" cy="512064"/>
          </a:xfrm>
          <a:prstGeom prst="rect">
            <a:avLst/>
          </a:prstGeom>
          <a:solidFill>
            <a:srgbClr val="0077A8"/>
          </a:solidFill>
          <a:ln w="12700">
            <a:solidFill>
              <a:srgbClr val="0077A8"/>
            </a:solidFill>
            <a:prstDash val="solid"/>
          </a:ln>
        </p:spPr>
        <p:txBody>
          <a:bodyPr/>
          <a:lstStyle/>
          <a:p>
            <a:endParaRPr lang="en-US"/>
          </a:p>
        </p:txBody>
      </p:sp>
      <p:sp>
        <p:nvSpPr>
          <p:cNvPr id="10" name="Text 8"/>
          <p:cNvSpPr/>
          <p:nvPr/>
        </p:nvSpPr>
        <p:spPr>
          <a:xfrm>
            <a:off x="2121408"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POST</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/api/login</a:t>
            </a:r>
            <a:endParaRPr lang="en-US" sz="750" dirty="0"/>
          </a:p>
        </p:txBody>
      </p:sp>
      <p:sp>
        <p:nvSpPr>
          <p:cNvPr id="11" name="Text 9"/>
          <p:cNvSpPr/>
          <p:nvPr/>
        </p:nvSpPr>
        <p:spPr>
          <a:xfrm>
            <a:off x="3621024"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3785616" y="987552"/>
            <a:ext cx="1481328" cy="512064"/>
          </a:xfrm>
          <a:prstGeom prst="rect">
            <a:avLst/>
          </a:prstGeom>
          <a:solidFill>
            <a:srgbClr val="0077A8"/>
          </a:solidFill>
          <a:ln w="12700">
            <a:solidFill>
              <a:srgbClr val="0077A8"/>
            </a:solidFill>
            <a:prstDash val="solid"/>
          </a:ln>
        </p:spPr>
        <p:txBody>
          <a:bodyPr/>
          <a:lstStyle/>
          <a:p>
            <a:endParaRPr lang="en-US"/>
          </a:p>
        </p:txBody>
      </p:sp>
      <p:sp>
        <p:nvSpPr>
          <p:cNvPr id="13" name="Text 11"/>
          <p:cNvSpPr/>
          <p:nvPr/>
        </p:nvSpPr>
        <p:spPr>
          <a:xfrm>
            <a:off x="3785616"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TOKEN</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COMES BACK</a:t>
            </a:r>
            <a:endParaRPr lang="en-US" sz="750" dirty="0"/>
          </a:p>
        </p:txBody>
      </p:sp>
      <p:sp>
        <p:nvSpPr>
          <p:cNvPr id="14" name="Text 12"/>
          <p:cNvSpPr/>
          <p:nvPr/>
        </p:nvSpPr>
        <p:spPr>
          <a:xfrm>
            <a:off x="5285232"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449824" y="987552"/>
            <a:ext cx="1481328" cy="512064"/>
          </a:xfrm>
          <a:prstGeom prst="rect">
            <a:avLst/>
          </a:prstGeom>
          <a:solidFill>
            <a:srgbClr val="005478"/>
          </a:solidFill>
          <a:ln w="12700">
            <a:solidFill>
              <a:srgbClr val="005478"/>
            </a:solidFill>
            <a:prstDash val="solid"/>
          </a:ln>
        </p:spPr>
        <p:txBody>
          <a:bodyPr/>
          <a:lstStyle/>
          <a:p>
            <a:endParaRPr lang="en-US"/>
          </a:p>
        </p:txBody>
      </p:sp>
      <p:sp>
        <p:nvSpPr>
          <p:cNvPr id="16" name="Text 14"/>
          <p:cNvSpPr/>
          <p:nvPr/>
        </p:nvSpPr>
        <p:spPr>
          <a:xfrm>
            <a:off x="5449824"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STORE IT</a:t>
            </a:r>
            <a:endParaRPr lang="en-US" sz="750" dirty="0"/>
          </a:p>
        </p:txBody>
      </p:sp>
      <p:sp>
        <p:nvSpPr>
          <p:cNvPr id="17" name="Text 15"/>
          <p:cNvSpPr/>
          <p:nvPr/>
        </p:nvSpPr>
        <p:spPr>
          <a:xfrm>
            <a:off x="6949440" y="113385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114032" y="987552"/>
            <a:ext cx="1481328" cy="512064"/>
          </a:xfrm>
          <a:prstGeom prst="rect">
            <a:avLst/>
          </a:prstGeom>
          <a:solidFill>
            <a:srgbClr val="004260"/>
          </a:solidFill>
          <a:ln w="12700">
            <a:solidFill>
              <a:srgbClr val="004260"/>
            </a:solidFill>
            <a:prstDash val="solid"/>
          </a:ln>
        </p:spPr>
        <p:txBody>
          <a:bodyPr/>
          <a:lstStyle/>
          <a:p>
            <a:endParaRPr lang="en-US"/>
          </a:p>
        </p:txBody>
      </p:sp>
      <p:sp>
        <p:nvSpPr>
          <p:cNvPr id="19" name="Text 17"/>
          <p:cNvSpPr/>
          <p:nvPr/>
        </p:nvSpPr>
        <p:spPr>
          <a:xfrm>
            <a:off x="7114032" y="987552"/>
            <a:ext cx="1481328" cy="512064"/>
          </a:xfrm>
          <a:prstGeom prst="rect">
            <a:avLst/>
          </a:prstGeom>
          <a:noFill/>
          <a:ln/>
        </p:spPr>
        <p:txBody>
          <a:bodyPr wrap="square" lIns="0" tIns="0" rIns="0" bIns="0" rtlCol="0" anchor="ctr"/>
          <a:lstStyle/>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SEND IT</a:t>
            </a:r>
            <a:endParaRPr lang="en-US" sz="750" dirty="0"/>
          </a:p>
          <a:p>
            <a:pPr marL="0" indent="0" algn="ctr">
              <a:lnSpc>
                <a:spcPct val="100000"/>
              </a:lnSpc>
              <a:buNone/>
            </a:pPr>
            <a:r>
              <a:rPr lang="en-US" sz="750" b="1" dirty="0">
                <a:solidFill>
                  <a:srgbClr val="FFFFFF"/>
                </a:solidFill>
                <a:latin typeface="Calibri" pitchFamily="34" charset="0"/>
                <a:ea typeface="Calibri" pitchFamily="34" charset="-122"/>
                <a:cs typeface="Calibri" pitchFamily="34" charset="-120"/>
              </a:rPr>
              <a:t>EVERY TIME</a:t>
            </a:r>
            <a:endParaRPr lang="en-US" sz="750" dirty="0"/>
          </a:p>
        </p:txBody>
      </p:sp>
      <p:sp>
        <p:nvSpPr>
          <p:cNvPr id="20" name="Text 18"/>
          <p:cNvSpPr/>
          <p:nvPr/>
        </p:nvSpPr>
        <p:spPr>
          <a:xfrm>
            <a:off x="457200" y="1609344"/>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WRITE THE WRAPPER ONCE. USE IT EVERYWHERE.</a:t>
            </a:r>
            <a:endParaRPr lang="en-US" sz="800" dirty="0"/>
          </a:p>
        </p:txBody>
      </p:sp>
      <p:sp>
        <p:nvSpPr>
          <p:cNvPr id="21" name="Shape 19"/>
          <p:cNvSpPr/>
          <p:nvPr/>
        </p:nvSpPr>
        <p:spPr>
          <a:xfrm>
            <a:off x="457200" y="1828800"/>
            <a:ext cx="4846320" cy="859536"/>
          </a:xfrm>
          <a:prstGeom prst="rect">
            <a:avLst/>
          </a:prstGeom>
          <a:solidFill>
            <a:srgbClr val="0B1E2D"/>
          </a:solidFill>
          <a:ln w="12700">
            <a:solidFill>
              <a:srgbClr val="0B1E2D"/>
            </a:solidFill>
            <a:prstDash val="solid"/>
          </a:ln>
        </p:spPr>
        <p:txBody>
          <a:bodyPr/>
          <a:lstStyle/>
          <a:p>
            <a:endParaRPr lang="en-US"/>
          </a:p>
        </p:txBody>
      </p:sp>
      <p:sp>
        <p:nvSpPr>
          <p:cNvPr id="22" name="Text 20"/>
          <p:cNvSpPr/>
          <p:nvPr/>
        </p:nvSpPr>
        <p:spPr>
          <a:xfrm>
            <a:off x="640080" y="1920240"/>
            <a:ext cx="4517136" cy="676656"/>
          </a:xfrm>
          <a:prstGeom prst="rect">
            <a:avLst/>
          </a:prstGeom>
          <a:noFill/>
          <a:ln/>
        </p:spPr>
        <p:txBody>
          <a:bodyPr wrap="square" lIns="0" tIns="0" rIns="0" bIns="0" rtlCol="0" anchor="t"/>
          <a:lstStyle/>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function api(path, opts = {})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return fetch(path, { ...opts, headers: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...opts.headers,</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Authorization: `Bearer ${token}`</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  }});</a:t>
            </a:r>
            <a:endParaRPr lang="en-US" sz="950" dirty="0"/>
          </a:p>
          <a:p>
            <a:pPr marL="0" indent="0">
              <a:lnSpc>
                <a:spcPct val="112000"/>
              </a:lnSpc>
              <a:buNone/>
            </a:pPr>
            <a:r>
              <a:rPr lang="en-US" sz="950" dirty="0">
                <a:solidFill>
                  <a:srgbClr val="9FE8C8"/>
                </a:solidFill>
                <a:latin typeface="Courier New" pitchFamily="34" charset="0"/>
                <a:ea typeface="Courier New" pitchFamily="34" charset="-122"/>
                <a:cs typeface="Courier New" pitchFamily="34" charset="-120"/>
              </a:rPr>
              <a:t>}</a:t>
            </a:r>
            <a:endParaRPr lang="en-US" sz="950" dirty="0"/>
          </a:p>
        </p:txBody>
      </p:sp>
      <p:sp>
        <p:nvSpPr>
          <p:cNvPr id="23" name="Shape 21"/>
          <p:cNvSpPr/>
          <p:nvPr/>
        </p:nvSpPr>
        <p:spPr>
          <a:xfrm>
            <a:off x="5486400" y="1828800"/>
            <a:ext cx="3200400" cy="859536"/>
          </a:xfrm>
          <a:prstGeom prst="rect">
            <a:avLst/>
          </a:prstGeom>
          <a:solidFill>
            <a:srgbClr val="EFF6FA"/>
          </a:solidFill>
          <a:ln w="12700">
            <a:solidFill>
              <a:srgbClr val="EFF6FA"/>
            </a:solidFill>
            <a:prstDash val="solid"/>
          </a:ln>
        </p:spPr>
        <p:txBody>
          <a:bodyPr/>
          <a:lstStyle/>
          <a:p>
            <a:endParaRPr lang="en-US"/>
          </a:p>
        </p:txBody>
      </p:sp>
      <p:sp>
        <p:nvSpPr>
          <p:cNvPr id="24" name="Shape 22"/>
          <p:cNvSpPr/>
          <p:nvPr/>
        </p:nvSpPr>
        <p:spPr>
          <a:xfrm>
            <a:off x="5486400" y="1828800"/>
            <a:ext cx="54864" cy="859536"/>
          </a:xfrm>
          <a:prstGeom prst="rect">
            <a:avLst/>
          </a:prstGeom>
          <a:solidFill>
            <a:srgbClr val="00658F"/>
          </a:solidFill>
          <a:ln w="12700">
            <a:solidFill>
              <a:srgbClr val="00658F"/>
            </a:solidFill>
            <a:prstDash val="solid"/>
          </a:ln>
        </p:spPr>
        <p:txBody>
          <a:bodyPr/>
          <a:lstStyle/>
          <a:p>
            <a:endParaRPr lang="en-US"/>
          </a:p>
        </p:txBody>
      </p:sp>
      <p:sp>
        <p:nvSpPr>
          <p:cNvPr id="25" name="Text 23"/>
          <p:cNvSpPr/>
          <p:nvPr/>
        </p:nvSpPr>
        <p:spPr>
          <a:xfrm>
            <a:off x="5650992" y="1901952"/>
            <a:ext cx="2834640" cy="182880"/>
          </a:xfrm>
          <a:prstGeom prst="rect">
            <a:avLst/>
          </a:prstGeom>
          <a:noFill/>
          <a:ln/>
        </p:spPr>
        <p:txBody>
          <a:bodyPr wrap="square" lIns="0" tIns="0" rIns="0" bIns="0" rtlCol="0" anchor="ctr"/>
          <a:lstStyle/>
          <a:p>
            <a:pPr marL="0" indent="0">
              <a:buNone/>
            </a:pPr>
            <a:r>
              <a:rPr lang="en-US" sz="800" b="1" kern="0" spc="120" dirty="0">
                <a:solidFill>
                  <a:srgbClr val="00658F"/>
                </a:solidFill>
                <a:latin typeface="Calibri" pitchFamily="34" charset="0"/>
                <a:ea typeface="Calibri" pitchFamily="34" charset="-122"/>
                <a:cs typeface="Calibri" pitchFamily="34" charset="-120"/>
              </a:rPr>
              <a:t>CORS, CALMLY</a:t>
            </a:r>
            <a:endParaRPr lang="en-US" sz="800" dirty="0"/>
          </a:p>
        </p:txBody>
      </p:sp>
      <p:sp>
        <p:nvSpPr>
          <p:cNvPr id="26" name="Text 24"/>
          <p:cNvSpPr/>
          <p:nvPr/>
        </p:nvSpPr>
        <p:spPr>
          <a:xfrm>
            <a:off x="5650992" y="2084832"/>
            <a:ext cx="2889504" cy="548640"/>
          </a:xfrm>
          <a:prstGeom prst="rect">
            <a:avLst/>
          </a:prstGeom>
          <a:noFill/>
          <a:ln/>
        </p:spPr>
        <p:txBody>
          <a:bodyPr wrap="square" lIns="0" tIns="0" rIns="0" bIns="0" rtlCol="0" anchor="t"/>
          <a:lstStyle/>
          <a:p>
            <a:pPr marL="0" indent="0">
              <a:lnSpc>
                <a:spcPct val="105000"/>
              </a:lnSpc>
              <a:buNone/>
            </a:pPr>
            <a:r>
              <a:rPr lang="en-US" sz="750" dirty="0">
                <a:solidFill>
                  <a:srgbClr val="0B1E2D"/>
                </a:solidFill>
                <a:latin typeface="Calibri" pitchFamily="34" charset="0"/>
                <a:ea typeface="Calibri" pitchFamily="34" charset="-122"/>
                <a:cs typeface="Calibri" pitchFamily="34" charset="-120"/>
              </a:rPr>
              <a:t>You have no CORS problem today, because Express serves your frontend — same origin. CORS is simply the browser asking another server "do you permit this?" You will need it the day your API moves to its own domain.</a:t>
            </a:r>
            <a:endParaRPr lang="en-US" sz="750" dirty="0"/>
          </a:p>
        </p:txBody>
      </p:sp>
      <p:sp>
        <p:nvSpPr>
          <p:cNvPr id="27" name="Shape 25"/>
          <p:cNvSpPr/>
          <p:nvPr/>
        </p:nvSpPr>
        <p:spPr>
          <a:xfrm>
            <a:off x="457200" y="2816352"/>
            <a:ext cx="2633472" cy="1005840"/>
          </a:xfrm>
          <a:prstGeom prst="rect">
            <a:avLst/>
          </a:prstGeom>
          <a:solidFill>
            <a:srgbClr val="FFFFFF"/>
          </a:solidFill>
          <a:ln w="9525">
            <a:solidFill>
              <a:srgbClr val="DCE5EB"/>
            </a:solidFill>
            <a:prstDash val="solid"/>
          </a:ln>
        </p:spPr>
        <p:txBody>
          <a:bodyPr/>
          <a:lstStyle/>
          <a:p>
            <a:endParaRPr lang="en-US"/>
          </a:p>
        </p:txBody>
      </p:sp>
      <p:sp>
        <p:nvSpPr>
          <p:cNvPr id="28" name="Shape 26"/>
          <p:cNvSpPr/>
          <p:nvPr/>
        </p:nvSpPr>
        <p:spPr>
          <a:xfrm>
            <a:off x="457200" y="2816352"/>
            <a:ext cx="54864" cy="1005840"/>
          </a:xfrm>
          <a:prstGeom prst="rect">
            <a:avLst/>
          </a:prstGeom>
          <a:solidFill>
            <a:srgbClr val="0077A8"/>
          </a:solidFill>
          <a:ln w="12700">
            <a:solidFill>
              <a:srgbClr val="0077A8"/>
            </a:solidFill>
            <a:prstDash val="solid"/>
          </a:ln>
        </p:spPr>
        <p:txBody>
          <a:bodyPr/>
          <a:lstStyle/>
          <a:p>
            <a:endParaRPr lang="en-US"/>
          </a:p>
        </p:txBody>
      </p:sp>
      <p:sp>
        <p:nvSpPr>
          <p:cNvPr id="29" name="Text 27"/>
          <p:cNvSpPr/>
          <p:nvPr/>
        </p:nvSpPr>
        <p:spPr>
          <a:xfrm>
            <a:off x="640080" y="2889504"/>
            <a:ext cx="2377440" cy="182880"/>
          </a:xfrm>
          <a:prstGeom prst="rect">
            <a:avLst/>
          </a:prstGeom>
          <a:noFill/>
          <a:ln/>
        </p:spPr>
        <p:txBody>
          <a:bodyPr wrap="square" lIns="0" tIns="0" rIns="0" bIns="0" rtlCol="0" anchor="ctr"/>
          <a:lstStyle/>
          <a:p>
            <a:pPr marL="0" indent="0">
              <a:buNone/>
            </a:pPr>
            <a:r>
              <a:rPr lang="en-US" sz="750" b="1" kern="0" spc="120" dirty="0">
                <a:solidFill>
                  <a:srgbClr val="0077A8"/>
                </a:solidFill>
                <a:latin typeface="Calibri" pitchFamily="34" charset="0"/>
                <a:ea typeface="Calibri" pitchFamily="34" charset="-122"/>
                <a:cs typeface="Calibri" pitchFamily="34" charset="-120"/>
              </a:rPr>
              <a:t>WHERE TO KEEP IT</a:t>
            </a:r>
            <a:endParaRPr lang="en-US" sz="750" dirty="0"/>
          </a:p>
        </p:txBody>
      </p:sp>
      <p:sp>
        <p:nvSpPr>
          <p:cNvPr id="30" name="Text 28"/>
          <p:cNvSpPr/>
          <p:nvPr/>
        </p:nvSpPr>
        <p:spPr>
          <a:xfrm>
            <a:off x="640080" y="3090672"/>
            <a:ext cx="2322576" cy="676656"/>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localStorage today. Be honest about the trade: any script on your page can read it. Cookies marked httpOnly are the grown-up answer.</a:t>
            </a:r>
            <a:endParaRPr lang="en-US" sz="800" dirty="0"/>
          </a:p>
        </p:txBody>
      </p:sp>
      <p:sp>
        <p:nvSpPr>
          <p:cNvPr id="31" name="Shape 29"/>
          <p:cNvSpPr/>
          <p:nvPr/>
        </p:nvSpPr>
        <p:spPr>
          <a:xfrm>
            <a:off x="3255264" y="2816352"/>
            <a:ext cx="2633472" cy="1005840"/>
          </a:xfrm>
          <a:prstGeom prst="rect">
            <a:avLst/>
          </a:prstGeom>
          <a:solidFill>
            <a:srgbClr val="FFFFFF"/>
          </a:solidFill>
          <a:ln w="9525">
            <a:solidFill>
              <a:srgbClr val="DCE5EB"/>
            </a:solidFill>
            <a:prstDash val="solid"/>
          </a:ln>
        </p:spPr>
        <p:txBody>
          <a:bodyPr/>
          <a:lstStyle/>
          <a:p>
            <a:endParaRPr lang="en-US"/>
          </a:p>
        </p:txBody>
      </p:sp>
      <p:sp>
        <p:nvSpPr>
          <p:cNvPr id="32" name="Shape 30"/>
          <p:cNvSpPr/>
          <p:nvPr/>
        </p:nvSpPr>
        <p:spPr>
          <a:xfrm>
            <a:off x="3255264" y="2816352"/>
            <a:ext cx="54864" cy="1005840"/>
          </a:xfrm>
          <a:prstGeom prst="rect">
            <a:avLst/>
          </a:prstGeom>
          <a:solidFill>
            <a:srgbClr val="B83232"/>
          </a:solidFill>
          <a:ln w="12700">
            <a:solidFill>
              <a:srgbClr val="B83232"/>
            </a:solidFill>
            <a:prstDash val="solid"/>
          </a:ln>
        </p:spPr>
        <p:txBody>
          <a:bodyPr/>
          <a:lstStyle/>
          <a:p>
            <a:endParaRPr lang="en-US"/>
          </a:p>
        </p:txBody>
      </p:sp>
      <p:sp>
        <p:nvSpPr>
          <p:cNvPr id="33" name="Text 31"/>
          <p:cNvSpPr/>
          <p:nvPr/>
        </p:nvSpPr>
        <p:spPr>
          <a:xfrm>
            <a:off x="3438144" y="2889504"/>
            <a:ext cx="2377440" cy="182880"/>
          </a:xfrm>
          <a:prstGeom prst="rect">
            <a:avLst/>
          </a:prstGeom>
          <a:noFill/>
          <a:ln/>
        </p:spPr>
        <p:txBody>
          <a:bodyPr wrap="square" lIns="0" tIns="0" rIns="0" bIns="0" rtlCol="0" anchor="ctr"/>
          <a:lstStyle/>
          <a:p>
            <a:pPr marL="0" indent="0">
              <a:buNone/>
            </a:pPr>
            <a:r>
              <a:rPr lang="en-US" sz="750" b="1" kern="0" spc="120" dirty="0">
                <a:solidFill>
                  <a:srgbClr val="B83232"/>
                </a:solidFill>
                <a:latin typeface="Calibri" pitchFamily="34" charset="0"/>
                <a:ea typeface="Calibri" pitchFamily="34" charset="-122"/>
                <a:cs typeface="Calibri" pitchFamily="34" charset="-120"/>
              </a:rPr>
              <a:t>WHEN IT EXPIRES</a:t>
            </a:r>
            <a:endParaRPr lang="en-US" sz="750" dirty="0"/>
          </a:p>
        </p:txBody>
      </p:sp>
      <p:sp>
        <p:nvSpPr>
          <p:cNvPr id="34" name="Text 32"/>
          <p:cNvSpPr/>
          <p:nvPr/>
        </p:nvSpPr>
        <p:spPr>
          <a:xfrm>
            <a:off x="3438144" y="3090672"/>
            <a:ext cx="2322576" cy="676656"/>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A 401 halfway through a session should send them to the login screen — not show a broken page with no explanation.</a:t>
            </a:r>
            <a:endParaRPr lang="en-US" sz="800" dirty="0"/>
          </a:p>
        </p:txBody>
      </p:sp>
      <p:sp>
        <p:nvSpPr>
          <p:cNvPr id="35" name="Shape 33"/>
          <p:cNvSpPr/>
          <p:nvPr/>
        </p:nvSpPr>
        <p:spPr>
          <a:xfrm>
            <a:off x="6053328" y="2816352"/>
            <a:ext cx="2633472" cy="1005840"/>
          </a:xfrm>
          <a:prstGeom prst="rect">
            <a:avLst/>
          </a:prstGeom>
          <a:solidFill>
            <a:srgbClr val="FFFFFF"/>
          </a:solidFill>
          <a:ln w="9525">
            <a:solidFill>
              <a:srgbClr val="DCE5EB"/>
            </a:solidFill>
            <a:prstDash val="solid"/>
          </a:ln>
        </p:spPr>
        <p:txBody>
          <a:bodyPr/>
          <a:lstStyle/>
          <a:p>
            <a:endParaRPr lang="en-US"/>
          </a:p>
        </p:txBody>
      </p:sp>
      <p:sp>
        <p:nvSpPr>
          <p:cNvPr id="36" name="Shape 34"/>
          <p:cNvSpPr/>
          <p:nvPr/>
        </p:nvSpPr>
        <p:spPr>
          <a:xfrm>
            <a:off x="6053328" y="2816352"/>
            <a:ext cx="54864" cy="1005840"/>
          </a:xfrm>
          <a:prstGeom prst="rect">
            <a:avLst/>
          </a:prstGeom>
          <a:solidFill>
            <a:srgbClr val="004260"/>
          </a:solidFill>
          <a:ln w="12700">
            <a:solidFill>
              <a:srgbClr val="004260"/>
            </a:solidFill>
            <a:prstDash val="solid"/>
          </a:ln>
        </p:spPr>
        <p:txBody>
          <a:bodyPr/>
          <a:lstStyle/>
          <a:p>
            <a:endParaRPr lang="en-US"/>
          </a:p>
        </p:txBody>
      </p:sp>
      <p:sp>
        <p:nvSpPr>
          <p:cNvPr id="37" name="Text 35"/>
          <p:cNvSpPr/>
          <p:nvPr/>
        </p:nvSpPr>
        <p:spPr>
          <a:xfrm>
            <a:off x="6236208" y="2889504"/>
            <a:ext cx="2377440" cy="182880"/>
          </a:xfrm>
          <a:prstGeom prst="rect">
            <a:avLst/>
          </a:prstGeom>
          <a:noFill/>
          <a:ln/>
        </p:spPr>
        <p:txBody>
          <a:bodyPr wrap="square" lIns="0" tIns="0" rIns="0" bIns="0" rtlCol="0" anchor="ctr"/>
          <a:lstStyle/>
          <a:p>
            <a:pPr marL="0" indent="0">
              <a:buNone/>
            </a:pPr>
            <a:r>
              <a:rPr lang="en-US" sz="750" b="1" kern="0" spc="120" dirty="0">
                <a:solidFill>
                  <a:srgbClr val="004260"/>
                </a:solidFill>
                <a:latin typeface="Calibri" pitchFamily="34" charset="0"/>
                <a:ea typeface="Calibri" pitchFamily="34" charset="-122"/>
                <a:cs typeface="Calibri" pitchFamily="34" charset="-120"/>
              </a:rPr>
              <a:t>LOGGING OUT</a:t>
            </a:r>
            <a:endParaRPr lang="en-US" sz="750" dirty="0"/>
          </a:p>
        </p:txBody>
      </p:sp>
      <p:sp>
        <p:nvSpPr>
          <p:cNvPr id="38" name="Text 36"/>
          <p:cNvSpPr/>
          <p:nvPr/>
        </p:nvSpPr>
        <p:spPr>
          <a:xfrm>
            <a:off x="6236208" y="3090672"/>
            <a:ext cx="2322576" cy="676656"/>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Delete the token and re-render. There is nothing to tell the server; it never remembered you in the first place.</a:t>
            </a:r>
            <a:endParaRPr lang="en-US" sz="800" dirty="0"/>
          </a:p>
        </p:txBody>
      </p:sp>
      <p:sp>
        <p:nvSpPr>
          <p:cNvPr id="39" name="Shape 37"/>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40" name="Shape 38"/>
          <p:cNvSpPr/>
          <p:nvPr/>
        </p:nvSpPr>
        <p:spPr>
          <a:xfrm>
            <a:off x="457200" y="4334256"/>
            <a:ext cx="54864" cy="512064"/>
          </a:xfrm>
          <a:prstGeom prst="rect">
            <a:avLst/>
          </a:prstGeom>
          <a:solidFill>
            <a:srgbClr val="00658F"/>
          </a:solidFill>
          <a:ln w="12700">
            <a:solidFill>
              <a:srgbClr val="00658F"/>
            </a:solidFill>
            <a:prstDash val="solid"/>
          </a:ln>
        </p:spPr>
        <p:txBody>
          <a:bodyPr/>
          <a:lstStyle/>
          <a:p>
            <a:endParaRPr lang="en-US"/>
          </a:p>
        </p:txBody>
      </p:sp>
      <p:sp>
        <p:nvSpPr>
          <p:cNvPr id="41" name="Text 3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That last card is the whole idea of a token: the server holds no session, so logging out is entirely a client-side act.</a:t>
            </a:r>
            <a:endParaRPr lang="en-US" sz="1000" dirty="0"/>
          </a:p>
        </p:txBody>
      </p:sp>
    </p:spTree>
    <p:extLst>
      <p:ext uri="{BB962C8B-B14F-4D97-AF65-F5344CB8AC3E}">
        <p14:creationId xmlns:p14="http://schemas.microsoft.com/office/powerpoint/2010/main" val="2273186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58F"/>
          </a:solidFill>
          <a:ln w="12700">
            <a:solidFill>
              <a:srgbClr val="00658F"/>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Now Ask It Something Only You Know</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Text 4"/>
          <p:cNvSpPr/>
          <p:nvPr/>
        </p:nvSpPr>
        <p:spPr>
          <a:xfrm>
            <a:off x="457200" y="969264"/>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ASK YOUR MODEL A QUESTION ABOUT YOUR OWN RECORDS</a:t>
            </a:r>
            <a:endParaRPr lang="en-US" sz="800" dirty="0"/>
          </a:p>
        </p:txBody>
      </p:sp>
      <p:sp>
        <p:nvSpPr>
          <p:cNvPr id="7" name="Shape 5"/>
          <p:cNvSpPr/>
          <p:nvPr/>
        </p:nvSpPr>
        <p:spPr>
          <a:xfrm>
            <a:off x="457200" y="1188720"/>
            <a:ext cx="8229600" cy="292608"/>
          </a:xfrm>
          <a:prstGeom prst="rect">
            <a:avLst/>
          </a:prstGeom>
          <a:solidFill>
            <a:srgbClr val="EFF6FA"/>
          </a:solidFill>
          <a:ln w="6350">
            <a:solidFill>
              <a:srgbClr val="DCE5EB"/>
            </a:solidFill>
            <a:prstDash val="solid"/>
          </a:ln>
        </p:spPr>
        <p:txBody>
          <a:bodyPr/>
          <a:lstStyle/>
          <a:p>
            <a:endParaRPr lang="en-US"/>
          </a:p>
        </p:txBody>
      </p:sp>
      <p:sp>
        <p:nvSpPr>
          <p:cNvPr id="8" name="Text 6"/>
          <p:cNvSpPr/>
          <p:nvPr/>
        </p:nvSpPr>
        <p:spPr>
          <a:xfrm>
            <a:off x="566928" y="1188720"/>
            <a:ext cx="1463040" cy="292608"/>
          </a:xfrm>
          <a:prstGeom prst="rect">
            <a:avLst/>
          </a:prstGeom>
          <a:noFill/>
          <a:ln/>
        </p:spPr>
        <p:txBody>
          <a:bodyPr wrap="square" lIns="0" tIns="0" rIns="0" bIns="0" rtlCol="0" anchor="ctr"/>
          <a:lstStyle/>
          <a:p>
            <a:pPr marL="0" indent="0">
              <a:buNone/>
            </a:pPr>
            <a:r>
              <a:rPr lang="en-US" sz="850" b="1" dirty="0">
                <a:solidFill>
                  <a:srgbClr val="7A8FA6"/>
                </a:solidFill>
                <a:latin typeface="Calibri" pitchFamily="34" charset="0"/>
                <a:ea typeface="Calibri" pitchFamily="34" charset="-122"/>
                <a:cs typeface="Calibri" pitchFamily="34" charset="-120"/>
              </a:rPr>
              <a:t>Study notes</a:t>
            </a:r>
            <a:endParaRPr lang="en-US" sz="850" dirty="0"/>
          </a:p>
        </p:txBody>
      </p:sp>
      <p:sp>
        <p:nvSpPr>
          <p:cNvPr id="9" name="Text 7"/>
          <p:cNvSpPr/>
          <p:nvPr/>
        </p:nvSpPr>
        <p:spPr>
          <a:xfrm>
            <a:off x="2066544" y="1188720"/>
            <a:ext cx="6492240" cy="292608"/>
          </a:xfrm>
          <a:prstGeom prst="rect">
            <a:avLst/>
          </a:prstGeom>
          <a:noFill/>
          <a:ln/>
        </p:spPr>
        <p:txBody>
          <a:bodyPr wrap="square" lIns="0" tIns="0" rIns="0" bIns="0" rtlCol="0" anchor="ctr"/>
          <a:lstStyle/>
          <a:p>
            <a:pPr marL="0" indent="0">
              <a:buNone/>
            </a:pPr>
            <a:r>
              <a:rPr lang="en-US" sz="900" i="1" dirty="0">
                <a:solidFill>
                  <a:srgbClr val="0B1E2D"/>
                </a:solidFill>
                <a:latin typeface="Calibri" pitchFamily="34" charset="0"/>
                <a:ea typeface="Calibri" pitchFamily="34" charset="-122"/>
                <a:cs typeface="Calibri" pitchFamily="34" charset="-120"/>
              </a:rPr>
              <a:t>"Which of my notes cover normalisation?"</a:t>
            </a:r>
            <a:endParaRPr lang="en-US" sz="900" dirty="0"/>
          </a:p>
        </p:txBody>
      </p:sp>
      <p:sp>
        <p:nvSpPr>
          <p:cNvPr id="10" name="Shape 8"/>
          <p:cNvSpPr/>
          <p:nvPr/>
        </p:nvSpPr>
        <p:spPr>
          <a:xfrm>
            <a:off x="457200" y="1517904"/>
            <a:ext cx="8229600" cy="292608"/>
          </a:xfrm>
          <a:prstGeom prst="rect">
            <a:avLst/>
          </a:prstGeom>
          <a:solidFill>
            <a:srgbClr val="FFFFFF"/>
          </a:solidFill>
          <a:ln w="6350">
            <a:solidFill>
              <a:srgbClr val="DCE5EB"/>
            </a:solidFill>
            <a:prstDash val="solid"/>
          </a:ln>
        </p:spPr>
        <p:txBody>
          <a:bodyPr/>
          <a:lstStyle/>
          <a:p>
            <a:endParaRPr lang="en-US"/>
          </a:p>
        </p:txBody>
      </p:sp>
      <p:sp>
        <p:nvSpPr>
          <p:cNvPr id="11" name="Text 9"/>
          <p:cNvSpPr/>
          <p:nvPr/>
        </p:nvSpPr>
        <p:spPr>
          <a:xfrm>
            <a:off x="566928" y="1517904"/>
            <a:ext cx="1463040" cy="292608"/>
          </a:xfrm>
          <a:prstGeom prst="rect">
            <a:avLst/>
          </a:prstGeom>
          <a:noFill/>
          <a:ln/>
        </p:spPr>
        <p:txBody>
          <a:bodyPr wrap="square" lIns="0" tIns="0" rIns="0" bIns="0" rtlCol="0" anchor="ctr"/>
          <a:lstStyle/>
          <a:p>
            <a:pPr marL="0" indent="0">
              <a:buNone/>
            </a:pPr>
            <a:r>
              <a:rPr lang="en-US" sz="850" b="1" dirty="0">
                <a:solidFill>
                  <a:srgbClr val="7A8FA6"/>
                </a:solidFill>
                <a:latin typeface="Calibri" pitchFamily="34" charset="0"/>
                <a:ea typeface="Calibri" pitchFamily="34" charset="-122"/>
                <a:cs typeface="Calibri" pitchFamily="34" charset="-120"/>
              </a:rPr>
              <a:t>Expense tracker</a:t>
            </a:r>
            <a:endParaRPr lang="en-US" sz="850" dirty="0"/>
          </a:p>
        </p:txBody>
      </p:sp>
      <p:sp>
        <p:nvSpPr>
          <p:cNvPr id="12" name="Text 10"/>
          <p:cNvSpPr/>
          <p:nvPr/>
        </p:nvSpPr>
        <p:spPr>
          <a:xfrm>
            <a:off x="2066544" y="1517904"/>
            <a:ext cx="6492240" cy="292608"/>
          </a:xfrm>
          <a:prstGeom prst="rect">
            <a:avLst/>
          </a:prstGeom>
          <a:noFill/>
          <a:ln/>
        </p:spPr>
        <p:txBody>
          <a:bodyPr wrap="square" lIns="0" tIns="0" rIns="0" bIns="0" rtlCol="0" anchor="ctr"/>
          <a:lstStyle/>
          <a:p>
            <a:pPr marL="0" indent="0">
              <a:buNone/>
            </a:pPr>
            <a:r>
              <a:rPr lang="en-US" sz="900" i="1" dirty="0">
                <a:solidFill>
                  <a:srgbClr val="0B1E2D"/>
                </a:solidFill>
                <a:latin typeface="Calibri" pitchFamily="34" charset="0"/>
                <a:ea typeface="Calibri" pitchFamily="34" charset="-122"/>
                <a:cs typeface="Calibri" pitchFamily="34" charset="-120"/>
              </a:rPr>
              <a:t>"What did I spend on travel in March?"</a:t>
            </a:r>
            <a:endParaRPr lang="en-US" sz="900" dirty="0"/>
          </a:p>
        </p:txBody>
      </p:sp>
      <p:sp>
        <p:nvSpPr>
          <p:cNvPr id="13" name="Shape 11"/>
          <p:cNvSpPr/>
          <p:nvPr/>
        </p:nvSpPr>
        <p:spPr>
          <a:xfrm>
            <a:off x="457200" y="1847088"/>
            <a:ext cx="8229600" cy="292608"/>
          </a:xfrm>
          <a:prstGeom prst="rect">
            <a:avLst/>
          </a:prstGeom>
          <a:solidFill>
            <a:srgbClr val="EFF6FA"/>
          </a:solidFill>
          <a:ln w="6350">
            <a:solidFill>
              <a:srgbClr val="DCE5EB"/>
            </a:solidFill>
            <a:prstDash val="solid"/>
          </a:ln>
        </p:spPr>
        <p:txBody>
          <a:bodyPr/>
          <a:lstStyle/>
          <a:p>
            <a:endParaRPr lang="en-US"/>
          </a:p>
        </p:txBody>
      </p:sp>
      <p:sp>
        <p:nvSpPr>
          <p:cNvPr id="14" name="Text 12"/>
          <p:cNvSpPr/>
          <p:nvPr/>
        </p:nvSpPr>
        <p:spPr>
          <a:xfrm>
            <a:off x="566928" y="1847088"/>
            <a:ext cx="1463040" cy="292608"/>
          </a:xfrm>
          <a:prstGeom prst="rect">
            <a:avLst/>
          </a:prstGeom>
          <a:noFill/>
          <a:ln/>
        </p:spPr>
        <p:txBody>
          <a:bodyPr wrap="square" lIns="0" tIns="0" rIns="0" bIns="0" rtlCol="0" anchor="ctr"/>
          <a:lstStyle/>
          <a:p>
            <a:pPr marL="0" indent="0">
              <a:buNone/>
            </a:pPr>
            <a:r>
              <a:rPr lang="en-US" sz="850" b="1" dirty="0">
                <a:solidFill>
                  <a:srgbClr val="7A8FA6"/>
                </a:solidFill>
                <a:latin typeface="Calibri" pitchFamily="34" charset="0"/>
                <a:ea typeface="Calibri" pitchFamily="34" charset="-122"/>
                <a:cs typeface="Calibri" pitchFamily="34" charset="-120"/>
              </a:rPr>
              <a:t>Recipe box</a:t>
            </a:r>
            <a:endParaRPr lang="en-US" sz="850" dirty="0"/>
          </a:p>
        </p:txBody>
      </p:sp>
      <p:sp>
        <p:nvSpPr>
          <p:cNvPr id="15" name="Text 13"/>
          <p:cNvSpPr/>
          <p:nvPr/>
        </p:nvSpPr>
        <p:spPr>
          <a:xfrm>
            <a:off x="2066544" y="1847088"/>
            <a:ext cx="6492240" cy="292608"/>
          </a:xfrm>
          <a:prstGeom prst="rect">
            <a:avLst/>
          </a:prstGeom>
          <a:noFill/>
          <a:ln/>
        </p:spPr>
        <p:txBody>
          <a:bodyPr wrap="square" lIns="0" tIns="0" rIns="0" bIns="0" rtlCol="0" anchor="ctr"/>
          <a:lstStyle/>
          <a:p>
            <a:pPr marL="0" indent="0">
              <a:buNone/>
            </a:pPr>
            <a:r>
              <a:rPr lang="en-US" sz="900" i="1" dirty="0">
                <a:solidFill>
                  <a:srgbClr val="0B1E2D"/>
                </a:solidFill>
                <a:latin typeface="Calibri" pitchFamily="34" charset="0"/>
                <a:ea typeface="Calibri" pitchFamily="34" charset="-122"/>
                <a:cs typeface="Calibri" pitchFamily="34" charset="-120"/>
              </a:rPr>
              <a:t>"What can I cook with paneer and no oven?"</a:t>
            </a:r>
            <a:endParaRPr lang="en-US" sz="900" dirty="0"/>
          </a:p>
        </p:txBody>
      </p:sp>
      <p:sp>
        <p:nvSpPr>
          <p:cNvPr id="16" name="Shape 14"/>
          <p:cNvSpPr/>
          <p:nvPr/>
        </p:nvSpPr>
        <p:spPr>
          <a:xfrm>
            <a:off x="457200" y="2249424"/>
            <a:ext cx="8229600" cy="914400"/>
          </a:xfrm>
          <a:prstGeom prst="rect">
            <a:avLst/>
          </a:prstGeom>
          <a:solidFill>
            <a:srgbClr val="0B1E2D"/>
          </a:solidFill>
          <a:ln w="12700">
            <a:solidFill>
              <a:srgbClr val="0B1E2D"/>
            </a:solidFill>
            <a:prstDash val="solid"/>
          </a:ln>
        </p:spPr>
        <p:txBody>
          <a:bodyPr/>
          <a:lstStyle/>
          <a:p>
            <a:endParaRPr lang="en-US"/>
          </a:p>
        </p:txBody>
      </p:sp>
      <p:sp>
        <p:nvSpPr>
          <p:cNvPr id="17" name="Shape 15"/>
          <p:cNvSpPr/>
          <p:nvPr/>
        </p:nvSpPr>
        <p:spPr>
          <a:xfrm>
            <a:off x="457200" y="2249424"/>
            <a:ext cx="73152" cy="914400"/>
          </a:xfrm>
          <a:prstGeom prst="rect">
            <a:avLst/>
          </a:prstGeom>
          <a:solidFill>
            <a:srgbClr val="B83232"/>
          </a:solidFill>
          <a:ln w="12700">
            <a:solidFill>
              <a:srgbClr val="B83232"/>
            </a:solidFill>
            <a:prstDash val="solid"/>
          </a:ln>
        </p:spPr>
        <p:txBody>
          <a:bodyPr/>
          <a:lstStyle/>
          <a:p>
            <a:endParaRPr lang="en-US"/>
          </a:p>
        </p:txBody>
      </p:sp>
      <p:sp>
        <p:nvSpPr>
          <p:cNvPr id="18" name="Text 16"/>
          <p:cNvSpPr/>
          <p:nvPr/>
        </p:nvSpPr>
        <p:spPr>
          <a:xfrm>
            <a:off x="731520" y="2304288"/>
            <a:ext cx="7772400"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 will get a confident, fluent, completely invented answer.</a:t>
            </a:r>
            <a:endParaRPr lang="en-US" sz="1500" dirty="0"/>
          </a:p>
        </p:txBody>
      </p:sp>
      <p:sp>
        <p:nvSpPr>
          <p:cNvPr id="19" name="Text 17"/>
          <p:cNvSpPr/>
          <p:nvPr/>
        </p:nvSpPr>
        <p:spPr>
          <a:xfrm>
            <a:off x="731520" y="2596896"/>
            <a:ext cx="7772400" cy="512064"/>
          </a:xfrm>
          <a:prstGeom prst="rect">
            <a:avLst/>
          </a:prstGeom>
          <a:noFill/>
          <a:ln/>
        </p:spPr>
        <p:txBody>
          <a:bodyPr wrap="square" lIns="0" tIns="0" rIns="0" bIns="0" rtlCol="0" anchor="ctr"/>
          <a:lstStyle/>
          <a:p>
            <a:pPr marL="0" indent="0">
              <a:lnSpc>
                <a:spcPct val="105000"/>
              </a:lnSpc>
              <a:buNone/>
            </a:pPr>
            <a:r>
              <a:rPr lang="en-US" sz="950" dirty="0">
                <a:solidFill>
                  <a:srgbClr val="C8D6E2"/>
                </a:solidFill>
                <a:latin typeface="Calibri" pitchFamily="34" charset="0"/>
                <a:ea typeface="Calibri" pitchFamily="34" charset="-122"/>
                <a:cs typeface="Calibri" pitchFamily="34" charset="-120"/>
              </a:rPr>
              <a:t>It will not say "I don't know", because producing plausible text is the only thing it does. Your records were never in its training data, and nothing in that request told it anything about them. It answered the only way it can — by inventing something that reads like a good answer.</a:t>
            </a:r>
            <a:endParaRPr lang="en-US" sz="950" dirty="0"/>
          </a:p>
        </p:txBody>
      </p:sp>
      <p:sp>
        <p:nvSpPr>
          <p:cNvPr id="20" name="Text 18"/>
          <p:cNvSpPr/>
          <p:nvPr/>
        </p:nvSpPr>
        <p:spPr>
          <a:xfrm>
            <a:off x="457200" y="3255264"/>
            <a:ext cx="8229600" cy="274320"/>
          </a:xfrm>
          <a:prstGeom prst="rect">
            <a:avLst/>
          </a:prstGeom>
          <a:noFill/>
          <a:ln/>
        </p:spPr>
        <p:txBody>
          <a:bodyPr wrap="square" lIns="0" tIns="0" rIns="0" bIns="0" rtlCol="0" anchor="t"/>
          <a:lstStyle/>
          <a:p>
            <a:pPr marL="0" indent="0">
              <a:lnSpc>
                <a:spcPct val="105000"/>
              </a:lnSpc>
              <a:buNone/>
            </a:pPr>
            <a:r>
              <a:rPr lang="en-US" sz="1100" b="1" i="1" dirty="0">
                <a:solidFill>
                  <a:srgbClr val="0B1E2D"/>
                </a:solidFill>
                <a:latin typeface="Calibri" pitchFamily="34" charset="0"/>
                <a:ea typeface="Calibri" pitchFamily="34" charset="-122"/>
                <a:cs typeface="Calibri" pitchFamily="34" charset="-120"/>
              </a:rPr>
              <a:t>It is not lying to you. It has no concept of your data to lie about.</a:t>
            </a:r>
            <a:endParaRPr lang="en-US" sz="1100" dirty="0"/>
          </a:p>
        </p:txBody>
      </p:sp>
      <p:sp>
        <p:nvSpPr>
          <p:cNvPr id="21" name="Text 19"/>
          <p:cNvSpPr/>
          <p:nvPr/>
        </p:nvSpPr>
        <p:spPr>
          <a:xfrm>
            <a:off x="457200" y="3584448"/>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THE FIX, IN ONE SENTENCE — AND YOU BUILD IT AFTER LUNCH</a:t>
            </a:r>
            <a:endParaRPr lang="en-US" sz="800" dirty="0"/>
          </a:p>
        </p:txBody>
      </p:sp>
      <p:sp>
        <p:nvSpPr>
          <p:cNvPr id="22" name="Text 20"/>
          <p:cNvSpPr/>
          <p:nvPr/>
        </p:nvSpPr>
        <p:spPr>
          <a:xfrm>
            <a:off x="457200" y="3803904"/>
            <a:ext cx="8229600" cy="420624"/>
          </a:xfrm>
          <a:prstGeom prst="rect">
            <a:avLst/>
          </a:prstGeom>
          <a:noFill/>
          <a:ln/>
        </p:spPr>
        <p:txBody>
          <a:bodyPr wrap="square" lIns="0" tIns="0" rIns="0" bIns="0" rtlCol="0" anchor="t"/>
          <a:lstStyle/>
          <a:p>
            <a:pPr marL="0" indent="0">
              <a:lnSpc>
                <a:spcPct val="105000"/>
              </a:lnSpc>
              <a:buNone/>
            </a:pPr>
            <a:r>
              <a:rPr lang="en-US" sz="1000" dirty="0">
                <a:solidFill>
                  <a:srgbClr val="0B1E2D"/>
                </a:solidFill>
                <a:latin typeface="Calibri" pitchFamily="34" charset="0"/>
                <a:ea typeface="Calibri" pitchFamily="34" charset="-122"/>
                <a:cs typeface="Calibri" pitchFamily="34" charset="-120"/>
              </a:rPr>
              <a:t>Find the handful of your records that are actually relevant to the question, put their text into the prompt, and tell the model to answer only from what you gave it.</a:t>
            </a:r>
            <a:endParaRPr lang="en-US" sz="1000" dirty="0"/>
          </a:p>
        </p:txBody>
      </p:sp>
      <p:sp>
        <p:nvSpPr>
          <p:cNvPr id="23" name="Shape 21"/>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24" name="Shape 22"/>
          <p:cNvSpPr/>
          <p:nvPr/>
        </p:nvSpPr>
        <p:spPr>
          <a:xfrm>
            <a:off x="457200" y="4334256"/>
            <a:ext cx="54864" cy="512064"/>
          </a:xfrm>
          <a:prstGeom prst="rect">
            <a:avLst/>
          </a:prstGeom>
          <a:solidFill>
            <a:srgbClr val="00658F"/>
          </a:solidFill>
          <a:ln w="12700">
            <a:solidFill>
              <a:srgbClr val="00658F"/>
            </a:solidFill>
            <a:prstDash val="solid"/>
          </a:ln>
        </p:spPr>
        <p:txBody>
          <a:bodyPr/>
          <a:lstStyle/>
          <a:p>
            <a:endParaRPr lang="en-US"/>
          </a:p>
        </p:txBody>
      </p:sp>
      <p:sp>
        <p:nvSpPr>
          <p:cNvPr id="25" name="Text 2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This is the single most useful thing to understand about AI products: they are not smarter than the model, they are better fed.</a:t>
            </a:r>
            <a:endParaRPr lang="en-US" sz="1000" dirty="0"/>
          </a:p>
        </p:txBody>
      </p:sp>
    </p:spTree>
    <p:extLst>
      <p:ext uri="{BB962C8B-B14F-4D97-AF65-F5344CB8AC3E}">
        <p14:creationId xmlns:p14="http://schemas.microsoft.com/office/powerpoint/2010/main" val="238238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658F"/>
          </a:solidFill>
          <a:ln w="12700">
            <a:solidFill>
              <a:srgbClr val="00658F"/>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2</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An Embedding Is Meaning Turned Into Coordinates</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87552"/>
            <a:ext cx="8229600" cy="603504"/>
          </a:xfrm>
          <a:prstGeom prst="rect">
            <a:avLst/>
          </a:prstGeom>
          <a:solidFill>
            <a:srgbClr val="0B1E2D"/>
          </a:solidFill>
          <a:ln w="12700">
            <a:solidFill>
              <a:srgbClr val="0B1E2D"/>
            </a:solidFill>
            <a:prstDash val="solid"/>
          </a:ln>
        </p:spPr>
        <p:txBody>
          <a:bodyPr/>
          <a:lstStyle/>
          <a:p>
            <a:endParaRPr lang="en-US"/>
          </a:p>
        </p:txBody>
      </p:sp>
      <p:sp>
        <p:nvSpPr>
          <p:cNvPr id="7" name="Shape 5"/>
          <p:cNvSpPr/>
          <p:nvPr/>
        </p:nvSpPr>
        <p:spPr>
          <a:xfrm>
            <a:off x="658368" y="1097280"/>
            <a:ext cx="1645920" cy="384048"/>
          </a:xfrm>
          <a:prstGeom prst="rect">
            <a:avLst/>
          </a:prstGeom>
          <a:solidFill>
            <a:srgbClr val="00658F"/>
          </a:solidFill>
          <a:ln w="12700">
            <a:solidFill>
              <a:srgbClr val="00658F"/>
            </a:solidFill>
            <a:prstDash val="solid"/>
          </a:ln>
        </p:spPr>
        <p:txBody>
          <a:bodyPr/>
          <a:lstStyle/>
          <a:p>
            <a:endParaRPr lang="en-US"/>
          </a:p>
        </p:txBody>
      </p:sp>
      <p:sp>
        <p:nvSpPr>
          <p:cNvPr id="8" name="Text 6"/>
          <p:cNvSpPr/>
          <p:nvPr/>
        </p:nvSpPr>
        <p:spPr>
          <a:xfrm>
            <a:off x="658368" y="1097280"/>
            <a:ext cx="164592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 SENTENCE</a:t>
            </a:r>
            <a:endParaRPr lang="en-US" sz="900" dirty="0"/>
          </a:p>
        </p:txBody>
      </p:sp>
      <p:sp>
        <p:nvSpPr>
          <p:cNvPr id="9" name="Text 7"/>
          <p:cNvSpPr/>
          <p:nvPr/>
        </p:nvSpPr>
        <p:spPr>
          <a:xfrm>
            <a:off x="2395728" y="117957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2688336" y="1097280"/>
            <a:ext cx="2286000" cy="384048"/>
          </a:xfrm>
          <a:prstGeom prst="rect">
            <a:avLst/>
          </a:prstGeom>
          <a:solidFill>
            <a:srgbClr val="005478"/>
          </a:solidFill>
          <a:ln w="12700">
            <a:solidFill>
              <a:srgbClr val="005478"/>
            </a:solidFill>
            <a:prstDash val="solid"/>
          </a:ln>
        </p:spPr>
        <p:txBody>
          <a:bodyPr/>
          <a:lstStyle/>
          <a:p>
            <a:endParaRPr lang="en-US"/>
          </a:p>
        </p:txBody>
      </p:sp>
      <p:sp>
        <p:nvSpPr>
          <p:cNvPr id="11" name="Text 9"/>
          <p:cNvSpPr/>
          <p:nvPr/>
        </p:nvSpPr>
        <p:spPr>
          <a:xfrm>
            <a:off x="2688336" y="1097280"/>
            <a:ext cx="228600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 EMBEDDING MODEL</a:t>
            </a:r>
            <a:endParaRPr lang="en-US" sz="900" dirty="0"/>
          </a:p>
        </p:txBody>
      </p:sp>
      <p:sp>
        <p:nvSpPr>
          <p:cNvPr id="12" name="Text 10"/>
          <p:cNvSpPr/>
          <p:nvPr/>
        </p:nvSpPr>
        <p:spPr>
          <a:xfrm>
            <a:off x="5065776" y="1179576"/>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358384" y="1097280"/>
            <a:ext cx="1737360" cy="384048"/>
          </a:xfrm>
          <a:prstGeom prst="rect">
            <a:avLst/>
          </a:prstGeom>
          <a:solidFill>
            <a:srgbClr val="00658F"/>
          </a:solidFill>
          <a:ln w="12700">
            <a:solidFill>
              <a:srgbClr val="00658F"/>
            </a:solidFill>
            <a:prstDash val="solid"/>
          </a:ln>
        </p:spPr>
        <p:txBody>
          <a:bodyPr/>
          <a:lstStyle/>
          <a:p>
            <a:endParaRPr lang="en-US"/>
          </a:p>
        </p:txBody>
      </p:sp>
      <p:sp>
        <p:nvSpPr>
          <p:cNvPr id="14" name="Text 12"/>
          <p:cNvSpPr/>
          <p:nvPr/>
        </p:nvSpPr>
        <p:spPr>
          <a:xfrm>
            <a:off x="5358384" y="1097280"/>
            <a:ext cx="1737360" cy="38404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768 NUMBERS</a:t>
            </a:r>
            <a:endParaRPr lang="en-US" sz="900" dirty="0"/>
          </a:p>
        </p:txBody>
      </p:sp>
      <p:sp>
        <p:nvSpPr>
          <p:cNvPr id="15" name="Text 13"/>
          <p:cNvSpPr/>
          <p:nvPr/>
        </p:nvSpPr>
        <p:spPr>
          <a:xfrm>
            <a:off x="7223760" y="1097280"/>
            <a:ext cx="1371600" cy="384048"/>
          </a:xfrm>
          <a:prstGeom prst="rect">
            <a:avLst/>
          </a:prstGeom>
          <a:noFill/>
          <a:ln/>
        </p:spPr>
        <p:txBody>
          <a:bodyPr wrap="square" lIns="0" tIns="0" rIns="0" bIns="0" rtlCol="0" anchor="ctr"/>
          <a:lstStyle/>
          <a:p>
            <a:pPr marL="0" indent="0">
              <a:buNone/>
            </a:pPr>
            <a:r>
              <a:rPr lang="en-US" sz="800" i="1" dirty="0">
                <a:solidFill>
                  <a:srgbClr val="A8BCCE"/>
                </a:solidFill>
                <a:latin typeface="Calibri" pitchFamily="34" charset="0"/>
                <a:ea typeface="Calibri" pitchFamily="34" charset="-122"/>
                <a:cs typeface="Calibri" pitchFamily="34" charset="-120"/>
              </a:rPr>
              <a:t>a point in space</a:t>
            </a:r>
            <a:endParaRPr lang="en-US" sz="800" dirty="0"/>
          </a:p>
        </p:txBody>
      </p:sp>
      <p:sp>
        <p:nvSpPr>
          <p:cNvPr id="16" name="Text 14"/>
          <p:cNvSpPr/>
          <p:nvPr/>
        </p:nvSpPr>
        <p:spPr>
          <a:xfrm>
            <a:off x="457200" y="1700784"/>
            <a:ext cx="73152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AND THINGS THAT MEAN SIMILAR THINGS LAND NEAR EACH OTHER</a:t>
            </a:r>
            <a:endParaRPr lang="en-US" sz="800" dirty="0"/>
          </a:p>
        </p:txBody>
      </p:sp>
      <p:sp>
        <p:nvSpPr>
          <p:cNvPr id="17" name="Shape 15"/>
          <p:cNvSpPr/>
          <p:nvPr/>
        </p:nvSpPr>
        <p:spPr>
          <a:xfrm>
            <a:off x="457200" y="1920240"/>
            <a:ext cx="8229600" cy="347472"/>
          </a:xfrm>
          <a:prstGeom prst="rect">
            <a:avLst/>
          </a:prstGeom>
          <a:solidFill>
            <a:srgbClr val="EFF6FA"/>
          </a:solidFill>
          <a:ln w="6350">
            <a:solidFill>
              <a:srgbClr val="DCE5EB"/>
            </a:solidFill>
            <a:prstDash val="solid"/>
          </a:ln>
        </p:spPr>
        <p:txBody>
          <a:bodyPr/>
          <a:lstStyle/>
          <a:p>
            <a:endParaRPr lang="en-US"/>
          </a:p>
        </p:txBody>
      </p:sp>
      <p:sp>
        <p:nvSpPr>
          <p:cNvPr id="18" name="Text 16"/>
          <p:cNvSpPr/>
          <p:nvPr/>
        </p:nvSpPr>
        <p:spPr>
          <a:xfrm>
            <a:off x="566928" y="1920240"/>
            <a:ext cx="2651760" cy="347472"/>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"car"  and  "automobile"</a:t>
            </a:r>
            <a:endParaRPr lang="en-US" sz="900" dirty="0"/>
          </a:p>
        </p:txBody>
      </p:sp>
      <p:sp>
        <p:nvSpPr>
          <p:cNvPr id="19" name="Shape 17"/>
          <p:cNvSpPr/>
          <p:nvPr/>
        </p:nvSpPr>
        <p:spPr>
          <a:xfrm>
            <a:off x="3291840" y="1965960"/>
            <a:ext cx="1005840" cy="256032"/>
          </a:xfrm>
          <a:prstGeom prst="rect">
            <a:avLst/>
          </a:prstGeom>
          <a:solidFill>
            <a:srgbClr val="004260"/>
          </a:solidFill>
          <a:ln w="12700">
            <a:solidFill>
              <a:srgbClr val="004260"/>
            </a:solidFill>
            <a:prstDash val="solid"/>
          </a:ln>
        </p:spPr>
        <p:txBody>
          <a:bodyPr/>
          <a:lstStyle/>
          <a:p>
            <a:endParaRPr lang="en-US"/>
          </a:p>
        </p:txBody>
      </p:sp>
      <p:sp>
        <p:nvSpPr>
          <p:cNvPr id="20" name="Text 18"/>
          <p:cNvSpPr/>
          <p:nvPr/>
        </p:nvSpPr>
        <p:spPr>
          <a:xfrm>
            <a:off x="3291840" y="1965960"/>
            <a:ext cx="100584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very close</a:t>
            </a:r>
            <a:endParaRPr lang="en-US" sz="700" dirty="0"/>
          </a:p>
        </p:txBody>
      </p:sp>
      <p:sp>
        <p:nvSpPr>
          <p:cNvPr id="21" name="Text 19"/>
          <p:cNvSpPr/>
          <p:nvPr/>
        </p:nvSpPr>
        <p:spPr>
          <a:xfrm>
            <a:off x="4443984" y="1920240"/>
            <a:ext cx="4114800" cy="347472"/>
          </a:xfrm>
          <a:prstGeom prst="rect">
            <a:avLst/>
          </a:prstGeom>
          <a:noFill/>
          <a:ln/>
        </p:spPr>
        <p:txBody>
          <a:bodyPr wrap="square" lIns="0" tIns="0" rIns="0" bIns="0" rtlCol="0" anchor="ctr"/>
          <a:lstStyle/>
          <a:p>
            <a:pPr marL="0" indent="0">
              <a:buNone/>
            </a:pPr>
            <a:r>
              <a:rPr lang="en-US" sz="850" dirty="0">
                <a:solidFill>
                  <a:srgbClr val="7A8FA6"/>
                </a:solidFill>
                <a:latin typeface="Calibri" pitchFamily="34" charset="0"/>
                <a:ea typeface="Calibri" pitchFamily="34" charset="-122"/>
                <a:cs typeface="Calibri" pitchFamily="34" charset="-120"/>
              </a:rPr>
              <a:t>no shared letters, nearly identical meaning</a:t>
            </a:r>
            <a:endParaRPr lang="en-US" sz="850" dirty="0"/>
          </a:p>
        </p:txBody>
      </p:sp>
      <p:sp>
        <p:nvSpPr>
          <p:cNvPr id="22" name="Shape 20"/>
          <p:cNvSpPr/>
          <p:nvPr/>
        </p:nvSpPr>
        <p:spPr>
          <a:xfrm>
            <a:off x="457200" y="2304288"/>
            <a:ext cx="8229600" cy="347472"/>
          </a:xfrm>
          <a:prstGeom prst="rect">
            <a:avLst/>
          </a:prstGeom>
          <a:solidFill>
            <a:srgbClr val="FFFFFF"/>
          </a:solidFill>
          <a:ln w="6350">
            <a:solidFill>
              <a:srgbClr val="DCE5EB"/>
            </a:solidFill>
            <a:prstDash val="solid"/>
          </a:ln>
        </p:spPr>
        <p:txBody>
          <a:bodyPr/>
          <a:lstStyle/>
          <a:p>
            <a:endParaRPr lang="en-US"/>
          </a:p>
        </p:txBody>
      </p:sp>
      <p:sp>
        <p:nvSpPr>
          <p:cNvPr id="23" name="Text 21"/>
          <p:cNvSpPr/>
          <p:nvPr/>
        </p:nvSpPr>
        <p:spPr>
          <a:xfrm>
            <a:off x="566928" y="2304288"/>
            <a:ext cx="2651760" cy="347472"/>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"due Friday"  and  "deadline"</a:t>
            </a:r>
            <a:endParaRPr lang="en-US" sz="900" dirty="0"/>
          </a:p>
        </p:txBody>
      </p:sp>
      <p:sp>
        <p:nvSpPr>
          <p:cNvPr id="24" name="Shape 22"/>
          <p:cNvSpPr/>
          <p:nvPr/>
        </p:nvSpPr>
        <p:spPr>
          <a:xfrm>
            <a:off x="3291840" y="2350008"/>
            <a:ext cx="1005840" cy="256032"/>
          </a:xfrm>
          <a:prstGeom prst="rect">
            <a:avLst/>
          </a:prstGeom>
          <a:solidFill>
            <a:srgbClr val="004260"/>
          </a:solidFill>
          <a:ln w="12700">
            <a:solidFill>
              <a:srgbClr val="004260"/>
            </a:solidFill>
            <a:prstDash val="solid"/>
          </a:ln>
        </p:spPr>
        <p:txBody>
          <a:bodyPr/>
          <a:lstStyle/>
          <a:p>
            <a:endParaRPr lang="en-US"/>
          </a:p>
        </p:txBody>
      </p:sp>
      <p:sp>
        <p:nvSpPr>
          <p:cNvPr id="25" name="Text 23"/>
          <p:cNvSpPr/>
          <p:nvPr/>
        </p:nvSpPr>
        <p:spPr>
          <a:xfrm>
            <a:off x="3291840" y="2350008"/>
            <a:ext cx="100584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close</a:t>
            </a:r>
            <a:endParaRPr lang="en-US" sz="700" dirty="0"/>
          </a:p>
        </p:txBody>
      </p:sp>
      <p:sp>
        <p:nvSpPr>
          <p:cNvPr id="26" name="Text 24"/>
          <p:cNvSpPr/>
          <p:nvPr/>
        </p:nvSpPr>
        <p:spPr>
          <a:xfrm>
            <a:off x="4443984" y="2304288"/>
            <a:ext cx="4114800" cy="347472"/>
          </a:xfrm>
          <a:prstGeom prst="rect">
            <a:avLst/>
          </a:prstGeom>
          <a:noFill/>
          <a:ln/>
        </p:spPr>
        <p:txBody>
          <a:bodyPr wrap="square" lIns="0" tIns="0" rIns="0" bIns="0" rtlCol="0" anchor="ctr"/>
          <a:lstStyle/>
          <a:p>
            <a:pPr marL="0" indent="0">
              <a:buNone/>
            </a:pPr>
            <a:r>
              <a:rPr lang="en-US" sz="850" dirty="0">
                <a:solidFill>
                  <a:srgbClr val="7A8FA6"/>
                </a:solidFill>
                <a:latin typeface="Calibri" pitchFamily="34" charset="0"/>
                <a:ea typeface="Calibri" pitchFamily="34" charset="-122"/>
                <a:cs typeface="Calibri" pitchFamily="34" charset="-120"/>
              </a:rPr>
              <a:t>no shared words at all — this is the whole point</a:t>
            </a:r>
            <a:endParaRPr lang="en-US" sz="850" dirty="0"/>
          </a:p>
        </p:txBody>
      </p:sp>
      <p:sp>
        <p:nvSpPr>
          <p:cNvPr id="27" name="Shape 25"/>
          <p:cNvSpPr/>
          <p:nvPr/>
        </p:nvSpPr>
        <p:spPr>
          <a:xfrm>
            <a:off x="457200" y="2688336"/>
            <a:ext cx="8229600" cy="347472"/>
          </a:xfrm>
          <a:prstGeom prst="rect">
            <a:avLst/>
          </a:prstGeom>
          <a:solidFill>
            <a:srgbClr val="EFF6FA"/>
          </a:solidFill>
          <a:ln w="6350">
            <a:solidFill>
              <a:srgbClr val="DCE5EB"/>
            </a:solidFill>
            <a:prstDash val="solid"/>
          </a:ln>
        </p:spPr>
        <p:txBody>
          <a:bodyPr/>
          <a:lstStyle/>
          <a:p>
            <a:endParaRPr lang="en-US"/>
          </a:p>
        </p:txBody>
      </p:sp>
      <p:sp>
        <p:nvSpPr>
          <p:cNvPr id="28" name="Text 26"/>
          <p:cNvSpPr/>
          <p:nvPr/>
        </p:nvSpPr>
        <p:spPr>
          <a:xfrm>
            <a:off x="566928" y="2688336"/>
            <a:ext cx="2651760" cy="347472"/>
          </a:xfrm>
          <a:prstGeom prst="rect">
            <a:avLst/>
          </a:prstGeom>
          <a:noFill/>
          <a:ln/>
        </p:spPr>
        <p:txBody>
          <a:bodyPr wrap="square" lIns="0" tIns="0" rIns="0" bIns="0" rtlCol="0" anchor="ctr"/>
          <a:lstStyle/>
          <a:p>
            <a:pPr marL="0" indent="0">
              <a:buNone/>
            </a:pPr>
            <a:r>
              <a:rPr lang="en-US" sz="900" b="1" dirty="0">
                <a:solidFill>
                  <a:srgbClr val="0B1E2D"/>
                </a:solidFill>
                <a:latin typeface="Calibri" pitchFamily="34" charset="0"/>
                <a:ea typeface="Calibri" pitchFamily="34" charset="-122"/>
                <a:cs typeface="Calibri" pitchFamily="34" charset="-120"/>
              </a:rPr>
              <a:t>"car"  and  "banana"</a:t>
            </a:r>
            <a:endParaRPr lang="en-US" sz="900" dirty="0"/>
          </a:p>
        </p:txBody>
      </p:sp>
      <p:sp>
        <p:nvSpPr>
          <p:cNvPr id="29" name="Shape 27"/>
          <p:cNvSpPr/>
          <p:nvPr/>
        </p:nvSpPr>
        <p:spPr>
          <a:xfrm>
            <a:off x="3291840" y="2734056"/>
            <a:ext cx="1005840" cy="256032"/>
          </a:xfrm>
          <a:prstGeom prst="rect">
            <a:avLst/>
          </a:prstGeom>
          <a:solidFill>
            <a:srgbClr val="B83232"/>
          </a:solidFill>
          <a:ln w="12700">
            <a:solidFill>
              <a:srgbClr val="B83232"/>
            </a:solidFill>
            <a:prstDash val="solid"/>
          </a:ln>
        </p:spPr>
        <p:txBody>
          <a:bodyPr/>
          <a:lstStyle/>
          <a:p>
            <a:endParaRPr lang="en-US"/>
          </a:p>
        </p:txBody>
      </p:sp>
      <p:sp>
        <p:nvSpPr>
          <p:cNvPr id="30" name="Text 28"/>
          <p:cNvSpPr/>
          <p:nvPr/>
        </p:nvSpPr>
        <p:spPr>
          <a:xfrm>
            <a:off x="3291840" y="2734056"/>
            <a:ext cx="1005840" cy="256032"/>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far apart</a:t>
            </a:r>
            <a:endParaRPr lang="en-US" sz="700" dirty="0"/>
          </a:p>
        </p:txBody>
      </p:sp>
      <p:sp>
        <p:nvSpPr>
          <p:cNvPr id="31" name="Text 29"/>
          <p:cNvSpPr/>
          <p:nvPr/>
        </p:nvSpPr>
        <p:spPr>
          <a:xfrm>
            <a:off x="4443984" y="2688336"/>
            <a:ext cx="4114800" cy="347472"/>
          </a:xfrm>
          <a:prstGeom prst="rect">
            <a:avLst/>
          </a:prstGeom>
          <a:noFill/>
          <a:ln/>
        </p:spPr>
        <p:txBody>
          <a:bodyPr wrap="square" lIns="0" tIns="0" rIns="0" bIns="0" rtlCol="0" anchor="ctr"/>
          <a:lstStyle/>
          <a:p>
            <a:pPr marL="0" indent="0">
              <a:buNone/>
            </a:pPr>
            <a:r>
              <a:rPr lang="en-US" sz="850" dirty="0">
                <a:solidFill>
                  <a:srgbClr val="7A8FA6"/>
                </a:solidFill>
                <a:latin typeface="Calibri" pitchFamily="34" charset="0"/>
                <a:ea typeface="Calibri" pitchFamily="34" charset="-122"/>
                <a:cs typeface="Calibri" pitchFamily="34" charset="-120"/>
              </a:rPr>
              <a:t>nothing in common, and the numbers say so</a:t>
            </a:r>
            <a:endParaRPr lang="en-US" sz="850" dirty="0"/>
          </a:p>
        </p:txBody>
      </p:sp>
      <p:sp>
        <p:nvSpPr>
          <p:cNvPr id="32" name="Text 30"/>
          <p:cNvSpPr/>
          <p:nvPr/>
        </p:nvSpPr>
        <p:spPr>
          <a:xfrm>
            <a:off x="457200" y="3145536"/>
            <a:ext cx="54864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COSINE SIMILARITY — THE ONLY MATHS YOU NEED</a:t>
            </a:r>
            <a:endParaRPr lang="en-US" sz="800" dirty="0"/>
          </a:p>
        </p:txBody>
      </p:sp>
      <p:sp>
        <p:nvSpPr>
          <p:cNvPr id="33" name="Text 31"/>
          <p:cNvSpPr/>
          <p:nvPr/>
        </p:nvSpPr>
        <p:spPr>
          <a:xfrm>
            <a:off x="457200" y="3364992"/>
            <a:ext cx="8229600" cy="530352"/>
          </a:xfrm>
          <a:prstGeom prst="rect">
            <a:avLst/>
          </a:prstGeom>
          <a:noFill/>
          <a:ln/>
        </p:spPr>
        <p:txBody>
          <a:bodyPr wrap="square" lIns="0" tIns="0" rIns="0" bIns="0" rtlCol="0" anchor="t"/>
          <a:lstStyle/>
          <a:p>
            <a:pPr marL="0" indent="0">
              <a:lnSpc>
                <a:spcPct val="105000"/>
              </a:lnSpc>
              <a:buNone/>
            </a:pPr>
            <a:r>
              <a:rPr lang="en-US" sz="950" dirty="0">
                <a:solidFill>
                  <a:srgbClr val="0B1E2D"/>
                </a:solidFill>
                <a:latin typeface="Calibri" pitchFamily="34" charset="0"/>
                <a:ea typeface="Calibri" pitchFamily="34" charset="-122"/>
                <a:cs typeface="Calibri" pitchFamily="34" charset="-120"/>
              </a:rPr>
              <a:t>It measures the angle between two of those points, as seen from the origin. A score near 1 means the same direction — the same meaning. Near 0 means unrelated. You do not need to derive it; you need to know that a bigger number means more relevant.</a:t>
            </a:r>
            <a:endParaRPr lang="en-US" sz="950" dirty="0"/>
          </a:p>
        </p:txBody>
      </p:sp>
      <p:sp>
        <p:nvSpPr>
          <p:cNvPr id="34" name="Shape 32"/>
          <p:cNvSpPr/>
          <p:nvPr/>
        </p:nvSpPr>
        <p:spPr>
          <a:xfrm>
            <a:off x="457200" y="3913632"/>
            <a:ext cx="8229600" cy="274320"/>
          </a:xfrm>
          <a:prstGeom prst="rect">
            <a:avLst/>
          </a:prstGeom>
          <a:solidFill>
            <a:srgbClr val="FDEAEA"/>
          </a:solidFill>
          <a:ln w="12700">
            <a:solidFill>
              <a:srgbClr val="FDEAEA"/>
            </a:solidFill>
            <a:prstDash val="solid"/>
          </a:ln>
        </p:spPr>
        <p:txBody>
          <a:bodyPr/>
          <a:lstStyle/>
          <a:p>
            <a:endParaRPr lang="en-US"/>
          </a:p>
        </p:txBody>
      </p:sp>
      <p:sp>
        <p:nvSpPr>
          <p:cNvPr id="35" name="Text 33"/>
          <p:cNvSpPr/>
          <p:nvPr/>
        </p:nvSpPr>
        <p:spPr>
          <a:xfrm>
            <a:off x="566928" y="3913632"/>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Row two is why this beats the keyword search you built yesterday. Yesterday's search finds the word. This finds the meaning.</a:t>
            </a:r>
            <a:endParaRPr lang="en-US" sz="800" dirty="0"/>
          </a:p>
        </p:txBody>
      </p:sp>
      <p:sp>
        <p:nvSpPr>
          <p:cNvPr id="36" name="Shape 34"/>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37" name="Shape 35"/>
          <p:cNvSpPr/>
          <p:nvPr/>
        </p:nvSpPr>
        <p:spPr>
          <a:xfrm>
            <a:off x="457200" y="4334256"/>
            <a:ext cx="54864" cy="512064"/>
          </a:xfrm>
          <a:prstGeom prst="rect">
            <a:avLst/>
          </a:prstGeom>
          <a:solidFill>
            <a:srgbClr val="00658F"/>
          </a:solidFill>
          <a:ln w="12700">
            <a:solidFill>
              <a:srgbClr val="00658F"/>
            </a:solidFill>
            <a:prstDash val="solid"/>
          </a:ln>
        </p:spPr>
        <p:txBody>
          <a:bodyPr/>
          <a:lstStyle/>
          <a:p>
            <a:endParaRPr lang="en-US"/>
          </a:p>
        </p:txBody>
      </p:sp>
      <p:sp>
        <p:nvSpPr>
          <p:cNvPr id="38" name="Text 3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You are not teaching the model anything. You are building an index of your own words so you can hand it the right ones.</a:t>
            </a:r>
            <a:endParaRPr lang="en-US" sz="1000" dirty="0"/>
          </a:p>
        </p:txBody>
      </p:sp>
    </p:spTree>
    <p:extLst>
      <p:ext uri="{BB962C8B-B14F-4D97-AF65-F5344CB8AC3E}">
        <p14:creationId xmlns:p14="http://schemas.microsoft.com/office/powerpoint/2010/main" val="2625874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478"/>
          </a:solidFill>
          <a:ln w="12700">
            <a:solidFill>
              <a:srgbClr val="00547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RAG in Five Steps</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1005840"/>
            <a:ext cx="1481328" cy="1883664"/>
          </a:xfrm>
          <a:prstGeom prst="rect">
            <a:avLst/>
          </a:prstGeom>
          <a:solidFill>
            <a:srgbClr val="FFFFFF"/>
          </a:solidFill>
          <a:ln w="9525">
            <a:solidFill>
              <a:srgbClr val="DCE5EB"/>
            </a:solidFill>
            <a:prstDash val="solid"/>
          </a:ln>
        </p:spPr>
        <p:txBody>
          <a:bodyPr/>
          <a:lstStyle/>
          <a:p>
            <a:endParaRPr lang="en-US"/>
          </a:p>
        </p:txBody>
      </p:sp>
      <p:sp>
        <p:nvSpPr>
          <p:cNvPr id="7" name="Shape 5"/>
          <p:cNvSpPr/>
          <p:nvPr/>
        </p:nvSpPr>
        <p:spPr>
          <a:xfrm>
            <a:off x="457200" y="1005840"/>
            <a:ext cx="1481328" cy="292608"/>
          </a:xfrm>
          <a:prstGeom prst="rect">
            <a:avLst/>
          </a:prstGeom>
          <a:solidFill>
            <a:srgbClr val="0077A8"/>
          </a:solidFill>
          <a:ln w="12700">
            <a:solidFill>
              <a:srgbClr val="0077A8"/>
            </a:solidFill>
            <a:prstDash val="solid"/>
          </a:ln>
        </p:spPr>
        <p:txBody>
          <a:bodyPr/>
          <a:lstStyle/>
          <a:p>
            <a:endParaRPr lang="en-US"/>
          </a:p>
        </p:txBody>
      </p:sp>
      <p:sp>
        <p:nvSpPr>
          <p:cNvPr id="8" name="Text 6"/>
          <p:cNvSpPr/>
          <p:nvPr/>
        </p:nvSpPr>
        <p:spPr>
          <a:xfrm>
            <a:off x="457200" y="1005840"/>
            <a:ext cx="148132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CHUNK</a:t>
            </a:r>
            <a:endParaRPr lang="en-US" sz="850" dirty="0"/>
          </a:p>
        </p:txBody>
      </p:sp>
      <p:sp>
        <p:nvSpPr>
          <p:cNvPr id="9" name="Text 7"/>
          <p:cNvSpPr/>
          <p:nvPr/>
        </p:nvSpPr>
        <p:spPr>
          <a:xfrm>
            <a:off x="566928" y="1389888"/>
            <a:ext cx="1261872" cy="969264"/>
          </a:xfrm>
          <a:prstGeom prst="rect">
            <a:avLst/>
          </a:prstGeom>
          <a:noFill/>
          <a:ln/>
        </p:spPr>
        <p:txBody>
          <a:bodyPr wrap="square" lIns="0" tIns="0" rIns="0" bIns="0" rtlCol="0" anchor="t"/>
          <a:lstStyle/>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Split each record into</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pieces small enough</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to be about one thing</a:t>
            </a:r>
            <a:endParaRPr lang="en-US" sz="750" dirty="0"/>
          </a:p>
        </p:txBody>
      </p:sp>
      <p:sp>
        <p:nvSpPr>
          <p:cNvPr id="10" name="Text 8"/>
          <p:cNvSpPr/>
          <p:nvPr/>
        </p:nvSpPr>
        <p:spPr>
          <a:xfrm>
            <a:off x="566928" y="2523744"/>
            <a:ext cx="1261872" cy="237744"/>
          </a:xfrm>
          <a:prstGeom prst="rect">
            <a:avLst/>
          </a:prstGeom>
          <a:noFill/>
          <a:ln/>
        </p:spPr>
        <p:txBody>
          <a:bodyPr wrap="square" lIns="0" tIns="0" rIns="0" bIns="0" rtlCol="0" anchor="ctr"/>
          <a:lstStyle/>
          <a:p>
            <a:pPr marL="0" indent="0">
              <a:buNone/>
            </a:pPr>
            <a:r>
              <a:rPr lang="en-US" sz="650" b="1" kern="0" spc="50" dirty="0">
                <a:solidFill>
                  <a:srgbClr val="0077A8"/>
                </a:solidFill>
                <a:latin typeface="Calibri" pitchFamily="34" charset="0"/>
                <a:ea typeface="Calibri" pitchFamily="34" charset="-122"/>
                <a:cs typeface="Calibri" pitchFamily="34" charset="-120"/>
              </a:rPr>
              <a:t>you write this</a:t>
            </a:r>
            <a:endParaRPr lang="en-US" sz="650" dirty="0"/>
          </a:p>
        </p:txBody>
      </p:sp>
      <p:sp>
        <p:nvSpPr>
          <p:cNvPr id="11" name="Text 9"/>
          <p:cNvSpPr/>
          <p:nvPr/>
        </p:nvSpPr>
        <p:spPr>
          <a:xfrm>
            <a:off x="1956816" y="181051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2121408" y="1005840"/>
            <a:ext cx="1481328" cy="1883664"/>
          </a:xfrm>
          <a:prstGeom prst="rect">
            <a:avLst/>
          </a:prstGeom>
          <a:solidFill>
            <a:srgbClr val="FFFFFF"/>
          </a:solidFill>
          <a:ln w="9525">
            <a:solidFill>
              <a:srgbClr val="DCE5EB"/>
            </a:solidFill>
            <a:prstDash val="solid"/>
          </a:ln>
        </p:spPr>
        <p:txBody>
          <a:bodyPr/>
          <a:lstStyle/>
          <a:p>
            <a:endParaRPr lang="en-US"/>
          </a:p>
        </p:txBody>
      </p:sp>
      <p:sp>
        <p:nvSpPr>
          <p:cNvPr id="13" name="Shape 11"/>
          <p:cNvSpPr/>
          <p:nvPr/>
        </p:nvSpPr>
        <p:spPr>
          <a:xfrm>
            <a:off x="2121408" y="1005840"/>
            <a:ext cx="1481328" cy="292608"/>
          </a:xfrm>
          <a:prstGeom prst="rect">
            <a:avLst/>
          </a:prstGeom>
          <a:solidFill>
            <a:srgbClr val="00658F"/>
          </a:solidFill>
          <a:ln w="12700">
            <a:solidFill>
              <a:srgbClr val="00658F"/>
            </a:solidFill>
            <a:prstDash val="solid"/>
          </a:ln>
        </p:spPr>
        <p:txBody>
          <a:bodyPr/>
          <a:lstStyle/>
          <a:p>
            <a:endParaRPr lang="en-US"/>
          </a:p>
        </p:txBody>
      </p:sp>
      <p:sp>
        <p:nvSpPr>
          <p:cNvPr id="14" name="Text 12"/>
          <p:cNvSpPr/>
          <p:nvPr/>
        </p:nvSpPr>
        <p:spPr>
          <a:xfrm>
            <a:off x="2121408" y="1005840"/>
            <a:ext cx="148132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EMBED</a:t>
            </a:r>
            <a:endParaRPr lang="en-US" sz="850" dirty="0"/>
          </a:p>
        </p:txBody>
      </p:sp>
      <p:sp>
        <p:nvSpPr>
          <p:cNvPr id="15" name="Text 13"/>
          <p:cNvSpPr/>
          <p:nvPr/>
        </p:nvSpPr>
        <p:spPr>
          <a:xfrm>
            <a:off x="2231136" y="1389888"/>
            <a:ext cx="1261872" cy="969264"/>
          </a:xfrm>
          <a:prstGeom prst="rect">
            <a:avLst/>
          </a:prstGeom>
          <a:noFill/>
          <a:ln/>
        </p:spPr>
        <p:txBody>
          <a:bodyPr wrap="square" lIns="0" tIns="0" rIns="0" bIns="0" rtlCol="0" anchor="t"/>
          <a:lstStyle/>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Turn every chunk into</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its 768 numbers, once,</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when the record is saved</a:t>
            </a:r>
            <a:endParaRPr lang="en-US" sz="750" dirty="0"/>
          </a:p>
        </p:txBody>
      </p:sp>
      <p:sp>
        <p:nvSpPr>
          <p:cNvPr id="16" name="Text 14"/>
          <p:cNvSpPr/>
          <p:nvPr/>
        </p:nvSpPr>
        <p:spPr>
          <a:xfrm>
            <a:off x="2231136" y="2523744"/>
            <a:ext cx="1261872" cy="237744"/>
          </a:xfrm>
          <a:prstGeom prst="rect">
            <a:avLst/>
          </a:prstGeom>
          <a:noFill/>
          <a:ln/>
        </p:spPr>
        <p:txBody>
          <a:bodyPr wrap="square" lIns="0" tIns="0" rIns="0" bIns="0" rtlCol="0" anchor="ctr"/>
          <a:lstStyle/>
          <a:p>
            <a:pPr marL="0" indent="0">
              <a:buNone/>
            </a:pPr>
            <a:r>
              <a:rPr lang="en-US" sz="650" b="1" kern="0" spc="50" dirty="0">
                <a:solidFill>
                  <a:srgbClr val="00658F"/>
                </a:solidFill>
                <a:latin typeface="Calibri" pitchFamily="34" charset="0"/>
                <a:ea typeface="Calibri" pitchFamily="34" charset="-122"/>
                <a:cs typeface="Calibri" pitchFamily="34" charset="-120"/>
              </a:rPr>
              <a:t>helper given</a:t>
            </a:r>
            <a:endParaRPr lang="en-US" sz="650" dirty="0"/>
          </a:p>
        </p:txBody>
      </p:sp>
      <p:sp>
        <p:nvSpPr>
          <p:cNvPr id="17" name="Text 15"/>
          <p:cNvSpPr/>
          <p:nvPr/>
        </p:nvSpPr>
        <p:spPr>
          <a:xfrm>
            <a:off x="3621024" y="181051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3785616" y="1005840"/>
            <a:ext cx="1481328" cy="1883664"/>
          </a:xfrm>
          <a:prstGeom prst="rect">
            <a:avLst/>
          </a:prstGeom>
          <a:solidFill>
            <a:srgbClr val="FFFFFF"/>
          </a:solidFill>
          <a:ln w="9525">
            <a:solidFill>
              <a:srgbClr val="DCE5EB"/>
            </a:solidFill>
            <a:prstDash val="solid"/>
          </a:ln>
        </p:spPr>
        <p:txBody>
          <a:bodyPr/>
          <a:lstStyle/>
          <a:p>
            <a:endParaRPr lang="en-US"/>
          </a:p>
        </p:txBody>
      </p:sp>
      <p:sp>
        <p:nvSpPr>
          <p:cNvPr id="19" name="Shape 17"/>
          <p:cNvSpPr/>
          <p:nvPr/>
        </p:nvSpPr>
        <p:spPr>
          <a:xfrm>
            <a:off x="3785616" y="1005840"/>
            <a:ext cx="1481328" cy="292608"/>
          </a:xfrm>
          <a:prstGeom prst="rect">
            <a:avLst/>
          </a:prstGeom>
          <a:solidFill>
            <a:srgbClr val="0077A8"/>
          </a:solidFill>
          <a:ln w="12700">
            <a:solidFill>
              <a:srgbClr val="0077A8"/>
            </a:solidFill>
            <a:prstDash val="solid"/>
          </a:ln>
        </p:spPr>
        <p:txBody>
          <a:bodyPr/>
          <a:lstStyle/>
          <a:p>
            <a:endParaRPr lang="en-US"/>
          </a:p>
        </p:txBody>
      </p:sp>
      <p:sp>
        <p:nvSpPr>
          <p:cNvPr id="20" name="Text 18"/>
          <p:cNvSpPr/>
          <p:nvPr/>
        </p:nvSpPr>
        <p:spPr>
          <a:xfrm>
            <a:off x="3785616" y="1005840"/>
            <a:ext cx="148132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STORE</a:t>
            </a:r>
            <a:endParaRPr lang="en-US" sz="850" dirty="0"/>
          </a:p>
        </p:txBody>
      </p:sp>
      <p:sp>
        <p:nvSpPr>
          <p:cNvPr id="21" name="Text 19"/>
          <p:cNvSpPr/>
          <p:nvPr/>
        </p:nvSpPr>
        <p:spPr>
          <a:xfrm>
            <a:off x="3895344" y="1389888"/>
            <a:ext cx="1261872" cy="969264"/>
          </a:xfrm>
          <a:prstGeom prst="rect">
            <a:avLst/>
          </a:prstGeom>
          <a:noFill/>
          <a:ln/>
        </p:spPr>
        <p:txBody>
          <a:bodyPr wrap="square" lIns="0" tIns="0" rIns="0" bIns="0" rtlCol="0" anchor="t"/>
          <a:lstStyle/>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Keep the numbers next</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to the text, in the</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column you already have</a:t>
            </a:r>
            <a:endParaRPr lang="en-US" sz="750" dirty="0"/>
          </a:p>
        </p:txBody>
      </p:sp>
      <p:sp>
        <p:nvSpPr>
          <p:cNvPr id="22" name="Text 20"/>
          <p:cNvSpPr/>
          <p:nvPr/>
        </p:nvSpPr>
        <p:spPr>
          <a:xfrm>
            <a:off x="3895344" y="2523744"/>
            <a:ext cx="1261872" cy="237744"/>
          </a:xfrm>
          <a:prstGeom prst="rect">
            <a:avLst/>
          </a:prstGeom>
          <a:noFill/>
          <a:ln/>
        </p:spPr>
        <p:txBody>
          <a:bodyPr wrap="square" lIns="0" tIns="0" rIns="0" bIns="0" rtlCol="0" anchor="ctr"/>
          <a:lstStyle/>
          <a:p>
            <a:pPr marL="0" indent="0">
              <a:buNone/>
            </a:pPr>
            <a:r>
              <a:rPr lang="en-US" sz="650" b="1" kern="0" spc="50" dirty="0">
                <a:solidFill>
                  <a:srgbClr val="0077A8"/>
                </a:solidFill>
                <a:latin typeface="Calibri" pitchFamily="34" charset="0"/>
                <a:ea typeface="Calibri" pitchFamily="34" charset="-122"/>
                <a:cs typeface="Calibri" pitchFamily="34" charset="-120"/>
              </a:rPr>
              <a:t>you write this</a:t>
            </a:r>
            <a:endParaRPr lang="en-US" sz="650" dirty="0"/>
          </a:p>
        </p:txBody>
      </p:sp>
      <p:sp>
        <p:nvSpPr>
          <p:cNvPr id="23" name="Text 21"/>
          <p:cNvSpPr/>
          <p:nvPr/>
        </p:nvSpPr>
        <p:spPr>
          <a:xfrm>
            <a:off x="5285232" y="181051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5449824" y="1005840"/>
            <a:ext cx="1481328" cy="1883664"/>
          </a:xfrm>
          <a:prstGeom prst="rect">
            <a:avLst/>
          </a:prstGeom>
          <a:solidFill>
            <a:srgbClr val="FFFFFF"/>
          </a:solidFill>
          <a:ln w="9525">
            <a:solidFill>
              <a:srgbClr val="DCE5EB"/>
            </a:solidFill>
            <a:prstDash val="solid"/>
          </a:ln>
        </p:spPr>
        <p:txBody>
          <a:bodyPr/>
          <a:lstStyle/>
          <a:p>
            <a:endParaRPr lang="en-US"/>
          </a:p>
        </p:txBody>
      </p:sp>
      <p:sp>
        <p:nvSpPr>
          <p:cNvPr id="25" name="Shape 23"/>
          <p:cNvSpPr/>
          <p:nvPr/>
        </p:nvSpPr>
        <p:spPr>
          <a:xfrm>
            <a:off x="5449824" y="1005840"/>
            <a:ext cx="1481328" cy="292608"/>
          </a:xfrm>
          <a:prstGeom prst="rect">
            <a:avLst/>
          </a:prstGeom>
          <a:solidFill>
            <a:srgbClr val="004260"/>
          </a:solidFill>
          <a:ln w="12700">
            <a:solidFill>
              <a:srgbClr val="004260"/>
            </a:solidFill>
            <a:prstDash val="solid"/>
          </a:ln>
        </p:spPr>
        <p:txBody>
          <a:bodyPr/>
          <a:lstStyle/>
          <a:p>
            <a:endParaRPr lang="en-US"/>
          </a:p>
        </p:txBody>
      </p:sp>
      <p:sp>
        <p:nvSpPr>
          <p:cNvPr id="26" name="Text 24"/>
          <p:cNvSpPr/>
          <p:nvPr/>
        </p:nvSpPr>
        <p:spPr>
          <a:xfrm>
            <a:off x="5449824" y="1005840"/>
            <a:ext cx="148132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RETRIEVE</a:t>
            </a:r>
            <a:endParaRPr lang="en-US" sz="850" dirty="0"/>
          </a:p>
        </p:txBody>
      </p:sp>
      <p:sp>
        <p:nvSpPr>
          <p:cNvPr id="27" name="Text 25"/>
          <p:cNvSpPr/>
          <p:nvPr/>
        </p:nvSpPr>
        <p:spPr>
          <a:xfrm>
            <a:off x="5559552" y="1389888"/>
            <a:ext cx="1261872" cy="969264"/>
          </a:xfrm>
          <a:prstGeom prst="rect">
            <a:avLst/>
          </a:prstGeom>
          <a:noFill/>
          <a:ln/>
        </p:spPr>
        <p:txBody>
          <a:bodyPr wrap="square" lIns="0" tIns="0" rIns="0" bIns="0" rtlCol="0" anchor="t"/>
          <a:lstStyle/>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Embed the question,</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then find the closest</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few chunks you hold</a:t>
            </a:r>
            <a:endParaRPr lang="en-US" sz="750" dirty="0"/>
          </a:p>
        </p:txBody>
      </p:sp>
      <p:sp>
        <p:nvSpPr>
          <p:cNvPr id="28" name="Text 26"/>
          <p:cNvSpPr/>
          <p:nvPr/>
        </p:nvSpPr>
        <p:spPr>
          <a:xfrm>
            <a:off x="5559552" y="2523744"/>
            <a:ext cx="1261872" cy="237744"/>
          </a:xfrm>
          <a:prstGeom prst="rect">
            <a:avLst/>
          </a:prstGeom>
          <a:noFill/>
          <a:ln/>
        </p:spPr>
        <p:txBody>
          <a:bodyPr wrap="square" lIns="0" tIns="0" rIns="0" bIns="0" rtlCol="0" anchor="ctr"/>
          <a:lstStyle/>
          <a:p>
            <a:pPr marL="0" indent="0">
              <a:buNone/>
            </a:pPr>
            <a:r>
              <a:rPr lang="en-US" sz="650" b="1" kern="0" spc="50" dirty="0">
                <a:solidFill>
                  <a:srgbClr val="004260"/>
                </a:solidFill>
                <a:latin typeface="Calibri" pitchFamily="34" charset="0"/>
                <a:ea typeface="Calibri" pitchFamily="34" charset="-122"/>
                <a:cs typeface="Calibri" pitchFamily="34" charset="-120"/>
              </a:rPr>
              <a:t>you write this</a:t>
            </a:r>
            <a:endParaRPr lang="en-US" sz="650" dirty="0"/>
          </a:p>
        </p:txBody>
      </p:sp>
      <p:sp>
        <p:nvSpPr>
          <p:cNvPr id="29" name="Text 27"/>
          <p:cNvSpPr/>
          <p:nvPr/>
        </p:nvSpPr>
        <p:spPr>
          <a:xfrm>
            <a:off x="6949440" y="1810512"/>
            <a:ext cx="201168" cy="219456"/>
          </a:xfrm>
          <a:prstGeom prst="rect">
            <a:avLst/>
          </a:prstGeom>
          <a:noFill/>
          <a:ln/>
        </p:spPr>
        <p:txBody>
          <a:bodyPr wrap="square" lIns="0" tIns="0" rIns="0" bIns="0" rtlCol="0" anchor="ctr"/>
          <a:lstStyle/>
          <a:p>
            <a:pPr marL="0" indent="0" algn="ctr">
              <a:buNone/>
            </a:pPr>
            <a:r>
              <a:rPr lang="en-US" sz="1600" b="1" dirty="0">
                <a:solidFill>
                  <a:srgbClr val="A8BCCE"/>
                </a:solidFill>
                <a:latin typeface="Calibri" pitchFamily="34" charset="0"/>
                <a:ea typeface="Calibri" pitchFamily="34" charset="-122"/>
                <a:cs typeface="Calibri" pitchFamily="34" charset="-120"/>
              </a:rPr>
              <a:t>›</a:t>
            </a:r>
            <a:endParaRPr lang="en-US" sz="1600" dirty="0"/>
          </a:p>
        </p:txBody>
      </p:sp>
      <p:sp>
        <p:nvSpPr>
          <p:cNvPr id="30" name="Shape 28"/>
          <p:cNvSpPr/>
          <p:nvPr/>
        </p:nvSpPr>
        <p:spPr>
          <a:xfrm>
            <a:off x="7114032" y="1005840"/>
            <a:ext cx="1481328" cy="1883664"/>
          </a:xfrm>
          <a:prstGeom prst="rect">
            <a:avLst/>
          </a:prstGeom>
          <a:solidFill>
            <a:srgbClr val="FFFFFF"/>
          </a:solidFill>
          <a:ln w="9525">
            <a:solidFill>
              <a:srgbClr val="DCE5EB"/>
            </a:solidFill>
            <a:prstDash val="solid"/>
          </a:ln>
        </p:spPr>
        <p:txBody>
          <a:bodyPr/>
          <a:lstStyle/>
          <a:p>
            <a:endParaRPr lang="en-US"/>
          </a:p>
        </p:txBody>
      </p:sp>
      <p:sp>
        <p:nvSpPr>
          <p:cNvPr id="31" name="Shape 29"/>
          <p:cNvSpPr/>
          <p:nvPr/>
        </p:nvSpPr>
        <p:spPr>
          <a:xfrm>
            <a:off x="7114032" y="1005840"/>
            <a:ext cx="1481328" cy="292608"/>
          </a:xfrm>
          <a:prstGeom prst="rect">
            <a:avLst/>
          </a:prstGeom>
          <a:solidFill>
            <a:srgbClr val="005478"/>
          </a:solidFill>
          <a:ln w="12700">
            <a:solidFill>
              <a:srgbClr val="005478"/>
            </a:solidFill>
            <a:prstDash val="solid"/>
          </a:ln>
        </p:spPr>
        <p:txBody>
          <a:bodyPr/>
          <a:lstStyle/>
          <a:p>
            <a:endParaRPr lang="en-US"/>
          </a:p>
        </p:txBody>
      </p:sp>
      <p:sp>
        <p:nvSpPr>
          <p:cNvPr id="32" name="Text 30"/>
          <p:cNvSpPr/>
          <p:nvPr/>
        </p:nvSpPr>
        <p:spPr>
          <a:xfrm>
            <a:off x="7114032" y="1005840"/>
            <a:ext cx="148132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GENERATE</a:t>
            </a:r>
            <a:endParaRPr lang="en-US" sz="850" dirty="0"/>
          </a:p>
        </p:txBody>
      </p:sp>
      <p:sp>
        <p:nvSpPr>
          <p:cNvPr id="33" name="Text 31"/>
          <p:cNvSpPr/>
          <p:nvPr/>
        </p:nvSpPr>
        <p:spPr>
          <a:xfrm>
            <a:off x="7223760" y="1389888"/>
            <a:ext cx="1261872" cy="969264"/>
          </a:xfrm>
          <a:prstGeom prst="rect">
            <a:avLst/>
          </a:prstGeom>
          <a:noFill/>
          <a:ln/>
        </p:spPr>
        <p:txBody>
          <a:bodyPr wrap="square" lIns="0" tIns="0" rIns="0" bIns="0" rtlCol="0" anchor="t"/>
          <a:lstStyle/>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Put those chunks in the</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prompt and ask the</a:t>
            </a:r>
            <a:endParaRPr lang="en-US" sz="750" dirty="0"/>
          </a:p>
          <a:p>
            <a:pPr marL="0" indent="0">
              <a:lnSpc>
                <a:spcPct val="108000"/>
              </a:lnSpc>
              <a:buNone/>
            </a:pPr>
            <a:r>
              <a:rPr lang="en-US" sz="750" dirty="0">
                <a:solidFill>
                  <a:srgbClr val="0B1E2D"/>
                </a:solidFill>
                <a:latin typeface="Calibri" pitchFamily="34" charset="0"/>
                <a:ea typeface="Calibri" pitchFamily="34" charset="-122"/>
                <a:cs typeface="Calibri" pitchFamily="34" charset="-120"/>
              </a:rPr>
              <a:t>model to answer from them</a:t>
            </a:r>
            <a:endParaRPr lang="en-US" sz="750" dirty="0"/>
          </a:p>
        </p:txBody>
      </p:sp>
      <p:sp>
        <p:nvSpPr>
          <p:cNvPr id="34" name="Text 32"/>
          <p:cNvSpPr/>
          <p:nvPr/>
        </p:nvSpPr>
        <p:spPr>
          <a:xfrm>
            <a:off x="7223760" y="2523744"/>
            <a:ext cx="1261872" cy="237744"/>
          </a:xfrm>
          <a:prstGeom prst="rect">
            <a:avLst/>
          </a:prstGeom>
          <a:noFill/>
          <a:ln/>
        </p:spPr>
        <p:txBody>
          <a:bodyPr wrap="square" lIns="0" tIns="0" rIns="0" bIns="0" rtlCol="0" anchor="ctr"/>
          <a:lstStyle/>
          <a:p>
            <a:pPr marL="0" indent="0">
              <a:buNone/>
            </a:pPr>
            <a:r>
              <a:rPr lang="en-US" sz="650" b="1" kern="0" spc="50" dirty="0">
                <a:solidFill>
                  <a:srgbClr val="005478"/>
                </a:solidFill>
                <a:latin typeface="Calibri" pitchFamily="34" charset="0"/>
                <a:ea typeface="Calibri" pitchFamily="34" charset="-122"/>
                <a:cs typeface="Calibri" pitchFamily="34" charset="-120"/>
              </a:rPr>
              <a:t>you write this</a:t>
            </a:r>
            <a:endParaRPr lang="en-US" sz="650" dirty="0"/>
          </a:p>
        </p:txBody>
      </p:sp>
      <p:sp>
        <p:nvSpPr>
          <p:cNvPr id="35" name="Text 33"/>
          <p:cNvSpPr/>
          <p:nvPr/>
        </p:nvSpPr>
        <p:spPr>
          <a:xfrm>
            <a:off x="457200" y="3017520"/>
            <a:ext cx="54864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THE NAME IS THE ALGORITHM</a:t>
            </a:r>
            <a:endParaRPr lang="en-US" sz="800" dirty="0"/>
          </a:p>
        </p:txBody>
      </p:sp>
      <p:sp>
        <p:nvSpPr>
          <p:cNvPr id="36" name="Text 34"/>
          <p:cNvSpPr/>
          <p:nvPr/>
        </p:nvSpPr>
        <p:spPr>
          <a:xfrm>
            <a:off x="457200" y="3236976"/>
            <a:ext cx="8229600" cy="530352"/>
          </a:xfrm>
          <a:prstGeom prst="rect">
            <a:avLst/>
          </a:prstGeom>
          <a:noFill/>
          <a:ln/>
        </p:spPr>
        <p:txBody>
          <a:bodyPr wrap="square" lIns="0" tIns="0" rIns="0" bIns="0" rtlCol="0" anchor="t"/>
          <a:lstStyle/>
          <a:p>
            <a:pPr marL="0" indent="0">
              <a:lnSpc>
                <a:spcPct val="105000"/>
              </a:lnSpc>
              <a:buNone/>
            </a:pPr>
            <a:r>
              <a:rPr lang="en-US" sz="1000" dirty="0">
                <a:solidFill>
                  <a:srgbClr val="0B1E2D"/>
                </a:solidFill>
                <a:latin typeface="Calibri" pitchFamily="34" charset="0"/>
                <a:ea typeface="Calibri" pitchFamily="34" charset="-122"/>
                <a:cs typeface="Calibri" pitchFamily="34" charset="-120"/>
              </a:rPr>
              <a:t>Retrieval-Augmented Generation. Retrieve the relevant pieces, augment the prompt with them, then generate. There is no fine-tuning, no training, and no model of yours anywhere — just very well-targeted copy and paste, done by code.</a:t>
            </a:r>
            <a:endParaRPr lang="en-US" sz="1000" dirty="0"/>
          </a:p>
        </p:txBody>
      </p:sp>
      <p:sp>
        <p:nvSpPr>
          <p:cNvPr id="37" name="Shape 35"/>
          <p:cNvSpPr/>
          <p:nvPr/>
        </p:nvSpPr>
        <p:spPr>
          <a:xfrm>
            <a:off x="457200" y="3858768"/>
            <a:ext cx="8229600" cy="274320"/>
          </a:xfrm>
          <a:prstGeom prst="rect">
            <a:avLst/>
          </a:prstGeom>
          <a:solidFill>
            <a:srgbClr val="FDEAEA"/>
          </a:solidFill>
          <a:ln w="12700">
            <a:solidFill>
              <a:srgbClr val="FDEAEA"/>
            </a:solidFill>
            <a:prstDash val="solid"/>
          </a:ln>
        </p:spPr>
        <p:txBody>
          <a:bodyPr/>
          <a:lstStyle/>
          <a:p>
            <a:endParaRPr lang="en-US"/>
          </a:p>
        </p:txBody>
      </p:sp>
      <p:sp>
        <p:nvSpPr>
          <p:cNvPr id="38" name="Text 36"/>
          <p:cNvSpPr/>
          <p:nvPr/>
        </p:nvSpPr>
        <p:spPr>
          <a:xfrm>
            <a:off x="566928" y="3858768"/>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Embed when you SAVE a record, not when someone asks a question. Embedding fifty records live on every question is slow, expensive, and completely unnecessary.</a:t>
            </a:r>
            <a:endParaRPr lang="en-US" sz="800" dirty="0"/>
          </a:p>
        </p:txBody>
      </p:sp>
      <p:sp>
        <p:nvSpPr>
          <p:cNvPr id="39" name="Shape 37"/>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40" name="Shape 38"/>
          <p:cNvSpPr/>
          <p:nvPr/>
        </p:nvSpPr>
        <p:spPr>
          <a:xfrm>
            <a:off x="457200" y="4334256"/>
            <a:ext cx="54864" cy="512064"/>
          </a:xfrm>
          <a:prstGeom prst="rect">
            <a:avLst/>
          </a:prstGeom>
          <a:solidFill>
            <a:srgbClr val="005478"/>
          </a:solidFill>
          <a:ln w="12700">
            <a:solidFill>
              <a:srgbClr val="005478"/>
            </a:solidFill>
            <a:prstDash val="solid"/>
          </a:ln>
        </p:spPr>
        <p:txBody>
          <a:bodyPr/>
          <a:lstStyle/>
          <a:p>
            <a:endParaRPr lang="en-US"/>
          </a:p>
        </p:txBody>
      </p:sp>
      <p:sp>
        <p:nvSpPr>
          <p:cNvPr id="41" name="Text 39"/>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Four of the five steps are ordinary code you already know how to write. Only one of them talks to a model.</a:t>
            </a:r>
            <a:endParaRPr lang="en-US" sz="1000" dirty="0"/>
          </a:p>
        </p:txBody>
      </p:sp>
    </p:spTree>
    <p:extLst>
      <p:ext uri="{BB962C8B-B14F-4D97-AF65-F5344CB8AC3E}">
        <p14:creationId xmlns:p14="http://schemas.microsoft.com/office/powerpoint/2010/main" val="3978245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478"/>
          </a:solidFill>
          <a:ln w="12700">
            <a:solidFill>
              <a:srgbClr val="00547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Your Vector Database Is Six Lines of JavaScript</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Text 4"/>
          <p:cNvSpPr/>
          <p:nvPr/>
        </p:nvSpPr>
        <p:spPr>
          <a:xfrm>
            <a:off x="457200" y="969264"/>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STORING IT — THE SAME TRICK AS WEDNESDAY'S TAGS</a:t>
            </a:r>
            <a:endParaRPr lang="en-US" sz="800" dirty="0"/>
          </a:p>
        </p:txBody>
      </p:sp>
      <p:sp>
        <p:nvSpPr>
          <p:cNvPr id="7" name="Shape 5"/>
          <p:cNvSpPr/>
          <p:nvPr/>
        </p:nvSpPr>
        <p:spPr>
          <a:xfrm>
            <a:off x="457200" y="1170432"/>
            <a:ext cx="4023360" cy="640080"/>
          </a:xfrm>
          <a:prstGeom prst="rect">
            <a:avLst/>
          </a:prstGeom>
          <a:solidFill>
            <a:srgbClr val="0B1E2D"/>
          </a:solidFill>
          <a:ln w="12700">
            <a:solidFill>
              <a:srgbClr val="0B1E2D"/>
            </a:solidFill>
            <a:prstDash val="solid"/>
          </a:ln>
        </p:spPr>
        <p:txBody>
          <a:bodyPr/>
          <a:lstStyle/>
          <a:p>
            <a:endParaRPr lang="en-US"/>
          </a:p>
        </p:txBody>
      </p:sp>
      <p:sp>
        <p:nvSpPr>
          <p:cNvPr id="8" name="Text 6"/>
          <p:cNvSpPr/>
          <p:nvPr/>
        </p:nvSpPr>
        <p:spPr>
          <a:xfrm>
            <a:off x="640080" y="1261872"/>
            <a:ext cx="3694176" cy="457200"/>
          </a:xfrm>
          <a:prstGeom prst="rect">
            <a:avLst/>
          </a:prstGeom>
          <a:noFill/>
          <a:ln/>
        </p:spPr>
        <p:txBody>
          <a:bodyPr wrap="square" lIns="0" tIns="0" rIns="0" bIns="0" rtlCol="0" anchor="t"/>
          <a:lstStyle/>
          <a:p>
            <a:pPr marL="0" indent="0">
              <a:lnSpc>
                <a:spcPct val="112000"/>
              </a:lnSpc>
              <a:buNone/>
            </a:pPr>
            <a:r>
              <a:rPr lang="en-US" sz="900" dirty="0">
                <a:solidFill>
                  <a:srgbClr val="F0C070"/>
                </a:solidFill>
                <a:latin typeface="Courier New" pitchFamily="34" charset="0"/>
                <a:ea typeface="Courier New" pitchFamily="34" charset="-122"/>
                <a:cs typeface="Courier New" pitchFamily="34" charset="-120"/>
              </a:rPr>
              <a:t>JSON.stringify(vector)      // to save</a:t>
            </a:r>
            <a:endParaRPr lang="en-US" sz="900" dirty="0"/>
          </a:p>
          <a:p>
            <a:pPr marL="0" indent="0">
              <a:lnSpc>
                <a:spcPct val="112000"/>
              </a:lnSpc>
              <a:buNone/>
            </a:pPr>
            <a:r>
              <a:rPr lang="en-US" sz="900" dirty="0">
                <a:solidFill>
                  <a:srgbClr val="F0C070"/>
                </a:solidFill>
                <a:latin typeface="Courier New" pitchFamily="34" charset="0"/>
                <a:ea typeface="Courier New" pitchFamily="34" charset="-122"/>
                <a:cs typeface="Courier New" pitchFamily="34" charset="-120"/>
              </a:rPr>
              <a:t>JSON.parse(row.embedding)   // to read</a:t>
            </a:r>
            <a:endParaRPr lang="en-US" sz="900" dirty="0"/>
          </a:p>
        </p:txBody>
      </p:sp>
      <p:sp>
        <p:nvSpPr>
          <p:cNvPr id="9" name="Shape 7"/>
          <p:cNvSpPr/>
          <p:nvPr/>
        </p:nvSpPr>
        <p:spPr>
          <a:xfrm>
            <a:off x="4681728" y="1170432"/>
            <a:ext cx="4005072" cy="640080"/>
          </a:xfrm>
          <a:prstGeom prst="rect">
            <a:avLst/>
          </a:prstGeom>
          <a:solidFill>
            <a:srgbClr val="EFF6FA"/>
          </a:solidFill>
          <a:ln w="12700">
            <a:solidFill>
              <a:srgbClr val="EFF6FA"/>
            </a:solidFill>
            <a:prstDash val="solid"/>
          </a:ln>
        </p:spPr>
        <p:txBody>
          <a:bodyPr/>
          <a:lstStyle/>
          <a:p>
            <a:endParaRPr lang="en-US"/>
          </a:p>
        </p:txBody>
      </p:sp>
      <p:sp>
        <p:nvSpPr>
          <p:cNvPr id="10" name="Shape 8"/>
          <p:cNvSpPr/>
          <p:nvPr/>
        </p:nvSpPr>
        <p:spPr>
          <a:xfrm>
            <a:off x="4681728" y="1170432"/>
            <a:ext cx="54864" cy="640080"/>
          </a:xfrm>
          <a:prstGeom prst="rect">
            <a:avLst/>
          </a:prstGeom>
          <a:solidFill>
            <a:srgbClr val="0077A8"/>
          </a:solidFill>
          <a:ln w="12700">
            <a:solidFill>
              <a:srgbClr val="0077A8"/>
            </a:solidFill>
            <a:prstDash val="solid"/>
          </a:ln>
        </p:spPr>
        <p:txBody>
          <a:bodyPr/>
          <a:lstStyle/>
          <a:p>
            <a:endParaRPr lang="en-US"/>
          </a:p>
        </p:txBody>
      </p:sp>
      <p:sp>
        <p:nvSpPr>
          <p:cNvPr id="11" name="Text 9"/>
          <p:cNvSpPr/>
          <p:nvPr/>
        </p:nvSpPr>
        <p:spPr>
          <a:xfrm>
            <a:off x="4864608" y="1170432"/>
            <a:ext cx="3675888" cy="640080"/>
          </a:xfrm>
          <a:prstGeom prst="rect">
            <a:avLst/>
          </a:prstGeom>
          <a:noFill/>
          <a:ln/>
        </p:spPr>
        <p:txBody>
          <a:bodyPr wrap="square" lIns="0" tIns="0" rIns="0" bIns="0" rtlCol="0" anchor="ctr"/>
          <a:lstStyle/>
          <a:p>
            <a:pPr marL="0" indent="0">
              <a:lnSpc>
                <a:spcPct val="105000"/>
              </a:lnSpc>
              <a:buNone/>
            </a:pPr>
            <a:r>
              <a:rPr lang="en-US" sz="850" dirty="0">
                <a:solidFill>
                  <a:srgbClr val="0B1E2D"/>
                </a:solidFill>
                <a:latin typeface="Calibri" pitchFamily="34" charset="0"/>
                <a:ea typeface="Calibri" pitchFamily="34" charset="-122"/>
                <a:cs typeface="Calibri" pitchFamily="34" charset="-120"/>
              </a:rPr>
              <a:t>SQLite has no array type — so it goes in a TEXT column, exactly like your tags did. No new idea, no new library.</a:t>
            </a:r>
            <a:endParaRPr lang="en-US" sz="850" dirty="0"/>
          </a:p>
        </p:txBody>
      </p:sp>
      <p:sp>
        <p:nvSpPr>
          <p:cNvPr id="12" name="Text 10"/>
          <p:cNvSpPr/>
          <p:nvPr/>
        </p:nvSpPr>
        <p:spPr>
          <a:xfrm>
            <a:off x="457200" y="1847088"/>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COMPARING IT — WRITE THIS ONE YOURSELF</a:t>
            </a:r>
            <a:endParaRPr lang="en-US" sz="800" dirty="0"/>
          </a:p>
        </p:txBody>
      </p:sp>
      <p:sp>
        <p:nvSpPr>
          <p:cNvPr id="13" name="Shape 11"/>
          <p:cNvSpPr/>
          <p:nvPr/>
        </p:nvSpPr>
        <p:spPr>
          <a:xfrm>
            <a:off x="457200" y="2066544"/>
            <a:ext cx="4846320" cy="1298448"/>
          </a:xfrm>
          <a:prstGeom prst="rect">
            <a:avLst/>
          </a:prstGeom>
          <a:solidFill>
            <a:srgbClr val="0B1E2D"/>
          </a:solidFill>
          <a:ln w="12700">
            <a:solidFill>
              <a:srgbClr val="0B1E2D"/>
            </a:solidFill>
            <a:prstDash val="solid"/>
          </a:ln>
        </p:spPr>
        <p:txBody>
          <a:bodyPr/>
          <a:lstStyle/>
          <a:p>
            <a:endParaRPr lang="en-US"/>
          </a:p>
        </p:txBody>
      </p:sp>
      <p:sp>
        <p:nvSpPr>
          <p:cNvPr id="14" name="Text 12"/>
          <p:cNvSpPr/>
          <p:nvPr/>
        </p:nvSpPr>
        <p:spPr>
          <a:xfrm>
            <a:off x="640080" y="2157984"/>
            <a:ext cx="4517136" cy="1115568"/>
          </a:xfrm>
          <a:prstGeom prst="rect">
            <a:avLst/>
          </a:prstGeom>
          <a:noFill/>
          <a:ln/>
        </p:spPr>
        <p:txBody>
          <a:bodyPr wrap="square" lIns="0" tIns="0" rIns="0" bIns="0" rtlCol="0" anchor="t"/>
          <a:lstStyle/>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function cosine(a, b) {</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let dot = 0, na = 0, nb = 0;</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for (let i = 0; i &lt; a.length; i++) {</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dot += a[i]*b[i];</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na  += a[i]*a[i];   nb += b[i]*b[i];</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  return dot / (Math.sqrt(na) * Math.sqrt(nb));</a:t>
            </a:r>
            <a:endParaRPr lang="en-US" sz="850" dirty="0"/>
          </a:p>
          <a:p>
            <a:pPr marL="0" indent="0">
              <a:lnSpc>
                <a:spcPct val="112000"/>
              </a:lnSpc>
              <a:buNone/>
            </a:pPr>
            <a:r>
              <a:rPr lang="en-US" sz="850" dirty="0">
                <a:solidFill>
                  <a:srgbClr val="9FE8C8"/>
                </a:solidFill>
                <a:latin typeface="Courier New" pitchFamily="34" charset="0"/>
                <a:ea typeface="Courier New" pitchFamily="34" charset="-122"/>
                <a:cs typeface="Courier New" pitchFamily="34" charset="-120"/>
              </a:rPr>
              <a:t>}</a:t>
            </a:r>
            <a:endParaRPr lang="en-US" sz="850" dirty="0"/>
          </a:p>
        </p:txBody>
      </p:sp>
      <p:sp>
        <p:nvSpPr>
          <p:cNvPr id="15" name="Shape 13"/>
          <p:cNvSpPr/>
          <p:nvPr/>
        </p:nvSpPr>
        <p:spPr>
          <a:xfrm>
            <a:off x="5486400" y="2066544"/>
            <a:ext cx="3200400" cy="1298448"/>
          </a:xfrm>
          <a:prstGeom prst="rect">
            <a:avLst/>
          </a:prstGeom>
          <a:solidFill>
            <a:srgbClr val="FFFFFF"/>
          </a:solidFill>
          <a:ln w="9525">
            <a:solidFill>
              <a:srgbClr val="DCE5EB"/>
            </a:solidFill>
            <a:prstDash val="solid"/>
          </a:ln>
        </p:spPr>
        <p:txBody>
          <a:bodyPr/>
          <a:lstStyle/>
          <a:p>
            <a:endParaRPr lang="en-US"/>
          </a:p>
        </p:txBody>
      </p:sp>
      <p:sp>
        <p:nvSpPr>
          <p:cNvPr id="16" name="Shape 14"/>
          <p:cNvSpPr/>
          <p:nvPr/>
        </p:nvSpPr>
        <p:spPr>
          <a:xfrm>
            <a:off x="5486400" y="2066544"/>
            <a:ext cx="54864" cy="1298448"/>
          </a:xfrm>
          <a:prstGeom prst="rect">
            <a:avLst/>
          </a:prstGeom>
          <a:solidFill>
            <a:srgbClr val="005478"/>
          </a:solidFill>
          <a:ln w="12700">
            <a:solidFill>
              <a:srgbClr val="005478"/>
            </a:solidFill>
            <a:prstDash val="solid"/>
          </a:ln>
        </p:spPr>
        <p:txBody>
          <a:bodyPr/>
          <a:lstStyle/>
          <a:p>
            <a:endParaRPr lang="en-US"/>
          </a:p>
        </p:txBody>
      </p:sp>
      <p:sp>
        <p:nvSpPr>
          <p:cNvPr id="17" name="Text 15"/>
          <p:cNvSpPr/>
          <p:nvPr/>
        </p:nvSpPr>
        <p:spPr>
          <a:xfrm>
            <a:off x="5650992" y="2139696"/>
            <a:ext cx="2834640" cy="182880"/>
          </a:xfrm>
          <a:prstGeom prst="rect">
            <a:avLst/>
          </a:prstGeom>
          <a:noFill/>
          <a:ln/>
        </p:spPr>
        <p:txBody>
          <a:bodyPr wrap="square" lIns="0" tIns="0" rIns="0" bIns="0" rtlCol="0" anchor="ctr"/>
          <a:lstStyle/>
          <a:p>
            <a:pPr marL="0" indent="0">
              <a:buNone/>
            </a:pPr>
            <a:r>
              <a:rPr lang="en-US" sz="750" b="1" kern="0" spc="120" dirty="0">
                <a:solidFill>
                  <a:srgbClr val="005478"/>
                </a:solidFill>
                <a:latin typeface="Calibri" pitchFamily="34" charset="0"/>
                <a:ea typeface="Calibri" pitchFamily="34" charset="-122"/>
                <a:cs typeface="Calibri" pitchFamily="34" charset="-120"/>
              </a:rPr>
              <a:t>WHY YOU TYPE THIS OUT</a:t>
            </a:r>
            <a:endParaRPr lang="en-US" sz="750" dirty="0"/>
          </a:p>
        </p:txBody>
      </p:sp>
      <p:sp>
        <p:nvSpPr>
          <p:cNvPr id="18" name="Text 16"/>
          <p:cNvSpPr/>
          <p:nvPr/>
        </p:nvSpPr>
        <p:spPr>
          <a:xfrm>
            <a:off x="5650992" y="2340864"/>
            <a:ext cx="2889504" cy="950976"/>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Every vector database on earth is this function, made fast. Write it once and "similarity search" stops being a magic phrase in a brochure and becomes a loop you have debugged.</a:t>
            </a:r>
            <a:endParaRPr lang="en-US" sz="800" dirty="0"/>
          </a:p>
          <a:p>
            <a:pPr marL="0" indent="0">
              <a:lnSpc>
                <a:spcPct val="105000"/>
              </a:lnSpc>
              <a:buNone/>
            </a:pPr>
            <a:endParaRPr lang="en-US" sz="800" dirty="0"/>
          </a:p>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You will use a real one someday. Not this week.</a:t>
            </a:r>
            <a:endParaRPr lang="en-US" sz="800" dirty="0"/>
          </a:p>
        </p:txBody>
      </p:sp>
      <p:sp>
        <p:nvSpPr>
          <p:cNvPr id="19" name="Text 17"/>
          <p:cNvSpPr/>
          <p:nvPr/>
        </p:nvSpPr>
        <p:spPr>
          <a:xfrm>
            <a:off x="457200" y="3456432"/>
            <a:ext cx="8229600" cy="329184"/>
          </a:xfrm>
          <a:prstGeom prst="rect">
            <a:avLst/>
          </a:prstGeom>
          <a:noFill/>
          <a:ln/>
        </p:spPr>
        <p:txBody>
          <a:bodyPr wrap="square" lIns="0" tIns="0" rIns="0" bIns="0" rtlCol="0" anchor="t"/>
          <a:lstStyle/>
          <a:p>
            <a:pPr marL="0" indent="0">
              <a:lnSpc>
                <a:spcPct val="105000"/>
              </a:lnSpc>
              <a:buNone/>
            </a:pPr>
            <a:r>
              <a:rPr lang="en-US" sz="950" dirty="0">
                <a:solidFill>
                  <a:srgbClr val="7A8FA6"/>
                </a:solidFill>
                <a:latin typeface="Calibri" pitchFamily="34" charset="0"/>
                <a:ea typeface="Calibri" pitchFamily="34" charset="-122"/>
                <a:cs typeface="Calibri" pitchFamily="34" charset="-120"/>
              </a:rPr>
              <a:t>The embedding call itself comes to you pre-written — a second vendor's authentication is not what your thinking time is for this afternoon. The loop above is.</a:t>
            </a:r>
            <a:endParaRPr lang="en-US" sz="950" dirty="0"/>
          </a:p>
        </p:txBody>
      </p:sp>
      <p:sp>
        <p:nvSpPr>
          <p:cNvPr id="20" name="Shape 18"/>
          <p:cNvSpPr/>
          <p:nvPr/>
        </p:nvSpPr>
        <p:spPr>
          <a:xfrm>
            <a:off x="457200" y="3877056"/>
            <a:ext cx="8229600" cy="274320"/>
          </a:xfrm>
          <a:prstGeom prst="rect">
            <a:avLst/>
          </a:prstGeom>
          <a:solidFill>
            <a:srgbClr val="FDEAEA"/>
          </a:solidFill>
          <a:ln w="12700">
            <a:solidFill>
              <a:srgbClr val="FDEAEA"/>
            </a:solidFill>
            <a:prstDash val="solid"/>
          </a:ln>
        </p:spPr>
        <p:txBody>
          <a:bodyPr/>
          <a:lstStyle/>
          <a:p>
            <a:endParaRPr lang="en-US"/>
          </a:p>
        </p:txBody>
      </p:sp>
      <p:sp>
        <p:nvSpPr>
          <p:cNvPr id="21" name="Text 19"/>
          <p:cNvSpPr/>
          <p:nvPr/>
        </p:nvSpPr>
        <p:spPr>
          <a:xfrm>
            <a:off x="566928" y="3877056"/>
            <a:ext cx="8010144" cy="27432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  Loop over every chunk, score it, sort, take the top few. For fifty records that is instant. Scale is a problem you will meet later, with a tool built for it.</a:t>
            </a:r>
            <a:endParaRPr lang="en-US" sz="800" dirty="0"/>
          </a:p>
        </p:txBody>
      </p:sp>
      <p:sp>
        <p:nvSpPr>
          <p:cNvPr id="22" name="Shape 20"/>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23" name="Shape 21"/>
          <p:cNvSpPr/>
          <p:nvPr/>
        </p:nvSpPr>
        <p:spPr>
          <a:xfrm>
            <a:off x="457200" y="4334256"/>
            <a:ext cx="54864" cy="512064"/>
          </a:xfrm>
          <a:prstGeom prst="rect">
            <a:avLst/>
          </a:prstGeom>
          <a:solidFill>
            <a:srgbClr val="005478"/>
          </a:solidFill>
          <a:ln w="12700">
            <a:solidFill>
              <a:srgbClr val="005478"/>
            </a:solidFill>
            <a:prstDash val="solid"/>
          </a:ln>
        </p:spPr>
        <p:txBody>
          <a:bodyPr/>
          <a:lstStyle/>
          <a:p>
            <a:endParaRPr lang="en-US"/>
          </a:p>
        </p:txBody>
      </p:sp>
      <p:sp>
        <p:nvSpPr>
          <p:cNvPr id="24" name="Text 2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Six lines, one loop, no library. That is the piece nobody should let you skip.</a:t>
            </a:r>
            <a:endParaRPr lang="en-US" sz="1000" dirty="0"/>
          </a:p>
        </p:txBody>
      </p:sp>
    </p:spTree>
    <p:extLst>
      <p:ext uri="{BB962C8B-B14F-4D97-AF65-F5344CB8AC3E}">
        <p14:creationId xmlns:p14="http://schemas.microsoft.com/office/powerpoint/2010/main" val="245095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478"/>
          </a:solidFill>
          <a:ln w="12700">
            <a:solidFill>
              <a:srgbClr val="00547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The Prompt That Stops It Inventing</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87552"/>
            <a:ext cx="4846320" cy="1335024"/>
          </a:xfrm>
          <a:prstGeom prst="rect">
            <a:avLst/>
          </a:prstGeom>
          <a:solidFill>
            <a:srgbClr val="0B1E2D"/>
          </a:solidFill>
          <a:ln w="12700">
            <a:solidFill>
              <a:srgbClr val="0B1E2D"/>
            </a:solidFill>
            <a:prstDash val="solid"/>
          </a:ln>
        </p:spPr>
        <p:txBody>
          <a:bodyPr/>
          <a:lstStyle/>
          <a:p>
            <a:endParaRPr lang="en-US"/>
          </a:p>
        </p:txBody>
      </p:sp>
      <p:sp>
        <p:nvSpPr>
          <p:cNvPr id="7" name="Text 5"/>
          <p:cNvSpPr/>
          <p:nvPr/>
        </p:nvSpPr>
        <p:spPr>
          <a:xfrm>
            <a:off x="640080" y="1078992"/>
            <a:ext cx="4517136" cy="1152144"/>
          </a:xfrm>
          <a:prstGeom prst="rect">
            <a:avLst/>
          </a:prstGeom>
          <a:noFill/>
          <a:ln/>
        </p:spPr>
        <p:txBody>
          <a:bodyPr wrap="square" lIns="0" tIns="0" rIns="0" bIns="0" rtlCol="0" anchor="t"/>
          <a:lstStyle/>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system:   Answer ONLY from the context below.</a:t>
            </a:r>
            <a:endParaRPr lang="en-US" sz="850" dirty="0"/>
          </a:p>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          If the answer is not there, say so.</a:t>
            </a:r>
            <a:endParaRPr lang="en-US" sz="850" dirty="0"/>
          </a:p>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          Cite the record ids you used.</a:t>
            </a:r>
            <a:endParaRPr lang="en-US" sz="850" dirty="0"/>
          </a:p>
          <a:p>
            <a:pPr marL="0" indent="0">
              <a:lnSpc>
                <a:spcPct val="112000"/>
              </a:lnSpc>
              <a:buNone/>
            </a:pPr>
            <a:endParaRPr lang="en-US" sz="850" dirty="0"/>
          </a:p>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context:  [#3] ...the record's text...</a:t>
            </a:r>
            <a:endParaRPr lang="en-US" sz="850" dirty="0"/>
          </a:p>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          [#7] ...another record's text...</a:t>
            </a:r>
            <a:endParaRPr lang="en-US" sz="850" dirty="0"/>
          </a:p>
          <a:p>
            <a:pPr marL="0" indent="0">
              <a:lnSpc>
                <a:spcPct val="112000"/>
              </a:lnSpc>
              <a:buNone/>
            </a:pPr>
            <a:endParaRPr lang="en-US" sz="850" dirty="0"/>
          </a:p>
          <a:p>
            <a:pPr marL="0" indent="0">
              <a:lnSpc>
                <a:spcPct val="112000"/>
              </a:lnSpc>
              <a:buNone/>
            </a:pPr>
            <a:r>
              <a:rPr lang="en-US" sz="850" dirty="0">
                <a:solidFill>
                  <a:srgbClr val="C9B3F0"/>
                </a:solidFill>
                <a:latin typeface="Courier New" pitchFamily="34" charset="0"/>
                <a:ea typeface="Courier New" pitchFamily="34" charset="-122"/>
                <a:cs typeface="Courier New" pitchFamily="34" charset="-120"/>
              </a:rPr>
              <a:t>question: What did I spend on travel?</a:t>
            </a:r>
            <a:endParaRPr lang="en-US" sz="850" dirty="0"/>
          </a:p>
        </p:txBody>
      </p:sp>
      <p:sp>
        <p:nvSpPr>
          <p:cNvPr id="8" name="Shape 6"/>
          <p:cNvSpPr/>
          <p:nvPr/>
        </p:nvSpPr>
        <p:spPr>
          <a:xfrm>
            <a:off x="5486400" y="987552"/>
            <a:ext cx="3200400" cy="420624"/>
          </a:xfrm>
          <a:prstGeom prst="rect">
            <a:avLst/>
          </a:prstGeom>
          <a:solidFill>
            <a:srgbClr val="FFFFFF"/>
          </a:solidFill>
          <a:ln w="9525">
            <a:solidFill>
              <a:srgbClr val="DCE5EB"/>
            </a:solidFill>
            <a:prstDash val="solid"/>
          </a:ln>
        </p:spPr>
        <p:txBody>
          <a:bodyPr/>
          <a:lstStyle/>
          <a:p>
            <a:endParaRPr lang="en-US"/>
          </a:p>
        </p:txBody>
      </p:sp>
      <p:sp>
        <p:nvSpPr>
          <p:cNvPr id="9" name="Shape 7"/>
          <p:cNvSpPr/>
          <p:nvPr/>
        </p:nvSpPr>
        <p:spPr>
          <a:xfrm>
            <a:off x="5486400" y="987552"/>
            <a:ext cx="54864" cy="420624"/>
          </a:xfrm>
          <a:prstGeom prst="rect">
            <a:avLst/>
          </a:prstGeom>
          <a:solidFill>
            <a:srgbClr val="B83232"/>
          </a:solidFill>
          <a:ln w="12700">
            <a:solidFill>
              <a:srgbClr val="B83232"/>
            </a:solidFill>
            <a:prstDash val="solid"/>
          </a:ln>
        </p:spPr>
        <p:txBody>
          <a:bodyPr/>
          <a:lstStyle/>
          <a:p>
            <a:endParaRPr lang="en-US"/>
          </a:p>
        </p:txBody>
      </p:sp>
      <p:sp>
        <p:nvSpPr>
          <p:cNvPr id="10" name="Text 8"/>
          <p:cNvSpPr/>
          <p:nvPr/>
        </p:nvSpPr>
        <p:spPr>
          <a:xfrm>
            <a:off x="5650992" y="1014984"/>
            <a:ext cx="2889504" cy="182880"/>
          </a:xfrm>
          <a:prstGeom prst="rect">
            <a:avLst/>
          </a:prstGeom>
          <a:noFill/>
          <a:ln/>
        </p:spPr>
        <p:txBody>
          <a:bodyPr wrap="square" lIns="0" tIns="0" rIns="0" bIns="0" rtlCol="0" anchor="ctr"/>
          <a:lstStyle/>
          <a:p>
            <a:pPr marL="0" indent="0">
              <a:buNone/>
            </a:pPr>
            <a:r>
              <a:rPr lang="en-US" sz="800" b="1" dirty="0">
                <a:solidFill>
                  <a:srgbClr val="B83232"/>
                </a:solidFill>
                <a:latin typeface="Calibri" pitchFamily="34" charset="0"/>
                <a:ea typeface="Calibri" pitchFamily="34" charset="-122"/>
                <a:cs typeface="Calibri" pitchFamily="34" charset="-120"/>
              </a:rPr>
              <a:t>"only from the context"</a:t>
            </a:r>
            <a:endParaRPr lang="en-US" sz="800" dirty="0"/>
          </a:p>
        </p:txBody>
      </p:sp>
      <p:sp>
        <p:nvSpPr>
          <p:cNvPr id="11" name="Text 9"/>
          <p:cNvSpPr/>
          <p:nvPr/>
        </p:nvSpPr>
        <p:spPr>
          <a:xfrm>
            <a:off x="5650992" y="1197864"/>
            <a:ext cx="2889504" cy="182880"/>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The instruction that closes the door on invention</a:t>
            </a:r>
            <a:endParaRPr lang="en-US" sz="750" dirty="0"/>
          </a:p>
        </p:txBody>
      </p:sp>
      <p:sp>
        <p:nvSpPr>
          <p:cNvPr id="12" name="Shape 10"/>
          <p:cNvSpPr/>
          <p:nvPr/>
        </p:nvSpPr>
        <p:spPr>
          <a:xfrm>
            <a:off x="5486400" y="1463040"/>
            <a:ext cx="3200400" cy="420624"/>
          </a:xfrm>
          <a:prstGeom prst="rect">
            <a:avLst/>
          </a:prstGeom>
          <a:solidFill>
            <a:srgbClr val="FFFFFF"/>
          </a:solidFill>
          <a:ln w="9525">
            <a:solidFill>
              <a:srgbClr val="DCE5EB"/>
            </a:solidFill>
            <a:prstDash val="solid"/>
          </a:ln>
        </p:spPr>
        <p:txBody>
          <a:bodyPr/>
          <a:lstStyle/>
          <a:p>
            <a:endParaRPr lang="en-US"/>
          </a:p>
        </p:txBody>
      </p:sp>
      <p:sp>
        <p:nvSpPr>
          <p:cNvPr id="13" name="Shape 11"/>
          <p:cNvSpPr/>
          <p:nvPr/>
        </p:nvSpPr>
        <p:spPr>
          <a:xfrm>
            <a:off x="5486400" y="1463040"/>
            <a:ext cx="54864" cy="420624"/>
          </a:xfrm>
          <a:prstGeom prst="rect">
            <a:avLst/>
          </a:prstGeom>
          <a:solidFill>
            <a:srgbClr val="0077A8"/>
          </a:solidFill>
          <a:ln w="12700">
            <a:solidFill>
              <a:srgbClr val="0077A8"/>
            </a:solidFill>
            <a:prstDash val="solid"/>
          </a:ln>
        </p:spPr>
        <p:txBody>
          <a:bodyPr/>
          <a:lstStyle/>
          <a:p>
            <a:endParaRPr lang="en-US"/>
          </a:p>
        </p:txBody>
      </p:sp>
      <p:sp>
        <p:nvSpPr>
          <p:cNvPr id="14" name="Text 12"/>
          <p:cNvSpPr/>
          <p:nvPr/>
        </p:nvSpPr>
        <p:spPr>
          <a:xfrm>
            <a:off x="5650992" y="1490472"/>
            <a:ext cx="2889504" cy="182880"/>
          </a:xfrm>
          <a:prstGeom prst="rect">
            <a:avLst/>
          </a:prstGeom>
          <a:noFill/>
          <a:ln/>
        </p:spPr>
        <p:txBody>
          <a:bodyPr wrap="square" lIns="0" tIns="0" rIns="0" bIns="0" rtlCol="0" anchor="ctr"/>
          <a:lstStyle/>
          <a:p>
            <a:pPr marL="0" indent="0">
              <a:buNone/>
            </a:pPr>
            <a:r>
              <a:rPr lang="en-US" sz="800" b="1" dirty="0">
                <a:solidFill>
                  <a:srgbClr val="0077A8"/>
                </a:solidFill>
                <a:latin typeface="Calibri" pitchFamily="34" charset="0"/>
                <a:ea typeface="Calibri" pitchFamily="34" charset="-122"/>
                <a:cs typeface="Calibri" pitchFamily="34" charset="-120"/>
              </a:rPr>
              <a:t>"say you do not know"</a:t>
            </a:r>
            <a:endParaRPr lang="en-US" sz="800" dirty="0"/>
          </a:p>
        </p:txBody>
      </p:sp>
      <p:sp>
        <p:nvSpPr>
          <p:cNvPr id="15" name="Text 13"/>
          <p:cNvSpPr/>
          <p:nvPr/>
        </p:nvSpPr>
        <p:spPr>
          <a:xfrm>
            <a:off x="5650992" y="1673352"/>
            <a:ext cx="2889504" cy="182880"/>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Give it a legal way out, or it will manufacture one</a:t>
            </a:r>
            <a:endParaRPr lang="en-US" sz="750" dirty="0"/>
          </a:p>
        </p:txBody>
      </p:sp>
      <p:sp>
        <p:nvSpPr>
          <p:cNvPr id="16" name="Shape 14"/>
          <p:cNvSpPr/>
          <p:nvPr/>
        </p:nvSpPr>
        <p:spPr>
          <a:xfrm>
            <a:off x="5486400" y="1938528"/>
            <a:ext cx="3200400" cy="420624"/>
          </a:xfrm>
          <a:prstGeom prst="rect">
            <a:avLst/>
          </a:prstGeom>
          <a:solidFill>
            <a:srgbClr val="FFFFFF"/>
          </a:solidFill>
          <a:ln w="9525">
            <a:solidFill>
              <a:srgbClr val="DCE5EB"/>
            </a:solidFill>
            <a:prstDash val="solid"/>
          </a:ln>
        </p:spPr>
        <p:txBody>
          <a:bodyPr/>
          <a:lstStyle/>
          <a:p>
            <a:endParaRPr lang="en-US"/>
          </a:p>
        </p:txBody>
      </p:sp>
      <p:sp>
        <p:nvSpPr>
          <p:cNvPr id="17" name="Shape 15"/>
          <p:cNvSpPr/>
          <p:nvPr/>
        </p:nvSpPr>
        <p:spPr>
          <a:xfrm>
            <a:off x="5486400" y="1938528"/>
            <a:ext cx="54864" cy="420624"/>
          </a:xfrm>
          <a:prstGeom prst="rect">
            <a:avLst/>
          </a:prstGeom>
          <a:solidFill>
            <a:srgbClr val="004260"/>
          </a:solidFill>
          <a:ln w="12700">
            <a:solidFill>
              <a:srgbClr val="004260"/>
            </a:solidFill>
            <a:prstDash val="solid"/>
          </a:ln>
        </p:spPr>
        <p:txBody>
          <a:bodyPr/>
          <a:lstStyle/>
          <a:p>
            <a:endParaRPr lang="en-US"/>
          </a:p>
        </p:txBody>
      </p:sp>
      <p:sp>
        <p:nvSpPr>
          <p:cNvPr id="18" name="Text 16"/>
          <p:cNvSpPr/>
          <p:nvPr/>
        </p:nvSpPr>
        <p:spPr>
          <a:xfrm>
            <a:off x="5650992" y="1965960"/>
            <a:ext cx="2889504" cy="182880"/>
          </a:xfrm>
          <a:prstGeom prst="rect">
            <a:avLst/>
          </a:prstGeom>
          <a:noFill/>
          <a:ln/>
        </p:spPr>
        <p:txBody>
          <a:bodyPr wrap="square" lIns="0" tIns="0" rIns="0" bIns="0" rtlCol="0" anchor="ctr"/>
          <a:lstStyle/>
          <a:p>
            <a:pPr marL="0" indent="0">
              <a:buNone/>
            </a:pPr>
            <a:r>
              <a:rPr lang="en-US" sz="800" b="1" dirty="0">
                <a:solidFill>
                  <a:srgbClr val="004260"/>
                </a:solidFill>
                <a:latin typeface="Calibri" pitchFamily="34" charset="0"/>
                <a:ea typeface="Calibri" pitchFamily="34" charset="-122"/>
                <a:cs typeface="Calibri" pitchFamily="34" charset="-120"/>
              </a:rPr>
              <a:t>"cite the ids"</a:t>
            </a:r>
            <a:endParaRPr lang="en-US" sz="800" dirty="0"/>
          </a:p>
        </p:txBody>
      </p:sp>
      <p:sp>
        <p:nvSpPr>
          <p:cNvPr id="19" name="Text 17"/>
          <p:cNvSpPr/>
          <p:nvPr/>
        </p:nvSpPr>
        <p:spPr>
          <a:xfrm>
            <a:off x="5650992" y="2148840"/>
            <a:ext cx="2889504" cy="182880"/>
          </a:xfrm>
          <a:prstGeom prst="rect">
            <a:avLst/>
          </a:prstGeom>
          <a:noFill/>
          <a:ln/>
        </p:spPr>
        <p:txBody>
          <a:bodyPr wrap="square" lIns="0" tIns="0" rIns="0" bIns="0" rtlCol="0" anchor="ctr"/>
          <a:lstStyle/>
          <a:p>
            <a:pPr marL="0" indent="0">
              <a:buNone/>
            </a:pPr>
            <a:r>
              <a:rPr lang="en-US" sz="750" dirty="0">
                <a:solidFill>
                  <a:srgbClr val="7A8FA6"/>
                </a:solidFill>
                <a:latin typeface="Calibri" pitchFamily="34" charset="0"/>
                <a:ea typeface="Calibri" pitchFamily="34" charset="-122"/>
                <a:cs typeface="Calibri" pitchFamily="34" charset="-120"/>
              </a:rPr>
              <a:t>So the person reading can go and check you</a:t>
            </a:r>
            <a:endParaRPr lang="en-US" sz="750" dirty="0"/>
          </a:p>
        </p:txBody>
      </p:sp>
      <p:sp>
        <p:nvSpPr>
          <p:cNvPr id="20" name="Text 18"/>
          <p:cNvSpPr/>
          <p:nvPr/>
        </p:nvSpPr>
        <p:spPr>
          <a:xfrm>
            <a:off x="457200" y="2450592"/>
            <a:ext cx="54864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HOW MANY CHUNKS TO SEND</a:t>
            </a:r>
            <a:endParaRPr lang="en-US" sz="800" dirty="0"/>
          </a:p>
        </p:txBody>
      </p:sp>
      <p:sp>
        <p:nvSpPr>
          <p:cNvPr id="21" name="Text 19"/>
          <p:cNvSpPr/>
          <p:nvPr/>
        </p:nvSpPr>
        <p:spPr>
          <a:xfrm>
            <a:off x="457200" y="2670048"/>
            <a:ext cx="8229600" cy="420624"/>
          </a:xfrm>
          <a:prstGeom prst="rect">
            <a:avLst/>
          </a:prstGeom>
          <a:noFill/>
          <a:ln/>
        </p:spPr>
        <p:txBody>
          <a:bodyPr wrap="square" lIns="0" tIns="0" rIns="0" bIns="0" rtlCol="0" anchor="t"/>
          <a:lstStyle/>
          <a:p>
            <a:pPr marL="0" indent="0">
              <a:lnSpc>
                <a:spcPct val="105000"/>
              </a:lnSpc>
              <a:buNone/>
            </a:pPr>
            <a:r>
              <a:rPr lang="en-US" sz="950" dirty="0">
                <a:solidFill>
                  <a:srgbClr val="0B1E2D"/>
                </a:solidFill>
                <a:latin typeface="Calibri" pitchFamily="34" charset="0"/>
                <a:ea typeface="Calibri" pitchFamily="34" charset="-122"/>
                <a:cs typeface="Calibri" pitchFamily="34" charset="-120"/>
              </a:rPr>
              <a:t>Three to five is usually right. More context is not better context — it dilutes the relevant material, costs more tokens, and gives the model more chances to answer from the wrong piece.</a:t>
            </a:r>
            <a:endParaRPr lang="en-US" sz="950" dirty="0"/>
          </a:p>
        </p:txBody>
      </p:sp>
      <p:sp>
        <p:nvSpPr>
          <p:cNvPr id="22" name="Shape 20"/>
          <p:cNvSpPr/>
          <p:nvPr/>
        </p:nvSpPr>
        <p:spPr>
          <a:xfrm>
            <a:off x="457200" y="3182112"/>
            <a:ext cx="8229600" cy="749808"/>
          </a:xfrm>
          <a:prstGeom prst="rect">
            <a:avLst/>
          </a:prstGeom>
          <a:solidFill>
            <a:srgbClr val="0B1E2D"/>
          </a:solidFill>
          <a:ln w="12700">
            <a:solidFill>
              <a:srgbClr val="0B1E2D"/>
            </a:solidFill>
            <a:prstDash val="solid"/>
          </a:ln>
        </p:spPr>
        <p:txBody>
          <a:bodyPr/>
          <a:lstStyle/>
          <a:p>
            <a:endParaRPr lang="en-US"/>
          </a:p>
        </p:txBody>
      </p:sp>
      <p:sp>
        <p:nvSpPr>
          <p:cNvPr id="23" name="Shape 21"/>
          <p:cNvSpPr/>
          <p:nvPr/>
        </p:nvSpPr>
        <p:spPr>
          <a:xfrm>
            <a:off x="457200" y="3182112"/>
            <a:ext cx="73152" cy="749808"/>
          </a:xfrm>
          <a:prstGeom prst="rect">
            <a:avLst/>
          </a:prstGeom>
          <a:solidFill>
            <a:srgbClr val="00B0F0"/>
          </a:solidFill>
          <a:ln w="12700">
            <a:solidFill>
              <a:srgbClr val="00B0F0"/>
            </a:solidFill>
            <a:prstDash val="solid"/>
          </a:ln>
        </p:spPr>
        <p:txBody>
          <a:bodyPr/>
          <a:lstStyle/>
          <a:p>
            <a:endParaRPr lang="en-US"/>
          </a:p>
        </p:txBody>
      </p:sp>
      <p:sp>
        <p:nvSpPr>
          <p:cNvPr id="24" name="Text 22"/>
          <p:cNvSpPr/>
          <p:nvPr/>
        </p:nvSpPr>
        <p:spPr>
          <a:xfrm>
            <a:off x="731520" y="3236976"/>
            <a:ext cx="77724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citation is not decoration. It is the whole reason anyone should trust the answer.</a:t>
            </a:r>
            <a:endParaRPr lang="en-US" sz="1300" dirty="0"/>
          </a:p>
        </p:txBody>
      </p:sp>
      <p:sp>
        <p:nvSpPr>
          <p:cNvPr id="25" name="Text 23"/>
          <p:cNvSpPr/>
          <p:nvPr/>
        </p:nvSpPr>
        <p:spPr>
          <a:xfrm>
            <a:off x="731520" y="3511296"/>
            <a:ext cx="7772400" cy="365760"/>
          </a:xfrm>
          <a:prstGeom prst="rect">
            <a:avLst/>
          </a:prstGeom>
          <a:noFill/>
          <a:ln/>
        </p:spPr>
        <p:txBody>
          <a:bodyPr wrap="square" lIns="0" tIns="0" rIns="0" bIns="0" rtlCol="0" anchor="ctr"/>
          <a:lstStyle/>
          <a:p>
            <a:pPr marL="0" indent="0">
              <a:lnSpc>
                <a:spcPct val="105000"/>
              </a:lnSpc>
              <a:buNone/>
            </a:pPr>
            <a:r>
              <a:rPr lang="en-US" sz="900" dirty="0">
                <a:solidFill>
                  <a:srgbClr val="C8D6E2"/>
                </a:solidFill>
                <a:latin typeface="Calibri" pitchFamily="34" charset="0"/>
                <a:ea typeface="Calibri" pitchFamily="34" charset="-122"/>
                <a:cs typeface="Calibri" pitchFamily="34" charset="-120"/>
              </a:rPr>
              <a:t>Show the record ids, and make them clickable if you can. An answer a user can verify in two seconds is worth far more than a longer answer they simply have to believe.</a:t>
            </a:r>
            <a:endParaRPr lang="en-US" sz="900" dirty="0"/>
          </a:p>
        </p:txBody>
      </p:sp>
      <p:sp>
        <p:nvSpPr>
          <p:cNvPr id="26" name="Shape 24"/>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27" name="Shape 25"/>
          <p:cNvSpPr/>
          <p:nvPr/>
        </p:nvSpPr>
        <p:spPr>
          <a:xfrm>
            <a:off x="457200" y="4334256"/>
            <a:ext cx="54864" cy="512064"/>
          </a:xfrm>
          <a:prstGeom prst="rect">
            <a:avLst/>
          </a:prstGeom>
          <a:solidFill>
            <a:srgbClr val="005478"/>
          </a:solidFill>
          <a:ln w="12700">
            <a:solidFill>
              <a:srgbClr val="005478"/>
            </a:solidFill>
            <a:prstDash val="solid"/>
          </a:ln>
        </p:spPr>
        <p:txBody>
          <a:bodyPr/>
          <a:lstStyle/>
          <a:p>
            <a:endParaRPr lang="en-US"/>
          </a:p>
        </p:txBody>
      </p:sp>
      <p:sp>
        <p:nvSpPr>
          <p:cNvPr id="28" name="Text 26"/>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Grounded, cited, and willing to say it does not know. Those three properties are what separates a product from a demo.</a:t>
            </a:r>
            <a:endParaRPr lang="en-US" sz="1000" dirty="0"/>
          </a:p>
        </p:txBody>
      </p:sp>
    </p:spTree>
    <p:extLst>
      <p:ext uri="{BB962C8B-B14F-4D97-AF65-F5344CB8AC3E}">
        <p14:creationId xmlns:p14="http://schemas.microsoft.com/office/powerpoint/2010/main" val="102851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5478"/>
          </a:solidFill>
          <a:ln w="12700">
            <a:solidFill>
              <a:srgbClr val="005478"/>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3  ·  THE AI MOMENT</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Same Question, Two Retrievers</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969264"/>
            <a:ext cx="8229600" cy="365760"/>
          </a:xfrm>
          <a:prstGeom prst="rect">
            <a:avLst/>
          </a:prstGeom>
          <a:solidFill>
            <a:srgbClr val="14293A"/>
          </a:solidFill>
          <a:ln w="12700">
            <a:solidFill>
              <a:srgbClr val="14293A"/>
            </a:solidFill>
            <a:prstDash val="solid"/>
          </a:ln>
        </p:spPr>
        <p:txBody>
          <a:bodyPr/>
          <a:lstStyle/>
          <a:p>
            <a:endParaRPr lang="en-US"/>
          </a:p>
        </p:txBody>
      </p:sp>
      <p:sp>
        <p:nvSpPr>
          <p:cNvPr id="7" name="Text 5"/>
          <p:cNvSpPr/>
          <p:nvPr/>
        </p:nvSpPr>
        <p:spPr>
          <a:xfrm>
            <a:off x="658368" y="969264"/>
            <a:ext cx="786384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THE QUESTION:     "is there anything I need to finish soon?"</a:t>
            </a:r>
            <a:endParaRPr lang="en-US" sz="1000" dirty="0"/>
          </a:p>
        </p:txBody>
      </p:sp>
      <p:sp>
        <p:nvSpPr>
          <p:cNvPr id="8" name="Shape 6"/>
          <p:cNvSpPr/>
          <p:nvPr/>
        </p:nvSpPr>
        <p:spPr>
          <a:xfrm>
            <a:off x="457200" y="1444752"/>
            <a:ext cx="4005072" cy="1133856"/>
          </a:xfrm>
          <a:prstGeom prst="rect">
            <a:avLst/>
          </a:prstGeom>
          <a:solidFill>
            <a:srgbClr val="FFFFFF"/>
          </a:solidFill>
          <a:ln w="9525">
            <a:solidFill>
              <a:srgbClr val="DCE5EB"/>
            </a:solidFill>
            <a:prstDash val="solid"/>
          </a:ln>
        </p:spPr>
        <p:txBody>
          <a:bodyPr/>
          <a:lstStyle/>
          <a:p>
            <a:endParaRPr lang="en-US"/>
          </a:p>
        </p:txBody>
      </p:sp>
      <p:sp>
        <p:nvSpPr>
          <p:cNvPr id="9" name="Shape 7"/>
          <p:cNvSpPr/>
          <p:nvPr/>
        </p:nvSpPr>
        <p:spPr>
          <a:xfrm>
            <a:off x="457200" y="1444752"/>
            <a:ext cx="4005072" cy="292608"/>
          </a:xfrm>
          <a:prstGeom prst="rect">
            <a:avLst/>
          </a:prstGeom>
          <a:solidFill>
            <a:srgbClr val="0077A8"/>
          </a:solidFill>
          <a:ln w="12700">
            <a:solidFill>
              <a:srgbClr val="0077A8"/>
            </a:solidFill>
            <a:prstDash val="solid"/>
          </a:ln>
        </p:spPr>
        <p:txBody>
          <a:bodyPr/>
          <a:lstStyle/>
          <a:p>
            <a:endParaRPr lang="en-US"/>
          </a:p>
        </p:txBody>
      </p:sp>
      <p:sp>
        <p:nvSpPr>
          <p:cNvPr id="10" name="Text 8"/>
          <p:cNvSpPr/>
          <p:nvPr/>
        </p:nvSpPr>
        <p:spPr>
          <a:xfrm>
            <a:off x="457200" y="1444752"/>
            <a:ext cx="4005072"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KEYWORD  —  YESTERDAY</a:t>
            </a:r>
            <a:endParaRPr lang="en-US" sz="850" dirty="0"/>
          </a:p>
        </p:txBody>
      </p:sp>
      <p:sp>
        <p:nvSpPr>
          <p:cNvPr id="11" name="Text 9"/>
          <p:cNvSpPr/>
          <p:nvPr/>
        </p:nvSpPr>
        <p:spPr>
          <a:xfrm>
            <a:off x="640080" y="1810512"/>
            <a:ext cx="3675888" cy="237744"/>
          </a:xfrm>
          <a:prstGeom prst="rect">
            <a:avLst/>
          </a:prstGeom>
          <a:noFill/>
          <a:ln/>
        </p:spPr>
        <p:txBody>
          <a:bodyPr wrap="square" lIns="0" tIns="0" rIns="0" bIns="0" rtlCol="0" anchor="ctr"/>
          <a:lstStyle/>
          <a:p>
            <a:pPr marL="0" indent="0">
              <a:buNone/>
            </a:pPr>
            <a:r>
              <a:rPr lang="en-US" sz="950" b="1" dirty="0">
                <a:solidFill>
                  <a:srgbClr val="0B1E2D"/>
                </a:solidFill>
                <a:latin typeface="Calibri" pitchFamily="34" charset="0"/>
                <a:ea typeface="Calibri" pitchFamily="34" charset="-122"/>
                <a:cs typeface="Calibri" pitchFamily="34" charset="-120"/>
              </a:rPr>
              <a:t>Finds records containing the word "finish".</a:t>
            </a:r>
            <a:endParaRPr lang="en-US" sz="950" dirty="0"/>
          </a:p>
        </p:txBody>
      </p:sp>
      <p:sp>
        <p:nvSpPr>
          <p:cNvPr id="12" name="Text 10"/>
          <p:cNvSpPr/>
          <p:nvPr/>
        </p:nvSpPr>
        <p:spPr>
          <a:xfrm>
            <a:off x="640080" y="2048256"/>
            <a:ext cx="3675888" cy="475488"/>
          </a:xfrm>
          <a:prstGeom prst="rect">
            <a:avLst/>
          </a:prstGeom>
          <a:noFill/>
          <a:ln/>
        </p:spPr>
        <p:txBody>
          <a:bodyPr wrap="square" lIns="0" tIns="0" rIns="0" bIns="0" rtlCol="0" anchor="t"/>
          <a:lstStyle/>
          <a:p>
            <a:pPr marL="0" indent="0">
              <a:lnSpc>
                <a:spcPct val="105000"/>
              </a:lnSpc>
              <a:buNone/>
            </a:pPr>
            <a:r>
              <a:rPr lang="en-US" sz="800" dirty="0">
                <a:solidFill>
                  <a:srgbClr val="7A8FA6"/>
                </a:solidFill>
                <a:latin typeface="Calibri" pitchFamily="34" charset="0"/>
                <a:ea typeface="Calibri" pitchFamily="34" charset="-122"/>
                <a:cs typeface="Calibri" pitchFamily="34" charset="-120"/>
              </a:rPr>
              <a:t>Misses "due Friday", "submit by the 12th", "last date to apply", "deadline". Same meaning, different words — invisible to it.</a:t>
            </a:r>
            <a:endParaRPr lang="en-US" sz="800" dirty="0"/>
          </a:p>
        </p:txBody>
      </p:sp>
      <p:sp>
        <p:nvSpPr>
          <p:cNvPr id="13" name="Shape 11"/>
          <p:cNvSpPr/>
          <p:nvPr/>
        </p:nvSpPr>
        <p:spPr>
          <a:xfrm>
            <a:off x="4681728" y="1444752"/>
            <a:ext cx="4005072" cy="1133856"/>
          </a:xfrm>
          <a:prstGeom prst="rect">
            <a:avLst/>
          </a:prstGeom>
          <a:solidFill>
            <a:srgbClr val="FFFFFF"/>
          </a:solidFill>
          <a:ln w="9525">
            <a:solidFill>
              <a:srgbClr val="DCE5EB"/>
            </a:solidFill>
            <a:prstDash val="solid"/>
          </a:ln>
        </p:spPr>
        <p:txBody>
          <a:bodyPr/>
          <a:lstStyle/>
          <a:p>
            <a:endParaRPr lang="en-US"/>
          </a:p>
        </p:txBody>
      </p:sp>
      <p:sp>
        <p:nvSpPr>
          <p:cNvPr id="14" name="Shape 12"/>
          <p:cNvSpPr/>
          <p:nvPr/>
        </p:nvSpPr>
        <p:spPr>
          <a:xfrm>
            <a:off x="4681728" y="1444752"/>
            <a:ext cx="4005072" cy="292608"/>
          </a:xfrm>
          <a:prstGeom prst="rect">
            <a:avLst/>
          </a:prstGeom>
          <a:solidFill>
            <a:srgbClr val="004260"/>
          </a:solidFill>
          <a:ln w="12700">
            <a:solidFill>
              <a:srgbClr val="004260"/>
            </a:solidFill>
            <a:prstDash val="solid"/>
          </a:ln>
        </p:spPr>
        <p:txBody>
          <a:bodyPr/>
          <a:lstStyle/>
          <a:p>
            <a:endParaRPr lang="en-US"/>
          </a:p>
        </p:txBody>
      </p:sp>
      <p:sp>
        <p:nvSpPr>
          <p:cNvPr id="15" name="Text 13"/>
          <p:cNvSpPr/>
          <p:nvPr/>
        </p:nvSpPr>
        <p:spPr>
          <a:xfrm>
            <a:off x="4681728" y="1444752"/>
            <a:ext cx="4005072"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SEMANTIC  —  TODAY</a:t>
            </a:r>
            <a:endParaRPr lang="en-US" sz="850" dirty="0"/>
          </a:p>
        </p:txBody>
      </p:sp>
      <p:sp>
        <p:nvSpPr>
          <p:cNvPr id="16" name="Text 14"/>
          <p:cNvSpPr/>
          <p:nvPr/>
        </p:nvSpPr>
        <p:spPr>
          <a:xfrm>
            <a:off x="4864608" y="1810512"/>
            <a:ext cx="3675888" cy="237744"/>
          </a:xfrm>
          <a:prstGeom prst="rect">
            <a:avLst/>
          </a:prstGeom>
          <a:noFill/>
          <a:ln/>
        </p:spPr>
        <p:txBody>
          <a:bodyPr wrap="square" lIns="0" tIns="0" rIns="0" bIns="0" rtlCol="0" anchor="ctr"/>
          <a:lstStyle/>
          <a:p>
            <a:pPr marL="0" indent="0">
              <a:buNone/>
            </a:pPr>
            <a:r>
              <a:rPr lang="en-US" sz="950" b="1" dirty="0">
                <a:solidFill>
                  <a:srgbClr val="0B1E2D"/>
                </a:solidFill>
                <a:latin typeface="Calibri" pitchFamily="34" charset="0"/>
                <a:ea typeface="Calibri" pitchFamily="34" charset="-122"/>
                <a:cs typeface="Calibri" pitchFamily="34" charset="-120"/>
              </a:rPr>
              <a:t>Finds all of them.</a:t>
            </a:r>
            <a:endParaRPr lang="en-US" sz="950" dirty="0"/>
          </a:p>
        </p:txBody>
      </p:sp>
      <p:sp>
        <p:nvSpPr>
          <p:cNvPr id="17" name="Text 15"/>
          <p:cNvSpPr/>
          <p:nvPr/>
        </p:nvSpPr>
        <p:spPr>
          <a:xfrm>
            <a:off x="4864608" y="2048256"/>
            <a:ext cx="3675888" cy="475488"/>
          </a:xfrm>
          <a:prstGeom prst="rect">
            <a:avLst/>
          </a:prstGeom>
          <a:noFill/>
          <a:ln/>
        </p:spPr>
        <p:txBody>
          <a:bodyPr wrap="square" lIns="0" tIns="0" rIns="0" bIns="0" rtlCol="0" anchor="t"/>
          <a:lstStyle/>
          <a:p>
            <a:pPr marL="0" indent="0">
              <a:lnSpc>
                <a:spcPct val="105000"/>
              </a:lnSpc>
              <a:buNone/>
            </a:pPr>
            <a:r>
              <a:rPr lang="en-US" sz="800" dirty="0">
                <a:solidFill>
                  <a:srgbClr val="7A8FA6"/>
                </a:solidFill>
                <a:latin typeface="Calibri" pitchFamily="34" charset="0"/>
                <a:ea typeface="Calibri" pitchFamily="34" charset="-122"/>
                <a:cs typeface="Calibri" pitchFamily="34" charset="-120"/>
              </a:rPr>
              <a:t>Not one of those phrases shares a word with the question. They share a meaning, and that is what was indexed.</a:t>
            </a:r>
            <a:endParaRPr lang="en-US" sz="800" dirty="0"/>
          </a:p>
        </p:txBody>
      </p:sp>
      <p:sp>
        <p:nvSpPr>
          <p:cNvPr id="18" name="Text 16"/>
          <p:cNvSpPr/>
          <p:nvPr/>
        </p:nvSpPr>
        <p:spPr>
          <a:xfrm>
            <a:off x="457200" y="2688336"/>
            <a:ext cx="6400800" cy="182880"/>
          </a:xfrm>
          <a:prstGeom prst="rect">
            <a:avLst/>
          </a:prstGeom>
          <a:noFill/>
          <a:ln/>
        </p:spPr>
        <p:txBody>
          <a:bodyPr wrap="square" lIns="0" tIns="0" rIns="0" bIns="0" rtlCol="0" anchor="ctr"/>
          <a:lstStyle/>
          <a:p>
            <a:pPr marL="0" indent="0">
              <a:buNone/>
            </a:pPr>
            <a:r>
              <a:rPr lang="en-US" sz="800" b="1" kern="0" spc="120" dirty="0">
                <a:solidFill>
                  <a:srgbClr val="7A8FA6"/>
                </a:solidFill>
                <a:latin typeface="Calibri" pitchFamily="34" charset="0"/>
                <a:ea typeface="Calibri" pitchFamily="34" charset="-122"/>
                <a:cs typeface="Calibri" pitchFamily="34" charset="-120"/>
              </a:rPr>
              <a:t>BUT DO NOT THROW YESTERDAY'S SEARCH AWAY</a:t>
            </a:r>
            <a:endParaRPr lang="en-US" sz="800" dirty="0"/>
          </a:p>
        </p:txBody>
      </p:sp>
      <p:sp>
        <p:nvSpPr>
          <p:cNvPr id="19" name="Shape 17"/>
          <p:cNvSpPr/>
          <p:nvPr/>
        </p:nvSpPr>
        <p:spPr>
          <a:xfrm>
            <a:off x="457200" y="2907792"/>
            <a:ext cx="2633472" cy="731520"/>
          </a:xfrm>
          <a:prstGeom prst="rect">
            <a:avLst/>
          </a:prstGeom>
          <a:solidFill>
            <a:srgbClr val="EFF6FA"/>
          </a:solidFill>
          <a:ln w="12700">
            <a:solidFill>
              <a:srgbClr val="EFF6FA"/>
            </a:solidFill>
            <a:prstDash val="solid"/>
          </a:ln>
        </p:spPr>
        <p:txBody>
          <a:bodyPr/>
          <a:lstStyle/>
          <a:p>
            <a:endParaRPr lang="en-US"/>
          </a:p>
        </p:txBody>
      </p:sp>
      <p:sp>
        <p:nvSpPr>
          <p:cNvPr id="20" name="Shape 18"/>
          <p:cNvSpPr/>
          <p:nvPr/>
        </p:nvSpPr>
        <p:spPr>
          <a:xfrm>
            <a:off x="457200" y="2907792"/>
            <a:ext cx="54864" cy="731520"/>
          </a:xfrm>
          <a:prstGeom prst="rect">
            <a:avLst/>
          </a:prstGeom>
          <a:solidFill>
            <a:srgbClr val="0077A8"/>
          </a:solidFill>
          <a:ln w="12700">
            <a:solidFill>
              <a:srgbClr val="0077A8"/>
            </a:solidFill>
            <a:prstDash val="solid"/>
          </a:ln>
        </p:spPr>
        <p:txBody>
          <a:bodyPr/>
          <a:lstStyle/>
          <a:p>
            <a:endParaRPr lang="en-US"/>
          </a:p>
        </p:txBody>
      </p:sp>
      <p:sp>
        <p:nvSpPr>
          <p:cNvPr id="21" name="Text 19"/>
          <p:cNvSpPr/>
          <p:nvPr/>
        </p:nvSpPr>
        <p:spPr>
          <a:xfrm>
            <a:off x="640080" y="2980944"/>
            <a:ext cx="2377440" cy="182880"/>
          </a:xfrm>
          <a:prstGeom prst="rect">
            <a:avLst/>
          </a:prstGeom>
          <a:noFill/>
          <a:ln/>
        </p:spPr>
        <p:txBody>
          <a:bodyPr wrap="square" lIns="0" tIns="0" rIns="0" bIns="0" rtlCol="0" anchor="ctr"/>
          <a:lstStyle/>
          <a:p>
            <a:pPr marL="0" indent="0">
              <a:buNone/>
            </a:pPr>
            <a:r>
              <a:rPr lang="en-US" sz="750" b="1" kern="0" spc="120" dirty="0">
                <a:solidFill>
                  <a:srgbClr val="0077A8"/>
                </a:solidFill>
                <a:latin typeface="Calibri" pitchFamily="34" charset="0"/>
                <a:ea typeface="Calibri" pitchFamily="34" charset="-122"/>
                <a:cs typeface="Calibri" pitchFamily="34" charset="-120"/>
              </a:rPr>
              <a:t>EXACT THINGS</a:t>
            </a:r>
            <a:endParaRPr lang="en-US" sz="750" dirty="0"/>
          </a:p>
        </p:txBody>
      </p:sp>
      <p:sp>
        <p:nvSpPr>
          <p:cNvPr id="22" name="Text 20"/>
          <p:cNvSpPr/>
          <p:nvPr/>
        </p:nvSpPr>
        <p:spPr>
          <a:xfrm>
            <a:off x="640080" y="3163824"/>
            <a:ext cx="2322576" cy="420624"/>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Ids, names, product codes, error strings — keyword wins, every time</a:t>
            </a:r>
            <a:endParaRPr lang="en-US" sz="800" dirty="0"/>
          </a:p>
        </p:txBody>
      </p:sp>
      <p:sp>
        <p:nvSpPr>
          <p:cNvPr id="23" name="Shape 21"/>
          <p:cNvSpPr/>
          <p:nvPr/>
        </p:nvSpPr>
        <p:spPr>
          <a:xfrm>
            <a:off x="3255264" y="2907792"/>
            <a:ext cx="2633472" cy="731520"/>
          </a:xfrm>
          <a:prstGeom prst="rect">
            <a:avLst/>
          </a:prstGeom>
          <a:solidFill>
            <a:srgbClr val="EFF6FA"/>
          </a:solidFill>
          <a:ln w="12700">
            <a:solidFill>
              <a:srgbClr val="EFF6FA"/>
            </a:solidFill>
            <a:prstDash val="solid"/>
          </a:ln>
        </p:spPr>
        <p:txBody>
          <a:bodyPr/>
          <a:lstStyle/>
          <a:p>
            <a:endParaRPr lang="en-US"/>
          </a:p>
        </p:txBody>
      </p:sp>
      <p:sp>
        <p:nvSpPr>
          <p:cNvPr id="24" name="Shape 22"/>
          <p:cNvSpPr/>
          <p:nvPr/>
        </p:nvSpPr>
        <p:spPr>
          <a:xfrm>
            <a:off x="3255264" y="2907792"/>
            <a:ext cx="54864" cy="731520"/>
          </a:xfrm>
          <a:prstGeom prst="rect">
            <a:avLst/>
          </a:prstGeom>
          <a:solidFill>
            <a:srgbClr val="0077A8"/>
          </a:solidFill>
          <a:ln w="12700">
            <a:solidFill>
              <a:srgbClr val="0077A8"/>
            </a:solidFill>
            <a:prstDash val="solid"/>
          </a:ln>
        </p:spPr>
        <p:txBody>
          <a:bodyPr/>
          <a:lstStyle/>
          <a:p>
            <a:endParaRPr lang="en-US"/>
          </a:p>
        </p:txBody>
      </p:sp>
      <p:sp>
        <p:nvSpPr>
          <p:cNvPr id="25" name="Text 23"/>
          <p:cNvSpPr/>
          <p:nvPr/>
        </p:nvSpPr>
        <p:spPr>
          <a:xfrm>
            <a:off x="3438144" y="2980944"/>
            <a:ext cx="2377440" cy="182880"/>
          </a:xfrm>
          <a:prstGeom prst="rect">
            <a:avLst/>
          </a:prstGeom>
          <a:noFill/>
          <a:ln/>
        </p:spPr>
        <p:txBody>
          <a:bodyPr wrap="square" lIns="0" tIns="0" rIns="0" bIns="0" rtlCol="0" anchor="ctr"/>
          <a:lstStyle/>
          <a:p>
            <a:pPr marL="0" indent="0">
              <a:buNone/>
            </a:pPr>
            <a:r>
              <a:rPr lang="en-US" sz="750" b="1" kern="0" spc="120" dirty="0">
                <a:solidFill>
                  <a:srgbClr val="0077A8"/>
                </a:solidFill>
                <a:latin typeface="Calibri" pitchFamily="34" charset="0"/>
                <a:ea typeface="Calibri" pitchFamily="34" charset="-122"/>
                <a:cs typeface="Calibri" pitchFamily="34" charset="-120"/>
              </a:rPr>
              <a:t>SPEED AND COST</a:t>
            </a:r>
            <a:endParaRPr lang="en-US" sz="750" dirty="0"/>
          </a:p>
        </p:txBody>
      </p:sp>
      <p:sp>
        <p:nvSpPr>
          <p:cNvPr id="26" name="Text 24"/>
          <p:cNvSpPr/>
          <p:nvPr/>
        </p:nvSpPr>
        <p:spPr>
          <a:xfrm>
            <a:off x="3438144" y="3163824"/>
            <a:ext cx="2322576" cy="420624"/>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No API call, no waiting, no tokens. It is free and instant.</a:t>
            </a:r>
            <a:endParaRPr lang="en-US" sz="800" dirty="0"/>
          </a:p>
        </p:txBody>
      </p:sp>
      <p:sp>
        <p:nvSpPr>
          <p:cNvPr id="27" name="Shape 25"/>
          <p:cNvSpPr/>
          <p:nvPr/>
        </p:nvSpPr>
        <p:spPr>
          <a:xfrm>
            <a:off x="6053328" y="2907792"/>
            <a:ext cx="2633472" cy="731520"/>
          </a:xfrm>
          <a:prstGeom prst="rect">
            <a:avLst/>
          </a:prstGeom>
          <a:solidFill>
            <a:srgbClr val="EFF6FA"/>
          </a:solidFill>
          <a:ln w="12700">
            <a:solidFill>
              <a:srgbClr val="EFF6FA"/>
            </a:solidFill>
            <a:prstDash val="solid"/>
          </a:ln>
        </p:spPr>
        <p:txBody>
          <a:bodyPr/>
          <a:lstStyle/>
          <a:p>
            <a:endParaRPr lang="en-US"/>
          </a:p>
        </p:txBody>
      </p:sp>
      <p:sp>
        <p:nvSpPr>
          <p:cNvPr id="28" name="Shape 26"/>
          <p:cNvSpPr/>
          <p:nvPr/>
        </p:nvSpPr>
        <p:spPr>
          <a:xfrm>
            <a:off x="6053328" y="2907792"/>
            <a:ext cx="54864" cy="731520"/>
          </a:xfrm>
          <a:prstGeom prst="rect">
            <a:avLst/>
          </a:prstGeom>
          <a:solidFill>
            <a:srgbClr val="0077A8"/>
          </a:solidFill>
          <a:ln w="12700">
            <a:solidFill>
              <a:srgbClr val="0077A8"/>
            </a:solidFill>
            <a:prstDash val="solid"/>
          </a:ln>
        </p:spPr>
        <p:txBody>
          <a:bodyPr/>
          <a:lstStyle/>
          <a:p>
            <a:endParaRPr lang="en-US"/>
          </a:p>
        </p:txBody>
      </p:sp>
      <p:sp>
        <p:nvSpPr>
          <p:cNvPr id="29" name="Text 27"/>
          <p:cNvSpPr/>
          <p:nvPr/>
        </p:nvSpPr>
        <p:spPr>
          <a:xfrm>
            <a:off x="6236208" y="2980944"/>
            <a:ext cx="2377440" cy="182880"/>
          </a:xfrm>
          <a:prstGeom prst="rect">
            <a:avLst/>
          </a:prstGeom>
          <a:noFill/>
          <a:ln/>
        </p:spPr>
        <p:txBody>
          <a:bodyPr wrap="square" lIns="0" tIns="0" rIns="0" bIns="0" rtlCol="0" anchor="ctr"/>
          <a:lstStyle/>
          <a:p>
            <a:pPr marL="0" indent="0">
              <a:buNone/>
            </a:pPr>
            <a:r>
              <a:rPr lang="en-US" sz="750" b="1" kern="0" spc="120" dirty="0">
                <a:solidFill>
                  <a:srgbClr val="0077A8"/>
                </a:solidFill>
                <a:latin typeface="Calibri" pitchFamily="34" charset="0"/>
                <a:ea typeface="Calibri" pitchFamily="34" charset="-122"/>
                <a:cs typeface="Calibri" pitchFamily="34" charset="-120"/>
              </a:rPr>
              <a:t>REAL SYSTEMS USE BOTH</a:t>
            </a:r>
            <a:endParaRPr lang="en-US" sz="750" dirty="0"/>
          </a:p>
        </p:txBody>
      </p:sp>
      <p:sp>
        <p:nvSpPr>
          <p:cNvPr id="30" name="Text 28"/>
          <p:cNvSpPr/>
          <p:nvPr/>
        </p:nvSpPr>
        <p:spPr>
          <a:xfrm>
            <a:off x="6236208" y="3163824"/>
            <a:ext cx="2322576" cy="420624"/>
          </a:xfrm>
          <a:prstGeom prst="rect">
            <a:avLst/>
          </a:prstGeom>
          <a:noFill/>
          <a:ln/>
        </p:spPr>
        <p:txBody>
          <a:bodyPr wrap="square" lIns="0" tIns="0" rIns="0" bIns="0" rtlCol="0" anchor="t"/>
          <a:lstStyle/>
          <a:p>
            <a:pPr marL="0" indent="0">
              <a:lnSpc>
                <a:spcPct val="105000"/>
              </a:lnSpc>
              <a:buNone/>
            </a:pPr>
            <a:r>
              <a:rPr lang="en-US" sz="800" dirty="0">
                <a:solidFill>
                  <a:srgbClr val="0B1E2D"/>
                </a:solidFill>
                <a:latin typeface="Calibri" pitchFamily="34" charset="0"/>
                <a:ea typeface="Calibri" pitchFamily="34" charset="-122"/>
                <a:cs typeface="Calibri" pitchFamily="34" charset="-120"/>
              </a:rPr>
              <a:t>Run the two, merge the results, and rank them together</a:t>
            </a:r>
            <a:endParaRPr lang="en-US" sz="800" dirty="0"/>
          </a:p>
        </p:txBody>
      </p:sp>
      <p:sp>
        <p:nvSpPr>
          <p:cNvPr id="31" name="Text 29"/>
          <p:cNvSpPr/>
          <p:nvPr/>
        </p:nvSpPr>
        <p:spPr>
          <a:xfrm>
            <a:off x="457200" y="3767328"/>
            <a:ext cx="8229600" cy="365760"/>
          </a:xfrm>
          <a:prstGeom prst="rect">
            <a:avLst/>
          </a:prstGeom>
          <a:noFill/>
          <a:ln/>
        </p:spPr>
        <p:txBody>
          <a:bodyPr wrap="square" lIns="0" tIns="0" rIns="0" bIns="0" rtlCol="0" anchor="t"/>
          <a:lstStyle/>
          <a:p>
            <a:pPr marL="0" indent="0">
              <a:lnSpc>
                <a:spcPct val="105000"/>
              </a:lnSpc>
              <a:buNone/>
            </a:pPr>
            <a:r>
              <a:rPr lang="en-US" sz="950" i="1" dirty="0">
                <a:solidFill>
                  <a:srgbClr val="7A8FA6"/>
                </a:solidFill>
                <a:latin typeface="Calibri" pitchFamily="34" charset="0"/>
                <a:ea typeface="Calibri" pitchFamily="34" charset="-122"/>
                <a:cs typeface="Calibri" pitchFamily="34" charset="-120"/>
              </a:rPr>
              <a:t>This is why yesterday's search endpoint was Core and not Stretch. Without it you would have taken today's improvement on trust.</a:t>
            </a:r>
            <a:endParaRPr lang="en-US" sz="950" dirty="0"/>
          </a:p>
        </p:txBody>
      </p:sp>
      <p:sp>
        <p:nvSpPr>
          <p:cNvPr id="32" name="Shape 30"/>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33" name="Shape 31"/>
          <p:cNvSpPr/>
          <p:nvPr/>
        </p:nvSpPr>
        <p:spPr>
          <a:xfrm>
            <a:off x="457200" y="4334256"/>
            <a:ext cx="54864" cy="512064"/>
          </a:xfrm>
          <a:prstGeom prst="rect">
            <a:avLst/>
          </a:prstGeom>
          <a:solidFill>
            <a:srgbClr val="005478"/>
          </a:solidFill>
          <a:ln w="12700">
            <a:solidFill>
              <a:srgbClr val="005478"/>
            </a:solidFill>
            <a:prstDash val="solid"/>
          </a:ln>
        </p:spPr>
        <p:txBody>
          <a:bodyPr/>
          <a:lstStyle/>
          <a:p>
            <a:endParaRPr lang="en-US"/>
          </a:p>
        </p:txBody>
      </p:sp>
      <p:sp>
        <p:nvSpPr>
          <p:cNvPr id="34" name="Text 32"/>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Run both on the same question, in your own domain, and watch the difference. That comparison is the block's real lesson.</a:t>
            </a:r>
            <a:endParaRPr lang="en-US" sz="1000" dirty="0"/>
          </a:p>
        </p:txBody>
      </p:sp>
    </p:spTree>
    <p:extLst>
      <p:ext uri="{BB962C8B-B14F-4D97-AF65-F5344CB8AC3E}">
        <p14:creationId xmlns:p14="http://schemas.microsoft.com/office/powerpoint/2010/main" val="1933871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4260"/>
          </a:solidFill>
          <a:ln w="12700">
            <a:solidFill>
              <a:srgbClr val="00426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BLOCK 4</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Today's Lab</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1005840"/>
            <a:ext cx="4023360" cy="2615184"/>
          </a:xfrm>
          <a:prstGeom prst="rect">
            <a:avLst/>
          </a:prstGeom>
          <a:solidFill>
            <a:srgbClr val="FFFFFF"/>
          </a:solidFill>
          <a:ln w="9525">
            <a:solidFill>
              <a:srgbClr val="DCE5EB"/>
            </a:solidFill>
            <a:prstDash val="solid"/>
          </a:ln>
        </p:spPr>
        <p:txBody>
          <a:bodyPr/>
          <a:lstStyle/>
          <a:p>
            <a:endParaRPr lang="en-US"/>
          </a:p>
        </p:txBody>
      </p:sp>
      <p:sp>
        <p:nvSpPr>
          <p:cNvPr id="7" name="Shape 5"/>
          <p:cNvSpPr/>
          <p:nvPr/>
        </p:nvSpPr>
        <p:spPr>
          <a:xfrm>
            <a:off x="457200" y="1005840"/>
            <a:ext cx="4023360" cy="310896"/>
          </a:xfrm>
          <a:prstGeom prst="rect">
            <a:avLst/>
          </a:prstGeom>
          <a:solidFill>
            <a:srgbClr val="004260"/>
          </a:solidFill>
          <a:ln w="12700">
            <a:solidFill>
              <a:srgbClr val="004260"/>
            </a:solidFill>
            <a:prstDash val="solid"/>
          </a:ln>
        </p:spPr>
        <p:txBody>
          <a:bodyPr/>
          <a:lstStyle/>
          <a:p>
            <a:endParaRPr lang="en-US"/>
          </a:p>
        </p:txBody>
      </p:sp>
      <p:sp>
        <p:nvSpPr>
          <p:cNvPr id="8" name="Text 6"/>
          <p:cNvSpPr/>
          <p:nvPr/>
        </p:nvSpPr>
        <p:spPr>
          <a:xfrm>
            <a:off x="457200" y="1005840"/>
            <a:ext cx="4023360"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CORE  —  EVERYONE FINISHES THIS</a:t>
            </a:r>
            <a:endParaRPr lang="en-US" sz="900" dirty="0"/>
          </a:p>
        </p:txBody>
      </p:sp>
      <p:sp>
        <p:nvSpPr>
          <p:cNvPr id="9" name="Text 7"/>
          <p:cNvSpPr/>
          <p:nvPr/>
        </p:nvSpPr>
        <p:spPr>
          <a:xfrm>
            <a:off x="621792" y="140817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10" name="Text 8"/>
          <p:cNvSpPr/>
          <p:nvPr/>
        </p:nvSpPr>
        <p:spPr>
          <a:xfrm>
            <a:off x="877824" y="140817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Register and login, with the password hashed</a:t>
            </a:r>
            <a:endParaRPr lang="en-US" sz="800" dirty="0"/>
          </a:p>
        </p:txBody>
      </p:sp>
      <p:sp>
        <p:nvSpPr>
          <p:cNvPr id="11" name="Text 9"/>
          <p:cNvSpPr/>
          <p:nvPr/>
        </p:nvSpPr>
        <p:spPr>
          <a:xfrm>
            <a:off x="621792" y="168249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877824" y="168249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Auth middleware on every records route</a:t>
            </a:r>
            <a:endParaRPr lang="en-US" sz="800" dirty="0"/>
          </a:p>
        </p:txBody>
      </p:sp>
      <p:sp>
        <p:nvSpPr>
          <p:cNvPr id="13" name="Text 11"/>
          <p:cNvSpPr/>
          <p:nvPr/>
        </p:nvSpPr>
        <p:spPr>
          <a:xfrm>
            <a:off x="621792" y="195681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14" name="Text 12"/>
          <p:cNvSpPr/>
          <p:nvPr/>
        </p:nvSpPr>
        <p:spPr>
          <a:xfrm>
            <a:off x="877824" y="195681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Every query scoped by user_id</a:t>
            </a:r>
            <a:endParaRPr lang="en-US" sz="800" dirty="0"/>
          </a:p>
        </p:txBody>
      </p:sp>
      <p:sp>
        <p:nvSpPr>
          <p:cNvPr id="15" name="Text 13"/>
          <p:cNvSpPr/>
          <p:nvPr/>
        </p:nvSpPr>
        <p:spPr>
          <a:xfrm>
            <a:off x="621792" y="223113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16" name="Text 14"/>
          <p:cNvSpPr/>
          <p:nvPr/>
        </p:nvSpPr>
        <p:spPr>
          <a:xfrm>
            <a:off x="877824" y="223113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Two accounts made, and the leak test passed</a:t>
            </a:r>
            <a:endParaRPr lang="en-US" sz="800" dirty="0"/>
          </a:p>
        </p:txBody>
      </p:sp>
      <p:sp>
        <p:nvSpPr>
          <p:cNvPr id="17" name="Text 15"/>
          <p:cNvSpPr/>
          <p:nvPr/>
        </p:nvSpPr>
        <p:spPr>
          <a:xfrm>
            <a:off x="621792" y="250545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877824" y="250545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Login flow and authenticated fetch in the browser</a:t>
            </a:r>
            <a:endParaRPr lang="en-US" sz="800" dirty="0"/>
          </a:p>
        </p:txBody>
      </p:sp>
      <p:sp>
        <p:nvSpPr>
          <p:cNvPr id="19" name="Text 17"/>
          <p:cNvSpPr/>
          <p:nvPr/>
        </p:nvSpPr>
        <p:spPr>
          <a:xfrm>
            <a:off x="621792" y="277977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20" name="Text 18"/>
          <p:cNvSpPr/>
          <p:nvPr/>
        </p:nvSpPr>
        <p:spPr>
          <a:xfrm>
            <a:off x="877824" y="277977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Embeddings generated and stored on save</a:t>
            </a:r>
            <a:endParaRPr lang="en-US" sz="800" dirty="0"/>
          </a:p>
        </p:txBody>
      </p:sp>
      <p:sp>
        <p:nvSpPr>
          <p:cNvPr id="21" name="Text 19"/>
          <p:cNvSpPr/>
          <p:nvPr/>
        </p:nvSpPr>
        <p:spPr>
          <a:xfrm>
            <a:off x="621792" y="305409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877824" y="305409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Ask my data returns a grounded answer</a:t>
            </a:r>
            <a:endParaRPr lang="en-US" sz="800" dirty="0"/>
          </a:p>
        </p:txBody>
      </p:sp>
      <p:sp>
        <p:nvSpPr>
          <p:cNvPr id="23" name="Text 21"/>
          <p:cNvSpPr/>
          <p:nvPr/>
        </p:nvSpPr>
        <p:spPr>
          <a:xfrm>
            <a:off x="621792" y="3328416"/>
            <a:ext cx="219456" cy="237744"/>
          </a:xfrm>
          <a:prstGeom prst="rect">
            <a:avLst/>
          </a:prstGeom>
          <a:noFill/>
          <a:ln/>
        </p:spPr>
        <p:txBody>
          <a:bodyPr wrap="square" lIns="0" tIns="0" rIns="0" bIns="0" rtlCol="0" anchor="ctr"/>
          <a:lstStyle/>
          <a:p>
            <a:pPr marL="0" indent="0">
              <a:buNone/>
            </a:pPr>
            <a:r>
              <a:rPr lang="en-US" sz="1000" dirty="0">
                <a:solidFill>
                  <a:srgbClr val="004260"/>
                </a:solidFill>
                <a:latin typeface="Calibri" pitchFamily="34" charset="0"/>
                <a:ea typeface="Calibri" pitchFamily="34" charset="-122"/>
                <a:cs typeface="Calibri" pitchFamily="34" charset="-120"/>
              </a:rPr>
              <a:t>▢</a:t>
            </a:r>
            <a:endParaRPr lang="en-US" sz="1000" dirty="0"/>
          </a:p>
        </p:txBody>
      </p:sp>
      <p:sp>
        <p:nvSpPr>
          <p:cNvPr id="24" name="Text 22"/>
          <p:cNvSpPr/>
          <p:nvPr/>
        </p:nvSpPr>
        <p:spPr>
          <a:xfrm>
            <a:off x="877824" y="3328416"/>
            <a:ext cx="3474720" cy="237744"/>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The answer names the records it used</a:t>
            </a:r>
            <a:endParaRPr lang="en-US" sz="800" dirty="0"/>
          </a:p>
        </p:txBody>
      </p:sp>
      <p:sp>
        <p:nvSpPr>
          <p:cNvPr id="25" name="Shape 23"/>
          <p:cNvSpPr/>
          <p:nvPr/>
        </p:nvSpPr>
        <p:spPr>
          <a:xfrm>
            <a:off x="4681728" y="1005840"/>
            <a:ext cx="4005072" cy="2615184"/>
          </a:xfrm>
          <a:prstGeom prst="rect">
            <a:avLst/>
          </a:prstGeom>
          <a:solidFill>
            <a:srgbClr val="FFFFFF"/>
          </a:solidFill>
          <a:ln w="9525">
            <a:solidFill>
              <a:srgbClr val="DCE5EB"/>
            </a:solidFill>
            <a:prstDash val="solid"/>
          </a:ln>
        </p:spPr>
        <p:txBody>
          <a:bodyPr/>
          <a:lstStyle/>
          <a:p>
            <a:endParaRPr lang="en-US"/>
          </a:p>
        </p:txBody>
      </p:sp>
      <p:sp>
        <p:nvSpPr>
          <p:cNvPr id="26" name="Shape 24"/>
          <p:cNvSpPr/>
          <p:nvPr/>
        </p:nvSpPr>
        <p:spPr>
          <a:xfrm>
            <a:off x="4681728" y="1005840"/>
            <a:ext cx="4005072" cy="310896"/>
          </a:xfrm>
          <a:prstGeom prst="rect">
            <a:avLst/>
          </a:prstGeom>
          <a:solidFill>
            <a:srgbClr val="005478"/>
          </a:solidFill>
          <a:ln w="12700">
            <a:solidFill>
              <a:srgbClr val="005478"/>
            </a:solidFill>
            <a:prstDash val="solid"/>
          </a:ln>
        </p:spPr>
        <p:txBody>
          <a:bodyPr/>
          <a:lstStyle/>
          <a:p>
            <a:endParaRPr lang="en-US"/>
          </a:p>
        </p:txBody>
      </p:sp>
      <p:sp>
        <p:nvSpPr>
          <p:cNvPr id="27" name="Text 25"/>
          <p:cNvSpPr/>
          <p:nvPr/>
        </p:nvSpPr>
        <p:spPr>
          <a:xfrm>
            <a:off x="4681728" y="1005840"/>
            <a:ext cx="4005072" cy="31089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STRETCH  —  IF YOU ARE AHEAD</a:t>
            </a:r>
            <a:endParaRPr lang="en-US" sz="900" dirty="0"/>
          </a:p>
        </p:txBody>
      </p:sp>
      <p:sp>
        <p:nvSpPr>
          <p:cNvPr id="28" name="Text 26"/>
          <p:cNvSpPr/>
          <p:nvPr/>
        </p:nvSpPr>
        <p:spPr>
          <a:xfrm>
            <a:off x="4846320" y="142646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5102352" y="142646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Change the chunk size and note what changes</a:t>
            </a:r>
            <a:endParaRPr lang="en-US" sz="800" dirty="0"/>
          </a:p>
        </p:txBody>
      </p:sp>
      <p:sp>
        <p:nvSpPr>
          <p:cNvPr id="30" name="Text 28"/>
          <p:cNvSpPr/>
          <p:nvPr/>
        </p:nvSpPr>
        <p:spPr>
          <a:xfrm>
            <a:off x="4846320" y="179222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5102352" y="179222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Try top-K of 1, 3 and 10 on the same question</a:t>
            </a:r>
            <a:endParaRPr lang="en-US" sz="800" dirty="0"/>
          </a:p>
        </p:txBody>
      </p:sp>
      <p:sp>
        <p:nvSpPr>
          <p:cNvPr id="32" name="Text 30"/>
          <p:cNvSpPr/>
          <p:nvPr/>
        </p:nvSpPr>
        <p:spPr>
          <a:xfrm>
            <a:off x="4846320" y="215798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5102352" y="215798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Show the similarity score beside each citation</a:t>
            </a:r>
            <a:endParaRPr lang="en-US" sz="800" dirty="0"/>
          </a:p>
        </p:txBody>
      </p:sp>
      <p:sp>
        <p:nvSpPr>
          <p:cNvPr id="34" name="Text 32"/>
          <p:cNvSpPr/>
          <p:nvPr/>
        </p:nvSpPr>
        <p:spPr>
          <a:xfrm>
            <a:off x="4846320" y="252374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5102352" y="252374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A proper "nothing relevant found" answer</a:t>
            </a:r>
            <a:endParaRPr lang="en-US" sz="800" dirty="0"/>
          </a:p>
        </p:txBody>
      </p:sp>
      <p:sp>
        <p:nvSpPr>
          <p:cNvPr id="36" name="Text 34"/>
          <p:cNvSpPr/>
          <p:nvPr/>
        </p:nvSpPr>
        <p:spPr>
          <a:xfrm>
            <a:off x="4846320" y="288950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5102352" y="288950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Merge keyword and semantic results</a:t>
            </a:r>
            <a:endParaRPr lang="en-US" sz="800" dirty="0"/>
          </a:p>
        </p:txBody>
      </p:sp>
      <p:sp>
        <p:nvSpPr>
          <p:cNvPr id="38" name="Text 36"/>
          <p:cNvSpPr/>
          <p:nvPr/>
        </p:nvSpPr>
        <p:spPr>
          <a:xfrm>
            <a:off x="4846320" y="3255264"/>
            <a:ext cx="219456" cy="310896"/>
          </a:xfrm>
          <a:prstGeom prst="rect">
            <a:avLst/>
          </a:prstGeom>
          <a:noFill/>
          <a:ln/>
        </p:spPr>
        <p:txBody>
          <a:bodyPr wrap="square" lIns="0" tIns="0" rIns="0" bIns="0" rtlCol="0" anchor="ctr"/>
          <a:lstStyle/>
          <a:p>
            <a:pPr marL="0" indent="0">
              <a:buNone/>
            </a:pPr>
            <a:r>
              <a:rPr lang="en-US" sz="1200" b="1" dirty="0">
                <a:solidFill>
                  <a:srgbClr val="005478"/>
                </a:solidFill>
                <a:latin typeface="Calibri" pitchFamily="34" charset="0"/>
                <a:ea typeface="Calibri" pitchFamily="34" charset="-122"/>
                <a:cs typeface="Calibri" pitchFamily="34" charset="-120"/>
              </a:rPr>
              <a:t>+</a:t>
            </a:r>
            <a:endParaRPr lang="en-US" sz="1200" dirty="0"/>
          </a:p>
        </p:txBody>
      </p:sp>
      <p:sp>
        <p:nvSpPr>
          <p:cNvPr id="39" name="Text 37"/>
          <p:cNvSpPr/>
          <p:nvPr/>
        </p:nvSpPr>
        <p:spPr>
          <a:xfrm>
            <a:off x="5102352" y="3255264"/>
            <a:ext cx="3438144" cy="310896"/>
          </a:xfrm>
          <a:prstGeom prst="rect">
            <a:avLst/>
          </a:prstGeom>
          <a:noFill/>
          <a:ln/>
        </p:spPr>
        <p:txBody>
          <a:bodyPr wrap="square" lIns="0" tIns="0" rIns="0" bIns="0" rtlCol="0" anchor="ctr"/>
          <a:lstStyle/>
          <a:p>
            <a:pPr marL="0" indent="0">
              <a:buNone/>
            </a:pPr>
            <a:r>
              <a:rPr lang="en-US" sz="800" dirty="0">
                <a:solidFill>
                  <a:srgbClr val="0B1E2D"/>
                </a:solidFill>
                <a:latin typeface="Calibri" pitchFamily="34" charset="0"/>
                <a:ea typeface="Calibri" pitchFamily="34" charset="-122"/>
                <a:cs typeface="Calibri" pitchFamily="34" charset="-120"/>
              </a:rPr>
              <a:t>Handle an expired token without breaking the page</a:t>
            </a:r>
            <a:endParaRPr lang="en-US" sz="800" dirty="0"/>
          </a:p>
        </p:txBody>
      </p:sp>
      <p:sp>
        <p:nvSpPr>
          <p:cNvPr id="40" name="Shape 38"/>
          <p:cNvSpPr/>
          <p:nvPr/>
        </p:nvSpPr>
        <p:spPr>
          <a:xfrm>
            <a:off x="457200" y="3712464"/>
            <a:ext cx="8229600" cy="402336"/>
          </a:xfrm>
          <a:prstGeom prst="rect">
            <a:avLst/>
          </a:prstGeom>
          <a:solidFill>
            <a:srgbClr val="FDEAEA"/>
          </a:solidFill>
          <a:ln w="12700">
            <a:solidFill>
              <a:srgbClr val="FDEAEA"/>
            </a:solidFill>
            <a:prstDash val="solid"/>
          </a:ln>
        </p:spPr>
        <p:txBody>
          <a:bodyPr/>
          <a:lstStyle/>
          <a:p>
            <a:endParaRPr lang="en-US"/>
          </a:p>
        </p:txBody>
      </p:sp>
      <p:sp>
        <p:nvSpPr>
          <p:cNvPr id="41" name="Shape 39"/>
          <p:cNvSpPr/>
          <p:nvPr/>
        </p:nvSpPr>
        <p:spPr>
          <a:xfrm>
            <a:off x="457200" y="3712464"/>
            <a:ext cx="54864" cy="402336"/>
          </a:xfrm>
          <a:prstGeom prst="rect">
            <a:avLst/>
          </a:prstGeom>
          <a:solidFill>
            <a:srgbClr val="B83232"/>
          </a:solidFill>
          <a:ln w="12700">
            <a:solidFill>
              <a:srgbClr val="B83232"/>
            </a:solidFill>
            <a:prstDash val="solid"/>
          </a:ln>
        </p:spPr>
        <p:txBody>
          <a:bodyPr/>
          <a:lstStyle/>
          <a:p>
            <a:endParaRPr lang="en-US"/>
          </a:p>
        </p:txBody>
      </p:sp>
      <p:sp>
        <p:nvSpPr>
          <p:cNvPr id="42" name="Text 40"/>
          <p:cNvSpPr/>
          <p:nvPr/>
        </p:nvSpPr>
        <p:spPr>
          <a:xfrm>
            <a:off x="658368" y="3712464"/>
            <a:ext cx="7863840" cy="402336"/>
          </a:xfrm>
          <a:prstGeom prst="rect">
            <a:avLst/>
          </a:prstGeom>
          <a:noFill/>
          <a:ln/>
        </p:spPr>
        <p:txBody>
          <a:bodyPr wrap="square" lIns="0" tIns="0" rIns="0" bIns="0" rtlCol="0" anchor="ctr"/>
          <a:lstStyle/>
          <a:p>
            <a:pPr marL="0" indent="0">
              <a:buNone/>
            </a:pPr>
            <a:r>
              <a:rPr lang="en-US" sz="850" b="1" dirty="0">
                <a:solidFill>
                  <a:srgbClr val="B83232"/>
                </a:solidFill>
                <a:latin typeface="Calibri" pitchFamily="34" charset="0"/>
                <a:ea typeface="Calibri" pitchFamily="34" charset="-122"/>
                <a:cs typeface="Calibri" pitchFamily="34" charset="-120"/>
              </a:rPr>
              <a:t>⚠  THE LEAK TEST IS NOT OPTIONAL:  make two accounts, note a record id from the first, then request it as the second. If you get the record instead of a 404, you have a data breach — not a feature.</a:t>
            </a:r>
            <a:endParaRPr lang="en-US" sz="850" dirty="0"/>
          </a:p>
        </p:txBody>
      </p:sp>
      <p:sp>
        <p:nvSpPr>
          <p:cNvPr id="43" name="Shape 41"/>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44" name="Shape 42"/>
          <p:cNvSpPr/>
          <p:nvPr/>
        </p:nvSpPr>
        <p:spPr>
          <a:xfrm>
            <a:off x="457200" y="4334256"/>
            <a:ext cx="54864" cy="512064"/>
          </a:xfrm>
          <a:prstGeom prst="rect">
            <a:avLst/>
          </a:prstGeom>
          <a:solidFill>
            <a:srgbClr val="004260"/>
          </a:solidFill>
          <a:ln w="12700">
            <a:solidFill>
              <a:srgbClr val="004260"/>
            </a:solidFill>
            <a:prstDash val="solid"/>
          </a:ln>
        </p:spPr>
        <p:txBody>
          <a:bodyPr/>
          <a:lstStyle/>
          <a:p>
            <a:endParaRPr lang="en-US"/>
          </a:p>
        </p:txBody>
      </p:sp>
      <p:sp>
        <p:nvSpPr>
          <p:cNvPr id="45" name="Text 43"/>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Demos today are the best of the week. Fifty different questions, fifty different domains, every answer citing its own sources.</a:t>
            </a:r>
            <a:endParaRPr lang="en-US" sz="1000" dirty="0"/>
          </a:p>
        </p:txBody>
      </p:sp>
    </p:spTree>
    <p:extLst>
      <p:ext uri="{BB962C8B-B14F-4D97-AF65-F5344CB8AC3E}">
        <p14:creationId xmlns:p14="http://schemas.microsoft.com/office/powerpoint/2010/main" val="4104335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4260"/>
          </a:solidFill>
          <a:ln w="12700">
            <a:solidFill>
              <a:srgbClr val="004260"/>
            </a:solidFill>
            <a:prstDash val="solid"/>
          </a:ln>
        </p:spPr>
        <p:txBody>
          <a:bodyPr/>
          <a:lstStyle/>
          <a:p>
            <a:endParaRPr lang="en-US"/>
          </a:p>
        </p:txBody>
      </p:sp>
      <p:sp>
        <p:nvSpPr>
          <p:cNvPr id="3" name="Text 1"/>
          <p:cNvSpPr/>
          <p:nvPr/>
        </p:nvSpPr>
        <p:spPr>
          <a:xfrm>
            <a:off x="457200" y="128016"/>
            <a:ext cx="6400800" cy="182880"/>
          </a:xfrm>
          <a:prstGeom prst="rect">
            <a:avLst/>
          </a:prstGeom>
          <a:noFill/>
          <a:ln/>
        </p:spPr>
        <p:txBody>
          <a:bodyPr wrap="square" lIns="0" tIns="0" rIns="0" bIns="0" rtlCol="0" anchor="ctr"/>
          <a:lstStyle/>
          <a:p>
            <a:pPr marL="0" indent="0">
              <a:buNone/>
            </a:pPr>
            <a:r>
              <a:rPr lang="en-US" sz="800" b="1" kern="0" spc="160" dirty="0">
                <a:solidFill>
                  <a:srgbClr val="7A8FA6"/>
                </a:solidFill>
                <a:latin typeface="Calibri" pitchFamily="34" charset="0"/>
                <a:ea typeface="Calibri" pitchFamily="34" charset="-122"/>
                <a:cs typeface="Calibri" pitchFamily="34" charset="-120"/>
              </a:rPr>
              <a:t>DEBRIEF</a:t>
            </a:r>
            <a:endParaRPr lang="en-US" sz="800" dirty="0"/>
          </a:p>
        </p:txBody>
      </p:sp>
      <p:sp>
        <p:nvSpPr>
          <p:cNvPr id="4" name="Text 2"/>
          <p:cNvSpPr/>
          <p:nvPr/>
        </p:nvSpPr>
        <p:spPr>
          <a:xfrm>
            <a:off x="457200" y="347472"/>
            <a:ext cx="8229600" cy="420624"/>
          </a:xfrm>
          <a:prstGeom prst="rect">
            <a:avLst/>
          </a:prstGeom>
          <a:noFill/>
          <a:ln/>
        </p:spPr>
        <p:txBody>
          <a:bodyPr wrap="square" lIns="0" tIns="0" rIns="0" bIns="0" rtlCol="0" anchor="ctr"/>
          <a:lstStyle/>
          <a:p>
            <a:pPr marL="0" indent="0">
              <a:buNone/>
            </a:pPr>
            <a:r>
              <a:rPr lang="en-US" sz="2200" b="1" dirty="0">
                <a:solidFill>
                  <a:srgbClr val="0B1E2D"/>
                </a:solidFill>
                <a:latin typeface="Calibri" pitchFamily="34" charset="0"/>
                <a:ea typeface="Calibri" pitchFamily="34" charset="-122"/>
                <a:cs typeface="Calibri" pitchFamily="34" charset="-120"/>
              </a:rPr>
              <a:t>One Question Before You Go</a:t>
            </a:r>
            <a:endParaRPr lang="en-US" sz="2200" dirty="0"/>
          </a:p>
        </p:txBody>
      </p:sp>
      <p:sp>
        <p:nvSpPr>
          <p:cNvPr id="5" name="Shape 3"/>
          <p:cNvSpPr/>
          <p:nvPr/>
        </p:nvSpPr>
        <p:spPr>
          <a:xfrm>
            <a:off x="457200" y="859536"/>
            <a:ext cx="8229600" cy="10973"/>
          </a:xfrm>
          <a:prstGeom prst="rect">
            <a:avLst/>
          </a:prstGeom>
          <a:solidFill>
            <a:srgbClr val="D9E2E8"/>
          </a:solidFill>
          <a:ln w="12700">
            <a:solidFill>
              <a:srgbClr val="D9E2E8"/>
            </a:solidFill>
            <a:prstDash val="solid"/>
          </a:ln>
        </p:spPr>
        <p:txBody>
          <a:bodyPr/>
          <a:lstStyle/>
          <a:p>
            <a:endParaRPr lang="en-US"/>
          </a:p>
        </p:txBody>
      </p:sp>
      <p:sp>
        <p:nvSpPr>
          <p:cNvPr id="6" name="Shape 4"/>
          <p:cNvSpPr/>
          <p:nvPr/>
        </p:nvSpPr>
        <p:spPr>
          <a:xfrm>
            <a:off x="457200" y="1188720"/>
            <a:ext cx="8229600" cy="1170432"/>
          </a:xfrm>
          <a:prstGeom prst="rect">
            <a:avLst/>
          </a:prstGeom>
          <a:solidFill>
            <a:srgbClr val="0B1E2D"/>
          </a:solidFill>
          <a:ln w="12700">
            <a:solidFill>
              <a:srgbClr val="0B1E2D"/>
            </a:solidFill>
            <a:prstDash val="solid"/>
          </a:ln>
        </p:spPr>
        <p:txBody>
          <a:bodyPr/>
          <a:lstStyle/>
          <a:p>
            <a:endParaRPr lang="en-US"/>
          </a:p>
        </p:txBody>
      </p:sp>
      <p:sp>
        <p:nvSpPr>
          <p:cNvPr id="7" name="Text 5"/>
          <p:cNvSpPr/>
          <p:nvPr/>
        </p:nvSpPr>
        <p:spPr>
          <a:xfrm>
            <a:off x="731520" y="1188720"/>
            <a:ext cx="7680960" cy="1170432"/>
          </a:xfrm>
          <a:prstGeom prst="rect">
            <a:avLst/>
          </a:prstGeom>
          <a:noFill/>
          <a:ln/>
        </p:spPr>
        <p:txBody>
          <a:bodyPr wrap="square" lIns="0" tIns="0" rIns="0" bIns="0" rtlCol="0" anchor="ctr"/>
          <a:lstStyle/>
          <a:p>
            <a:pPr marL="0" indent="0" algn="ctr">
              <a:lnSpc>
                <a:spcPct val="110000"/>
              </a:lnSpc>
              <a:buNone/>
            </a:pPr>
            <a:r>
              <a:rPr lang="en-US" sz="1900" b="1" dirty="0">
                <a:solidFill>
                  <a:srgbClr val="FFFFFF"/>
                </a:solidFill>
                <a:latin typeface="Calibri" pitchFamily="34" charset="0"/>
                <a:ea typeface="Calibri" pitchFamily="34" charset="-122"/>
                <a:cs typeface="Calibri" pitchFamily="34" charset="-120"/>
              </a:rPr>
              <a:t>“Why did the citation change</a:t>
            </a:r>
            <a:endParaRPr lang="en-US" sz="1900" dirty="0"/>
          </a:p>
          <a:p>
            <a:pPr marL="0" indent="0" algn="ctr">
              <a:lnSpc>
                <a:spcPct val="110000"/>
              </a:lnSpc>
              <a:buNone/>
            </a:pPr>
            <a:r>
              <a:rPr lang="en-US" sz="1900" b="1" dirty="0">
                <a:solidFill>
                  <a:srgbClr val="FFFFFF"/>
                </a:solidFill>
                <a:latin typeface="Calibri" pitchFamily="34" charset="0"/>
                <a:ea typeface="Calibri" pitchFamily="34" charset="-122"/>
                <a:cs typeface="Calibri" pitchFamily="34" charset="-120"/>
              </a:rPr>
              <a:t>how much you trusted the answer?”</a:t>
            </a:r>
            <a:endParaRPr lang="en-US" sz="1900" dirty="0"/>
          </a:p>
        </p:txBody>
      </p:sp>
      <p:sp>
        <p:nvSpPr>
          <p:cNvPr id="8" name="Text 6"/>
          <p:cNvSpPr/>
          <p:nvPr/>
        </p:nvSpPr>
        <p:spPr>
          <a:xfrm>
            <a:off x="457200" y="2487168"/>
            <a:ext cx="8229600" cy="274320"/>
          </a:xfrm>
          <a:prstGeom prst="rect">
            <a:avLst/>
          </a:prstGeom>
          <a:noFill/>
          <a:ln/>
        </p:spPr>
        <p:txBody>
          <a:bodyPr wrap="square" lIns="0" tIns="0" rIns="0" bIns="0" rtlCol="0" anchor="ctr"/>
          <a:lstStyle/>
          <a:p>
            <a:pPr marL="0" indent="0" algn="ctr">
              <a:buNone/>
            </a:pPr>
            <a:r>
              <a:rPr lang="en-US" sz="1100" i="1" dirty="0">
                <a:solidFill>
                  <a:srgbClr val="7A8FA6"/>
                </a:solidFill>
                <a:latin typeface="Calibri" pitchFamily="34" charset="0"/>
                <a:ea typeface="Calibri" pitchFamily="34" charset="-122"/>
                <a:cs typeface="Calibri" pitchFamily="34" charset="-120"/>
              </a:rPr>
              <a:t>Nothing about the model changed today. Only what you gave it, and what it showed you.</a:t>
            </a:r>
            <a:endParaRPr lang="en-US" sz="1100" dirty="0"/>
          </a:p>
        </p:txBody>
      </p:sp>
      <p:sp>
        <p:nvSpPr>
          <p:cNvPr id="9" name="Shape 7"/>
          <p:cNvSpPr/>
          <p:nvPr/>
        </p:nvSpPr>
        <p:spPr>
          <a:xfrm>
            <a:off x="457200" y="2962656"/>
            <a:ext cx="2633472" cy="969264"/>
          </a:xfrm>
          <a:prstGeom prst="rect">
            <a:avLst/>
          </a:prstGeom>
          <a:solidFill>
            <a:srgbClr val="FFFFFF"/>
          </a:solidFill>
          <a:ln w="9525">
            <a:solidFill>
              <a:srgbClr val="DCE5EB"/>
            </a:solidFill>
            <a:prstDash val="solid"/>
          </a:ln>
        </p:spPr>
        <p:txBody>
          <a:bodyPr/>
          <a:lstStyle/>
          <a:p>
            <a:endParaRPr lang="en-US"/>
          </a:p>
        </p:txBody>
      </p:sp>
      <p:sp>
        <p:nvSpPr>
          <p:cNvPr id="10" name="Shape 8"/>
          <p:cNvSpPr/>
          <p:nvPr/>
        </p:nvSpPr>
        <p:spPr>
          <a:xfrm>
            <a:off x="457200" y="2962656"/>
            <a:ext cx="54864" cy="969264"/>
          </a:xfrm>
          <a:prstGeom prst="rect">
            <a:avLst/>
          </a:prstGeom>
          <a:solidFill>
            <a:srgbClr val="0077A8"/>
          </a:solidFill>
          <a:ln w="12700">
            <a:solidFill>
              <a:srgbClr val="0077A8"/>
            </a:solidFill>
            <a:prstDash val="solid"/>
          </a:ln>
        </p:spPr>
        <p:txBody>
          <a:bodyPr/>
          <a:lstStyle/>
          <a:p>
            <a:endParaRPr lang="en-US"/>
          </a:p>
        </p:txBody>
      </p:sp>
      <p:sp>
        <p:nvSpPr>
          <p:cNvPr id="11" name="Text 9"/>
          <p:cNvSpPr/>
          <p:nvPr/>
        </p:nvSpPr>
        <p:spPr>
          <a:xfrm>
            <a:off x="640080"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7A8"/>
                </a:solidFill>
                <a:latin typeface="Calibri" pitchFamily="34" charset="0"/>
                <a:ea typeface="Calibri" pitchFamily="34" charset="-122"/>
                <a:cs typeface="Calibri" pitchFamily="34" charset="-120"/>
              </a:rPr>
              <a:t>TOMORROW</a:t>
            </a:r>
            <a:endParaRPr lang="en-US" sz="800" dirty="0"/>
          </a:p>
        </p:txBody>
      </p:sp>
      <p:sp>
        <p:nvSpPr>
          <p:cNvPr id="12" name="Text 10"/>
          <p:cNvSpPr/>
          <p:nvPr/>
        </p:nvSpPr>
        <p:spPr>
          <a:xfrm>
            <a:off x="640080" y="3255264"/>
            <a:ext cx="2322576" cy="603504"/>
          </a:xfrm>
          <a:prstGeom prst="rect">
            <a:avLst/>
          </a:prstGeom>
          <a:noFill/>
          <a:ln/>
        </p:spPr>
        <p:txBody>
          <a:bodyPr wrap="square" lIns="0" tIns="0" rIns="0" bIns="0" rtlCol="0" anchor="t"/>
          <a:lstStyle/>
          <a:p>
            <a:pPr marL="0" indent="0">
              <a:lnSpc>
                <a:spcPct val="105000"/>
              </a:lnSpc>
              <a:buNone/>
            </a:pPr>
            <a:r>
              <a:rPr lang="en-US" sz="850" dirty="0">
                <a:solidFill>
                  <a:srgbClr val="0B1E2D"/>
                </a:solidFill>
                <a:latin typeface="Calibri" pitchFamily="34" charset="0"/>
                <a:ea typeface="Calibri" pitchFamily="34" charset="-122"/>
                <a:cs typeface="Calibri" pitchFamily="34" charset="-120"/>
              </a:rPr>
              <a:t>Your app goes live on the internet, learns to take actions, and you sit the paper.</a:t>
            </a:r>
            <a:endParaRPr lang="en-US" sz="850" dirty="0"/>
          </a:p>
        </p:txBody>
      </p:sp>
      <p:sp>
        <p:nvSpPr>
          <p:cNvPr id="13" name="Shape 11"/>
          <p:cNvSpPr/>
          <p:nvPr/>
        </p:nvSpPr>
        <p:spPr>
          <a:xfrm>
            <a:off x="3255264" y="2962656"/>
            <a:ext cx="2633472" cy="969264"/>
          </a:xfrm>
          <a:prstGeom prst="rect">
            <a:avLst/>
          </a:prstGeom>
          <a:solidFill>
            <a:srgbClr val="FFFFFF"/>
          </a:solidFill>
          <a:ln w="9525">
            <a:solidFill>
              <a:srgbClr val="DCE5EB"/>
            </a:solidFill>
            <a:prstDash val="solid"/>
          </a:ln>
        </p:spPr>
        <p:txBody>
          <a:bodyPr/>
          <a:lstStyle/>
          <a:p>
            <a:endParaRPr lang="en-US"/>
          </a:p>
        </p:txBody>
      </p:sp>
      <p:sp>
        <p:nvSpPr>
          <p:cNvPr id="14" name="Shape 12"/>
          <p:cNvSpPr/>
          <p:nvPr/>
        </p:nvSpPr>
        <p:spPr>
          <a:xfrm>
            <a:off x="3255264" y="2962656"/>
            <a:ext cx="54864" cy="969264"/>
          </a:xfrm>
          <a:prstGeom prst="rect">
            <a:avLst/>
          </a:prstGeom>
          <a:solidFill>
            <a:srgbClr val="B83232"/>
          </a:solidFill>
          <a:ln w="12700">
            <a:solidFill>
              <a:srgbClr val="B83232"/>
            </a:solidFill>
            <a:prstDash val="solid"/>
          </a:ln>
        </p:spPr>
        <p:txBody>
          <a:bodyPr/>
          <a:lstStyle/>
          <a:p>
            <a:endParaRPr lang="en-US"/>
          </a:p>
        </p:txBody>
      </p:sp>
      <p:sp>
        <p:nvSpPr>
          <p:cNvPr id="15" name="Text 13"/>
          <p:cNvSpPr/>
          <p:nvPr/>
        </p:nvSpPr>
        <p:spPr>
          <a:xfrm>
            <a:off x="3438144" y="3054096"/>
            <a:ext cx="2286000" cy="182880"/>
          </a:xfrm>
          <a:prstGeom prst="rect">
            <a:avLst/>
          </a:prstGeom>
          <a:noFill/>
          <a:ln/>
        </p:spPr>
        <p:txBody>
          <a:bodyPr wrap="square" lIns="0" tIns="0" rIns="0" bIns="0" rtlCol="0" anchor="ctr"/>
          <a:lstStyle/>
          <a:p>
            <a:pPr marL="0" indent="0">
              <a:buNone/>
            </a:pPr>
            <a:r>
              <a:rPr lang="en-US" sz="800" b="1" kern="0" spc="120" dirty="0">
                <a:solidFill>
                  <a:srgbClr val="B83232"/>
                </a:solidFill>
                <a:latin typeface="Calibri" pitchFamily="34" charset="0"/>
                <a:ea typeface="Calibri" pitchFamily="34" charset="-122"/>
                <a:cs typeface="Calibri" pitchFamily="34" charset="-120"/>
              </a:rPr>
              <a:t>BEFORE YOU GO</a:t>
            </a:r>
            <a:endParaRPr lang="en-US" sz="800" dirty="0"/>
          </a:p>
        </p:txBody>
      </p:sp>
      <p:sp>
        <p:nvSpPr>
          <p:cNvPr id="16" name="Text 14"/>
          <p:cNvSpPr/>
          <p:nvPr/>
        </p:nvSpPr>
        <p:spPr>
          <a:xfrm>
            <a:off x="3438144" y="3255264"/>
            <a:ext cx="2322576" cy="603504"/>
          </a:xfrm>
          <a:prstGeom prst="rect">
            <a:avLst/>
          </a:prstGeom>
          <a:noFill/>
          <a:ln/>
        </p:spPr>
        <p:txBody>
          <a:bodyPr wrap="square" lIns="0" tIns="0" rIns="0" bIns="0" rtlCol="0" anchor="t"/>
          <a:lstStyle/>
          <a:p>
            <a:pPr marL="0" indent="0">
              <a:lnSpc>
                <a:spcPct val="105000"/>
              </a:lnSpc>
              <a:buNone/>
            </a:pPr>
            <a:r>
              <a:rPr lang="en-US" sz="850" dirty="0">
                <a:solidFill>
                  <a:srgbClr val="0B1E2D"/>
                </a:solidFill>
                <a:latin typeface="Calibri" pitchFamily="34" charset="0"/>
                <a:ea typeface="Calibri" pitchFamily="34" charset="-122"/>
                <a:cs typeface="Calibri" pitchFamily="34" charset="-120"/>
              </a:rPr>
              <a:t>Run the leak test if you have not. Push your work.</a:t>
            </a:r>
            <a:endParaRPr lang="en-US" sz="850" dirty="0"/>
          </a:p>
        </p:txBody>
      </p:sp>
      <p:sp>
        <p:nvSpPr>
          <p:cNvPr id="17" name="Shape 15"/>
          <p:cNvSpPr/>
          <p:nvPr/>
        </p:nvSpPr>
        <p:spPr>
          <a:xfrm>
            <a:off x="6053328" y="2962656"/>
            <a:ext cx="2633472" cy="969264"/>
          </a:xfrm>
          <a:prstGeom prst="rect">
            <a:avLst/>
          </a:prstGeom>
          <a:solidFill>
            <a:srgbClr val="FFFFFF"/>
          </a:solidFill>
          <a:ln w="9525">
            <a:solidFill>
              <a:srgbClr val="DCE5EB"/>
            </a:solidFill>
            <a:prstDash val="solid"/>
          </a:ln>
        </p:spPr>
        <p:txBody>
          <a:bodyPr/>
          <a:lstStyle/>
          <a:p>
            <a:endParaRPr lang="en-US"/>
          </a:p>
        </p:txBody>
      </p:sp>
      <p:sp>
        <p:nvSpPr>
          <p:cNvPr id="18" name="Shape 16"/>
          <p:cNvSpPr/>
          <p:nvPr/>
        </p:nvSpPr>
        <p:spPr>
          <a:xfrm>
            <a:off x="6053328" y="2962656"/>
            <a:ext cx="54864" cy="969264"/>
          </a:xfrm>
          <a:prstGeom prst="rect">
            <a:avLst/>
          </a:prstGeom>
          <a:solidFill>
            <a:srgbClr val="0077A8"/>
          </a:solidFill>
          <a:ln w="12700">
            <a:solidFill>
              <a:srgbClr val="0077A8"/>
            </a:solidFill>
            <a:prstDash val="solid"/>
          </a:ln>
        </p:spPr>
        <p:txBody>
          <a:bodyPr/>
          <a:lstStyle/>
          <a:p>
            <a:endParaRPr lang="en-US"/>
          </a:p>
        </p:txBody>
      </p:sp>
      <p:sp>
        <p:nvSpPr>
          <p:cNvPr id="19" name="Text 17"/>
          <p:cNvSpPr/>
          <p:nvPr/>
        </p:nvSpPr>
        <p:spPr>
          <a:xfrm>
            <a:off x="6236208" y="3054096"/>
            <a:ext cx="2286000" cy="182880"/>
          </a:xfrm>
          <a:prstGeom prst="rect">
            <a:avLst/>
          </a:prstGeom>
          <a:noFill/>
          <a:ln/>
        </p:spPr>
        <p:txBody>
          <a:bodyPr wrap="square" lIns="0" tIns="0" rIns="0" bIns="0" rtlCol="0" anchor="ctr"/>
          <a:lstStyle/>
          <a:p>
            <a:pPr marL="0" indent="0">
              <a:buNone/>
            </a:pPr>
            <a:r>
              <a:rPr lang="en-US" sz="800" b="1" kern="0" spc="120" dirty="0">
                <a:solidFill>
                  <a:srgbClr val="0077A8"/>
                </a:solidFill>
                <a:latin typeface="Calibri" pitchFamily="34" charset="0"/>
                <a:ea typeface="Calibri" pitchFamily="34" charset="-122"/>
                <a:cs typeface="Calibri" pitchFamily="34" charset="-120"/>
              </a:rPr>
              <a:t>BRING</a:t>
            </a:r>
            <a:endParaRPr lang="en-US" sz="800" dirty="0"/>
          </a:p>
        </p:txBody>
      </p:sp>
      <p:sp>
        <p:nvSpPr>
          <p:cNvPr id="20" name="Text 18"/>
          <p:cNvSpPr/>
          <p:nvPr/>
        </p:nvSpPr>
        <p:spPr>
          <a:xfrm>
            <a:off x="6236208" y="3255264"/>
            <a:ext cx="2322576" cy="603504"/>
          </a:xfrm>
          <a:prstGeom prst="rect">
            <a:avLst/>
          </a:prstGeom>
          <a:noFill/>
          <a:ln/>
        </p:spPr>
        <p:txBody>
          <a:bodyPr wrap="square" lIns="0" tIns="0" rIns="0" bIns="0" rtlCol="0" anchor="t"/>
          <a:lstStyle/>
          <a:p>
            <a:pPr marL="0" indent="0">
              <a:lnSpc>
                <a:spcPct val="105000"/>
              </a:lnSpc>
              <a:buNone/>
            </a:pPr>
            <a:r>
              <a:rPr lang="en-US" sz="850" dirty="0">
                <a:solidFill>
                  <a:srgbClr val="0B1E2D"/>
                </a:solidFill>
                <a:latin typeface="Calibri" pitchFamily="34" charset="0"/>
                <a:ea typeface="Calibri" pitchFamily="34" charset="-122"/>
                <a:cs typeface="Calibri" pitchFamily="34" charset="-120"/>
              </a:rPr>
              <a:t>A charged laptop, and your questions for the revision block.</a:t>
            </a:r>
            <a:endParaRPr lang="en-US" sz="850" dirty="0"/>
          </a:p>
        </p:txBody>
      </p:sp>
      <p:sp>
        <p:nvSpPr>
          <p:cNvPr id="21" name="Shape 19"/>
          <p:cNvSpPr/>
          <p:nvPr/>
        </p:nvSpPr>
        <p:spPr>
          <a:xfrm>
            <a:off x="457200" y="4334256"/>
            <a:ext cx="8229600" cy="512064"/>
          </a:xfrm>
          <a:prstGeom prst="rect">
            <a:avLst/>
          </a:prstGeom>
          <a:solidFill>
            <a:srgbClr val="EFF6FA"/>
          </a:solidFill>
          <a:ln w="12700">
            <a:solidFill>
              <a:srgbClr val="EFF6FA"/>
            </a:solidFill>
            <a:prstDash val="solid"/>
          </a:ln>
        </p:spPr>
        <p:txBody>
          <a:bodyPr/>
          <a:lstStyle/>
          <a:p>
            <a:endParaRPr lang="en-US"/>
          </a:p>
        </p:txBody>
      </p:sp>
      <p:sp>
        <p:nvSpPr>
          <p:cNvPr id="22" name="Shape 20"/>
          <p:cNvSpPr/>
          <p:nvPr/>
        </p:nvSpPr>
        <p:spPr>
          <a:xfrm>
            <a:off x="457200" y="4334256"/>
            <a:ext cx="54864" cy="512064"/>
          </a:xfrm>
          <a:prstGeom prst="rect">
            <a:avLst/>
          </a:prstGeom>
          <a:solidFill>
            <a:srgbClr val="004260"/>
          </a:solidFill>
          <a:ln w="12700">
            <a:solidFill>
              <a:srgbClr val="004260"/>
            </a:solidFill>
            <a:prstDash val="solid"/>
          </a:ln>
        </p:spPr>
        <p:txBody>
          <a:bodyPr/>
          <a:lstStyle/>
          <a:p>
            <a:endParaRPr lang="en-US"/>
          </a:p>
        </p:txBody>
      </p:sp>
      <p:sp>
        <p:nvSpPr>
          <p:cNvPr id="23" name="Text 21"/>
          <p:cNvSpPr/>
          <p:nvPr/>
        </p:nvSpPr>
        <p:spPr>
          <a:xfrm>
            <a:off x="658368" y="4334256"/>
            <a:ext cx="7863840" cy="512064"/>
          </a:xfrm>
          <a:prstGeom prst="rect">
            <a:avLst/>
          </a:prstGeom>
          <a:noFill/>
          <a:ln/>
        </p:spPr>
        <p:txBody>
          <a:bodyPr wrap="square" lIns="0" tIns="0" rIns="0" bIns="0" rtlCol="0" anchor="ctr"/>
          <a:lstStyle/>
          <a:p>
            <a:pPr marL="0" indent="0">
              <a:buNone/>
            </a:pPr>
            <a:r>
              <a:rPr lang="en-US" sz="1000" b="1" dirty="0">
                <a:solidFill>
                  <a:srgbClr val="0B1E2D"/>
                </a:solidFill>
                <a:latin typeface="Calibri" pitchFamily="34" charset="0"/>
                <a:ea typeface="Calibri" pitchFamily="34" charset="-122"/>
                <a:cs typeface="Calibri" pitchFamily="34" charset="-120"/>
              </a:rPr>
              <a:t>Your app now knows who is asking and what they have written. Tomorrow it learns to do something about it.</a:t>
            </a:r>
            <a:endParaRPr lang="en-US" sz="1000" dirty="0"/>
          </a:p>
        </p:txBody>
      </p:sp>
    </p:spTree>
    <p:extLst>
      <p:ext uri="{BB962C8B-B14F-4D97-AF65-F5344CB8AC3E}">
        <p14:creationId xmlns:p14="http://schemas.microsoft.com/office/powerpoint/2010/main" val="1903927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E2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0F0"/>
          </a:solidFill>
          <a:ln w="12700">
            <a:solidFill>
              <a:srgbClr val="00B0F0"/>
            </a:solidFill>
            <a:prstDash val="solid"/>
          </a:ln>
        </p:spPr>
        <p:txBody>
          <a:bodyPr/>
          <a:lstStyle/>
          <a:p>
            <a:endParaRPr lang="en-US"/>
          </a:p>
        </p:txBody>
      </p:sp>
      <p:sp>
        <p:nvSpPr>
          <p:cNvPr id="3" name="Text 1"/>
          <p:cNvSpPr/>
          <p:nvPr/>
        </p:nvSpPr>
        <p:spPr>
          <a:xfrm>
            <a:off x="457200" y="932688"/>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EMBED.</a:t>
            </a:r>
            <a:endParaRPr lang="en-US" sz="3800" dirty="0"/>
          </a:p>
        </p:txBody>
      </p:sp>
      <p:sp>
        <p:nvSpPr>
          <p:cNvPr id="4" name="Text 2"/>
          <p:cNvSpPr/>
          <p:nvPr/>
        </p:nvSpPr>
        <p:spPr>
          <a:xfrm>
            <a:off x="457200" y="1645920"/>
            <a:ext cx="7772400" cy="713232"/>
          </a:xfrm>
          <a:prstGeom prst="rect">
            <a:avLst/>
          </a:prstGeom>
          <a:noFill/>
          <a:ln/>
        </p:spPr>
        <p:txBody>
          <a:bodyPr wrap="square" lIns="0" tIns="0" rIns="0" bIns="0" rtlCol="0" anchor="ctr"/>
          <a:lstStyle/>
          <a:p>
            <a:pPr marL="0" indent="0">
              <a:buNone/>
            </a:pPr>
            <a:r>
              <a:rPr lang="en-US" sz="3800" b="1" dirty="0">
                <a:solidFill>
                  <a:srgbClr val="00B0F0"/>
                </a:solidFill>
                <a:latin typeface="Arial Black" pitchFamily="34" charset="0"/>
                <a:ea typeface="Arial Black" pitchFamily="34" charset="-122"/>
                <a:cs typeface="Arial Black" pitchFamily="34" charset="-120"/>
              </a:rPr>
              <a:t>RETRIEVE.</a:t>
            </a:r>
            <a:endParaRPr lang="en-US" sz="3800" dirty="0"/>
          </a:p>
        </p:txBody>
      </p:sp>
      <p:sp>
        <p:nvSpPr>
          <p:cNvPr id="5" name="Text 3"/>
          <p:cNvSpPr/>
          <p:nvPr/>
        </p:nvSpPr>
        <p:spPr>
          <a:xfrm>
            <a:off x="457200" y="2359152"/>
            <a:ext cx="7772400" cy="713232"/>
          </a:xfrm>
          <a:prstGeom prst="rect">
            <a:avLst/>
          </a:prstGeom>
          <a:noFill/>
          <a:ln/>
        </p:spPr>
        <p:txBody>
          <a:bodyPr wrap="square" lIns="0" tIns="0" rIns="0" bIns="0" rtlCol="0" anchor="ctr"/>
          <a:lstStyle/>
          <a:p>
            <a:pPr marL="0" indent="0">
              <a:buNone/>
            </a:pPr>
            <a:r>
              <a:rPr lang="en-US" sz="3800" b="1" dirty="0">
                <a:solidFill>
                  <a:srgbClr val="FFFFFF"/>
                </a:solidFill>
                <a:latin typeface="Arial Black" pitchFamily="34" charset="0"/>
                <a:ea typeface="Arial Black" pitchFamily="34" charset="-122"/>
                <a:cs typeface="Arial Black" pitchFamily="34" charset="-120"/>
              </a:rPr>
              <a:t>GROUND.</a:t>
            </a:r>
            <a:endParaRPr lang="en-US" sz="3800" dirty="0"/>
          </a:p>
        </p:txBody>
      </p:sp>
      <p:sp>
        <p:nvSpPr>
          <p:cNvPr id="6" name="Shape 4"/>
          <p:cNvSpPr/>
          <p:nvPr/>
        </p:nvSpPr>
        <p:spPr>
          <a:xfrm>
            <a:off x="457200" y="3310128"/>
            <a:ext cx="2194560" cy="10973"/>
          </a:xfrm>
          <a:prstGeom prst="rect">
            <a:avLst/>
          </a:prstGeom>
          <a:solidFill>
            <a:srgbClr val="1B3547"/>
          </a:solidFill>
          <a:ln w="12700">
            <a:solidFill>
              <a:srgbClr val="1B3547"/>
            </a:solidFill>
            <a:prstDash val="solid"/>
          </a:ln>
        </p:spPr>
        <p:txBody>
          <a:bodyPr/>
          <a:lstStyle/>
          <a:p>
            <a:endParaRPr lang="en-US"/>
          </a:p>
        </p:txBody>
      </p:sp>
      <p:sp>
        <p:nvSpPr>
          <p:cNvPr id="7" name="Text 5"/>
          <p:cNvSpPr/>
          <p:nvPr/>
        </p:nvSpPr>
        <p:spPr>
          <a:xfrm>
            <a:off x="457200" y="3456432"/>
            <a:ext cx="7772400" cy="256032"/>
          </a:xfrm>
          <a:prstGeom prst="rect">
            <a:avLst/>
          </a:prstGeom>
          <a:noFill/>
          <a:ln/>
        </p:spPr>
        <p:txBody>
          <a:bodyPr wrap="square" lIns="0" tIns="0" rIns="0" bIns="0" rtlCol="0" anchor="ctr"/>
          <a:lstStyle/>
          <a:p>
            <a:pPr marL="0" indent="0">
              <a:buNone/>
            </a:pPr>
            <a:r>
              <a:rPr lang="en-US" sz="1100" dirty="0">
                <a:solidFill>
                  <a:srgbClr val="C8D6E2"/>
                </a:solidFill>
                <a:latin typeface="Calibri" pitchFamily="34" charset="0"/>
                <a:ea typeface="Calibri" pitchFamily="34" charset="-122"/>
                <a:cs typeface="Calibri" pitchFamily="34" charset="-120"/>
              </a:rPr>
              <a:t>Day 4 complete  ·  Full Stack Development with Gen-AI</a:t>
            </a:r>
            <a:endParaRPr lang="en-US" sz="1100" dirty="0"/>
          </a:p>
        </p:txBody>
      </p:sp>
      <p:sp>
        <p:nvSpPr>
          <p:cNvPr id="8" name="Text 6"/>
          <p:cNvSpPr/>
          <p:nvPr/>
        </p:nvSpPr>
        <p:spPr>
          <a:xfrm>
            <a:off x="457200" y="3730752"/>
            <a:ext cx="7772400" cy="256032"/>
          </a:xfrm>
          <a:prstGeom prst="rect">
            <a:avLst/>
          </a:prstGeom>
          <a:noFill/>
          <a:ln/>
        </p:spPr>
        <p:txBody>
          <a:bodyPr wrap="square" lIns="0" tIns="0" rIns="0" bIns="0" rtlCol="0" anchor="ctr"/>
          <a:lstStyle/>
          <a:p>
            <a:pPr marL="0" indent="0">
              <a:buNone/>
            </a:pPr>
            <a:r>
              <a:rPr lang="en-US" sz="900" kern="0" spc="100" dirty="0">
                <a:solidFill>
                  <a:srgbClr val="7E97AD"/>
                </a:solidFill>
                <a:latin typeface="Calibri" pitchFamily="34" charset="0"/>
                <a:ea typeface="Calibri" pitchFamily="34" charset="-122"/>
                <a:cs typeface="Calibri" pitchFamily="34" charset="-120"/>
              </a:rPr>
              <a:t>Tomorrow: it ships, it acts, and you show what you know.</a:t>
            </a:r>
            <a:endParaRPr lang="en-US" sz="900" dirty="0"/>
          </a:p>
        </p:txBody>
      </p:sp>
    </p:spTree>
    <p:extLst>
      <p:ext uri="{BB962C8B-B14F-4D97-AF65-F5344CB8AC3E}">
        <p14:creationId xmlns:p14="http://schemas.microsoft.com/office/powerpoint/2010/main" val="3544041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3D37A65-DD22-764A-9A77-6B84DCD14EEC}">
  <we:reference id="wa200010001" version="1.0.0.1" store="en-US" storeType="OMEX"/>
  <we:alternateReferences>
    <we:reference id="wa200010001" version="1.0.0.1" store="en-US" storeType="OMEX"/>
  </we:alternateReferences>
  <we:properties>
    <we:property name="claude.fileId" value="&quot;aba10dd2-72dc-4246-ad85-634432d6c99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87</TotalTime>
  <Words>3529</Words>
  <Application>Microsoft Macintosh PowerPoint</Application>
  <PresentationFormat>On-screen Show (16:9)</PresentationFormat>
  <Paragraphs>357</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Venkatasubramanian V</cp:lastModifiedBy>
  <cp:revision>2</cp:revision>
  <dcterms:created xsi:type="dcterms:W3CDTF">2026-08-20T02:45:29Z</dcterms:created>
  <dcterms:modified xsi:type="dcterms:W3CDTF">2026-08-20T04:18:57Z</dcterms:modified>
</cp:coreProperties>
</file>