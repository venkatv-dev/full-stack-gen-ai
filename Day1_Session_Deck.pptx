
<file path=[Content_Types].xml><?xml version="1.0" encoding="utf-8"?>
<Types xmlns="http://schemas.openxmlformats.org/package/2006/content-types">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74" r:id="rId2"/>
    <p:sldId id="276" r:id="rId3"/>
    <p:sldId id="278" r:id="rId4"/>
    <p:sldId id="279" r:id="rId5"/>
    <p:sldId id="280" r:id="rId6"/>
    <p:sldId id="281" r:id="rId7"/>
    <p:sldId id="282" r:id="rId8"/>
    <p:sldId id="283" r:id="rId9"/>
    <p:sldId id="284" r:id="rId10"/>
    <p:sldId id="285" r:id="rId11"/>
    <p:sldId id="286" r:id="rId12"/>
    <p:sldId id="287" r:id="rId13"/>
    <p:sldId id="288" r:id="rId14"/>
    <p:sldId id="289" r:id="rId15"/>
    <p:sldId id="290" r:id="rId16"/>
    <p:sldId id="291" r:id="rId17"/>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2414"/>
    <p:restoredTop sz="94610"/>
  </p:normalViewPr>
  <p:slideViewPr>
    <p:cSldViewPr snapToGrid="0" snapToObjects="1">
      <p:cViewPr varScale="1">
        <p:scale>
          <a:sx n="170" d="100"/>
          <a:sy n="170" d="100"/>
        </p:scale>
        <p:origin x="704"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2843767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energy. Do NOT start with logistics. Start with the demo — show the finished reference app answering a question from its own notes, then say: 'by Friday, this is yours, in a subject you pick.'</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four blocks fast. Spend your time on the bottom line — it is the promise of the day and the seed of the Explain Rule in Block 3.</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at Day 4 and Day 5 and say plainly: most people never get here in a college course. You will, because every day builds on the last one.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most important slide of Day 1. Do not rush it. Ask the room to name an app they used this morning, then walk it through the four stages out loud with them.</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them 3 minutes, no more. TAs circulate and approve on the two tests. Anyone still deciding after 3 minutes gets Study Notes assigned. Write each student's domain on the progress board.</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Draw this on the whiteboard as you talk rather than reading the slide — and leave it drawn there for all five days. Add to it each morning.</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environment TA owns this block. Work the room physically — do not ask 'everyone ok?' from the front, because the students in trouble are exactly the ones who will not raise a hand.</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cohort has done a Web Technologies lab — pace this as consolidation. Ask 'who used &lt;div&gt; for everything last semester?' and let them laugh. Then show the screen-reader difference in 60 seconds.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Hand out the starter CSS. Walk through it by reading, asking 'what does this line do?' rather than typing it live. Saves 40 minutes and holds the room's attention better.</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Resist going deeper into transformers. The mental model 'text in, text out, predicts plausible continuations' carries them all the way to Friday. Depth here costs you Block 4.</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Live demo: run the vague prompt first, let the room see the generic answer. Then run the four-part version on the SAME task. The contrast does the teaching for you.</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this rule out loud, then write it on the whiteboard and leave it there for five days. Refer back to it every time you review AI-generated code in front of the class.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Have the TAs verify each student's GitHub repo URL on the progress board before anyone leaves. A student who cannot push tonight cannot be helped remotely.</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Pick demo volunteers early and pick for VARIETY of domain, not quality of CSS. The room needs to see that a recipe box and a bug tracker are the same build.</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three or four answers, no more. Reward specificity — 'it used a method that does not exist and the console told me' is a better answer than 'it was wrong sometimes'.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Hold this slide up while students pack. Repeat the one thing you want them to remember: choose a subject you care about, because on Thursday you will be asking it real questions.</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A38"/>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B0F0"/>
          </a:solidFill>
          <a:ln w="12700">
            <a:solidFill>
              <a:srgbClr val="00B0F0"/>
            </a:solidFill>
            <a:prstDash val="solid"/>
          </a:ln>
        </p:spPr>
        <p:txBody>
          <a:bodyPr/>
          <a:lstStyle/>
          <a:p>
            <a:endParaRPr lang="en-US"/>
          </a:p>
        </p:txBody>
      </p:sp>
      <p:sp>
        <p:nvSpPr>
          <p:cNvPr id="5" name="Text 3"/>
          <p:cNvSpPr/>
          <p:nvPr/>
        </p:nvSpPr>
        <p:spPr>
          <a:xfrm>
            <a:off x="457200" y="960120"/>
            <a:ext cx="6035040" cy="713232"/>
          </a:xfrm>
          <a:prstGeom prst="rect">
            <a:avLst/>
          </a:prstGeom>
          <a:noFill/>
          <a:ln/>
        </p:spPr>
        <p:txBody>
          <a:bodyPr wrap="square" lIns="0" tIns="0" rIns="0" bIns="0" rtlCol="0" anchor="ctr"/>
          <a:lstStyle/>
          <a:p>
            <a:pPr marL="0" indent="0">
              <a:buNone/>
            </a:pPr>
            <a:r>
              <a:rPr lang="en-US" sz="4000" b="1" dirty="0">
                <a:solidFill>
                  <a:srgbClr val="FFFFFF"/>
                </a:solidFill>
                <a:latin typeface="Arial Black" pitchFamily="34" charset="0"/>
                <a:ea typeface="Arial Black" pitchFamily="34" charset="-122"/>
                <a:cs typeface="Arial Black" pitchFamily="34" charset="-120"/>
              </a:rPr>
              <a:t>BUILD WITH</a:t>
            </a:r>
            <a:endParaRPr lang="en-US" sz="4000" dirty="0"/>
          </a:p>
        </p:txBody>
      </p:sp>
      <p:sp>
        <p:nvSpPr>
          <p:cNvPr id="6" name="Text 4"/>
          <p:cNvSpPr/>
          <p:nvPr/>
        </p:nvSpPr>
        <p:spPr>
          <a:xfrm>
            <a:off x="457200" y="1664208"/>
            <a:ext cx="6035040" cy="713232"/>
          </a:xfrm>
          <a:prstGeom prst="rect">
            <a:avLst/>
          </a:prstGeom>
          <a:noFill/>
          <a:ln/>
        </p:spPr>
        <p:txBody>
          <a:bodyPr wrap="square" lIns="0" tIns="0" rIns="0" bIns="0" rtlCol="0" anchor="ctr"/>
          <a:lstStyle/>
          <a:p>
            <a:pPr marL="0" indent="0">
              <a:buNone/>
            </a:pPr>
            <a:r>
              <a:rPr lang="en-US" sz="4000" b="1" dirty="0">
                <a:solidFill>
                  <a:srgbClr val="00B0F0"/>
                </a:solidFill>
                <a:latin typeface="Arial Black" pitchFamily="34" charset="0"/>
                <a:ea typeface="Arial Black" pitchFamily="34" charset="-122"/>
                <a:cs typeface="Arial Black" pitchFamily="34" charset="-120"/>
              </a:rPr>
              <a:t>INTELLIGENCE</a:t>
            </a:r>
            <a:endParaRPr lang="en-US" sz="4000" dirty="0"/>
          </a:p>
        </p:txBody>
      </p:sp>
      <p:sp>
        <p:nvSpPr>
          <p:cNvPr id="7" name="Shape 5"/>
          <p:cNvSpPr/>
          <p:nvPr/>
        </p:nvSpPr>
        <p:spPr>
          <a:xfrm>
            <a:off x="457200" y="2615184"/>
            <a:ext cx="2194560" cy="10973"/>
          </a:xfrm>
          <a:prstGeom prst="rect">
            <a:avLst/>
          </a:prstGeom>
          <a:solidFill>
            <a:srgbClr val="1B3040"/>
          </a:solidFill>
          <a:ln w="12700">
            <a:solidFill>
              <a:srgbClr val="1B3040"/>
            </a:solidFill>
            <a:prstDash val="solid"/>
          </a:ln>
        </p:spPr>
        <p:txBody>
          <a:bodyPr/>
          <a:lstStyle/>
          <a:p>
            <a:endParaRPr lang="en-US"/>
          </a:p>
        </p:txBody>
      </p:sp>
      <p:sp>
        <p:nvSpPr>
          <p:cNvPr id="8" name="Text 6"/>
          <p:cNvSpPr/>
          <p:nvPr/>
        </p:nvSpPr>
        <p:spPr>
          <a:xfrm>
            <a:off x="457200" y="2761488"/>
            <a:ext cx="6858000" cy="256032"/>
          </a:xfrm>
          <a:prstGeom prst="rect">
            <a:avLst/>
          </a:prstGeom>
          <a:noFill/>
          <a:ln/>
        </p:spPr>
        <p:txBody>
          <a:bodyPr wrap="square" lIns="0" tIns="0" rIns="0" bIns="0" rtlCol="0" anchor="ctr"/>
          <a:lstStyle/>
          <a:p>
            <a:pPr marL="0" indent="0">
              <a:buNone/>
            </a:pPr>
            <a:r>
              <a:rPr lang="en-US" sz="1300" dirty="0">
                <a:solidFill>
                  <a:srgbClr val="D6E7F0"/>
                </a:solidFill>
                <a:latin typeface="Calibri" pitchFamily="34" charset="0"/>
                <a:ea typeface="Calibri" pitchFamily="34" charset="-122"/>
                <a:cs typeface="Calibri" pitchFamily="34" charset="-120"/>
              </a:rPr>
              <a:t>Full Stack Development with Gen-AI  ·  5-Day Intensive</a:t>
            </a:r>
            <a:endParaRPr lang="en-US" sz="1300" dirty="0"/>
          </a:p>
        </p:txBody>
      </p:sp>
      <p:sp>
        <p:nvSpPr>
          <p:cNvPr id="9" name="Text 7"/>
          <p:cNvSpPr/>
          <p:nvPr/>
        </p:nvSpPr>
        <p:spPr>
          <a:xfrm>
            <a:off x="457200" y="3090672"/>
            <a:ext cx="7772400" cy="237744"/>
          </a:xfrm>
          <a:prstGeom prst="rect">
            <a:avLst/>
          </a:prstGeom>
          <a:noFill/>
          <a:ln/>
        </p:spPr>
        <p:txBody>
          <a:bodyPr wrap="square" lIns="0" tIns="0" rIns="0" bIns="0" rtlCol="0" anchor="ctr"/>
          <a:lstStyle/>
          <a:p>
            <a:pPr marL="0" indent="0">
              <a:buNone/>
            </a:pPr>
            <a:r>
              <a:rPr lang="en-US" sz="900" b="1" kern="0" spc="140" dirty="0">
                <a:solidFill>
                  <a:srgbClr val="00B0F0"/>
                </a:solidFill>
                <a:latin typeface="Calibri" pitchFamily="34" charset="0"/>
                <a:ea typeface="Calibri" pitchFamily="34" charset="-122"/>
                <a:cs typeface="Calibri" pitchFamily="34" charset="-120"/>
              </a:rPr>
              <a:t>DAY 1  —  FOUNDATIONS, YOUR DOMAIN &amp; YOUR AI PAIR PROGRAMMER</a:t>
            </a:r>
            <a:endParaRPr lang="en-US" sz="900" dirty="0"/>
          </a:p>
        </p:txBody>
      </p:sp>
    </p:spTree>
    <p:extLst>
      <p:ext uri="{BB962C8B-B14F-4D97-AF65-F5344CB8AC3E}">
        <p14:creationId xmlns:p14="http://schemas.microsoft.com/office/powerpoint/2010/main" val="260414034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B0F0"/>
          </a:solidFill>
          <a:ln w="12700">
            <a:solidFill>
              <a:srgbClr val="00B0F0"/>
            </a:solidFill>
            <a:prstDash val="solid"/>
          </a:ln>
        </p:spPr>
        <p:txBody>
          <a:bodyPr/>
          <a:lstStyle/>
          <a:p>
            <a:endParaRPr lang="en-US"/>
          </a:p>
        </p:txBody>
      </p:sp>
      <p:sp>
        <p:nvSpPr>
          <p:cNvPr id="3" name="Text 1"/>
          <p:cNvSpPr/>
          <p:nvPr/>
        </p:nvSpPr>
        <p:spPr>
          <a:xfrm>
            <a:off x="457200" y="128016"/>
            <a:ext cx="6400800" cy="182880"/>
          </a:xfrm>
          <a:prstGeom prst="rect">
            <a:avLst/>
          </a:prstGeom>
          <a:noFill/>
          <a:ln/>
        </p:spPr>
        <p:txBody>
          <a:bodyPr wrap="square" lIns="0" tIns="0" rIns="0" bIns="0" rtlCol="0" anchor="ctr"/>
          <a:lstStyle/>
          <a:p>
            <a:pPr marL="0" indent="0">
              <a:buNone/>
            </a:pPr>
            <a:r>
              <a:rPr lang="en-US" sz="800" b="1" kern="0" spc="160" dirty="0">
                <a:solidFill>
                  <a:srgbClr val="6B7280"/>
                </a:solidFill>
                <a:latin typeface="Calibri" pitchFamily="34" charset="0"/>
                <a:ea typeface="Calibri" pitchFamily="34" charset="-122"/>
                <a:cs typeface="Calibri" pitchFamily="34" charset="-120"/>
              </a:rPr>
              <a:t>TODAY'S AGENDA</a:t>
            </a:r>
            <a:endParaRPr lang="en-US" sz="800" dirty="0"/>
          </a:p>
        </p:txBody>
      </p:sp>
      <p:sp>
        <p:nvSpPr>
          <p:cNvPr id="4" name="Text 2"/>
          <p:cNvSpPr/>
          <p:nvPr/>
        </p:nvSpPr>
        <p:spPr>
          <a:xfrm>
            <a:off x="457200" y="347472"/>
            <a:ext cx="8229600" cy="420624"/>
          </a:xfrm>
          <a:prstGeom prst="rect">
            <a:avLst/>
          </a:prstGeom>
          <a:noFill/>
          <a:ln/>
        </p:spPr>
        <p:txBody>
          <a:bodyPr wrap="square" lIns="0" tIns="0" rIns="0" bIns="0" rtlCol="0" anchor="ctr"/>
          <a:lstStyle/>
          <a:p>
            <a:pPr marL="0" indent="0">
              <a:buNone/>
            </a:pPr>
            <a:r>
              <a:rPr lang="en-US" sz="2200" b="1" dirty="0">
                <a:solidFill>
                  <a:srgbClr val="1E2A38"/>
                </a:solidFill>
                <a:latin typeface="Calibri" pitchFamily="34" charset="0"/>
                <a:ea typeface="Calibri" pitchFamily="34" charset="-122"/>
                <a:cs typeface="Calibri" pitchFamily="34" charset="-120"/>
              </a:rPr>
              <a:t>Foundations, Your Domain &amp; Your AI Pair Programmer</a:t>
            </a:r>
            <a:endParaRPr lang="en-US" sz="2200" dirty="0"/>
          </a:p>
        </p:txBody>
      </p:sp>
      <p:sp>
        <p:nvSpPr>
          <p:cNvPr id="5" name="Shape 3"/>
          <p:cNvSpPr/>
          <p:nvPr/>
        </p:nvSpPr>
        <p:spPr>
          <a:xfrm>
            <a:off x="457200" y="859536"/>
            <a:ext cx="8229600" cy="10973"/>
          </a:xfrm>
          <a:prstGeom prst="rect">
            <a:avLst/>
          </a:prstGeom>
          <a:solidFill>
            <a:srgbClr val="CDE7F5"/>
          </a:solidFill>
          <a:ln w="12700">
            <a:solidFill>
              <a:srgbClr val="CDE7F5"/>
            </a:solidFill>
            <a:prstDash val="solid"/>
          </a:ln>
        </p:spPr>
        <p:txBody>
          <a:bodyPr/>
          <a:lstStyle/>
          <a:p>
            <a:endParaRPr lang="en-US"/>
          </a:p>
        </p:txBody>
      </p:sp>
      <p:sp>
        <p:nvSpPr>
          <p:cNvPr id="6" name="Shape 4"/>
          <p:cNvSpPr/>
          <p:nvPr/>
        </p:nvSpPr>
        <p:spPr>
          <a:xfrm>
            <a:off x="457200" y="1024128"/>
            <a:ext cx="4005072" cy="932688"/>
          </a:xfrm>
          <a:prstGeom prst="rect">
            <a:avLst/>
          </a:prstGeom>
          <a:solidFill>
            <a:srgbClr val="FFFFFF"/>
          </a:solidFill>
          <a:ln w="9525">
            <a:solidFill>
              <a:srgbClr val="DCEEF8"/>
            </a:solidFill>
            <a:prstDash val="solid"/>
          </a:ln>
        </p:spPr>
        <p:txBody>
          <a:bodyPr/>
          <a:lstStyle/>
          <a:p>
            <a:endParaRPr lang="en-US"/>
          </a:p>
        </p:txBody>
      </p:sp>
      <p:sp>
        <p:nvSpPr>
          <p:cNvPr id="7" name="Shape 5"/>
          <p:cNvSpPr/>
          <p:nvPr/>
        </p:nvSpPr>
        <p:spPr>
          <a:xfrm>
            <a:off x="457200" y="1024128"/>
            <a:ext cx="54864" cy="932688"/>
          </a:xfrm>
          <a:prstGeom prst="rect">
            <a:avLst/>
          </a:prstGeom>
          <a:solidFill>
            <a:srgbClr val="00B0F0"/>
          </a:solidFill>
          <a:ln w="12700">
            <a:solidFill>
              <a:srgbClr val="00B0F0"/>
            </a:solidFill>
            <a:prstDash val="solid"/>
          </a:ln>
        </p:spPr>
        <p:txBody>
          <a:bodyPr/>
          <a:lstStyle/>
          <a:p>
            <a:endParaRPr lang="en-US"/>
          </a:p>
        </p:txBody>
      </p:sp>
      <p:sp>
        <p:nvSpPr>
          <p:cNvPr id="8" name="Shape 6"/>
          <p:cNvSpPr/>
          <p:nvPr/>
        </p:nvSpPr>
        <p:spPr>
          <a:xfrm>
            <a:off x="603504" y="1316736"/>
            <a:ext cx="329184" cy="329184"/>
          </a:xfrm>
          <a:prstGeom prst="rect">
            <a:avLst/>
          </a:prstGeom>
          <a:solidFill>
            <a:srgbClr val="00B0F0"/>
          </a:solidFill>
          <a:ln w="12700">
            <a:solidFill>
              <a:srgbClr val="00B0F0"/>
            </a:solidFill>
            <a:prstDash val="solid"/>
          </a:ln>
        </p:spPr>
        <p:txBody>
          <a:bodyPr/>
          <a:lstStyle/>
          <a:p>
            <a:endParaRPr lang="en-US"/>
          </a:p>
        </p:txBody>
      </p:sp>
      <p:sp>
        <p:nvSpPr>
          <p:cNvPr id="9" name="Text 7"/>
          <p:cNvSpPr/>
          <p:nvPr/>
        </p:nvSpPr>
        <p:spPr>
          <a:xfrm>
            <a:off x="603504" y="1316736"/>
            <a:ext cx="329184" cy="329184"/>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1</a:t>
            </a:r>
            <a:endParaRPr lang="en-US" sz="1000" dirty="0"/>
          </a:p>
        </p:txBody>
      </p:sp>
      <p:sp>
        <p:nvSpPr>
          <p:cNvPr id="10" name="Text 8"/>
          <p:cNvSpPr/>
          <p:nvPr/>
        </p:nvSpPr>
        <p:spPr>
          <a:xfrm>
            <a:off x="1042416" y="1152144"/>
            <a:ext cx="3273552" cy="402336"/>
          </a:xfrm>
          <a:prstGeom prst="rect">
            <a:avLst/>
          </a:prstGeom>
          <a:noFill/>
          <a:ln/>
        </p:spPr>
        <p:txBody>
          <a:bodyPr wrap="square" lIns="0" tIns="0" rIns="0" bIns="0" rtlCol="0" anchor="ctr"/>
          <a:lstStyle/>
          <a:p>
            <a:pPr marL="0" indent="0">
              <a:buNone/>
            </a:pPr>
            <a:r>
              <a:rPr lang="en-US" sz="1100" b="1" dirty="0">
                <a:solidFill>
                  <a:srgbClr val="1E2A38"/>
                </a:solidFill>
                <a:latin typeface="Calibri" pitchFamily="34" charset="0"/>
                <a:ea typeface="Calibri" pitchFamily="34" charset="-122"/>
                <a:cs typeface="Calibri" pitchFamily="34" charset="-120"/>
              </a:rPr>
              <a:t>Welcome, The Pattern &amp; Your Domain</a:t>
            </a:r>
            <a:endParaRPr lang="en-US" sz="1100" dirty="0"/>
          </a:p>
        </p:txBody>
      </p:sp>
      <p:sp>
        <p:nvSpPr>
          <p:cNvPr id="11" name="Text 9"/>
          <p:cNvSpPr/>
          <p:nvPr/>
        </p:nvSpPr>
        <p:spPr>
          <a:xfrm>
            <a:off x="1042416" y="1536192"/>
            <a:ext cx="3273552" cy="329184"/>
          </a:xfrm>
          <a:prstGeom prst="rect">
            <a:avLst/>
          </a:prstGeom>
          <a:noFill/>
          <a:ln/>
        </p:spPr>
        <p:txBody>
          <a:bodyPr wrap="square" lIns="0" tIns="0" rIns="0" bIns="0" rtlCol="0" anchor="t"/>
          <a:lstStyle/>
          <a:p>
            <a:pPr marL="0" indent="0">
              <a:lnSpc>
                <a:spcPct val="102000"/>
              </a:lnSpc>
              <a:buNone/>
            </a:pPr>
            <a:r>
              <a:rPr lang="en-US" sz="750" dirty="0">
                <a:solidFill>
                  <a:srgbClr val="6B7280"/>
                </a:solidFill>
                <a:latin typeface="Calibri" pitchFamily="34" charset="0"/>
                <a:ea typeface="Calibri" pitchFamily="34" charset="-122"/>
                <a:cs typeface="Calibri" pitchFamily="34" charset="-120"/>
              </a:rPr>
              <a:t>What we build this week, the one architecture behind it, choose your own app, and get every machine working</a:t>
            </a:r>
            <a:endParaRPr lang="en-US" sz="750" dirty="0"/>
          </a:p>
        </p:txBody>
      </p:sp>
      <p:sp>
        <p:nvSpPr>
          <p:cNvPr id="12" name="Shape 10"/>
          <p:cNvSpPr/>
          <p:nvPr/>
        </p:nvSpPr>
        <p:spPr>
          <a:xfrm>
            <a:off x="4681728" y="1024128"/>
            <a:ext cx="4005072" cy="932688"/>
          </a:xfrm>
          <a:prstGeom prst="rect">
            <a:avLst/>
          </a:prstGeom>
          <a:solidFill>
            <a:srgbClr val="FFFFFF"/>
          </a:solidFill>
          <a:ln w="9525">
            <a:solidFill>
              <a:srgbClr val="DCEEF8"/>
            </a:solidFill>
            <a:prstDash val="solid"/>
          </a:ln>
        </p:spPr>
        <p:txBody>
          <a:bodyPr/>
          <a:lstStyle/>
          <a:p>
            <a:endParaRPr lang="en-US"/>
          </a:p>
        </p:txBody>
      </p:sp>
      <p:sp>
        <p:nvSpPr>
          <p:cNvPr id="13" name="Shape 11"/>
          <p:cNvSpPr/>
          <p:nvPr/>
        </p:nvSpPr>
        <p:spPr>
          <a:xfrm>
            <a:off x="4681728" y="1024128"/>
            <a:ext cx="54864" cy="932688"/>
          </a:xfrm>
          <a:prstGeom prst="rect">
            <a:avLst/>
          </a:prstGeom>
          <a:solidFill>
            <a:srgbClr val="0098D4"/>
          </a:solidFill>
          <a:ln w="12700">
            <a:solidFill>
              <a:srgbClr val="0098D4"/>
            </a:solidFill>
            <a:prstDash val="solid"/>
          </a:ln>
        </p:spPr>
        <p:txBody>
          <a:bodyPr/>
          <a:lstStyle/>
          <a:p>
            <a:endParaRPr lang="en-US"/>
          </a:p>
        </p:txBody>
      </p:sp>
      <p:sp>
        <p:nvSpPr>
          <p:cNvPr id="14" name="Shape 12"/>
          <p:cNvSpPr/>
          <p:nvPr/>
        </p:nvSpPr>
        <p:spPr>
          <a:xfrm>
            <a:off x="4828032" y="1316736"/>
            <a:ext cx="329184" cy="329184"/>
          </a:xfrm>
          <a:prstGeom prst="rect">
            <a:avLst/>
          </a:prstGeom>
          <a:solidFill>
            <a:srgbClr val="0098D4"/>
          </a:solidFill>
          <a:ln w="12700">
            <a:solidFill>
              <a:srgbClr val="0098D4"/>
            </a:solidFill>
            <a:prstDash val="solid"/>
          </a:ln>
        </p:spPr>
        <p:txBody>
          <a:bodyPr/>
          <a:lstStyle/>
          <a:p>
            <a:endParaRPr lang="en-US"/>
          </a:p>
        </p:txBody>
      </p:sp>
      <p:sp>
        <p:nvSpPr>
          <p:cNvPr id="15" name="Text 13"/>
          <p:cNvSpPr/>
          <p:nvPr/>
        </p:nvSpPr>
        <p:spPr>
          <a:xfrm>
            <a:off x="4828032" y="1316736"/>
            <a:ext cx="329184" cy="329184"/>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2</a:t>
            </a:r>
            <a:endParaRPr lang="en-US" sz="1000" dirty="0"/>
          </a:p>
        </p:txBody>
      </p:sp>
      <p:sp>
        <p:nvSpPr>
          <p:cNvPr id="16" name="Text 14"/>
          <p:cNvSpPr/>
          <p:nvPr/>
        </p:nvSpPr>
        <p:spPr>
          <a:xfrm>
            <a:off x="5266944" y="1152144"/>
            <a:ext cx="3273552" cy="402336"/>
          </a:xfrm>
          <a:prstGeom prst="rect">
            <a:avLst/>
          </a:prstGeom>
          <a:noFill/>
          <a:ln/>
        </p:spPr>
        <p:txBody>
          <a:bodyPr wrap="square" lIns="0" tIns="0" rIns="0" bIns="0" rtlCol="0" anchor="ctr"/>
          <a:lstStyle/>
          <a:p>
            <a:pPr marL="0" indent="0">
              <a:buNone/>
            </a:pPr>
            <a:r>
              <a:rPr lang="en-US" sz="1100" b="1" dirty="0">
                <a:solidFill>
                  <a:srgbClr val="1E2A38"/>
                </a:solidFill>
                <a:latin typeface="Calibri" pitchFamily="34" charset="0"/>
                <a:ea typeface="Calibri" pitchFamily="34" charset="-122"/>
                <a:cs typeface="Calibri" pitchFamily="34" charset="-120"/>
              </a:rPr>
              <a:t>HTML &amp; CSS — Build Your Shell</a:t>
            </a:r>
            <a:endParaRPr lang="en-US" sz="1100" dirty="0"/>
          </a:p>
        </p:txBody>
      </p:sp>
      <p:sp>
        <p:nvSpPr>
          <p:cNvPr id="17" name="Text 15"/>
          <p:cNvSpPr/>
          <p:nvPr/>
        </p:nvSpPr>
        <p:spPr>
          <a:xfrm>
            <a:off x="5266944" y="1536192"/>
            <a:ext cx="3273552" cy="329184"/>
          </a:xfrm>
          <a:prstGeom prst="rect">
            <a:avLst/>
          </a:prstGeom>
          <a:noFill/>
          <a:ln/>
        </p:spPr>
        <p:txBody>
          <a:bodyPr wrap="square" lIns="0" tIns="0" rIns="0" bIns="0" rtlCol="0" anchor="t"/>
          <a:lstStyle/>
          <a:p>
            <a:pPr marL="0" indent="0">
              <a:lnSpc>
                <a:spcPct val="102000"/>
              </a:lnSpc>
              <a:buNone/>
            </a:pPr>
            <a:r>
              <a:rPr lang="en-US" sz="750" dirty="0">
                <a:solidFill>
                  <a:srgbClr val="6B7280"/>
                </a:solidFill>
                <a:latin typeface="Calibri" pitchFamily="34" charset="0"/>
                <a:ea typeface="Calibri" pitchFamily="34" charset="-122"/>
                <a:cs typeface="Calibri" pitchFamily="34" charset="-120"/>
              </a:rPr>
              <a:t>Semantic structure, Flexbox layout, theming with custom properties. Consolidation, not instruction</a:t>
            </a:r>
            <a:endParaRPr lang="en-US" sz="750" dirty="0"/>
          </a:p>
        </p:txBody>
      </p:sp>
      <p:sp>
        <p:nvSpPr>
          <p:cNvPr id="18" name="Shape 16"/>
          <p:cNvSpPr/>
          <p:nvPr/>
        </p:nvSpPr>
        <p:spPr>
          <a:xfrm>
            <a:off x="457200" y="2084832"/>
            <a:ext cx="4005072" cy="932688"/>
          </a:xfrm>
          <a:prstGeom prst="rect">
            <a:avLst/>
          </a:prstGeom>
          <a:solidFill>
            <a:srgbClr val="FFFFFF"/>
          </a:solidFill>
          <a:ln w="9525">
            <a:solidFill>
              <a:srgbClr val="DCEEF8"/>
            </a:solidFill>
            <a:prstDash val="solid"/>
          </a:ln>
        </p:spPr>
        <p:txBody>
          <a:bodyPr/>
          <a:lstStyle/>
          <a:p>
            <a:endParaRPr lang="en-US"/>
          </a:p>
        </p:txBody>
      </p:sp>
      <p:sp>
        <p:nvSpPr>
          <p:cNvPr id="19" name="Shape 17"/>
          <p:cNvSpPr/>
          <p:nvPr/>
        </p:nvSpPr>
        <p:spPr>
          <a:xfrm>
            <a:off x="457200" y="2084832"/>
            <a:ext cx="54864" cy="932688"/>
          </a:xfrm>
          <a:prstGeom prst="rect">
            <a:avLst/>
          </a:prstGeom>
          <a:solidFill>
            <a:srgbClr val="0079AB"/>
          </a:solidFill>
          <a:ln w="12700">
            <a:solidFill>
              <a:srgbClr val="0079AB"/>
            </a:solidFill>
            <a:prstDash val="solid"/>
          </a:ln>
        </p:spPr>
        <p:txBody>
          <a:bodyPr/>
          <a:lstStyle/>
          <a:p>
            <a:endParaRPr lang="en-US"/>
          </a:p>
        </p:txBody>
      </p:sp>
      <p:sp>
        <p:nvSpPr>
          <p:cNvPr id="20" name="Shape 18"/>
          <p:cNvSpPr/>
          <p:nvPr/>
        </p:nvSpPr>
        <p:spPr>
          <a:xfrm>
            <a:off x="603504" y="2377440"/>
            <a:ext cx="329184" cy="329184"/>
          </a:xfrm>
          <a:prstGeom prst="rect">
            <a:avLst/>
          </a:prstGeom>
          <a:solidFill>
            <a:srgbClr val="0079AB"/>
          </a:solidFill>
          <a:ln w="12700">
            <a:solidFill>
              <a:srgbClr val="0079AB"/>
            </a:solidFill>
            <a:prstDash val="solid"/>
          </a:ln>
        </p:spPr>
        <p:txBody>
          <a:bodyPr/>
          <a:lstStyle/>
          <a:p>
            <a:endParaRPr lang="en-US"/>
          </a:p>
        </p:txBody>
      </p:sp>
      <p:sp>
        <p:nvSpPr>
          <p:cNvPr id="21" name="Text 19"/>
          <p:cNvSpPr/>
          <p:nvPr/>
        </p:nvSpPr>
        <p:spPr>
          <a:xfrm>
            <a:off x="603504" y="2377440"/>
            <a:ext cx="329184" cy="329184"/>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3</a:t>
            </a:r>
            <a:endParaRPr lang="en-US" sz="1000" dirty="0"/>
          </a:p>
        </p:txBody>
      </p:sp>
      <p:sp>
        <p:nvSpPr>
          <p:cNvPr id="22" name="Text 20"/>
          <p:cNvSpPr/>
          <p:nvPr/>
        </p:nvSpPr>
        <p:spPr>
          <a:xfrm>
            <a:off x="1042416" y="2212848"/>
            <a:ext cx="3273552" cy="402336"/>
          </a:xfrm>
          <a:prstGeom prst="rect">
            <a:avLst/>
          </a:prstGeom>
          <a:noFill/>
          <a:ln/>
        </p:spPr>
        <p:txBody>
          <a:bodyPr wrap="square" lIns="0" tIns="0" rIns="0" bIns="0" rtlCol="0" anchor="ctr"/>
          <a:lstStyle/>
          <a:p>
            <a:pPr marL="0" indent="0">
              <a:buNone/>
            </a:pPr>
            <a:r>
              <a:rPr lang="en-US" sz="1100" b="1" dirty="0">
                <a:solidFill>
                  <a:srgbClr val="1E2A38"/>
                </a:solidFill>
                <a:latin typeface="Calibri" pitchFamily="34" charset="0"/>
                <a:ea typeface="Calibri" pitchFamily="34" charset="-122"/>
                <a:cs typeface="Calibri" pitchFamily="34" charset="-120"/>
              </a:rPr>
              <a:t>AI as Your Pair Programmer</a:t>
            </a:r>
            <a:endParaRPr lang="en-US" sz="1100" dirty="0"/>
          </a:p>
        </p:txBody>
      </p:sp>
      <p:sp>
        <p:nvSpPr>
          <p:cNvPr id="23" name="Text 21"/>
          <p:cNvSpPr/>
          <p:nvPr/>
        </p:nvSpPr>
        <p:spPr>
          <a:xfrm>
            <a:off x="1042416" y="2596896"/>
            <a:ext cx="3273552" cy="329184"/>
          </a:xfrm>
          <a:prstGeom prst="rect">
            <a:avLst/>
          </a:prstGeom>
          <a:noFill/>
          <a:ln/>
        </p:spPr>
        <p:txBody>
          <a:bodyPr wrap="square" lIns="0" tIns="0" rIns="0" bIns="0" rtlCol="0" anchor="t"/>
          <a:lstStyle/>
          <a:p>
            <a:pPr marL="0" indent="0">
              <a:lnSpc>
                <a:spcPct val="102000"/>
              </a:lnSpc>
              <a:buNone/>
            </a:pPr>
            <a:r>
              <a:rPr lang="en-US" sz="750" dirty="0">
                <a:solidFill>
                  <a:srgbClr val="6B7280"/>
                </a:solidFill>
                <a:latin typeface="Calibri" pitchFamily="34" charset="0"/>
                <a:ea typeface="Calibri" pitchFamily="34" charset="-122"/>
                <a:cs typeface="Calibri" pitchFamily="34" charset="-120"/>
              </a:rPr>
              <a:t>How an LLM actually works, the four-part prompt for code, and the rule that governs the whole week</a:t>
            </a:r>
            <a:endParaRPr lang="en-US" sz="750" dirty="0"/>
          </a:p>
        </p:txBody>
      </p:sp>
      <p:sp>
        <p:nvSpPr>
          <p:cNvPr id="24" name="Shape 22"/>
          <p:cNvSpPr/>
          <p:nvPr/>
        </p:nvSpPr>
        <p:spPr>
          <a:xfrm>
            <a:off x="4681728" y="2084832"/>
            <a:ext cx="4005072" cy="932688"/>
          </a:xfrm>
          <a:prstGeom prst="rect">
            <a:avLst/>
          </a:prstGeom>
          <a:solidFill>
            <a:srgbClr val="FFFFFF"/>
          </a:solidFill>
          <a:ln w="9525">
            <a:solidFill>
              <a:srgbClr val="DCEEF8"/>
            </a:solidFill>
            <a:prstDash val="solid"/>
          </a:ln>
        </p:spPr>
        <p:txBody>
          <a:bodyPr/>
          <a:lstStyle/>
          <a:p>
            <a:endParaRPr lang="en-US"/>
          </a:p>
        </p:txBody>
      </p:sp>
      <p:sp>
        <p:nvSpPr>
          <p:cNvPr id="25" name="Shape 23"/>
          <p:cNvSpPr/>
          <p:nvPr/>
        </p:nvSpPr>
        <p:spPr>
          <a:xfrm>
            <a:off x="4681728" y="2084832"/>
            <a:ext cx="54864" cy="932688"/>
          </a:xfrm>
          <a:prstGeom prst="rect">
            <a:avLst/>
          </a:prstGeom>
          <a:solidFill>
            <a:srgbClr val="005E86"/>
          </a:solidFill>
          <a:ln w="12700">
            <a:solidFill>
              <a:srgbClr val="005E86"/>
            </a:solidFill>
            <a:prstDash val="solid"/>
          </a:ln>
        </p:spPr>
        <p:txBody>
          <a:bodyPr/>
          <a:lstStyle/>
          <a:p>
            <a:endParaRPr lang="en-US"/>
          </a:p>
        </p:txBody>
      </p:sp>
      <p:sp>
        <p:nvSpPr>
          <p:cNvPr id="26" name="Shape 24"/>
          <p:cNvSpPr/>
          <p:nvPr/>
        </p:nvSpPr>
        <p:spPr>
          <a:xfrm>
            <a:off x="4828032" y="2377440"/>
            <a:ext cx="329184" cy="329184"/>
          </a:xfrm>
          <a:prstGeom prst="rect">
            <a:avLst/>
          </a:prstGeom>
          <a:solidFill>
            <a:srgbClr val="005E86"/>
          </a:solidFill>
          <a:ln w="12700">
            <a:solidFill>
              <a:srgbClr val="005E86"/>
            </a:solidFill>
            <a:prstDash val="solid"/>
          </a:ln>
        </p:spPr>
        <p:txBody>
          <a:bodyPr/>
          <a:lstStyle/>
          <a:p>
            <a:endParaRPr lang="en-US"/>
          </a:p>
        </p:txBody>
      </p:sp>
      <p:sp>
        <p:nvSpPr>
          <p:cNvPr id="27" name="Text 25"/>
          <p:cNvSpPr/>
          <p:nvPr/>
        </p:nvSpPr>
        <p:spPr>
          <a:xfrm>
            <a:off x="4828032" y="2377440"/>
            <a:ext cx="329184" cy="329184"/>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4</a:t>
            </a:r>
            <a:endParaRPr lang="en-US" sz="1000" dirty="0"/>
          </a:p>
        </p:txBody>
      </p:sp>
      <p:sp>
        <p:nvSpPr>
          <p:cNvPr id="28" name="Text 26"/>
          <p:cNvSpPr/>
          <p:nvPr/>
        </p:nvSpPr>
        <p:spPr>
          <a:xfrm>
            <a:off x="5266944" y="2212848"/>
            <a:ext cx="3273552" cy="402336"/>
          </a:xfrm>
          <a:prstGeom prst="rect">
            <a:avLst/>
          </a:prstGeom>
          <a:noFill/>
          <a:ln/>
        </p:spPr>
        <p:txBody>
          <a:bodyPr wrap="square" lIns="0" tIns="0" rIns="0" bIns="0" rtlCol="0" anchor="ctr"/>
          <a:lstStyle/>
          <a:p>
            <a:pPr marL="0" indent="0">
              <a:buNone/>
            </a:pPr>
            <a:r>
              <a:rPr lang="en-US" sz="1100" b="1" dirty="0">
                <a:solidFill>
                  <a:srgbClr val="1E2A38"/>
                </a:solidFill>
                <a:latin typeface="Calibri" pitchFamily="34" charset="0"/>
                <a:ea typeface="Calibri" pitchFamily="34" charset="-122"/>
                <a:cs typeface="Calibri" pitchFamily="34" charset="-120"/>
              </a:rPr>
              <a:t>Git, Lab &amp; Demos</a:t>
            </a:r>
            <a:endParaRPr lang="en-US" sz="1100" dirty="0"/>
          </a:p>
        </p:txBody>
      </p:sp>
      <p:sp>
        <p:nvSpPr>
          <p:cNvPr id="29" name="Text 27"/>
          <p:cNvSpPr/>
          <p:nvPr/>
        </p:nvSpPr>
        <p:spPr>
          <a:xfrm>
            <a:off x="5266944" y="2596896"/>
            <a:ext cx="3273552" cy="329184"/>
          </a:xfrm>
          <a:prstGeom prst="rect">
            <a:avLst/>
          </a:prstGeom>
          <a:noFill/>
          <a:ln/>
        </p:spPr>
        <p:txBody>
          <a:bodyPr wrap="square" lIns="0" tIns="0" rIns="0" bIns="0" rtlCol="0" anchor="t"/>
          <a:lstStyle/>
          <a:p>
            <a:pPr marL="0" indent="0">
              <a:lnSpc>
                <a:spcPct val="102000"/>
              </a:lnSpc>
              <a:buNone/>
            </a:pPr>
            <a:r>
              <a:rPr lang="en-US" sz="750" dirty="0">
                <a:solidFill>
                  <a:srgbClr val="6B7280"/>
                </a:solidFill>
                <a:latin typeface="Calibri" pitchFamily="34" charset="0"/>
                <a:ea typeface="Calibri" pitchFamily="34" charset="-122"/>
                <a:cs typeface="Calibri" pitchFamily="34" charset="-120"/>
              </a:rPr>
              <a:t>Commit and push for the first time, finish your shell, and show it to the room</a:t>
            </a:r>
            <a:endParaRPr lang="en-US" sz="750" dirty="0"/>
          </a:p>
        </p:txBody>
      </p:sp>
      <p:sp>
        <p:nvSpPr>
          <p:cNvPr id="30" name="Shape 28"/>
          <p:cNvSpPr/>
          <p:nvPr/>
        </p:nvSpPr>
        <p:spPr>
          <a:xfrm>
            <a:off x="457200" y="3255264"/>
            <a:ext cx="8229600" cy="10973"/>
          </a:xfrm>
          <a:prstGeom prst="rect">
            <a:avLst/>
          </a:prstGeom>
          <a:solidFill>
            <a:srgbClr val="CDE7F5"/>
          </a:solidFill>
          <a:ln w="12700">
            <a:solidFill>
              <a:srgbClr val="CDE7F5"/>
            </a:solidFill>
            <a:prstDash val="solid"/>
          </a:ln>
        </p:spPr>
        <p:txBody>
          <a:bodyPr/>
          <a:lstStyle/>
          <a:p>
            <a:endParaRPr lang="en-US"/>
          </a:p>
        </p:txBody>
      </p:sp>
      <p:sp>
        <p:nvSpPr>
          <p:cNvPr id="31" name="Text 29"/>
          <p:cNvSpPr/>
          <p:nvPr/>
        </p:nvSpPr>
        <p:spPr>
          <a:xfrm>
            <a:off x="457200" y="3383280"/>
            <a:ext cx="4572000" cy="182880"/>
          </a:xfrm>
          <a:prstGeom prst="rect">
            <a:avLst/>
          </a:prstGeom>
          <a:noFill/>
          <a:ln/>
        </p:spPr>
        <p:txBody>
          <a:bodyPr wrap="square" lIns="0" tIns="0" rIns="0" bIns="0" rtlCol="0" anchor="ctr"/>
          <a:lstStyle/>
          <a:p>
            <a:pPr marL="0" indent="0">
              <a:buNone/>
            </a:pPr>
            <a:r>
              <a:rPr lang="en-US" sz="800" b="1" kern="0" spc="120" dirty="0">
                <a:solidFill>
                  <a:srgbClr val="6B7280"/>
                </a:solidFill>
                <a:latin typeface="Calibri" pitchFamily="34" charset="0"/>
                <a:ea typeface="Calibri" pitchFamily="34" charset="-122"/>
                <a:cs typeface="Calibri" pitchFamily="34" charset="-120"/>
              </a:rPr>
              <a:t>WHAT YOU WALK OUT WITH TODAY</a:t>
            </a:r>
            <a:endParaRPr lang="en-US" sz="800" dirty="0"/>
          </a:p>
        </p:txBody>
      </p:sp>
      <p:sp>
        <p:nvSpPr>
          <p:cNvPr id="32" name="Text 30"/>
          <p:cNvSpPr/>
          <p:nvPr/>
        </p:nvSpPr>
        <p:spPr>
          <a:xfrm>
            <a:off x="457200" y="3621024"/>
            <a:ext cx="8229600" cy="566928"/>
          </a:xfrm>
          <a:prstGeom prst="rect">
            <a:avLst/>
          </a:prstGeom>
          <a:noFill/>
          <a:ln/>
        </p:spPr>
        <p:txBody>
          <a:bodyPr wrap="square" lIns="0" tIns="0" rIns="0" bIns="0" rtlCol="0" anchor="t"/>
          <a:lstStyle/>
          <a:p>
            <a:pPr marL="0" indent="0">
              <a:lnSpc>
                <a:spcPct val="105000"/>
              </a:lnSpc>
              <a:buNone/>
            </a:pPr>
            <a:r>
              <a:rPr lang="en-US" sz="1100" dirty="0">
                <a:solidFill>
                  <a:srgbClr val="1E2A38"/>
                </a:solidFill>
                <a:latin typeface="Calibri" pitchFamily="34" charset="0"/>
                <a:ea typeface="Calibri" pitchFamily="34" charset="-122"/>
                <a:cs typeface="Calibri" pitchFamily="34" charset="-120"/>
              </a:rPr>
              <a:t>Your own application's interface, running in a browser, pushed to GitHub — and the ability to explain every single line of it, including the lines an AI wrote for you.</a:t>
            </a:r>
            <a:endParaRPr lang="en-US" sz="1100" dirty="0"/>
          </a:p>
        </p:txBody>
      </p:sp>
      <p:sp>
        <p:nvSpPr>
          <p:cNvPr id="33" name="Shape 31"/>
          <p:cNvSpPr/>
          <p:nvPr/>
        </p:nvSpPr>
        <p:spPr>
          <a:xfrm>
            <a:off x="457200" y="4334256"/>
            <a:ext cx="8229600" cy="512064"/>
          </a:xfrm>
          <a:prstGeom prst="rect">
            <a:avLst/>
          </a:prstGeom>
          <a:solidFill>
            <a:srgbClr val="F0F8FD"/>
          </a:solidFill>
          <a:ln w="12700">
            <a:solidFill>
              <a:srgbClr val="F0F8FD"/>
            </a:solidFill>
            <a:prstDash val="solid"/>
          </a:ln>
        </p:spPr>
        <p:txBody>
          <a:bodyPr/>
          <a:lstStyle/>
          <a:p>
            <a:endParaRPr lang="en-US"/>
          </a:p>
        </p:txBody>
      </p:sp>
      <p:sp>
        <p:nvSpPr>
          <p:cNvPr id="34" name="Shape 32"/>
          <p:cNvSpPr/>
          <p:nvPr/>
        </p:nvSpPr>
        <p:spPr>
          <a:xfrm>
            <a:off x="457200" y="4334256"/>
            <a:ext cx="54864" cy="512064"/>
          </a:xfrm>
          <a:prstGeom prst="rect">
            <a:avLst/>
          </a:prstGeom>
          <a:solidFill>
            <a:srgbClr val="00B0F0"/>
          </a:solidFill>
          <a:ln w="12700">
            <a:solidFill>
              <a:srgbClr val="00B0F0"/>
            </a:solidFill>
            <a:prstDash val="solid"/>
          </a:ln>
        </p:spPr>
        <p:txBody>
          <a:bodyPr/>
          <a:lstStyle/>
          <a:p>
            <a:endParaRPr lang="en-US"/>
          </a:p>
        </p:txBody>
      </p:sp>
      <p:sp>
        <p:nvSpPr>
          <p:cNvPr id="35" name="Text 33"/>
          <p:cNvSpPr/>
          <p:nvPr/>
        </p:nvSpPr>
        <p:spPr>
          <a:xfrm>
            <a:off x="658368" y="4334256"/>
            <a:ext cx="7863840" cy="512064"/>
          </a:xfrm>
          <a:prstGeom prst="rect">
            <a:avLst/>
          </a:prstGeom>
          <a:noFill/>
          <a:ln/>
        </p:spPr>
        <p:txBody>
          <a:bodyPr wrap="square" lIns="0" tIns="0" rIns="0" bIns="0" rtlCol="0" anchor="ctr"/>
          <a:lstStyle/>
          <a:p>
            <a:pPr marL="0" indent="0">
              <a:buNone/>
            </a:pPr>
            <a:r>
              <a:rPr lang="en-US" sz="1000" b="1" dirty="0">
                <a:solidFill>
                  <a:srgbClr val="1E2A38"/>
                </a:solidFill>
                <a:latin typeface="Calibri" pitchFamily="34" charset="0"/>
                <a:ea typeface="Calibri" pitchFamily="34" charset="-122"/>
                <a:cs typeface="Calibri" pitchFamily="34" charset="-120"/>
              </a:rPr>
              <a:t>You are not all building the same app this week. You are all building the same architecture.</a:t>
            </a:r>
            <a:endParaRPr lang="en-US" sz="1000" dirty="0"/>
          </a:p>
        </p:txBody>
      </p:sp>
    </p:spTree>
    <p:extLst>
      <p:ext uri="{BB962C8B-B14F-4D97-AF65-F5344CB8AC3E}">
        <p14:creationId xmlns:p14="http://schemas.microsoft.com/office/powerpoint/2010/main" val="4166493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B0F0"/>
          </a:solidFill>
          <a:ln w="12700">
            <a:solidFill>
              <a:srgbClr val="00B0F0"/>
            </a:solidFill>
            <a:prstDash val="solid"/>
          </a:ln>
        </p:spPr>
        <p:txBody>
          <a:bodyPr/>
          <a:lstStyle/>
          <a:p>
            <a:endParaRPr lang="en-US"/>
          </a:p>
        </p:txBody>
      </p:sp>
      <p:sp>
        <p:nvSpPr>
          <p:cNvPr id="3" name="Text 1"/>
          <p:cNvSpPr/>
          <p:nvPr/>
        </p:nvSpPr>
        <p:spPr>
          <a:xfrm>
            <a:off x="457200" y="128016"/>
            <a:ext cx="6400800" cy="182880"/>
          </a:xfrm>
          <a:prstGeom prst="rect">
            <a:avLst/>
          </a:prstGeom>
          <a:noFill/>
          <a:ln/>
        </p:spPr>
        <p:txBody>
          <a:bodyPr wrap="square" lIns="0" tIns="0" rIns="0" bIns="0" rtlCol="0" anchor="ctr"/>
          <a:lstStyle/>
          <a:p>
            <a:pPr marL="0" indent="0">
              <a:buNone/>
            </a:pPr>
            <a:r>
              <a:rPr lang="en-US" sz="800" b="1" kern="0" spc="160" dirty="0">
                <a:solidFill>
                  <a:srgbClr val="6B7280"/>
                </a:solidFill>
                <a:latin typeface="Calibri" pitchFamily="34" charset="0"/>
                <a:ea typeface="Calibri" pitchFamily="34" charset="-122"/>
                <a:cs typeface="Calibri" pitchFamily="34" charset="-120"/>
              </a:rPr>
              <a:t>BLOCK 1</a:t>
            </a:r>
            <a:endParaRPr lang="en-US" sz="800" dirty="0"/>
          </a:p>
        </p:txBody>
      </p:sp>
      <p:sp>
        <p:nvSpPr>
          <p:cNvPr id="4" name="Text 2"/>
          <p:cNvSpPr/>
          <p:nvPr/>
        </p:nvSpPr>
        <p:spPr>
          <a:xfrm>
            <a:off x="457200" y="347472"/>
            <a:ext cx="8229600" cy="420624"/>
          </a:xfrm>
          <a:prstGeom prst="rect">
            <a:avLst/>
          </a:prstGeom>
          <a:noFill/>
          <a:ln/>
        </p:spPr>
        <p:txBody>
          <a:bodyPr wrap="square" lIns="0" tIns="0" rIns="0" bIns="0" rtlCol="0" anchor="ctr"/>
          <a:lstStyle/>
          <a:p>
            <a:pPr marL="0" indent="0">
              <a:buNone/>
            </a:pPr>
            <a:r>
              <a:rPr lang="en-US" sz="2200" b="1" dirty="0">
                <a:solidFill>
                  <a:srgbClr val="1E2A38"/>
                </a:solidFill>
                <a:latin typeface="Calibri" pitchFamily="34" charset="0"/>
                <a:ea typeface="Calibri" pitchFamily="34" charset="-122"/>
                <a:cs typeface="Calibri" pitchFamily="34" charset="-120"/>
              </a:rPr>
              <a:t>Five Days, One Application — Yours</a:t>
            </a:r>
            <a:endParaRPr lang="en-US" sz="2200" dirty="0"/>
          </a:p>
        </p:txBody>
      </p:sp>
      <p:sp>
        <p:nvSpPr>
          <p:cNvPr id="5" name="Shape 3"/>
          <p:cNvSpPr/>
          <p:nvPr/>
        </p:nvSpPr>
        <p:spPr>
          <a:xfrm>
            <a:off x="457200" y="859536"/>
            <a:ext cx="8229600" cy="10973"/>
          </a:xfrm>
          <a:prstGeom prst="rect">
            <a:avLst/>
          </a:prstGeom>
          <a:solidFill>
            <a:srgbClr val="CDE7F5"/>
          </a:solidFill>
          <a:ln w="12700">
            <a:solidFill>
              <a:srgbClr val="CDE7F5"/>
            </a:solidFill>
            <a:prstDash val="solid"/>
          </a:ln>
        </p:spPr>
        <p:txBody>
          <a:bodyPr/>
          <a:lstStyle/>
          <a:p>
            <a:endParaRPr lang="en-US"/>
          </a:p>
        </p:txBody>
      </p:sp>
      <p:sp>
        <p:nvSpPr>
          <p:cNvPr id="6" name="Shape 4"/>
          <p:cNvSpPr/>
          <p:nvPr/>
        </p:nvSpPr>
        <p:spPr>
          <a:xfrm>
            <a:off x="457200" y="1042416"/>
            <a:ext cx="1572768" cy="2048256"/>
          </a:xfrm>
          <a:prstGeom prst="rect">
            <a:avLst/>
          </a:prstGeom>
          <a:solidFill>
            <a:srgbClr val="FFFFFF"/>
          </a:solidFill>
          <a:ln w="9525">
            <a:solidFill>
              <a:srgbClr val="DCEEF8"/>
            </a:solidFill>
            <a:prstDash val="solid"/>
          </a:ln>
        </p:spPr>
        <p:txBody>
          <a:bodyPr/>
          <a:lstStyle/>
          <a:p>
            <a:endParaRPr lang="en-US"/>
          </a:p>
        </p:txBody>
      </p:sp>
      <p:sp>
        <p:nvSpPr>
          <p:cNvPr id="7" name="Shape 5"/>
          <p:cNvSpPr/>
          <p:nvPr/>
        </p:nvSpPr>
        <p:spPr>
          <a:xfrm>
            <a:off x="457200" y="1042416"/>
            <a:ext cx="1572768" cy="274320"/>
          </a:xfrm>
          <a:prstGeom prst="rect">
            <a:avLst/>
          </a:prstGeom>
          <a:solidFill>
            <a:srgbClr val="00B0F0"/>
          </a:solidFill>
          <a:ln w="12700">
            <a:solidFill>
              <a:srgbClr val="00B0F0"/>
            </a:solidFill>
            <a:prstDash val="solid"/>
          </a:ln>
        </p:spPr>
        <p:txBody>
          <a:bodyPr/>
          <a:lstStyle/>
          <a:p>
            <a:endParaRPr lang="en-US"/>
          </a:p>
        </p:txBody>
      </p:sp>
      <p:sp>
        <p:nvSpPr>
          <p:cNvPr id="8" name="Text 6"/>
          <p:cNvSpPr/>
          <p:nvPr/>
        </p:nvSpPr>
        <p:spPr>
          <a:xfrm>
            <a:off x="457200" y="1042416"/>
            <a:ext cx="1572768" cy="274320"/>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DAY 1</a:t>
            </a:r>
            <a:endParaRPr lang="en-US" sz="800" dirty="0"/>
          </a:p>
        </p:txBody>
      </p:sp>
      <p:sp>
        <p:nvSpPr>
          <p:cNvPr id="9" name="Text 7"/>
          <p:cNvSpPr/>
          <p:nvPr/>
        </p:nvSpPr>
        <p:spPr>
          <a:xfrm>
            <a:off x="585216" y="1408176"/>
            <a:ext cx="1316736" cy="237744"/>
          </a:xfrm>
          <a:prstGeom prst="rect">
            <a:avLst/>
          </a:prstGeom>
          <a:noFill/>
          <a:ln/>
        </p:spPr>
        <p:txBody>
          <a:bodyPr wrap="square" lIns="0" tIns="0" rIns="0" bIns="0" rtlCol="0" anchor="ctr"/>
          <a:lstStyle/>
          <a:p>
            <a:pPr marL="0" indent="0">
              <a:buNone/>
            </a:pPr>
            <a:r>
              <a:rPr lang="en-US" sz="1100" b="1" dirty="0">
                <a:solidFill>
                  <a:srgbClr val="1E2A38"/>
                </a:solidFill>
                <a:latin typeface="Calibri" pitchFamily="34" charset="0"/>
                <a:ea typeface="Calibri" pitchFamily="34" charset="-122"/>
                <a:cs typeface="Calibri" pitchFamily="34" charset="-120"/>
              </a:rPr>
              <a:t>CLIENT</a:t>
            </a:r>
            <a:endParaRPr lang="en-US" sz="1100" dirty="0"/>
          </a:p>
        </p:txBody>
      </p:sp>
      <p:sp>
        <p:nvSpPr>
          <p:cNvPr id="10" name="Text 8"/>
          <p:cNvSpPr/>
          <p:nvPr/>
        </p:nvSpPr>
        <p:spPr>
          <a:xfrm>
            <a:off x="585216" y="1664208"/>
            <a:ext cx="1316736" cy="310896"/>
          </a:xfrm>
          <a:prstGeom prst="rect">
            <a:avLst/>
          </a:prstGeom>
          <a:noFill/>
          <a:ln/>
        </p:spPr>
        <p:txBody>
          <a:bodyPr wrap="square" lIns="0" tIns="0" rIns="0" bIns="0" rtlCol="0" anchor="t"/>
          <a:lstStyle/>
          <a:p>
            <a:pPr marL="0" indent="0">
              <a:buNone/>
            </a:pPr>
            <a:r>
              <a:rPr lang="en-US" sz="750" dirty="0">
                <a:solidFill>
                  <a:srgbClr val="6B7280"/>
                </a:solidFill>
                <a:latin typeface="Calibri" pitchFamily="34" charset="0"/>
                <a:ea typeface="Calibri" pitchFamily="34" charset="-122"/>
                <a:cs typeface="Calibri" pitchFamily="34" charset="-120"/>
              </a:rPr>
              <a:t>HTML, CSS, Git</a:t>
            </a:r>
            <a:endParaRPr lang="en-US" sz="750" dirty="0"/>
          </a:p>
        </p:txBody>
      </p:sp>
      <p:sp>
        <p:nvSpPr>
          <p:cNvPr id="11" name="Shape 9"/>
          <p:cNvSpPr/>
          <p:nvPr/>
        </p:nvSpPr>
        <p:spPr>
          <a:xfrm>
            <a:off x="585216" y="2048256"/>
            <a:ext cx="1316736" cy="10973"/>
          </a:xfrm>
          <a:prstGeom prst="rect">
            <a:avLst/>
          </a:prstGeom>
          <a:solidFill>
            <a:srgbClr val="CDE7F5"/>
          </a:solidFill>
          <a:ln w="12700">
            <a:solidFill>
              <a:srgbClr val="CDE7F5"/>
            </a:solidFill>
            <a:prstDash val="solid"/>
          </a:ln>
        </p:spPr>
        <p:txBody>
          <a:bodyPr/>
          <a:lstStyle/>
          <a:p>
            <a:endParaRPr lang="en-US"/>
          </a:p>
        </p:txBody>
      </p:sp>
      <p:sp>
        <p:nvSpPr>
          <p:cNvPr id="12" name="Text 10"/>
          <p:cNvSpPr/>
          <p:nvPr/>
        </p:nvSpPr>
        <p:spPr>
          <a:xfrm>
            <a:off x="585216" y="2139696"/>
            <a:ext cx="1316736" cy="182880"/>
          </a:xfrm>
          <a:prstGeom prst="rect">
            <a:avLst/>
          </a:prstGeom>
          <a:noFill/>
          <a:ln/>
        </p:spPr>
        <p:txBody>
          <a:bodyPr wrap="square" lIns="0" tIns="0" rIns="0" bIns="0" rtlCol="0" anchor="ctr"/>
          <a:lstStyle/>
          <a:p>
            <a:pPr marL="0" indent="0">
              <a:buNone/>
            </a:pPr>
            <a:r>
              <a:rPr lang="en-US" sz="600" b="1" kern="0" spc="120" dirty="0">
                <a:solidFill>
                  <a:srgbClr val="6B7280"/>
                </a:solidFill>
                <a:latin typeface="Calibri" pitchFamily="34" charset="0"/>
                <a:ea typeface="Calibri" pitchFamily="34" charset="-122"/>
                <a:cs typeface="Calibri" pitchFamily="34" charset="-120"/>
              </a:rPr>
              <a:t>THE AI THAT DAY</a:t>
            </a:r>
            <a:endParaRPr lang="en-US" sz="600" dirty="0"/>
          </a:p>
        </p:txBody>
      </p:sp>
      <p:sp>
        <p:nvSpPr>
          <p:cNvPr id="13" name="Text 11"/>
          <p:cNvSpPr/>
          <p:nvPr/>
        </p:nvSpPr>
        <p:spPr>
          <a:xfrm>
            <a:off x="585216" y="2359152"/>
            <a:ext cx="1316736" cy="566928"/>
          </a:xfrm>
          <a:prstGeom prst="rect">
            <a:avLst/>
          </a:prstGeom>
          <a:noFill/>
          <a:ln/>
        </p:spPr>
        <p:txBody>
          <a:bodyPr wrap="square" lIns="0" tIns="0" rIns="0" bIns="0" rtlCol="0" anchor="t"/>
          <a:lstStyle/>
          <a:p>
            <a:pPr marL="0" indent="0">
              <a:lnSpc>
                <a:spcPct val="105000"/>
              </a:lnSpc>
              <a:buNone/>
            </a:pPr>
            <a:r>
              <a:rPr lang="en-US" sz="800" b="1" dirty="0">
                <a:solidFill>
                  <a:srgbClr val="00B0F0"/>
                </a:solidFill>
                <a:latin typeface="Calibri" pitchFamily="34" charset="0"/>
                <a:ea typeface="Calibri" pitchFamily="34" charset="-122"/>
                <a:cs typeface="Calibri" pitchFamily="34" charset="-120"/>
              </a:rPr>
              <a:t>AI as your</a:t>
            </a:r>
            <a:endParaRPr lang="en-US" sz="800" dirty="0"/>
          </a:p>
          <a:p>
            <a:pPr marL="0" indent="0">
              <a:lnSpc>
                <a:spcPct val="105000"/>
              </a:lnSpc>
              <a:buNone/>
            </a:pPr>
            <a:r>
              <a:rPr lang="en-US" sz="800" b="1" dirty="0">
                <a:solidFill>
                  <a:srgbClr val="00B0F0"/>
                </a:solidFill>
                <a:latin typeface="Calibri" pitchFamily="34" charset="0"/>
                <a:ea typeface="Calibri" pitchFamily="34" charset="-122"/>
                <a:cs typeface="Calibri" pitchFamily="34" charset="-120"/>
              </a:rPr>
              <a:t>pair programmer</a:t>
            </a:r>
            <a:endParaRPr lang="en-US" sz="800" dirty="0"/>
          </a:p>
        </p:txBody>
      </p:sp>
      <p:sp>
        <p:nvSpPr>
          <p:cNvPr id="14" name="Shape 12"/>
          <p:cNvSpPr/>
          <p:nvPr/>
        </p:nvSpPr>
        <p:spPr>
          <a:xfrm>
            <a:off x="2121408" y="1042416"/>
            <a:ext cx="1572768" cy="2048256"/>
          </a:xfrm>
          <a:prstGeom prst="rect">
            <a:avLst/>
          </a:prstGeom>
          <a:solidFill>
            <a:srgbClr val="FFFFFF"/>
          </a:solidFill>
          <a:ln w="9525">
            <a:solidFill>
              <a:srgbClr val="DCEEF8"/>
            </a:solidFill>
            <a:prstDash val="solid"/>
          </a:ln>
        </p:spPr>
        <p:txBody>
          <a:bodyPr/>
          <a:lstStyle/>
          <a:p>
            <a:endParaRPr lang="en-US"/>
          </a:p>
        </p:txBody>
      </p:sp>
      <p:sp>
        <p:nvSpPr>
          <p:cNvPr id="15" name="Shape 13"/>
          <p:cNvSpPr/>
          <p:nvPr/>
        </p:nvSpPr>
        <p:spPr>
          <a:xfrm>
            <a:off x="2121408" y="1042416"/>
            <a:ext cx="1572768" cy="274320"/>
          </a:xfrm>
          <a:prstGeom prst="rect">
            <a:avLst/>
          </a:prstGeom>
          <a:solidFill>
            <a:srgbClr val="0098D4"/>
          </a:solidFill>
          <a:ln w="12700">
            <a:solidFill>
              <a:srgbClr val="0098D4"/>
            </a:solidFill>
            <a:prstDash val="solid"/>
          </a:ln>
        </p:spPr>
        <p:txBody>
          <a:bodyPr/>
          <a:lstStyle/>
          <a:p>
            <a:endParaRPr lang="en-US"/>
          </a:p>
        </p:txBody>
      </p:sp>
      <p:sp>
        <p:nvSpPr>
          <p:cNvPr id="16" name="Text 14"/>
          <p:cNvSpPr/>
          <p:nvPr/>
        </p:nvSpPr>
        <p:spPr>
          <a:xfrm>
            <a:off x="2121408" y="1042416"/>
            <a:ext cx="1572768" cy="274320"/>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DAY 2</a:t>
            </a:r>
            <a:endParaRPr lang="en-US" sz="800" dirty="0"/>
          </a:p>
        </p:txBody>
      </p:sp>
      <p:sp>
        <p:nvSpPr>
          <p:cNvPr id="17" name="Text 15"/>
          <p:cNvSpPr/>
          <p:nvPr/>
        </p:nvSpPr>
        <p:spPr>
          <a:xfrm>
            <a:off x="2249424" y="1408176"/>
            <a:ext cx="1316736" cy="237744"/>
          </a:xfrm>
          <a:prstGeom prst="rect">
            <a:avLst/>
          </a:prstGeom>
          <a:noFill/>
          <a:ln/>
        </p:spPr>
        <p:txBody>
          <a:bodyPr wrap="square" lIns="0" tIns="0" rIns="0" bIns="0" rtlCol="0" anchor="ctr"/>
          <a:lstStyle/>
          <a:p>
            <a:pPr marL="0" indent="0">
              <a:buNone/>
            </a:pPr>
            <a:r>
              <a:rPr lang="en-US" sz="1100" b="1" dirty="0">
                <a:solidFill>
                  <a:srgbClr val="1E2A38"/>
                </a:solidFill>
                <a:latin typeface="Calibri" pitchFamily="34" charset="0"/>
                <a:ea typeface="Calibri" pitchFamily="34" charset="-122"/>
                <a:cs typeface="Calibri" pitchFamily="34" charset="-120"/>
              </a:rPr>
              <a:t>BROWSER</a:t>
            </a:r>
            <a:endParaRPr lang="en-US" sz="1100" dirty="0"/>
          </a:p>
        </p:txBody>
      </p:sp>
      <p:sp>
        <p:nvSpPr>
          <p:cNvPr id="18" name="Text 16"/>
          <p:cNvSpPr/>
          <p:nvPr/>
        </p:nvSpPr>
        <p:spPr>
          <a:xfrm>
            <a:off x="2249424" y="1664208"/>
            <a:ext cx="1316736" cy="310896"/>
          </a:xfrm>
          <a:prstGeom prst="rect">
            <a:avLst/>
          </a:prstGeom>
          <a:noFill/>
          <a:ln/>
        </p:spPr>
        <p:txBody>
          <a:bodyPr wrap="square" lIns="0" tIns="0" rIns="0" bIns="0" rtlCol="0" anchor="t"/>
          <a:lstStyle/>
          <a:p>
            <a:pPr marL="0" indent="0">
              <a:buNone/>
            </a:pPr>
            <a:r>
              <a:rPr lang="en-US" sz="750" dirty="0">
                <a:solidFill>
                  <a:srgbClr val="6B7280"/>
                </a:solidFill>
                <a:latin typeface="Calibri" pitchFamily="34" charset="0"/>
                <a:ea typeface="Calibri" pitchFamily="34" charset="-122"/>
                <a:cs typeface="Calibri" pitchFamily="34" charset="-120"/>
              </a:rPr>
              <a:t>JavaScript, fetch</a:t>
            </a:r>
            <a:endParaRPr lang="en-US" sz="750" dirty="0"/>
          </a:p>
        </p:txBody>
      </p:sp>
      <p:sp>
        <p:nvSpPr>
          <p:cNvPr id="19" name="Shape 17"/>
          <p:cNvSpPr/>
          <p:nvPr/>
        </p:nvSpPr>
        <p:spPr>
          <a:xfrm>
            <a:off x="2249424" y="2048256"/>
            <a:ext cx="1316736" cy="10973"/>
          </a:xfrm>
          <a:prstGeom prst="rect">
            <a:avLst/>
          </a:prstGeom>
          <a:solidFill>
            <a:srgbClr val="CDE7F5"/>
          </a:solidFill>
          <a:ln w="12700">
            <a:solidFill>
              <a:srgbClr val="CDE7F5"/>
            </a:solidFill>
            <a:prstDash val="solid"/>
          </a:ln>
        </p:spPr>
        <p:txBody>
          <a:bodyPr/>
          <a:lstStyle/>
          <a:p>
            <a:endParaRPr lang="en-US"/>
          </a:p>
        </p:txBody>
      </p:sp>
      <p:sp>
        <p:nvSpPr>
          <p:cNvPr id="20" name="Text 18"/>
          <p:cNvSpPr/>
          <p:nvPr/>
        </p:nvSpPr>
        <p:spPr>
          <a:xfrm>
            <a:off x="2249424" y="2139696"/>
            <a:ext cx="1316736" cy="182880"/>
          </a:xfrm>
          <a:prstGeom prst="rect">
            <a:avLst/>
          </a:prstGeom>
          <a:noFill/>
          <a:ln/>
        </p:spPr>
        <p:txBody>
          <a:bodyPr wrap="square" lIns="0" tIns="0" rIns="0" bIns="0" rtlCol="0" anchor="ctr"/>
          <a:lstStyle/>
          <a:p>
            <a:pPr marL="0" indent="0">
              <a:buNone/>
            </a:pPr>
            <a:r>
              <a:rPr lang="en-US" sz="600" b="1" kern="0" spc="120" dirty="0">
                <a:solidFill>
                  <a:srgbClr val="6B7280"/>
                </a:solidFill>
                <a:latin typeface="Calibri" pitchFamily="34" charset="0"/>
                <a:ea typeface="Calibri" pitchFamily="34" charset="-122"/>
                <a:cs typeface="Calibri" pitchFamily="34" charset="-120"/>
              </a:rPr>
              <a:t>THE AI THAT DAY</a:t>
            </a:r>
            <a:endParaRPr lang="en-US" sz="600" dirty="0"/>
          </a:p>
        </p:txBody>
      </p:sp>
      <p:sp>
        <p:nvSpPr>
          <p:cNvPr id="21" name="Text 19"/>
          <p:cNvSpPr/>
          <p:nvPr/>
        </p:nvSpPr>
        <p:spPr>
          <a:xfrm>
            <a:off x="2249424" y="2359152"/>
            <a:ext cx="1316736" cy="566928"/>
          </a:xfrm>
          <a:prstGeom prst="rect">
            <a:avLst/>
          </a:prstGeom>
          <a:noFill/>
          <a:ln/>
        </p:spPr>
        <p:txBody>
          <a:bodyPr wrap="square" lIns="0" tIns="0" rIns="0" bIns="0" rtlCol="0" anchor="t"/>
          <a:lstStyle/>
          <a:p>
            <a:pPr marL="0" indent="0">
              <a:lnSpc>
                <a:spcPct val="105000"/>
              </a:lnSpc>
              <a:buNone/>
            </a:pPr>
            <a:r>
              <a:rPr lang="en-US" sz="800" b="1" dirty="0">
                <a:solidFill>
                  <a:srgbClr val="0098D4"/>
                </a:solidFill>
                <a:latin typeface="Calibri" pitchFamily="34" charset="0"/>
                <a:ea typeface="Calibri" pitchFamily="34" charset="-122"/>
                <a:cs typeface="Calibri" pitchFamily="34" charset="-120"/>
              </a:rPr>
              <a:t>Your first</a:t>
            </a:r>
            <a:endParaRPr lang="en-US" sz="800" dirty="0"/>
          </a:p>
          <a:p>
            <a:pPr marL="0" indent="0">
              <a:lnSpc>
                <a:spcPct val="105000"/>
              </a:lnSpc>
              <a:buNone/>
            </a:pPr>
            <a:r>
              <a:rPr lang="en-US" sz="800" b="1" dirty="0">
                <a:solidFill>
                  <a:srgbClr val="0098D4"/>
                </a:solidFill>
                <a:latin typeface="Calibri" pitchFamily="34" charset="0"/>
                <a:ea typeface="Calibri" pitchFamily="34" charset="-122"/>
                <a:cs typeface="Calibri" pitchFamily="34" charset="-120"/>
              </a:rPr>
              <a:t>LLM call</a:t>
            </a:r>
            <a:endParaRPr lang="en-US" sz="800" dirty="0"/>
          </a:p>
        </p:txBody>
      </p:sp>
      <p:sp>
        <p:nvSpPr>
          <p:cNvPr id="22" name="Shape 20"/>
          <p:cNvSpPr/>
          <p:nvPr/>
        </p:nvSpPr>
        <p:spPr>
          <a:xfrm>
            <a:off x="3785616" y="1042416"/>
            <a:ext cx="1572768" cy="2048256"/>
          </a:xfrm>
          <a:prstGeom prst="rect">
            <a:avLst/>
          </a:prstGeom>
          <a:solidFill>
            <a:srgbClr val="FFFFFF"/>
          </a:solidFill>
          <a:ln w="9525">
            <a:solidFill>
              <a:srgbClr val="DCEEF8"/>
            </a:solidFill>
            <a:prstDash val="solid"/>
          </a:ln>
        </p:spPr>
        <p:txBody>
          <a:bodyPr/>
          <a:lstStyle/>
          <a:p>
            <a:endParaRPr lang="en-US"/>
          </a:p>
        </p:txBody>
      </p:sp>
      <p:sp>
        <p:nvSpPr>
          <p:cNvPr id="23" name="Shape 21"/>
          <p:cNvSpPr/>
          <p:nvPr/>
        </p:nvSpPr>
        <p:spPr>
          <a:xfrm>
            <a:off x="3785616" y="1042416"/>
            <a:ext cx="1572768" cy="274320"/>
          </a:xfrm>
          <a:prstGeom prst="rect">
            <a:avLst/>
          </a:prstGeom>
          <a:solidFill>
            <a:srgbClr val="0079AB"/>
          </a:solidFill>
          <a:ln w="12700">
            <a:solidFill>
              <a:srgbClr val="0079AB"/>
            </a:solidFill>
            <a:prstDash val="solid"/>
          </a:ln>
        </p:spPr>
        <p:txBody>
          <a:bodyPr/>
          <a:lstStyle/>
          <a:p>
            <a:endParaRPr lang="en-US"/>
          </a:p>
        </p:txBody>
      </p:sp>
      <p:sp>
        <p:nvSpPr>
          <p:cNvPr id="24" name="Text 22"/>
          <p:cNvSpPr/>
          <p:nvPr/>
        </p:nvSpPr>
        <p:spPr>
          <a:xfrm>
            <a:off x="3785616" y="1042416"/>
            <a:ext cx="1572768" cy="274320"/>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DAY 3</a:t>
            </a:r>
            <a:endParaRPr lang="en-US" sz="800" dirty="0"/>
          </a:p>
        </p:txBody>
      </p:sp>
      <p:sp>
        <p:nvSpPr>
          <p:cNvPr id="25" name="Text 23"/>
          <p:cNvSpPr/>
          <p:nvPr/>
        </p:nvSpPr>
        <p:spPr>
          <a:xfrm>
            <a:off x="3913632" y="1408176"/>
            <a:ext cx="1316736" cy="237744"/>
          </a:xfrm>
          <a:prstGeom prst="rect">
            <a:avLst/>
          </a:prstGeom>
          <a:noFill/>
          <a:ln/>
        </p:spPr>
        <p:txBody>
          <a:bodyPr wrap="square" lIns="0" tIns="0" rIns="0" bIns="0" rtlCol="0" anchor="ctr"/>
          <a:lstStyle/>
          <a:p>
            <a:pPr marL="0" indent="0">
              <a:buNone/>
            </a:pPr>
            <a:r>
              <a:rPr lang="en-US" sz="1100" b="1" dirty="0">
                <a:solidFill>
                  <a:srgbClr val="1E2A38"/>
                </a:solidFill>
                <a:latin typeface="Calibri" pitchFamily="34" charset="0"/>
                <a:ea typeface="Calibri" pitchFamily="34" charset="-122"/>
                <a:cs typeface="Calibri" pitchFamily="34" charset="-120"/>
              </a:rPr>
              <a:t>SERVER</a:t>
            </a:r>
            <a:endParaRPr lang="en-US" sz="1100" dirty="0"/>
          </a:p>
        </p:txBody>
      </p:sp>
      <p:sp>
        <p:nvSpPr>
          <p:cNvPr id="26" name="Text 24"/>
          <p:cNvSpPr/>
          <p:nvPr/>
        </p:nvSpPr>
        <p:spPr>
          <a:xfrm>
            <a:off x="3913632" y="1664208"/>
            <a:ext cx="1316736" cy="310896"/>
          </a:xfrm>
          <a:prstGeom prst="rect">
            <a:avLst/>
          </a:prstGeom>
          <a:noFill/>
          <a:ln/>
        </p:spPr>
        <p:txBody>
          <a:bodyPr wrap="square" lIns="0" tIns="0" rIns="0" bIns="0" rtlCol="0" anchor="t"/>
          <a:lstStyle/>
          <a:p>
            <a:pPr marL="0" indent="0">
              <a:buNone/>
            </a:pPr>
            <a:r>
              <a:rPr lang="en-US" sz="750" dirty="0">
                <a:solidFill>
                  <a:srgbClr val="6B7280"/>
                </a:solidFill>
                <a:latin typeface="Calibri" pitchFamily="34" charset="0"/>
                <a:ea typeface="Calibri" pitchFamily="34" charset="-122"/>
                <a:cs typeface="Calibri" pitchFamily="34" charset="-120"/>
              </a:rPr>
              <a:t>Express, SQLite</a:t>
            </a:r>
            <a:endParaRPr lang="en-US" sz="750" dirty="0"/>
          </a:p>
        </p:txBody>
      </p:sp>
      <p:sp>
        <p:nvSpPr>
          <p:cNvPr id="27" name="Shape 25"/>
          <p:cNvSpPr/>
          <p:nvPr/>
        </p:nvSpPr>
        <p:spPr>
          <a:xfrm>
            <a:off x="3913632" y="2048256"/>
            <a:ext cx="1316736" cy="10973"/>
          </a:xfrm>
          <a:prstGeom prst="rect">
            <a:avLst/>
          </a:prstGeom>
          <a:solidFill>
            <a:srgbClr val="CDE7F5"/>
          </a:solidFill>
          <a:ln w="12700">
            <a:solidFill>
              <a:srgbClr val="CDE7F5"/>
            </a:solidFill>
            <a:prstDash val="solid"/>
          </a:ln>
        </p:spPr>
        <p:txBody>
          <a:bodyPr/>
          <a:lstStyle/>
          <a:p>
            <a:endParaRPr lang="en-US"/>
          </a:p>
        </p:txBody>
      </p:sp>
      <p:sp>
        <p:nvSpPr>
          <p:cNvPr id="28" name="Text 26"/>
          <p:cNvSpPr/>
          <p:nvPr/>
        </p:nvSpPr>
        <p:spPr>
          <a:xfrm>
            <a:off x="3913632" y="2139696"/>
            <a:ext cx="1316736" cy="182880"/>
          </a:xfrm>
          <a:prstGeom prst="rect">
            <a:avLst/>
          </a:prstGeom>
          <a:noFill/>
          <a:ln/>
        </p:spPr>
        <p:txBody>
          <a:bodyPr wrap="square" lIns="0" tIns="0" rIns="0" bIns="0" rtlCol="0" anchor="ctr"/>
          <a:lstStyle/>
          <a:p>
            <a:pPr marL="0" indent="0">
              <a:buNone/>
            </a:pPr>
            <a:r>
              <a:rPr lang="en-US" sz="600" b="1" kern="0" spc="120" dirty="0">
                <a:solidFill>
                  <a:srgbClr val="6B7280"/>
                </a:solidFill>
                <a:latin typeface="Calibri" pitchFamily="34" charset="0"/>
                <a:ea typeface="Calibri" pitchFamily="34" charset="-122"/>
                <a:cs typeface="Calibri" pitchFamily="34" charset="-120"/>
              </a:rPr>
              <a:t>THE AI THAT DAY</a:t>
            </a:r>
            <a:endParaRPr lang="en-US" sz="600" dirty="0"/>
          </a:p>
        </p:txBody>
      </p:sp>
      <p:sp>
        <p:nvSpPr>
          <p:cNvPr id="29" name="Text 27"/>
          <p:cNvSpPr/>
          <p:nvPr/>
        </p:nvSpPr>
        <p:spPr>
          <a:xfrm>
            <a:off x="3913632" y="2359152"/>
            <a:ext cx="1316736" cy="566928"/>
          </a:xfrm>
          <a:prstGeom prst="rect">
            <a:avLst/>
          </a:prstGeom>
          <a:noFill/>
          <a:ln/>
        </p:spPr>
        <p:txBody>
          <a:bodyPr wrap="square" lIns="0" tIns="0" rIns="0" bIns="0" rtlCol="0" anchor="t"/>
          <a:lstStyle/>
          <a:p>
            <a:pPr marL="0" indent="0">
              <a:lnSpc>
                <a:spcPct val="105000"/>
              </a:lnSpc>
              <a:buNone/>
            </a:pPr>
            <a:r>
              <a:rPr lang="en-US" sz="800" b="1" dirty="0">
                <a:solidFill>
                  <a:srgbClr val="0079AB"/>
                </a:solidFill>
                <a:latin typeface="Calibri" pitchFamily="34" charset="0"/>
                <a:ea typeface="Calibri" pitchFamily="34" charset="-122"/>
                <a:cs typeface="Calibri" pitchFamily="34" charset="-120"/>
              </a:rPr>
              <a:t>AI on the</a:t>
            </a:r>
            <a:endParaRPr lang="en-US" sz="800" dirty="0"/>
          </a:p>
          <a:p>
            <a:pPr marL="0" indent="0">
              <a:lnSpc>
                <a:spcPct val="105000"/>
              </a:lnSpc>
              <a:buNone/>
            </a:pPr>
            <a:r>
              <a:rPr lang="en-US" sz="800" b="1" dirty="0">
                <a:solidFill>
                  <a:srgbClr val="0079AB"/>
                </a:solidFill>
                <a:latin typeface="Calibri" pitchFamily="34" charset="0"/>
                <a:ea typeface="Calibri" pitchFamily="34" charset="-122"/>
                <a:cs typeface="Calibri" pitchFamily="34" charset="-120"/>
              </a:rPr>
              <a:t>backend</a:t>
            </a:r>
            <a:endParaRPr lang="en-US" sz="800" dirty="0"/>
          </a:p>
        </p:txBody>
      </p:sp>
      <p:sp>
        <p:nvSpPr>
          <p:cNvPr id="30" name="Shape 28"/>
          <p:cNvSpPr/>
          <p:nvPr/>
        </p:nvSpPr>
        <p:spPr>
          <a:xfrm>
            <a:off x="5449824" y="1042416"/>
            <a:ext cx="1572768" cy="2048256"/>
          </a:xfrm>
          <a:prstGeom prst="rect">
            <a:avLst/>
          </a:prstGeom>
          <a:solidFill>
            <a:srgbClr val="FFFFFF"/>
          </a:solidFill>
          <a:ln w="9525">
            <a:solidFill>
              <a:srgbClr val="DCEEF8"/>
            </a:solidFill>
            <a:prstDash val="solid"/>
          </a:ln>
        </p:spPr>
        <p:txBody>
          <a:bodyPr/>
          <a:lstStyle/>
          <a:p>
            <a:endParaRPr lang="en-US"/>
          </a:p>
        </p:txBody>
      </p:sp>
      <p:sp>
        <p:nvSpPr>
          <p:cNvPr id="31" name="Shape 29"/>
          <p:cNvSpPr/>
          <p:nvPr/>
        </p:nvSpPr>
        <p:spPr>
          <a:xfrm>
            <a:off x="5449824" y="1042416"/>
            <a:ext cx="1572768" cy="274320"/>
          </a:xfrm>
          <a:prstGeom prst="rect">
            <a:avLst/>
          </a:prstGeom>
          <a:solidFill>
            <a:srgbClr val="005E86"/>
          </a:solidFill>
          <a:ln w="12700">
            <a:solidFill>
              <a:srgbClr val="005E86"/>
            </a:solidFill>
            <a:prstDash val="solid"/>
          </a:ln>
        </p:spPr>
        <p:txBody>
          <a:bodyPr/>
          <a:lstStyle/>
          <a:p>
            <a:endParaRPr lang="en-US"/>
          </a:p>
        </p:txBody>
      </p:sp>
      <p:sp>
        <p:nvSpPr>
          <p:cNvPr id="32" name="Text 30"/>
          <p:cNvSpPr/>
          <p:nvPr/>
        </p:nvSpPr>
        <p:spPr>
          <a:xfrm>
            <a:off x="5449824" y="1042416"/>
            <a:ext cx="1572768" cy="274320"/>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DAY 4</a:t>
            </a:r>
            <a:endParaRPr lang="en-US" sz="800" dirty="0"/>
          </a:p>
        </p:txBody>
      </p:sp>
      <p:sp>
        <p:nvSpPr>
          <p:cNvPr id="33" name="Text 31"/>
          <p:cNvSpPr/>
          <p:nvPr/>
        </p:nvSpPr>
        <p:spPr>
          <a:xfrm>
            <a:off x="5577840" y="1408176"/>
            <a:ext cx="1316736" cy="237744"/>
          </a:xfrm>
          <a:prstGeom prst="rect">
            <a:avLst/>
          </a:prstGeom>
          <a:noFill/>
          <a:ln/>
        </p:spPr>
        <p:txBody>
          <a:bodyPr wrap="square" lIns="0" tIns="0" rIns="0" bIns="0" rtlCol="0" anchor="ctr"/>
          <a:lstStyle/>
          <a:p>
            <a:pPr marL="0" indent="0">
              <a:buNone/>
            </a:pPr>
            <a:r>
              <a:rPr lang="en-US" sz="1100" b="1" dirty="0">
                <a:solidFill>
                  <a:srgbClr val="1E2A38"/>
                </a:solidFill>
                <a:latin typeface="Calibri" pitchFamily="34" charset="0"/>
                <a:ea typeface="Calibri" pitchFamily="34" charset="-122"/>
                <a:cs typeface="Calibri" pitchFamily="34" charset="-120"/>
              </a:rPr>
              <a:t>IDENTITY</a:t>
            </a:r>
            <a:endParaRPr lang="en-US" sz="1100" dirty="0"/>
          </a:p>
        </p:txBody>
      </p:sp>
      <p:sp>
        <p:nvSpPr>
          <p:cNvPr id="34" name="Text 32"/>
          <p:cNvSpPr/>
          <p:nvPr/>
        </p:nvSpPr>
        <p:spPr>
          <a:xfrm>
            <a:off x="5577840" y="1664208"/>
            <a:ext cx="1316736" cy="310896"/>
          </a:xfrm>
          <a:prstGeom prst="rect">
            <a:avLst/>
          </a:prstGeom>
          <a:noFill/>
          <a:ln/>
        </p:spPr>
        <p:txBody>
          <a:bodyPr wrap="square" lIns="0" tIns="0" rIns="0" bIns="0" rtlCol="0" anchor="t"/>
          <a:lstStyle/>
          <a:p>
            <a:pPr marL="0" indent="0">
              <a:buNone/>
            </a:pPr>
            <a:r>
              <a:rPr lang="en-US" sz="750" dirty="0">
                <a:solidFill>
                  <a:srgbClr val="6B7280"/>
                </a:solidFill>
                <a:latin typeface="Calibri" pitchFamily="34" charset="0"/>
                <a:ea typeface="Calibri" pitchFamily="34" charset="-122"/>
                <a:cs typeface="Calibri" pitchFamily="34" charset="-120"/>
              </a:rPr>
              <a:t>Auth, integration</a:t>
            </a:r>
            <a:endParaRPr lang="en-US" sz="750" dirty="0"/>
          </a:p>
        </p:txBody>
      </p:sp>
      <p:sp>
        <p:nvSpPr>
          <p:cNvPr id="35" name="Shape 33"/>
          <p:cNvSpPr/>
          <p:nvPr/>
        </p:nvSpPr>
        <p:spPr>
          <a:xfrm>
            <a:off x="5577840" y="2048256"/>
            <a:ext cx="1316736" cy="10973"/>
          </a:xfrm>
          <a:prstGeom prst="rect">
            <a:avLst/>
          </a:prstGeom>
          <a:solidFill>
            <a:srgbClr val="CDE7F5"/>
          </a:solidFill>
          <a:ln w="12700">
            <a:solidFill>
              <a:srgbClr val="CDE7F5"/>
            </a:solidFill>
            <a:prstDash val="solid"/>
          </a:ln>
        </p:spPr>
        <p:txBody>
          <a:bodyPr/>
          <a:lstStyle/>
          <a:p>
            <a:endParaRPr lang="en-US"/>
          </a:p>
        </p:txBody>
      </p:sp>
      <p:sp>
        <p:nvSpPr>
          <p:cNvPr id="36" name="Text 34"/>
          <p:cNvSpPr/>
          <p:nvPr/>
        </p:nvSpPr>
        <p:spPr>
          <a:xfrm>
            <a:off x="5577840" y="2139696"/>
            <a:ext cx="1316736" cy="182880"/>
          </a:xfrm>
          <a:prstGeom prst="rect">
            <a:avLst/>
          </a:prstGeom>
          <a:noFill/>
          <a:ln/>
        </p:spPr>
        <p:txBody>
          <a:bodyPr wrap="square" lIns="0" tIns="0" rIns="0" bIns="0" rtlCol="0" anchor="ctr"/>
          <a:lstStyle/>
          <a:p>
            <a:pPr marL="0" indent="0">
              <a:buNone/>
            </a:pPr>
            <a:r>
              <a:rPr lang="en-US" sz="600" b="1" kern="0" spc="120" dirty="0">
                <a:solidFill>
                  <a:srgbClr val="6B7280"/>
                </a:solidFill>
                <a:latin typeface="Calibri" pitchFamily="34" charset="0"/>
                <a:ea typeface="Calibri" pitchFamily="34" charset="-122"/>
                <a:cs typeface="Calibri" pitchFamily="34" charset="-120"/>
              </a:rPr>
              <a:t>THE AI THAT DAY</a:t>
            </a:r>
            <a:endParaRPr lang="en-US" sz="600" dirty="0"/>
          </a:p>
        </p:txBody>
      </p:sp>
      <p:sp>
        <p:nvSpPr>
          <p:cNvPr id="37" name="Text 35"/>
          <p:cNvSpPr/>
          <p:nvPr/>
        </p:nvSpPr>
        <p:spPr>
          <a:xfrm>
            <a:off x="5577840" y="2359152"/>
            <a:ext cx="1316736" cy="566928"/>
          </a:xfrm>
          <a:prstGeom prst="rect">
            <a:avLst/>
          </a:prstGeom>
          <a:noFill/>
          <a:ln/>
        </p:spPr>
        <p:txBody>
          <a:bodyPr wrap="square" lIns="0" tIns="0" rIns="0" bIns="0" rtlCol="0" anchor="t"/>
          <a:lstStyle/>
          <a:p>
            <a:pPr marL="0" indent="0">
              <a:lnSpc>
                <a:spcPct val="105000"/>
              </a:lnSpc>
              <a:buNone/>
            </a:pPr>
            <a:r>
              <a:rPr lang="en-US" sz="800" b="1" dirty="0">
                <a:solidFill>
                  <a:srgbClr val="005E86"/>
                </a:solidFill>
                <a:latin typeface="Calibri" pitchFamily="34" charset="0"/>
                <a:ea typeface="Calibri" pitchFamily="34" charset="-122"/>
                <a:cs typeface="Calibri" pitchFamily="34" charset="-120"/>
              </a:rPr>
              <a:t>RAG — AI that</a:t>
            </a:r>
            <a:endParaRPr lang="en-US" sz="800" dirty="0"/>
          </a:p>
          <a:p>
            <a:pPr marL="0" indent="0">
              <a:lnSpc>
                <a:spcPct val="105000"/>
              </a:lnSpc>
              <a:buNone/>
            </a:pPr>
            <a:r>
              <a:rPr lang="en-US" sz="800" b="1" dirty="0">
                <a:solidFill>
                  <a:srgbClr val="005E86"/>
                </a:solidFill>
                <a:latin typeface="Calibri" pitchFamily="34" charset="0"/>
                <a:ea typeface="Calibri" pitchFamily="34" charset="-122"/>
                <a:cs typeface="Calibri" pitchFamily="34" charset="-120"/>
              </a:rPr>
              <a:t>knows your data</a:t>
            </a:r>
            <a:endParaRPr lang="en-US" sz="800" dirty="0"/>
          </a:p>
        </p:txBody>
      </p:sp>
      <p:sp>
        <p:nvSpPr>
          <p:cNvPr id="38" name="Shape 36"/>
          <p:cNvSpPr/>
          <p:nvPr/>
        </p:nvSpPr>
        <p:spPr>
          <a:xfrm>
            <a:off x="7114032" y="1042416"/>
            <a:ext cx="1572768" cy="2048256"/>
          </a:xfrm>
          <a:prstGeom prst="rect">
            <a:avLst/>
          </a:prstGeom>
          <a:solidFill>
            <a:srgbClr val="FFFFFF"/>
          </a:solidFill>
          <a:ln w="9525">
            <a:solidFill>
              <a:srgbClr val="DCEEF8"/>
            </a:solidFill>
            <a:prstDash val="solid"/>
          </a:ln>
        </p:spPr>
        <p:txBody>
          <a:bodyPr/>
          <a:lstStyle/>
          <a:p>
            <a:endParaRPr lang="en-US"/>
          </a:p>
        </p:txBody>
      </p:sp>
      <p:sp>
        <p:nvSpPr>
          <p:cNvPr id="39" name="Shape 37"/>
          <p:cNvSpPr/>
          <p:nvPr/>
        </p:nvSpPr>
        <p:spPr>
          <a:xfrm>
            <a:off x="7114032" y="1042416"/>
            <a:ext cx="1572768" cy="274320"/>
          </a:xfrm>
          <a:prstGeom prst="rect">
            <a:avLst/>
          </a:prstGeom>
          <a:solidFill>
            <a:srgbClr val="0079AB"/>
          </a:solidFill>
          <a:ln w="12700">
            <a:solidFill>
              <a:srgbClr val="0079AB"/>
            </a:solidFill>
            <a:prstDash val="solid"/>
          </a:ln>
        </p:spPr>
        <p:txBody>
          <a:bodyPr/>
          <a:lstStyle/>
          <a:p>
            <a:endParaRPr lang="en-US"/>
          </a:p>
        </p:txBody>
      </p:sp>
      <p:sp>
        <p:nvSpPr>
          <p:cNvPr id="40" name="Text 38"/>
          <p:cNvSpPr/>
          <p:nvPr/>
        </p:nvSpPr>
        <p:spPr>
          <a:xfrm>
            <a:off x="7114032" y="1042416"/>
            <a:ext cx="1572768" cy="274320"/>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DAY 5</a:t>
            </a:r>
            <a:endParaRPr lang="en-US" sz="800" dirty="0"/>
          </a:p>
        </p:txBody>
      </p:sp>
      <p:sp>
        <p:nvSpPr>
          <p:cNvPr id="41" name="Text 39"/>
          <p:cNvSpPr/>
          <p:nvPr/>
        </p:nvSpPr>
        <p:spPr>
          <a:xfrm>
            <a:off x="7242048" y="1408176"/>
            <a:ext cx="1316736" cy="237744"/>
          </a:xfrm>
          <a:prstGeom prst="rect">
            <a:avLst/>
          </a:prstGeom>
          <a:noFill/>
          <a:ln/>
        </p:spPr>
        <p:txBody>
          <a:bodyPr wrap="square" lIns="0" tIns="0" rIns="0" bIns="0" rtlCol="0" anchor="ctr"/>
          <a:lstStyle/>
          <a:p>
            <a:pPr marL="0" indent="0">
              <a:buNone/>
            </a:pPr>
            <a:r>
              <a:rPr lang="en-US" sz="1100" b="1" dirty="0">
                <a:solidFill>
                  <a:srgbClr val="1E2A38"/>
                </a:solidFill>
                <a:latin typeface="Calibri" pitchFamily="34" charset="0"/>
                <a:ea typeface="Calibri" pitchFamily="34" charset="-122"/>
                <a:cs typeface="Calibri" pitchFamily="34" charset="-120"/>
              </a:rPr>
              <a:t>SHIP</a:t>
            </a:r>
            <a:endParaRPr lang="en-US" sz="1100" dirty="0"/>
          </a:p>
        </p:txBody>
      </p:sp>
      <p:sp>
        <p:nvSpPr>
          <p:cNvPr id="42" name="Text 40"/>
          <p:cNvSpPr/>
          <p:nvPr/>
        </p:nvSpPr>
        <p:spPr>
          <a:xfrm>
            <a:off x="7242048" y="1664208"/>
            <a:ext cx="1316736" cy="310896"/>
          </a:xfrm>
          <a:prstGeom prst="rect">
            <a:avLst/>
          </a:prstGeom>
          <a:noFill/>
          <a:ln/>
        </p:spPr>
        <p:txBody>
          <a:bodyPr wrap="square" lIns="0" tIns="0" rIns="0" bIns="0" rtlCol="0" anchor="t"/>
          <a:lstStyle/>
          <a:p>
            <a:pPr marL="0" indent="0">
              <a:buNone/>
            </a:pPr>
            <a:r>
              <a:rPr lang="en-US" sz="750" dirty="0">
                <a:solidFill>
                  <a:srgbClr val="6B7280"/>
                </a:solidFill>
                <a:latin typeface="Calibri" pitchFamily="34" charset="0"/>
                <a:ea typeface="Calibri" pitchFamily="34" charset="-122"/>
                <a:cs typeface="Calibri" pitchFamily="34" charset="-120"/>
              </a:rPr>
              <a:t>Git flow, deploy</a:t>
            </a:r>
            <a:endParaRPr lang="en-US" sz="750" dirty="0"/>
          </a:p>
        </p:txBody>
      </p:sp>
      <p:sp>
        <p:nvSpPr>
          <p:cNvPr id="43" name="Shape 41"/>
          <p:cNvSpPr/>
          <p:nvPr/>
        </p:nvSpPr>
        <p:spPr>
          <a:xfrm>
            <a:off x="7242048" y="2048256"/>
            <a:ext cx="1316736" cy="10973"/>
          </a:xfrm>
          <a:prstGeom prst="rect">
            <a:avLst/>
          </a:prstGeom>
          <a:solidFill>
            <a:srgbClr val="CDE7F5"/>
          </a:solidFill>
          <a:ln w="12700">
            <a:solidFill>
              <a:srgbClr val="CDE7F5"/>
            </a:solidFill>
            <a:prstDash val="solid"/>
          </a:ln>
        </p:spPr>
        <p:txBody>
          <a:bodyPr/>
          <a:lstStyle/>
          <a:p>
            <a:endParaRPr lang="en-US"/>
          </a:p>
        </p:txBody>
      </p:sp>
      <p:sp>
        <p:nvSpPr>
          <p:cNvPr id="44" name="Text 42"/>
          <p:cNvSpPr/>
          <p:nvPr/>
        </p:nvSpPr>
        <p:spPr>
          <a:xfrm>
            <a:off x="7242048" y="2139696"/>
            <a:ext cx="1316736" cy="182880"/>
          </a:xfrm>
          <a:prstGeom prst="rect">
            <a:avLst/>
          </a:prstGeom>
          <a:noFill/>
          <a:ln/>
        </p:spPr>
        <p:txBody>
          <a:bodyPr wrap="square" lIns="0" tIns="0" rIns="0" bIns="0" rtlCol="0" anchor="ctr"/>
          <a:lstStyle/>
          <a:p>
            <a:pPr marL="0" indent="0">
              <a:buNone/>
            </a:pPr>
            <a:r>
              <a:rPr lang="en-US" sz="600" b="1" kern="0" spc="120" dirty="0">
                <a:solidFill>
                  <a:srgbClr val="6B7280"/>
                </a:solidFill>
                <a:latin typeface="Calibri" pitchFamily="34" charset="0"/>
                <a:ea typeface="Calibri" pitchFamily="34" charset="-122"/>
                <a:cs typeface="Calibri" pitchFamily="34" charset="-120"/>
              </a:rPr>
              <a:t>THE AI THAT DAY</a:t>
            </a:r>
            <a:endParaRPr lang="en-US" sz="600" dirty="0"/>
          </a:p>
        </p:txBody>
      </p:sp>
      <p:sp>
        <p:nvSpPr>
          <p:cNvPr id="45" name="Text 43"/>
          <p:cNvSpPr/>
          <p:nvPr/>
        </p:nvSpPr>
        <p:spPr>
          <a:xfrm>
            <a:off x="7242048" y="2359152"/>
            <a:ext cx="1316736" cy="566928"/>
          </a:xfrm>
          <a:prstGeom prst="rect">
            <a:avLst/>
          </a:prstGeom>
          <a:noFill/>
          <a:ln/>
        </p:spPr>
        <p:txBody>
          <a:bodyPr wrap="square" lIns="0" tIns="0" rIns="0" bIns="0" rtlCol="0" anchor="t"/>
          <a:lstStyle/>
          <a:p>
            <a:pPr marL="0" indent="0">
              <a:lnSpc>
                <a:spcPct val="105000"/>
              </a:lnSpc>
              <a:buNone/>
            </a:pPr>
            <a:r>
              <a:rPr lang="en-US" sz="800" b="1" dirty="0">
                <a:solidFill>
                  <a:srgbClr val="0079AB"/>
                </a:solidFill>
                <a:latin typeface="Calibri" pitchFamily="34" charset="0"/>
                <a:ea typeface="Calibri" pitchFamily="34" charset="-122"/>
                <a:cs typeface="Calibri" pitchFamily="34" charset="-120"/>
              </a:rPr>
              <a:t>Agents and</a:t>
            </a:r>
            <a:endParaRPr lang="en-US" sz="800" dirty="0"/>
          </a:p>
          <a:p>
            <a:pPr marL="0" indent="0">
              <a:lnSpc>
                <a:spcPct val="105000"/>
              </a:lnSpc>
              <a:buNone/>
            </a:pPr>
            <a:r>
              <a:rPr lang="en-US" sz="800" b="1" dirty="0">
                <a:solidFill>
                  <a:srgbClr val="0079AB"/>
                </a:solidFill>
                <a:latin typeface="Calibri" pitchFamily="34" charset="0"/>
                <a:ea typeface="Calibri" pitchFamily="34" charset="-122"/>
                <a:cs typeface="Calibri" pitchFamily="34" charset="-120"/>
              </a:rPr>
              <a:t>tool calling</a:t>
            </a:r>
            <a:endParaRPr lang="en-US" sz="800" dirty="0"/>
          </a:p>
        </p:txBody>
      </p:sp>
      <p:sp>
        <p:nvSpPr>
          <p:cNvPr id="46" name="Text 44"/>
          <p:cNvSpPr/>
          <p:nvPr/>
        </p:nvSpPr>
        <p:spPr>
          <a:xfrm>
            <a:off x="457200" y="3602736"/>
            <a:ext cx="3657600" cy="182880"/>
          </a:xfrm>
          <a:prstGeom prst="rect">
            <a:avLst/>
          </a:prstGeom>
          <a:noFill/>
          <a:ln/>
        </p:spPr>
        <p:txBody>
          <a:bodyPr wrap="square" lIns="0" tIns="0" rIns="0" bIns="0" rtlCol="0" anchor="ctr"/>
          <a:lstStyle/>
          <a:p>
            <a:pPr marL="0" indent="0">
              <a:buNone/>
            </a:pPr>
            <a:r>
              <a:rPr lang="en-US" sz="800" b="1" kern="0" spc="120" dirty="0">
                <a:solidFill>
                  <a:srgbClr val="6B7280"/>
                </a:solidFill>
                <a:latin typeface="Calibri" pitchFamily="34" charset="0"/>
                <a:ea typeface="Calibri" pitchFamily="34" charset="-122"/>
                <a:cs typeface="Calibri" pitchFamily="34" charset="-120"/>
              </a:rPr>
              <a:t>THE POINT</a:t>
            </a:r>
            <a:endParaRPr lang="en-US" sz="800" dirty="0"/>
          </a:p>
        </p:txBody>
      </p:sp>
      <p:sp>
        <p:nvSpPr>
          <p:cNvPr id="47" name="Text 45"/>
          <p:cNvSpPr/>
          <p:nvPr/>
        </p:nvSpPr>
        <p:spPr>
          <a:xfrm>
            <a:off x="457200" y="3822192"/>
            <a:ext cx="8229600" cy="420624"/>
          </a:xfrm>
          <a:prstGeom prst="rect">
            <a:avLst/>
          </a:prstGeom>
          <a:noFill/>
          <a:ln/>
        </p:spPr>
        <p:txBody>
          <a:bodyPr wrap="square" lIns="0" tIns="0" rIns="0" bIns="0" rtlCol="0" anchor="t"/>
          <a:lstStyle/>
          <a:p>
            <a:pPr marL="0" indent="0">
              <a:lnSpc>
                <a:spcPct val="105000"/>
              </a:lnSpc>
              <a:buNone/>
            </a:pPr>
            <a:r>
              <a:rPr lang="en-US" sz="1100" dirty="0">
                <a:solidFill>
                  <a:srgbClr val="1E2A38"/>
                </a:solidFill>
                <a:latin typeface="Calibri" pitchFamily="34" charset="0"/>
                <a:ea typeface="Calibri" pitchFamily="34" charset="-122"/>
                <a:cs typeface="Calibri" pitchFamily="34" charset="-120"/>
              </a:rPr>
              <a:t>AI is not a topic we reach on Friday. Every single day, one layer of the stack arrives together with the intelligence that lives at that layer.</a:t>
            </a:r>
            <a:endParaRPr lang="en-US" sz="1100" dirty="0"/>
          </a:p>
        </p:txBody>
      </p:sp>
      <p:sp>
        <p:nvSpPr>
          <p:cNvPr id="48" name="Shape 46"/>
          <p:cNvSpPr/>
          <p:nvPr/>
        </p:nvSpPr>
        <p:spPr>
          <a:xfrm>
            <a:off x="457200" y="4334256"/>
            <a:ext cx="8229600" cy="512064"/>
          </a:xfrm>
          <a:prstGeom prst="rect">
            <a:avLst/>
          </a:prstGeom>
          <a:solidFill>
            <a:srgbClr val="F0F8FD"/>
          </a:solidFill>
          <a:ln w="12700">
            <a:solidFill>
              <a:srgbClr val="F0F8FD"/>
            </a:solidFill>
            <a:prstDash val="solid"/>
          </a:ln>
        </p:spPr>
        <p:txBody>
          <a:bodyPr/>
          <a:lstStyle/>
          <a:p>
            <a:endParaRPr lang="en-US"/>
          </a:p>
        </p:txBody>
      </p:sp>
      <p:sp>
        <p:nvSpPr>
          <p:cNvPr id="49" name="Shape 47"/>
          <p:cNvSpPr/>
          <p:nvPr/>
        </p:nvSpPr>
        <p:spPr>
          <a:xfrm>
            <a:off x="457200" y="4334256"/>
            <a:ext cx="54864" cy="512064"/>
          </a:xfrm>
          <a:prstGeom prst="rect">
            <a:avLst/>
          </a:prstGeom>
          <a:solidFill>
            <a:srgbClr val="00B0F0"/>
          </a:solidFill>
          <a:ln w="12700">
            <a:solidFill>
              <a:srgbClr val="00B0F0"/>
            </a:solidFill>
            <a:prstDash val="solid"/>
          </a:ln>
        </p:spPr>
        <p:txBody>
          <a:bodyPr/>
          <a:lstStyle/>
          <a:p>
            <a:endParaRPr lang="en-US"/>
          </a:p>
        </p:txBody>
      </p:sp>
      <p:sp>
        <p:nvSpPr>
          <p:cNvPr id="50" name="Text 48"/>
          <p:cNvSpPr/>
          <p:nvPr/>
        </p:nvSpPr>
        <p:spPr>
          <a:xfrm>
            <a:off x="658368" y="4334256"/>
            <a:ext cx="7863840" cy="512064"/>
          </a:xfrm>
          <a:prstGeom prst="rect">
            <a:avLst/>
          </a:prstGeom>
          <a:noFill/>
          <a:ln/>
        </p:spPr>
        <p:txBody>
          <a:bodyPr wrap="square" lIns="0" tIns="0" rIns="0" bIns="0" rtlCol="0" anchor="ctr"/>
          <a:lstStyle/>
          <a:p>
            <a:pPr marL="0" indent="0">
              <a:buNone/>
            </a:pPr>
            <a:r>
              <a:rPr lang="en-US" sz="1000" b="1" dirty="0">
                <a:solidFill>
                  <a:srgbClr val="1E2A38"/>
                </a:solidFill>
                <a:latin typeface="Calibri" pitchFamily="34" charset="0"/>
                <a:ea typeface="Calibri" pitchFamily="34" charset="-122"/>
                <a:cs typeface="Calibri" pitchFamily="34" charset="-120"/>
              </a:rPr>
              <a:t>By Friday your app is on the public internet, with a login, answering questions about your own data.</a:t>
            </a:r>
            <a:endParaRPr lang="en-US" sz="1000" dirty="0"/>
          </a:p>
        </p:txBody>
      </p:sp>
    </p:spTree>
    <p:extLst>
      <p:ext uri="{BB962C8B-B14F-4D97-AF65-F5344CB8AC3E}">
        <p14:creationId xmlns:p14="http://schemas.microsoft.com/office/powerpoint/2010/main" val="274857977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B0F0"/>
          </a:solidFill>
          <a:ln w="12700">
            <a:solidFill>
              <a:srgbClr val="00B0F0"/>
            </a:solidFill>
            <a:prstDash val="solid"/>
          </a:ln>
        </p:spPr>
        <p:txBody>
          <a:bodyPr/>
          <a:lstStyle/>
          <a:p>
            <a:endParaRPr lang="en-US"/>
          </a:p>
        </p:txBody>
      </p:sp>
      <p:sp>
        <p:nvSpPr>
          <p:cNvPr id="3" name="Text 1"/>
          <p:cNvSpPr/>
          <p:nvPr/>
        </p:nvSpPr>
        <p:spPr>
          <a:xfrm>
            <a:off x="457200" y="128016"/>
            <a:ext cx="6400800" cy="182880"/>
          </a:xfrm>
          <a:prstGeom prst="rect">
            <a:avLst/>
          </a:prstGeom>
          <a:noFill/>
          <a:ln/>
        </p:spPr>
        <p:txBody>
          <a:bodyPr wrap="square" lIns="0" tIns="0" rIns="0" bIns="0" rtlCol="0" anchor="ctr"/>
          <a:lstStyle/>
          <a:p>
            <a:pPr marL="0" indent="0">
              <a:buNone/>
            </a:pPr>
            <a:r>
              <a:rPr lang="en-US" sz="800" b="1" kern="0" spc="160" dirty="0">
                <a:solidFill>
                  <a:srgbClr val="6B7280"/>
                </a:solidFill>
                <a:latin typeface="Calibri" pitchFamily="34" charset="0"/>
                <a:ea typeface="Calibri" pitchFamily="34" charset="-122"/>
                <a:cs typeface="Calibri" pitchFamily="34" charset="-120"/>
              </a:rPr>
              <a:t>BLOCK 1</a:t>
            </a:r>
            <a:endParaRPr lang="en-US" sz="800" dirty="0"/>
          </a:p>
        </p:txBody>
      </p:sp>
      <p:sp>
        <p:nvSpPr>
          <p:cNvPr id="4" name="Text 2"/>
          <p:cNvSpPr/>
          <p:nvPr/>
        </p:nvSpPr>
        <p:spPr>
          <a:xfrm>
            <a:off x="457200" y="347472"/>
            <a:ext cx="8229600" cy="420624"/>
          </a:xfrm>
          <a:prstGeom prst="rect">
            <a:avLst/>
          </a:prstGeom>
          <a:noFill/>
          <a:ln/>
        </p:spPr>
        <p:txBody>
          <a:bodyPr wrap="square" lIns="0" tIns="0" rIns="0" bIns="0" rtlCol="0" anchor="ctr"/>
          <a:lstStyle/>
          <a:p>
            <a:pPr marL="0" indent="0">
              <a:buNone/>
            </a:pPr>
            <a:r>
              <a:rPr lang="en-US" sz="2200" b="1" dirty="0">
                <a:solidFill>
                  <a:srgbClr val="1E2A38"/>
                </a:solidFill>
                <a:latin typeface="Calibri" pitchFamily="34" charset="0"/>
                <a:ea typeface="Calibri" pitchFamily="34" charset="-122"/>
                <a:cs typeface="Calibri" pitchFamily="34" charset="-120"/>
              </a:rPr>
              <a:t>The Pattern Behind Almost Every AI Product</a:t>
            </a:r>
            <a:endParaRPr lang="en-US" sz="2200" dirty="0"/>
          </a:p>
        </p:txBody>
      </p:sp>
      <p:sp>
        <p:nvSpPr>
          <p:cNvPr id="5" name="Shape 3"/>
          <p:cNvSpPr/>
          <p:nvPr/>
        </p:nvSpPr>
        <p:spPr>
          <a:xfrm>
            <a:off x="457200" y="859536"/>
            <a:ext cx="8229600" cy="10973"/>
          </a:xfrm>
          <a:prstGeom prst="rect">
            <a:avLst/>
          </a:prstGeom>
          <a:solidFill>
            <a:srgbClr val="CDE7F5"/>
          </a:solidFill>
          <a:ln w="12700">
            <a:solidFill>
              <a:srgbClr val="CDE7F5"/>
            </a:solidFill>
            <a:prstDash val="solid"/>
          </a:ln>
        </p:spPr>
        <p:txBody>
          <a:bodyPr/>
          <a:lstStyle/>
          <a:p>
            <a:endParaRPr lang="en-US"/>
          </a:p>
        </p:txBody>
      </p:sp>
      <p:sp>
        <p:nvSpPr>
          <p:cNvPr id="6" name="Shape 4"/>
          <p:cNvSpPr/>
          <p:nvPr/>
        </p:nvSpPr>
        <p:spPr>
          <a:xfrm>
            <a:off x="457200" y="1097280"/>
            <a:ext cx="1883664" cy="1755648"/>
          </a:xfrm>
          <a:prstGeom prst="rect">
            <a:avLst/>
          </a:prstGeom>
          <a:solidFill>
            <a:srgbClr val="FFFFFF"/>
          </a:solidFill>
          <a:ln w="9525">
            <a:solidFill>
              <a:srgbClr val="DCEEF8"/>
            </a:solidFill>
            <a:prstDash val="solid"/>
          </a:ln>
        </p:spPr>
        <p:txBody>
          <a:bodyPr/>
          <a:lstStyle/>
          <a:p>
            <a:endParaRPr lang="en-US"/>
          </a:p>
        </p:txBody>
      </p:sp>
      <p:sp>
        <p:nvSpPr>
          <p:cNvPr id="7" name="Shape 5"/>
          <p:cNvSpPr/>
          <p:nvPr/>
        </p:nvSpPr>
        <p:spPr>
          <a:xfrm>
            <a:off x="457200" y="1097280"/>
            <a:ext cx="1883664" cy="310896"/>
          </a:xfrm>
          <a:prstGeom prst="rect">
            <a:avLst/>
          </a:prstGeom>
          <a:solidFill>
            <a:srgbClr val="00B0F0"/>
          </a:solidFill>
          <a:ln w="12700">
            <a:solidFill>
              <a:srgbClr val="00B0F0"/>
            </a:solidFill>
            <a:prstDash val="solid"/>
          </a:ln>
        </p:spPr>
        <p:txBody>
          <a:bodyPr/>
          <a:lstStyle/>
          <a:p>
            <a:endParaRPr lang="en-US"/>
          </a:p>
        </p:txBody>
      </p:sp>
      <p:sp>
        <p:nvSpPr>
          <p:cNvPr id="8" name="Text 6"/>
          <p:cNvSpPr/>
          <p:nvPr/>
        </p:nvSpPr>
        <p:spPr>
          <a:xfrm>
            <a:off x="457200" y="1097280"/>
            <a:ext cx="1883664" cy="310896"/>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RECORDS</a:t>
            </a:r>
            <a:endParaRPr lang="en-US" sz="1000" dirty="0"/>
          </a:p>
        </p:txBody>
      </p:sp>
      <p:sp>
        <p:nvSpPr>
          <p:cNvPr id="9" name="Text 7"/>
          <p:cNvSpPr/>
          <p:nvPr/>
        </p:nvSpPr>
        <p:spPr>
          <a:xfrm>
            <a:off x="603504" y="1499616"/>
            <a:ext cx="1591056" cy="237744"/>
          </a:xfrm>
          <a:prstGeom prst="rect">
            <a:avLst/>
          </a:prstGeom>
          <a:noFill/>
          <a:ln/>
        </p:spPr>
        <p:txBody>
          <a:bodyPr wrap="square" lIns="0" tIns="0" rIns="0" bIns="0" rtlCol="0" anchor="ctr"/>
          <a:lstStyle/>
          <a:p>
            <a:pPr marL="0" indent="0">
              <a:buNone/>
            </a:pPr>
            <a:r>
              <a:rPr lang="en-US" sz="900" b="1" dirty="0">
                <a:solidFill>
                  <a:srgbClr val="1E2A38"/>
                </a:solidFill>
                <a:latin typeface="Calibri" pitchFamily="34" charset="0"/>
                <a:ea typeface="Calibri" pitchFamily="34" charset="-122"/>
                <a:cs typeface="Calibri" pitchFamily="34" charset="-120"/>
              </a:rPr>
              <a:t>The user's own data</a:t>
            </a:r>
            <a:endParaRPr lang="en-US" sz="900" dirty="0"/>
          </a:p>
        </p:txBody>
      </p:sp>
      <p:sp>
        <p:nvSpPr>
          <p:cNvPr id="10" name="Text 8"/>
          <p:cNvSpPr/>
          <p:nvPr/>
        </p:nvSpPr>
        <p:spPr>
          <a:xfrm>
            <a:off x="603504" y="1773936"/>
            <a:ext cx="1591056" cy="566928"/>
          </a:xfrm>
          <a:prstGeom prst="rect">
            <a:avLst/>
          </a:prstGeom>
          <a:noFill/>
          <a:ln/>
        </p:spPr>
        <p:txBody>
          <a:bodyPr wrap="square" lIns="0" tIns="0" rIns="0" bIns="0" rtlCol="0" anchor="t"/>
          <a:lstStyle/>
          <a:p>
            <a:pPr marL="0" indent="0">
              <a:lnSpc>
                <a:spcPct val="105000"/>
              </a:lnSpc>
              <a:buNone/>
            </a:pPr>
            <a:r>
              <a:rPr lang="en-US" sz="800" dirty="0">
                <a:solidFill>
                  <a:srgbClr val="6B7280"/>
                </a:solidFill>
                <a:latin typeface="Calibri" pitchFamily="34" charset="0"/>
                <a:ea typeface="Calibri" pitchFamily="34" charset="-122"/>
                <a:cs typeface="Calibri" pitchFamily="34" charset="-120"/>
              </a:rPr>
              <a:t>Create, read, update, delete.</a:t>
            </a:r>
            <a:endParaRPr lang="en-US" sz="800" dirty="0"/>
          </a:p>
          <a:p>
            <a:pPr marL="0" indent="0">
              <a:lnSpc>
                <a:spcPct val="105000"/>
              </a:lnSpc>
              <a:buNone/>
            </a:pPr>
            <a:r>
              <a:rPr lang="en-US" sz="800" dirty="0">
                <a:solidFill>
                  <a:srgbClr val="6B7280"/>
                </a:solidFill>
                <a:latin typeface="Calibri" pitchFamily="34" charset="0"/>
                <a:ea typeface="Calibri" pitchFamily="34" charset="-122"/>
                <a:cs typeface="Calibri" pitchFamily="34" charset="-120"/>
              </a:rPr>
              <a:t>With a login, so it is theirs.</a:t>
            </a:r>
            <a:endParaRPr lang="en-US" sz="800" dirty="0"/>
          </a:p>
        </p:txBody>
      </p:sp>
      <p:sp>
        <p:nvSpPr>
          <p:cNvPr id="11" name="Text 9"/>
          <p:cNvSpPr/>
          <p:nvPr/>
        </p:nvSpPr>
        <p:spPr>
          <a:xfrm>
            <a:off x="603504" y="2450592"/>
            <a:ext cx="1591056" cy="219456"/>
          </a:xfrm>
          <a:prstGeom prst="rect">
            <a:avLst/>
          </a:prstGeom>
          <a:noFill/>
          <a:ln/>
        </p:spPr>
        <p:txBody>
          <a:bodyPr wrap="square" lIns="0" tIns="0" rIns="0" bIns="0" rtlCol="0" anchor="ctr"/>
          <a:lstStyle/>
          <a:p>
            <a:pPr marL="0" indent="0">
              <a:buNone/>
            </a:pPr>
            <a:r>
              <a:rPr lang="en-US" sz="700" b="1" kern="0" spc="100" dirty="0">
                <a:solidFill>
                  <a:srgbClr val="00B0F0"/>
                </a:solidFill>
                <a:latin typeface="Calibri" pitchFamily="34" charset="0"/>
                <a:ea typeface="Calibri" pitchFamily="34" charset="-122"/>
                <a:cs typeface="Calibri" pitchFamily="34" charset="-120"/>
              </a:rPr>
              <a:t>DAYS 1-3</a:t>
            </a:r>
            <a:endParaRPr lang="en-US" sz="700" dirty="0"/>
          </a:p>
        </p:txBody>
      </p:sp>
      <p:sp>
        <p:nvSpPr>
          <p:cNvPr id="12" name="Text 10"/>
          <p:cNvSpPr/>
          <p:nvPr/>
        </p:nvSpPr>
        <p:spPr>
          <a:xfrm>
            <a:off x="2377440" y="1865376"/>
            <a:ext cx="201168" cy="219456"/>
          </a:xfrm>
          <a:prstGeom prst="rect">
            <a:avLst/>
          </a:prstGeom>
          <a:noFill/>
          <a:ln/>
        </p:spPr>
        <p:txBody>
          <a:bodyPr wrap="square" lIns="0" tIns="0" rIns="0" bIns="0" rtlCol="0" anchor="ctr"/>
          <a:lstStyle/>
          <a:p>
            <a:pPr marL="0" indent="0" algn="ctr">
              <a:buNone/>
            </a:pPr>
            <a:r>
              <a:rPr lang="en-US" sz="1600" b="1" dirty="0">
                <a:solidFill>
                  <a:srgbClr val="A9C3D1"/>
                </a:solidFill>
                <a:latin typeface="Calibri" pitchFamily="34" charset="0"/>
                <a:ea typeface="Calibri" pitchFamily="34" charset="-122"/>
                <a:cs typeface="Calibri" pitchFamily="34" charset="-120"/>
              </a:rPr>
              <a:t>›</a:t>
            </a:r>
            <a:endParaRPr lang="en-US" sz="1600" dirty="0"/>
          </a:p>
        </p:txBody>
      </p:sp>
      <p:sp>
        <p:nvSpPr>
          <p:cNvPr id="13" name="Shape 11"/>
          <p:cNvSpPr/>
          <p:nvPr/>
        </p:nvSpPr>
        <p:spPr>
          <a:xfrm>
            <a:off x="2560320" y="1097280"/>
            <a:ext cx="1883664" cy="1755648"/>
          </a:xfrm>
          <a:prstGeom prst="rect">
            <a:avLst/>
          </a:prstGeom>
          <a:solidFill>
            <a:srgbClr val="FFFFFF"/>
          </a:solidFill>
          <a:ln w="9525">
            <a:solidFill>
              <a:srgbClr val="DCEEF8"/>
            </a:solidFill>
            <a:prstDash val="solid"/>
          </a:ln>
        </p:spPr>
        <p:txBody>
          <a:bodyPr/>
          <a:lstStyle/>
          <a:p>
            <a:endParaRPr lang="en-US"/>
          </a:p>
        </p:txBody>
      </p:sp>
      <p:sp>
        <p:nvSpPr>
          <p:cNvPr id="14" name="Shape 12"/>
          <p:cNvSpPr/>
          <p:nvPr/>
        </p:nvSpPr>
        <p:spPr>
          <a:xfrm>
            <a:off x="2560320" y="1097280"/>
            <a:ext cx="1883664" cy="310896"/>
          </a:xfrm>
          <a:prstGeom prst="rect">
            <a:avLst/>
          </a:prstGeom>
          <a:solidFill>
            <a:srgbClr val="0098D4"/>
          </a:solidFill>
          <a:ln w="12700">
            <a:solidFill>
              <a:srgbClr val="0098D4"/>
            </a:solidFill>
            <a:prstDash val="solid"/>
          </a:ln>
        </p:spPr>
        <p:txBody>
          <a:bodyPr/>
          <a:lstStyle/>
          <a:p>
            <a:endParaRPr lang="en-US"/>
          </a:p>
        </p:txBody>
      </p:sp>
      <p:sp>
        <p:nvSpPr>
          <p:cNvPr id="15" name="Text 13"/>
          <p:cNvSpPr/>
          <p:nvPr/>
        </p:nvSpPr>
        <p:spPr>
          <a:xfrm>
            <a:off x="2560320" y="1097280"/>
            <a:ext cx="1883664" cy="310896"/>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ENRICH</a:t>
            </a:r>
            <a:endParaRPr lang="en-US" sz="1000" dirty="0"/>
          </a:p>
        </p:txBody>
      </p:sp>
      <p:sp>
        <p:nvSpPr>
          <p:cNvPr id="16" name="Text 14"/>
          <p:cNvSpPr/>
          <p:nvPr/>
        </p:nvSpPr>
        <p:spPr>
          <a:xfrm>
            <a:off x="2706624" y="1499616"/>
            <a:ext cx="1591056" cy="237744"/>
          </a:xfrm>
          <a:prstGeom prst="rect">
            <a:avLst/>
          </a:prstGeom>
          <a:noFill/>
          <a:ln/>
        </p:spPr>
        <p:txBody>
          <a:bodyPr wrap="square" lIns="0" tIns="0" rIns="0" bIns="0" rtlCol="0" anchor="ctr"/>
          <a:lstStyle/>
          <a:p>
            <a:pPr marL="0" indent="0">
              <a:buNone/>
            </a:pPr>
            <a:r>
              <a:rPr lang="en-US" sz="900" b="1" dirty="0">
                <a:solidFill>
                  <a:srgbClr val="1E2A38"/>
                </a:solidFill>
                <a:latin typeface="Calibri" pitchFamily="34" charset="0"/>
                <a:ea typeface="Calibri" pitchFamily="34" charset="-122"/>
                <a:cs typeface="Calibri" pitchFamily="34" charset="-120"/>
              </a:rPr>
              <a:t>AI adds structure</a:t>
            </a:r>
            <a:endParaRPr lang="en-US" sz="900" dirty="0"/>
          </a:p>
        </p:txBody>
      </p:sp>
      <p:sp>
        <p:nvSpPr>
          <p:cNvPr id="17" name="Text 15"/>
          <p:cNvSpPr/>
          <p:nvPr/>
        </p:nvSpPr>
        <p:spPr>
          <a:xfrm>
            <a:off x="2706624" y="1773936"/>
            <a:ext cx="1591056" cy="566928"/>
          </a:xfrm>
          <a:prstGeom prst="rect">
            <a:avLst/>
          </a:prstGeom>
          <a:noFill/>
          <a:ln/>
        </p:spPr>
        <p:txBody>
          <a:bodyPr wrap="square" lIns="0" tIns="0" rIns="0" bIns="0" rtlCol="0" anchor="t"/>
          <a:lstStyle/>
          <a:p>
            <a:pPr marL="0" indent="0">
              <a:lnSpc>
                <a:spcPct val="105000"/>
              </a:lnSpc>
              <a:buNone/>
            </a:pPr>
            <a:r>
              <a:rPr lang="en-US" sz="800" dirty="0">
                <a:solidFill>
                  <a:srgbClr val="6B7280"/>
                </a:solidFill>
                <a:latin typeface="Calibri" pitchFamily="34" charset="0"/>
                <a:ea typeface="Calibri" pitchFamily="34" charset="-122"/>
                <a:cs typeface="Calibri" pitchFamily="34" charset="-120"/>
              </a:rPr>
              <a:t>Summaries and tags, generated</a:t>
            </a:r>
            <a:endParaRPr lang="en-US" sz="800" dirty="0"/>
          </a:p>
          <a:p>
            <a:pPr marL="0" indent="0">
              <a:lnSpc>
                <a:spcPct val="105000"/>
              </a:lnSpc>
              <a:buNone/>
            </a:pPr>
            <a:r>
              <a:rPr lang="en-US" sz="800" dirty="0">
                <a:solidFill>
                  <a:srgbClr val="6B7280"/>
                </a:solidFill>
                <a:latin typeface="Calibri" pitchFamily="34" charset="0"/>
                <a:ea typeface="Calibri" pitchFamily="34" charset="-122"/>
                <a:cs typeface="Calibri" pitchFamily="34" charset="-120"/>
              </a:rPr>
              <a:t>and stored as real columns.</a:t>
            </a:r>
            <a:endParaRPr lang="en-US" sz="800" dirty="0"/>
          </a:p>
        </p:txBody>
      </p:sp>
      <p:sp>
        <p:nvSpPr>
          <p:cNvPr id="18" name="Text 16"/>
          <p:cNvSpPr/>
          <p:nvPr/>
        </p:nvSpPr>
        <p:spPr>
          <a:xfrm>
            <a:off x="2706624" y="2450592"/>
            <a:ext cx="1591056" cy="219456"/>
          </a:xfrm>
          <a:prstGeom prst="rect">
            <a:avLst/>
          </a:prstGeom>
          <a:noFill/>
          <a:ln/>
        </p:spPr>
        <p:txBody>
          <a:bodyPr wrap="square" lIns="0" tIns="0" rIns="0" bIns="0" rtlCol="0" anchor="ctr"/>
          <a:lstStyle/>
          <a:p>
            <a:pPr marL="0" indent="0">
              <a:buNone/>
            </a:pPr>
            <a:r>
              <a:rPr lang="en-US" sz="700" b="1" kern="0" spc="100" dirty="0">
                <a:solidFill>
                  <a:srgbClr val="0098D4"/>
                </a:solidFill>
                <a:latin typeface="Calibri" pitchFamily="34" charset="0"/>
                <a:ea typeface="Calibri" pitchFamily="34" charset="-122"/>
                <a:cs typeface="Calibri" pitchFamily="34" charset="-120"/>
              </a:rPr>
              <a:t>DAYS 2-3</a:t>
            </a:r>
            <a:endParaRPr lang="en-US" sz="700" dirty="0"/>
          </a:p>
        </p:txBody>
      </p:sp>
      <p:sp>
        <p:nvSpPr>
          <p:cNvPr id="19" name="Text 17"/>
          <p:cNvSpPr/>
          <p:nvPr/>
        </p:nvSpPr>
        <p:spPr>
          <a:xfrm>
            <a:off x="4480560" y="1865376"/>
            <a:ext cx="201168" cy="219456"/>
          </a:xfrm>
          <a:prstGeom prst="rect">
            <a:avLst/>
          </a:prstGeom>
          <a:noFill/>
          <a:ln/>
        </p:spPr>
        <p:txBody>
          <a:bodyPr wrap="square" lIns="0" tIns="0" rIns="0" bIns="0" rtlCol="0" anchor="ctr"/>
          <a:lstStyle/>
          <a:p>
            <a:pPr marL="0" indent="0" algn="ctr">
              <a:buNone/>
            </a:pPr>
            <a:r>
              <a:rPr lang="en-US" sz="1600" b="1" dirty="0">
                <a:solidFill>
                  <a:srgbClr val="A9C3D1"/>
                </a:solidFill>
                <a:latin typeface="Calibri" pitchFamily="34" charset="0"/>
                <a:ea typeface="Calibri" pitchFamily="34" charset="-122"/>
                <a:cs typeface="Calibri" pitchFamily="34" charset="-120"/>
              </a:rPr>
              <a:t>›</a:t>
            </a:r>
            <a:endParaRPr lang="en-US" sz="1600" dirty="0"/>
          </a:p>
        </p:txBody>
      </p:sp>
      <p:sp>
        <p:nvSpPr>
          <p:cNvPr id="20" name="Shape 18"/>
          <p:cNvSpPr/>
          <p:nvPr/>
        </p:nvSpPr>
        <p:spPr>
          <a:xfrm>
            <a:off x="4663440" y="1097280"/>
            <a:ext cx="1883664" cy="1755648"/>
          </a:xfrm>
          <a:prstGeom prst="rect">
            <a:avLst/>
          </a:prstGeom>
          <a:solidFill>
            <a:srgbClr val="FFFFFF"/>
          </a:solidFill>
          <a:ln w="9525">
            <a:solidFill>
              <a:srgbClr val="DCEEF8"/>
            </a:solidFill>
            <a:prstDash val="solid"/>
          </a:ln>
        </p:spPr>
        <p:txBody>
          <a:bodyPr/>
          <a:lstStyle/>
          <a:p>
            <a:endParaRPr lang="en-US"/>
          </a:p>
        </p:txBody>
      </p:sp>
      <p:sp>
        <p:nvSpPr>
          <p:cNvPr id="21" name="Shape 19"/>
          <p:cNvSpPr/>
          <p:nvPr/>
        </p:nvSpPr>
        <p:spPr>
          <a:xfrm>
            <a:off x="4663440" y="1097280"/>
            <a:ext cx="1883664" cy="310896"/>
          </a:xfrm>
          <a:prstGeom prst="rect">
            <a:avLst/>
          </a:prstGeom>
          <a:solidFill>
            <a:srgbClr val="0079AB"/>
          </a:solidFill>
          <a:ln w="12700">
            <a:solidFill>
              <a:srgbClr val="0079AB"/>
            </a:solidFill>
            <a:prstDash val="solid"/>
          </a:ln>
        </p:spPr>
        <p:txBody>
          <a:bodyPr/>
          <a:lstStyle/>
          <a:p>
            <a:endParaRPr lang="en-US"/>
          </a:p>
        </p:txBody>
      </p:sp>
      <p:sp>
        <p:nvSpPr>
          <p:cNvPr id="22" name="Text 20"/>
          <p:cNvSpPr/>
          <p:nvPr/>
        </p:nvSpPr>
        <p:spPr>
          <a:xfrm>
            <a:off x="4663440" y="1097280"/>
            <a:ext cx="1883664" cy="310896"/>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RETRIEVE</a:t>
            </a:r>
            <a:endParaRPr lang="en-US" sz="1000" dirty="0"/>
          </a:p>
        </p:txBody>
      </p:sp>
      <p:sp>
        <p:nvSpPr>
          <p:cNvPr id="23" name="Text 21"/>
          <p:cNvSpPr/>
          <p:nvPr/>
        </p:nvSpPr>
        <p:spPr>
          <a:xfrm>
            <a:off x="4809744" y="1499616"/>
            <a:ext cx="1591056" cy="237744"/>
          </a:xfrm>
          <a:prstGeom prst="rect">
            <a:avLst/>
          </a:prstGeom>
          <a:noFill/>
          <a:ln/>
        </p:spPr>
        <p:txBody>
          <a:bodyPr wrap="square" lIns="0" tIns="0" rIns="0" bIns="0" rtlCol="0" anchor="ctr"/>
          <a:lstStyle/>
          <a:p>
            <a:pPr marL="0" indent="0">
              <a:buNone/>
            </a:pPr>
            <a:r>
              <a:rPr lang="en-US" sz="900" b="1" dirty="0">
                <a:solidFill>
                  <a:srgbClr val="1E2A38"/>
                </a:solidFill>
                <a:latin typeface="Calibri" pitchFamily="34" charset="0"/>
                <a:ea typeface="Calibri" pitchFamily="34" charset="-122"/>
                <a:cs typeface="Calibri" pitchFamily="34" charset="-120"/>
              </a:rPr>
              <a:t>AI answers from it</a:t>
            </a:r>
            <a:endParaRPr lang="en-US" sz="900" dirty="0"/>
          </a:p>
        </p:txBody>
      </p:sp>
      <p:sp>
        <p:nvSpPr>
          <p:cNvPr id="24" name="Text 22"/>
          <p:cNvSpPr/>
          <p:nvPr/>
        </p:nvSpPr>
        <p:spPr>
          <a:xfrm>
            <a:off x="4809744" y="1773936"/>
            <a:ext cx="1591056" cy="566928"/>
          </a:xfrm>
          <a:prstGeom prst="rect">
            <a:avLst/>
          </a:prstGeom>
          <a:noFill/>
          <a:ln/>
        </p:spPr>
        <p:txBody>
          <a:bodyPr wrap="square" lIns="0" tIns="0" rIns="0" bIns="0" rtlCol="0" anchor="t"/>
          <a:lstStyle/>
          <a:p>
            <a:pPr marL="0" indent="0">
              <a:lnSpc>
                <a:spcPct val="105000"/>
              </a:lnSpc>
              <a:buNone/>
            </a:pPr>
            <a:r>
              <a:rPr lang="en-US" sz="800" dirty="0">
                <a:solidFill>
                  <a:srgbClr val="6B7280"/>
                </a:solidFill>
                <a:latin typeface="Calibri" pitchFamily="34" charset="0"/>
                <a:ea typeface="Calibri" pitchFamily="34" charset="-122"/>
                <a:cs typeface="Calibri" pitchFamily="34" charset="-120"/>
              </a:rPr>
              <a:t>Questions answered from their</a:t>
            </a:r>
            <a:endParaRPr lang="en-US" sz="800" dirty="0"/>
          </a:p>
          <a:p>
            <a:pPr marL="0" indent="0">
              <a:lnSpc>
                <a:spcPct val="105000"/>
              </a:lnSpc>
              <a:buNone/>
            </a:pPr>
            <a:r>
              <a:rPr lang="en-US" sz="800" dirty="0">
                <a:solidFill>
                  <a:srgbClr val="6B7280"/>
                </a:solidFill>
                <a:latin typeface="Calibri" pitchFamily="34" charset="0"/>
                <a:ea typeface="Calibri" pitchFamily="34" charset="-122"/>
                <a:cs typeface="Calibri" pitchFamily="34" charset="-120"/>
              </a:rPr>
              <a:t>records, with citations.</a:t>
            </a:r>
            <a:endParaRPr lang="en-US" sz="800" dirty="0"/>
          </a:p>
        </p:txBody>
      </p:sp>
      <p:sp>
        <p:nvSpPr>
          <p:cNvPr id="25" name="Text 23"/>
          <p:cNvSpPr/>
          <p:nvPr/>
        </p:nvSpPr>
        <p:spPr>
          <a:xfrm>
            <a:off x="4809744" y="2450592"/>
            <a:ext cx="1591056" cy="219456"/>
          </a:xfrm>
          <a:prstGeom prst="rect">
            <a:avLst/>
          </a:prstGeom>
          <a:noFill/>
          <a:ln/>
        </p:spPr>
        <p:txBody>
          <a:bodyPr wrap="square" lIns="0" tIns="0" rIns="0" bIns="0" rtlCol="0" anchor="ctr"/>
          <a:lstStyle/>
          <a:p>
            <a:pPr marL="0" indent="0">
              <a:buNone/>
            </a:pPr>
            <a:r>
              <a:rPr lang="en-US" sz="700" b="1" kern="0" spc="100" dirty="0">
                <a:solidFill>
                  <a:srgbClr val="0079AB"/>
                </a:solidFill>
                <a:latin typeface="Calibri" pitchFamily="34" charset="0"/>
                <a:ea typeface="Calibri" pitchFamily="34" charset="-122"/>
                <a:cs typeface="Calibri" pitchFamily="34" charset="-120"/>
              </a:rPr>
              <a:t>DAY 4</a:t>
            </a:r>
            <a:endParaRPr lang="en-US" sz="700" dirty="0"/>
          </a:p>
        </p:txBody>
      </p:sp>
      <p:sp>
        <p:nvSpPr>
          <p:cNvPr id="26" name="Text 24"/>
          <p:cNvSpPr/>
          <p:nvPr/>
        </p:nvSpPr>
        <p:spPr>
          <a:xfrm>
            <a:off x="6583680" y="1865376"/>
            <a:ext cx="201168" cy="219456"/>
          </a:xfrm>
          <a:prstGeom prst="rect">
            <a:avLst/>
          </a:prstGeom>
          <a:noFill/>
          <a:ln/>
        </p:spPr>
        <p:txBody>
          <a:bodyPr wrap="square" lIns="0" tIns="0" rIns="0" bIns="0" rtlCol="0" anchor="ctr"/>
          <a:lstStyle/>
          <a:p>
            <a:pPr marL="0" indent="0" algn="ctr">
              <a:buNone/>
            </a:pPr>
            <a:r>
              <a:rPr lang="en-US" sz="1600" b="1" dirty="0">
                <a:solidFill>
                  <a:srgbClr val="A9C3D1"/>
                </a:solidFill>
                <a:latin typeface="Calibri" pitchFamily="34" charset="0"/>
                <a:ea typeface="Calibri" pitchFamily="34" charset="-122"/>
                <a:cs typeface="Calibri" pitchFamily="34" charset="-120"/>
              </a:rPr>
              <a:t>›</a:t>
            </a:r>
            <a:endParaRPr lang="en-US" sz="1600" dirty="0"/>
          </a:p>
        </p:txBody>
      </p:sp>
      <p:sp>
        <p:nvSpPr>
          <p:cNvPr id="27" name="Shape 25"/>
          <p:cNvSpPr/>
          <p:nvPr/>
        </p:nvSpPr>
        <p:spPr>
          <a:xfrm>
            <a:off x="6766560" y="1097280"/>
            <a:ext cx="1883664" cy="1755648"/>
          </a:xfrm>
          <a:prstGeom prst="rect">
            <a:avLst/>
          </a:prstGeom>
          <a:solidFill>
            <a:srgbClr val="FFFFFF"/>
          </a:solidFill>
          <a:ln w="9525">
            <a:solidFill>
              <a:srgbClr val="DCEEF8"/>
            </a:solidFill>
            <a:prstDash val="solid"/>
          </a:ln>
        </p:spPr>
        <p:txBody>
          <a:bodyPr/>
          <a:lstStyle/>
          <a:p>
            <a:endParaRPr lang="en-US"/>
          </a:p>
        </p:txBody>
      </p:sp>
      <p:sp>
        <p:nvSpPr>
          <p:cNvPr id="28" name="Shape 26"/>
          <p:cNvSpPr/>
          <p:nvPr/>
        </p:nvSpPr>
        <p:spPr>
          <a:xfrm>
            <a:off x="6766560" y="1097280"/>
            <a:ext cx="1883664" cy="310896"/>
          </a:xfrm>
          <a:prstGeom prst="rect">
            <a:avLst/>
          </a:prstGeom>
          <a:solidFill>
            <a:srgbClr val="0079AB"/>
          </a:solidFill>
          <a:ln w="12700">
            <a:solidFill>
              <a:srgbClr val="0079AB"/>
            </a:solidFill>
            <a:prstDash val="solid"/>
          </a:ln>
        </p:spPr>
        <p:txBody>
          <a:bodyPr/>
          <a:lstStyle/>
          <a:p>
            <a:endParaRPr lang="en-US"/>
          </a:p>
        </p:txBody>
      </p:sp>
      <p:sp>
        <p:nvSpPr>
          <p:cNvPr id="29" name="Text 27"/>
          <p:cNvSpPr/>
          <p:nvPr/>
        </p:nvSpPr>
        <p:spPr>
          <a:xfrm>
            <a:off x="6766560" y="1097280"/>
            <a:ext cx="1883664" cy="310896"/>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ACT</a:t>
            </a:r>
            <a:endParaRPr lang="en-US" sz="1000" dirty="0"/>
          </a:p>
        </p:txBody>
      </p:sp>
      <p:sp>
        <p:nvSpPr>
          <p:cNvPr id="30" name="Text 28"/>
          <p:cNvSpPr/>
          <p:nvPr/>
        </p:nvSpPr>
        <p:spPr>
          <a:xfrm>
            <a:off x="6912864" y="1499616"/>
            <a:ext cx="1591056" cy="237744"/>
          </a:xfrm>
          <a:prstGeom prst="rect">
            <a:avLst/>
          </a:prstGeom>
          <a:noFill/>
          <a:ln/>
        </p:spPr>
        <p:txBody>
          <a:bodyPr wrap="square" lIns="0" tIns="0" rIns="0" bIns="0" rtlCol="0" anchor="ctr"/>
          <a:lstStyle/>
          <a:p>
            <a:pPr marL="0" indent="0">
              <a:buNone/>
            </a:pPr>
            <a:r>
              <a:rPr lang="en-US" sz="900" b="1" dirty="0">
                <a:solidFill>
                  <a:srgbClr val="1E2A38"/>
                </a:solidFill>
                <a:latin typeface="Calibri" pitchFamily="34" charset="0"/>
                <a:ea typeface="Calibri" pitchFamily="34" charset="-122"/>
                <a:cs typeface="Calibri" pitchFamily="34" charset="-120"/>
              </a:rPr>
              <a:t>AI takes action</a:t>
            </a:r>
            <a:endParaRPr lang="en-US" sz="900" dirty="0"/>
          </a:p>
        </p:txBody>
      </p:sp>
      <p:sp>
        <p:nvSpPr>
          <p:cNvPr id="31" name="Text 29"/>
          <p:cNvSpPr/>
          <p:nvPr/>
        </p:nvSpPr>
        <p:spPr>
          <a:xfrm>
            <a:off x="6912864" y="1773936"/>
            <a:ext cx="1591056" cy="566928"/>
          </a:xfrm>
          <a:prstGeom prst="rect">
            <a:avLst/>
          </a:prstGeom>
          <a:noFill/>
          <a:ln/>
        </p:spPr>
        <p:txBody>
          <a:bodyPr wrap="square" lIns="0" tIns="0" rIns="0" bIns="0" rtlCol="0" anchor="t"/>
          <a:lstStyle/>
          <a:p>
            <a:pPr marL="0" indent="0">
              <a:lnSpc>
                <a:spcPct val="105000"/>
              </a:lnSpc>
              <a:buNone/>
            </a:pPr>
            <a:r>
              <a:rPr lang="en-US" sz="800" dirty="0">
                <a:solidFill>
                  <a:srgbClr val="6B7280"/>
                </a:solidFill>
                <a:latin typeface="Calibri" pitchFamily="34" charset="0"/>
                <a:ea typeface="Calibri" pitchFamily="34" charset="-122"/>
                <a:cs typeface="Calibri" pitchFamily="34" charset="-120"/>
              </a:rPr>
              <a:t>Multi-step work using tools</a:t>
            </a:r>
            <a:endParaRPr lang="en-US" sz="800" dirty="0"/>
          </a:p>
          <a:p>
            <a:pPr marL="0" indent="0">
              <a:lnSpc>
                <a:spcPct val="105000"/>
              </a:lnSpc>
              <a:buNone/>
            </a:pPr>
            <a:r>
              <a:rPr lang="en-US" sz="800" dirty="0">
                <a:solidFill>
                  <a:srgbClr val="6B7280"/>
                </a:solidFill>
                <a:latin typeface="Calibri" pitchFamily="34" charset="0"/>
                <a:ea typeface="Calibri" pitchFamily="34" charset="-122"/>
                <a:cs typeface="Calibri" pitchFamily="34" charset="-120"/>
              </a:rPr>
              <a:t>you wrote yourself.</a:t>
            </a:r>
            <a:endParaRPr lang="en-US" sz="800" dirty="0"/>
          </a:p>
        </p:txBody>
      </p:sp>
      <p:sp>
        <p:nvSpPr>
          <p:cNvPr id="32" name="Text 30"/>
          <p:cNvSpPr/>
          <p:nvPr/>
        </p:nvSpPr>
        <p:spPr>
          <a:xfrm>
            <a:off x="6912864" y="2450592"/>
            <a:ext cx="1591056" cy="219456"/>
          </a:xfrm>
          <a:prstGeom prst="rect">
            <a:avLst/>
          </a:prstGeom>
          <a:noFill/>
          <a:ln/>
        </p:spPr>
        <p:txBody>
          <a:bodyPr wrap="square" lIns="0" tIns="0" rIns="0" bIns="0" rtlCol="0" anchor="ctr"/>
          <a:lstStyle/>
          <a:p>
            <a:pPr marL="0" indent="0">
              <a:buNone/>
            </a:pPr>
            <a:r>
              <a:rPr lang="en-US" sz="700" b="1" kern="0" spc="100" dirty="0">
                <a:solidFill>
                  <a:srgbClr val="0079AB"/>
                </a:solidFill>
                <a:latin typeface="Calibri" pitchFamily="34" charset="0"/>
                <a:ea typeface="Calibri" pitchFamily="34" charset="-122"/>
                <a:cs typeface="Calibri" pitchFamily="34" charset="-120"/>
              </a:rPr>
              <a:t>DAY 5</a:t>
            </a:r>
            <a:endParaRPr lang="en-US" sz="700" dirty="0"/>
          </a:p>
        </p:txBody>
      </p:sp>
      <p:sp>
        <p:nvSpPr>
          <p:cNvPr id="33" name="Text 31"/>
          <p:cNvSpPr/>
          <p:nvPr/>
        </p:nvSpPr>
        <p:spPr>
          <a:xfrm>
            <a:off x="457200" y="2999232"/>
            <a:ext cx="4572000" cy="182880"/>
          </a:xfrm>
          <a:prstGeom prst="rect">
            <a:avLst/>
          </a:prstGeom>
          <a:noFill/>
          <a:ln/>
        </p:spPr>
        <p:txBody>
          <a:bodyPr wrap="square" lIns="0" tIns="0" rIns="0" bIns="0" rtlCol="0" anchor="ctr"/>
          <a:lstStyle/>
          <a:p>
            <a:pPr marL="0" indent="0">
              <a:buNone/>
            </a:pPr>
            <a:r>
              <a:rPr lang="en-US" sz="800" b="1" kern="0" spc="120" dirty="0">
                <a:solidFill>
                  <a:srgbClr val="6B7280"/>
                </a:solidFill>
                <a:latin typeface="Calibri" pitchFamily="34" charset="0"/>
                <a:ea typeface="Calibri" pitchFamily="34" charset="-122"/>
                <a:cs typeface="Calibri" pitchFamily="34" charset="-120"/>
              </a:rPr>
              <a:t>READ IT AS ONE SENTENCE</a:t>
            </a:r>
            <a:endParaRPr lang="en-US" sz="800" dirty="0"/>
          </a:p>
        </p:txBody>
      </p:sp>
      <p:sp>
        <p:nvSpPr>
          <p:cNvPr id="34" name="Text 32"/>
          <p:cNvSpPr/>
          <p:nvPr/>
        </p:nvSpPr>
        <p:spPr>
          <a:xfrm>
            <a:off x="457200" y="3218688"/>
            <a:ext cx="8229600" cy="274320"/>
          </a:xfrm>
          <a:prstGeom prst="rect">
            <a:avLst/>
          </a:prstGeom>
          <a:noFill/>
          <a:ln/>
        </p:spPr>
        <p:txBody>
          <a:bodyPr wrap="square" lIns="0" tIns="0" rIns="0" bIns="0" rtlCol="0" anchor="t"/>
          <a:lstStyle/>
          <a:p>
            <a:pPr marL="0" indent="0">
              <a:lnSpc>
                <a:spcPct val="105000"/>
              </a:lnSpc>
              <a:buNone/>
            </a:pPr>
            <a:r>
              <a:rPr lang="en-US" sz="1200" b="1" dirty="0">
                <a:solidFill>
                  <a:srgbClr val="1E2A38"/>
                </a:solidFill>
                <a:latin typeface="Calibri" pitchFamily="34" charset="0"/>
                <a:ea typeface="Calibri" pitchFamily="34" charset="-122"/>
                <a:cs typeface="Calibri" pitchFamily="34" charset="-120"/>
              </a:rPr>
              <a:t>The user keeps records  ·  the AI enriches them  ·  the AI answers questions from them  ·  the AI acts on them.</a:t>
            </a:r>
            <a:endParaRPr lang="en-US" sz="1200" dirty="0"/>
          </a:p>
        </p:txBody>
      </p:sp>
      <p:sp>
        <p:nvSpPr>
          <p:cNvPr id="35" name="Shape 33"/>
          <p:cNvSpPr/>
          <p:nvPr/>
        </p:nvSpPr>
        <p:spPr>
          <a:xfrm>
            <a:off x="457200" y="3602736"/>
            <a:ext cx="8229600" cy="10973"/>
          </a:xfrm>
          <a:prstGeom prst="rect">
            <a:avLst/>
          </a:prstGeom>
          <a:solidFill>
            <a:srgbClr val="CDE7F5"/>
          </a:solidFill>
          <a:ln w="12700">
            <a:solidFill>
              <a:srgbClr val="CDE7F5"/>
            </a:solidFill>
            <a:prstDash val="solid"/>
          </a:ln>
        </p:spPr>
        <p:txBody>
          <a:bodyPr/>
          <a:lstStyle/>
          <a:p>
            <a:endParaRPr lang="en-US"/>
          </a:p>
        </p:txBody>
      </p:sp>
      <p:sp>
        <p:nvSpPr>
          <p:cNvPr id="36" name="Text 34"/>
          <p:cNvSpPr/>
          <p:nvPr/>
        </p:nvSpPr>
        <p:spPr>
          <a:xfrm>
            <a:off x="457200" y="3749040"/>
            <a:ext cx="8229600" cy="457200"/>
          </a:xfrm>
          <a:prstGeom prst="rect">
            <a:avLst/>
          </a:prstGeom>
          <a:noFill/>
          <a:ln/>
        </p:spPr>
        <p:txBody>
          <a:bodyPr wrap="square" lIns="0" tIns="0" rIns="0" bIns="0" rtlCol="0" anchor="t"/>
          <a:lstStyle/>
          <a:p>
            <a:pPr marL="0" indent="0">
              <a:lnSpc>
                <a:spcPct val="105000"/>
              </a:lnSpc>
              <a:buNone/>
            </a:pPr>
            <a:r>
              <a:rPr lang="en-US" sz="950" dirty="0">
                <a:solidFill>
                  <a:srgbClr val="6B7280"/>
                </a:solidFill>
                <a:latin typeface="Calibri" pitchFamily="34" charset="0"/>
                <a:ea typeface="Calibri" pitchFamily="34" charset="-122"/>
                <a:cs typeface="Calibri" pitchFamily="34" charset="-120"/>
              </a:rPr>
              <a:t>Spotify Wrapped, Gmail's smart search, Notion AI, a bank's fraud assistant, GitHub Copilot Chat — different companies, different data, same four stages.</a:t>
            </a:r>
            <a:endParaRPr lang="en-US" sz="950" dirty="0"/>
          </a:p>
        </p:txBody>
      </p:sp>
      <p:sp>
        <p:nvSpPr>
          <p:cNvPr id="37" name="Shape 35"/>
          <p:cNvSpPr/>
          <p:nvPr/>
        </p:nvSpPr>
        <p:spPr>
          <a:xfrm>
            <a:off x="457200" y="4334256"/>
            <a:ext cx="8229600" cy="512064"/>
          </a:xfrm>
          <a:prstGeom prst="rect">
            <a:avLst/>
          </a:prstGeom>
          <a:solidFill>
            <a:srgbClr val="F0F8FD"/>
          </a:solidFill>
          <a:ln w="12700">
            <a:solidFill>
              <a:srgbClr val="F0F8FD"/>
            </a:solidFill>
            <a:prstDash val="solid"/>
          </a:ln>
        </p:spPr>
        <p:txBody>
          <a:bodyPr/>
          <a:lstStyle/>
          <a:p>
            <a:endParaRPr lang="en-US"/>
          </a:p>
        </p:txBody>
      </p:sp>
      <p:sp>
        <p:nvSpPr>
          <p:cNvPr id="38" name="Shape 36"/>
          <p:cNvSpPr/>
          <p:nvPr/>
        </p:nvSpPr>
        <p:spPr>
          <a:xfrm>
            <a:off x="457200" y="4334256"/>
            <a:ext cx="54864" cy="512064"/>
          </a:xfrm>
          <a:prstGeom prst="rect">
            <a:avLst/>
          </a:prstGeom>
          <a:solidFill>
            <a:srgbClr val="00B0F0"/>
          </a:solidFill>
          <a:ln w="12700">
            <a:solidFill>
              <a:srgbClr val="00B0F0"/>
            </a:solidFill>
            <a:prstDash val="solid"/>
          </a:ln>
        </p:spPr>
        <p:txBody>
          <a:bodyPr/>
          <a:lstStyle/>
          <a:p>
            <a:endParaRPr lang="en-US"/>
          </a:p>
        </p:txBody>
      </p:sp>
      <p:sp>
        <p:nvSpPr>
          <p:cNvPr id="39" name="Text 37"/>
          <p:cNvSpPr/>
          <p:nvPr/>
        </p:nvSpPr>
        <p:spPr>
          <a:xfrm>
            <a:off x="658368" y="4334256"/>
            <a:ext cx="7863840" cy="512064"/>
          </a:xfrm>
          <a:prstGeom prst="rect">
            <a:avLst/>
          </a:prstGeom>
          <a:noFill/>
          <a:ln/>
        </p:spPr>
        <p:txBody>
          <a:bodyPr wrap="square" lIns="0" tIns="0" rIns="0" bIns="0" rtlCol="0" anchor="ctr"/>
          <a:lstStyle/>
          <a:p>
            <a:pPr marL="0" indent="0">
              <a:buNone/>
            </a:pPr>
            <a:r>
              <a:rPr lang="en-US" sz="1000" b="1" dirty="0">
                <a:solidFill>
                  <a:srgbClr val="1E2A38"/>
                </a:solidFill>
                <a:latin typeface="Calibri" pitchFamily="34" charset="0"/>
                <a:ea typeface="Calibri" pitchFamily="34" charset="-122"/>
                <a:cs typeface="Calibri" pitchFamily="34" charset="-120"/>
              </a:rPr>
              <a:t>Learn this shape once and you can rebuild it in any domain. That is the actual skill this week teaches.</a:t>
            </a:r>
            <a:endParaRPr lang="en-US" sz="1000" dirty="0"/>
          </a:p>
        </p:txBody>
      </p:sp>
    </p:spTree>
    <p:extLst>
      <p:ext uri="{BB962C8B-B14F-4D97-AF65-F5344CB8AC3E}">
        <p14:creationId xmlns:p14="http://schemas.microsoft.com/office/powerpoint/2010/main" val="227401466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B0F0"/>
          </a:solidFill>
          <a:ln w="12700">
            <a:solidFill>
              <a:srgbClr val="00B0F0"/>
            </a:solidFill>
            <a:prstDash val="solid"/>
          </a:ln>
        </p:spPr>
        <p:txBody>
          <a:bodyPr/>
          <a:lstStyle/>
          <a:p>
            <a:endParaRPr lang="en-US"/>
          </a:p>
        </p:txBody>
      </p:sp>
      <p:sp>
        <p:nvSpPr>
          <p:cNvPr id="3" name="Text 1"/>
          <p:cNvSpPr/>
          <p:nvPr/>
        </p:nvSpPr>
        <p:spPr>
          <a:xfrm>
            <a:off x="457200" y="128016"/>
            <a:ext cx="6400800" cy="182880"/>
          </a:xfrm>
          <a:prstGeom prst="rect">
            <a:avLst/>
          </a:prstGeom>
          <a:noFill/>
          <a:ln/>
        </p:spPr>
        <p:txBody>
          <a:bodyPr wrap="square" lIns="0" tIns="0" rIns="0" bIns="0" rtlCol="0" anchor="ctr"/>
          <a:lstStyle/>
          <a:p>
            <a:pPr marL="0" indent="0">
              <a:buNone/>
            </a:pPr>
            <a:r>
              <a:rPr lang="en-US" sz="800" b="1" kern="0" spc="160" dirty="0">
                <a:solidFill>
                  <a:srgbClr val="6B7280"/>
                </a:solidFill>
                <a:latin typeface="Calibri" pitchFamily="34" charset="0"/>
                <a:ea typeface="Calibri" pitchFamily="34" charset="-122"/>
                <a:cs typeface="Calibri" pitchFamily="34" charset="-120"/>
              </a:rPr>
              <a:t>BLOCK 1</a:t>
            </a:r>
            <a:endParaRPr lang="en-US" sz="800" dirty="0"/>
          </a:p>
        </p:txBody>
      </p:sp>
      <p:sp>
        <p:nvSpPr>
          <p:cNvPr id="4" name="Text 2"/>
          <p:cNvSpPr/>
          <p:nvPr/>
        </p:nvSpPr>
        <p:spPr>
          <a:xfrm>
            <a:off x="457200" y="347472"/>
            <a:ext cx="8229600" cy="420624"/>
          </a:xfrm>
          <a:prstGeom prst="rect">
            <a:avLst/>
          </a:prstGeom>
          <a:noFill/>
          <a:ln/>
        </p:spPr>
        <p:txBody>
          <a:bodyPr wrap="square" lIns="0" tIns="0" rIns="0" bIns="0" rtlCol="0" anchor="ctr"/>
          <a:lstStyle/>
          <a:p>
            <a:pPr marL="0" indent="0">
              <a:buNone/>
            </a:pPr>
            <a:r>
              <a:rPr lang="en-US" sz="2200" b="1" dirty="0">
                <a:solidFill>
                  <a:srgbClr val="1E2A38"/>
                </a:solidFill>
                <a:latin typeface="Calibri" pitchFamily="34" charset="0"/>
                <a:ea typeface="Calibri" pitchFamily="34" charset="-122"/>
                <a:cs typeface="Calibri" pitchFamily="34" charset="-120"/>
              </a:rPr>
              <a:t>Choose Your Domain — Same Code, Different Words</a:t>
            </a:r>
            <a:endParaRPr lang="en-US" sz="2200" dirty="0"/>
          </a:p>
        </p:txBody>
      </p:sp>
      <p:sp>
        <p:nvSpPr>
          <p:cNvPr id="5" name="Shape 3"/>
          <p:cNvSpPr/>
          <p:nvPr/>
        </p:nvSpPr>
        <p:spPr>
          <a:xfrm>
            <a:off x="457200" y="859536"/>
            <a:ext cx="8229600" cy="10973"/>
          </a:xfrm>
          <a:prstGeom prst="rect">
            <a:avLst/>
          </a:prstGeom>
          <a:solidFill>
            <a:srgbClr val="CDE7F5"/>
          </a:solidFill>
          <a:ln w="12700">
            <a:solidFill>
              <a:srgbClr val="CDE7F5"/>
            </a:solidFill>
            <a:prstDash val="solid"/>
          </a:ln>
        </p:spPr>
        <p:txBody>
          <a:bodyPr/>
          <a:lstStyle/>
          <a:p>
            <a:endParaRPr lang="en-US"/>
          </a:p>
        </p:txBody>
      </p:sp>
      <p:sp>
        <p:nvSpPr>
          <p:cNvPr id="6" name="Text 4"/>
          <p:cNvSpPr/>
          <p:nvPr/>
        </p:nvSpPr>
        <p:spPr>
          <a:xfrm>
            <a:off x="457200" y="969264"/>
            <a:ext cx="7315200" cy="182880"/>
          </a:xfrm>
          <a:prstGeom prst="rect">
            <a:avLst/>
          </a:prstGeom>
          <a:noFill/>
          <a:ln/>
        </p:spPr>
        <p:txBody>
          <a:bodyPr wrap="square" lIns="0" tIns="0" rIns="0" bIns="0" rtlCol="0" anchor="ctr"/>
          <a:lstStyle/>
          <a:p>
            <a:pPr marL="0" indent="0">
              <a:buNone/>
            </a:pPr>
            <a:r>
              <a:rPr lang="en-US" sz="800" b="1" kern="0" spc="120" dirty="0">
                <a:solidFill>
                  <a:srgbClr val="6B7280"/>
                </a:solidFill>
                <a:latin typeface="Calibri" pitchFamily="34" charset="0"/>
                <a:ea typeface="Calibri" pitchFamily="34" charset="-122"/>
                <a:cs typeface="Calibri" pitchFamily="34" charset="-120"/>
              </a:rPr>
              <a:t>EVERY APP THIS WEEK HAS EXACTLY ONE TABLE. ONLY THE LABELS CHANGE.</a:t>
            </a:r>
            <a:endParaRPr lang="en-US" sz="800" dirty="0"/>
          </a:p>
        </p:txBody>
      </p:sp>
      <p:sp>
        <p:nvSpPr>
          <p:cNvPr id="7" name="Shape 5"/>
          <p:cNvSpPr/>
          <p:nvPr/>
        </p:nvSpPr>
        <p:spPr>
          <a:xfrm>
            <a:off x="457200" y="1207008"/>
            <a:ext cx="1335024" cy="274320"/>
          </a:xfrm>
          <a:prstGeom prst="rect">
            <a:avLst/>
          </a:prstGeom>
          <a:solidFill>
            <a:srgbClr val="1E2A38"/>
          </a:solidFill>
          <a:ln w="12700">
            <a:solidFill>
              <a:srgbClr val="1E2A38"/>
            </a:solidFill>
            <a:prstDash val="solid"/>
          </a:ln>
        </p:spPr>
        <p:txBody>
          <a:bodyPr/>
          <a:lstStyle/>
          <a:p>
            <a:endParaRPr lang="en-US"/>
          </a:p>
        </p:txBody>
      </p:sp>
      <p:sp>
        <p:nvSpPr>
          <p:cNvPr id="8" name="Text 6"/>
          <p:cNvSpPr/>
          <p:nvPr/>
        </p:nvSpPr>
        <p:spPr>
          <a:xfrm>
            <a:off x="457200" y="1207008"/>
            <a:ext cx="1335024" cy="274320"/>
          </a:xfrm>
          <a:prstGeom prst="rect">
            <a:avLst/>
          </a:prstGeom>
          <a:noFill/>
          <a:ln/>
        </p:spPr>
        <p:txBody>
          <a:bodyPr wrap="square" lIns="0" tIns="0" rIns="0" bIns="0" rtlCol="0" anchor="ctr"/>
          <a:lstStyle/>
          <a:p>
            <a:pPr marL="0" indent="0" algn="ctr">
              <a:buNone/>
            </a:pPr>
            <a:r>
              <a:rPr lang="en-US" sz="700" b="1" kern="0" spc="80" dirty="0">
                <a:solidFill>
                  <a:srgbClr val="FFFFFF"/>
                </a:solidFill>
                <a:latin typeface="Calibri" pitchFamily="34" charset="0"/>
                <a:ea typeface="Calibri" pitchFamily="34" charset="-122"/>
                <a:cs typeface="Calibri" pitchFamily="34" charset="-120"/>
              </a:rPr>
              <a:t>COLUMN</a:t>
            </a:r>
            <a:endParaRPr lang="en-US" sz="700" dirty="0"/>
          </a:p>
        </p:txBody>
      </p:sp>
      <p:sp>
        <p:nvSpPr>
          <p:cNvPr id="9" name="Shape 7"/>
          <p:cNvSpPr/>
          <p:nvPr/>
        </p:nvSpPr>
        <p:spPr>
          <a:xfrm>
            <a:off x="1828800" y="1207008"/>
            <a:ext cx="1664208" cy="274320"/>
          </a:xfrm>
          <a:prstGeom prst="rect">
            <a:avLst/>
          </a:prstGeom>
          <a:solidFill>
            <a:srgbClr val="12212E"/>
          </a:solidFill>
          <a:ln w="12700">
            <a:solidFill>
              <a:srgbClr val="1E2A38"/>
            </a:solidFill>
            <a:prstDash val="solid"/>
          </a:ln>
        </p:spPr>
        <p:txBody>
          <a:bodyPr/>
          <a:lstStyle/>
          <a:p>
            <a:endParaRPr lang="en-US"/>
          </a:p>
        </p:txBody>
      </p:sp>
      <p:sp>
        <p:nvSpPr>
          <p:cNvPr id="10" name="Text 8"/>
          <p:cNvSpPr/>
          <p:nvPr/>
        </p:nvSpPr>
        <p:spPr>
          <a:xfrm>
            <a:off x="1828800" y="1207008"/>
            <a:ext cx="1664208" cy="274320"/>
          </a:xfrm>
          <a:prstGeom prst="rect">
            <a:avLst/>
          </a:prstGeom>
          <a:noFill/>
          <a:ln/>
        </p:spPr>
        <p:txBody>
          <a:bodyPr wrap="square" lIns="0" tIns="0" rIns="0" bIns="0" rtlCol="0" anchor="ctr"/>
          <a:lstStyle/>
          <a:p>
            <a:pPr marL="0" indent="0" algn="ctr">
              <a:buNone/>
            </a:pPr>
            <a:r>
              <a:rPr lang="en-US" sz="700" b="1" kern="0" spc="80" dirty="0">
                <a:solidFill>
                  <a:srgbClr val="FFFFFF"/>
                </a:solidFill>
                <a:latin typeface="Calibri" pitchFamily="34" charset="0"/>
                <a:ea typeface="Calibri" pitchFamily="34" charset="-122"/>
                <a:cs typeface="Calibri" pitchFamily="34" charset="-120"/>
              </a:rPr>
              <a:t>STUDY NOTES</a:t>
            </a:r>
            <a:endParaRPr lang="en-US" sz="700" dirty="0"/>
          </a:p>
        </p:txBody>
      </p:sp>
      <p:sp>
        <p:nvSpPr>
          <p:cNvPr id="11" name="Shape 9"/>
          <p:cNvSpPr/>
          <p:nvPr/>
        </p:nvSpPr>
        <p:spPr>
          <a:xfrm>
            <a:off x="3529584" y="1207008"/>
            <a:ext cx="1664208" cy="274320"/>
          </a:xfrm>
          <a:prstGeom prst="rect">
            <a:avLst/>
          </a:prstGeom>
          <a:solidFill>
            <a:srgbClr val="12212E"/>
          </a:solidFill>
          <a:ln w="12700">
            <a:solidFill>
              <a:srgbClr val="1E2A38"/>
            </a:solidFill>
            <a:prstDash val="solid"/>
          </a:ln>
        </p:spPr>
        <p:txBody>
          <a:bodyPr/>
          <a:lstStyle/>
          <a:p>
            <a:endParaRPr lang="en-US"/>
          </a:p>
        </p:txBody>
      </p:sp>
      <p:sp>
        <p:nvSpPr>
          <p:cNvPr id="12" name="Text 10"/>
          <p:cNvSpPr/>
          <p:nvPr/>
        </p:nvSpPr>
        <p:spPr>
          <a:xfrm>
            <a:off x="3529584" y="1207008"/>
            <a:ext cx="1664208" cy="274320"/>
          </a:xfrm>
          <a:prstGeom prst="rect">
            <a:avLst/>
          </a:prstGeom>
          <a:noFill/>
          <a:ln/>
        </p:spPr>
        <p:txBody>
          <a:bodyPr wrap="square" lIns="0" tIns="0" rIns="0" bIns="0" rtlCol="0" anchor="ctr"/>
          <a:lstStyle/>
          <a:p>
            <a:pPr marL="0" indent="0" algn="ctr">
              <a:buNone/>
            </a:pPr>
            <a:r>
              <a:rPr lang="en-US" sz="700" b="1" kern="0" spc="80" dirty="0">
                <a:solidFill>
                  <a:srgbClr val="FFFFFF"/>
                </a:solidFill>
                <a:latin typeface="Calibri" pitchFamily="34" charset="0"/>
                <a:ea typeface="Calibri" pitchFamily="34" charset="-122"/>
                <a:cs typeface="Calibri" pitchFamily="34" charset="-120"/>
              </a:rPr>
              <a:t>RECIPE BOX</a:t>
            </a:r>
            <a:endParaRPr lang="en-US" sz="700" dirty="0"/>
          </a:p>
        </p:txBody>
      </p:sp>
      <p:sp>
        <p:nvSpPr>
          <p:cNvPr id="13" name="Shape 11"/>
          <p:cNvSpPr/>
          <p:nvPr/>
        </p:nvSpPr>
        <p:spPr>
          <a:xfrm>
            <a:off x="5230368" y="1207008"/>
            <a:ext cx="1664208" cy="274320"/>
          </a:xfrm>
          <a:prstGeom prst="rect">
            <a:avLst/>
          </a:prstGeom>
          <a:solidFill>
            <a:srgbClr val="12212E"/>
          </a:solidFill>
          <a:ln w="12700">
            <a:solidFill>
              <a:srgbClr val="1E2A38"/>
            </a:solidFill>
            <a:prstDash val="solid"/>
          </a:ln>
        </p:spPr>
        <p:txBody>
          <a:bodyPr/>
          <a:lstStyle/>
          <a:p>
            <a:endParaRPr lang="en-US"/>
          </a:p>
        </p:txBody>
      </p:sp>
      <p:sp>
        <p:nvSpPr>
          <p:cNvPr id="14" name="Text 12"/>
          <p:cNvSpPr/>
          <p:nvPr/>
        </p:nvSpPr>
        <p:spPr>
          <a:xfrm>
            <a:off x="5230368" y="1207008"/>
            <a:ext cx="1664208" cy="274320"/>
          </a:xfrm>
          <a:prstGeom prst="rect">
            <a:avLst/>
          </a:prstGeom>
          <a:noFill/>
          <a:ln/>
        </p:spPr>
        <p:txBody>
          <a:bodyPr wrap="square" lIns="0" tIns="0" rIns="0" bIns="0" rtlCol="0" anchor="ctr"/>
          <a:lstStyle/>
          <a:p>
            <a:pPr marL="0" indent="0" algn="ctr">
              <a:buNone/>
            </a:pPr>
            <a:r>
              <a:rPr lang="en-US" sz="700" b="1" kern="0" spc="80" dirty="0">
                <a:solidFill>
                  <a:srgbClr val="FFFFFF"/>
                </a:solidFill>
                <a:latin typeface="Calibri" pitchFamily="34" charset="0"/>
                <a:ea typeface="Calibri" pitchFamily="34" charset="-122"/>
                <a:cs typeface="Calibri" pitchFamily="34" charset="-120"/>
              </a:rPr>
              <a:t>EXPENSE TRACKER</a:t>
            </a:r>
            <a:endParaRPr lang="en-US" sz="700" dirty="0"/>
          </a:p>
        </p:txBody>
      </p:sp>
      <p:sp>
        <p:nvSpPr>
          <p:cNvPr id="15" name="Shape 13"/>
          <p:cNvSpPr/>
          <p:nvPr/>
        </p:nvSpPr>
        <p:spPr>
          <a:xfrm>
            <a:off x="6931152" y="1207008"/>
            <a:ext cx="1664208" cy="274320"/>
          </a:xfrm>
          <a:prstGeom prst="rect">
            <a:avLst/>
          </a:prstGeom>
          <a:solidFill>
            <a:srgbClr val="12212E"/>
          </a:solidFill>
          <a:ln w="12700">
            <a:solidFill>
              <a:srgbClr val="1E2A38"/>
            </a:solidFill>
            <a:prstDash val="solid"/>
          </a:ln>
        </p:spPr>
        <p:txBody>
          <a:bodyPr/>
          <a:lstStyle/>
          <a:p>
            <a:endParaRPr lang="en-US"/>
          </a:p>
        </p:txBody>
      </p:sp>
      <p:sp>
        <p:nvSpPr>
          <p:cNvPr id="16" name="Text 14"/>
          <p:cNvSpPr/>
          <p:nvPr/>
        </p:nvSpPr>
        <p:spPr>
          <a:xfrm>
            <a:off x="6931152" y="1207008"/>
            <a:ext cx="1664208" cy="274320"/>
          </a:xfrm>
          <a:prstGeom prst="rect">
            <a:avLst/>
          </a:prstGeom>
          <a:noFill/>
          <a:ln/>
        </p:spPr>
        <p:txBody>
          <a:bodyPr wrap="square" lIns="0" tIns="0" rIns="0" bIns="0" rtlCol="0" anchor="ctr"/>
          <a:lstStyle/>
          <a:p>
            <a:pPr marL="0" indent="0" algn="ctr">
              <a:buNone/>
            </a:pPr>
            <a:r>
              <a:rPr lang="en-US" sz="700" b="1" kern="0" spc="80" dirty="0">
                <a:solidFill>
                  <a:srgbClr val="FFFFFF"/>
                </a:solidFill>
                <a:latin typeface="Calibri" pitchFamily="34" charset="0"/>
                <a:ea typeface="Calibri" pitchFamily="34" charset="-122"/>
                <a:cs typeface="Calibri" pitchFamily="34" charset="-120"/>
              </a:rPr>
              <a:t>JOB APPLICATIONS</a:t>
            </a:r>
            <a:endParaRPr lang="en-US" sz="700" dirty="0"/>
          </a:p>
        </p:txBody>
      </p:sp>
      <p:sp>
        <p:nvSpPr>
          <p:cNvPr id="17" name="Shape 15"/>
          <p:cNvSpPr/>
          <p:nvPr/>
        </p:nvSpPr>
        <p:spPr>
          <a:xfrm>
            <a:off x="457200" y="1517904"/>
            <a:ext cx="1335024" cy="256032"/>
          </a:xfrm>
          <a:prstGeom prst="rect">
            <a:avLst/>
          </a:prstGeom>
          <a:solidFill>
            <a:srgbClr val="F0F8FD"/>
          </a:solidFill>
          <a:ln w="6350">
            <a:solidFill>
              <a:srgbClr val="DCEEF8"/>
            </a:solidFill>
            <a:prstDash val="solid"/>
          </a:ln>
        </p:spPr>
        <p:txBody>
          <a:bodyPr/>
          <a:lstStyle/>
          <a:p>
            <a:endParaRPr lang="en-US"/>
          </a:p>
        </p:txBody>
      </p:sp>
      <p:sp>
        <p:nvSpPr>
          <p:cNvPr id="18" name="Text 16"/>
          <p:cNvSpPr/>
          <p:nvPr/>
        </p:nvSpPr>
        <p:spPr>
          <a:xfrm>
            <a:off x="530352" y="1517904"/>
            <a:ext cx="1188720" cy="256032"/>
          </a:xfrm>
          <a:prstGeom prst="rect">
            <a:avLst/>
          </a:prstGeom>
          <a:noFill/>
          <a:ln/>
        </p:spPr>
        <p:txBody>
          <a:bodyPr wrap="square" lIns="0" tIns="0" rIns="0" bIns="0" rtlCol="0" anchor="ctr"/>
          <a:lstStyle/>
          <a:p>
            <a:pPr marL="0" indent="0">
              <a:buNone/>
            </a:pPr>
            <a:r>
              <a:rPr lang="en-US" sz="800" b="1" dirty="0">
                <a:solidFill>
                  <a:srgbClr val="00B0F0"/>
                </a:solidFill>
                <a:latin typeface="Courier New" pitchFamily="34" charset="0"/>
                <a:ea typeface="Courier New" pitchFamily="34" charset="-122"/>
                <a:cs typeface="Courier New" pitchFamily="34" charset="-120"/>
              </a:rPr>
              <a:t>title</a:t>
            </a:r>
            <a:endParaRPr lang="en-US" sz="800" dirty="0"/>
          </a:p>
        </p:txBody>
      </p:sp>
      <p:sp>
        <p:nvSpPr>
          <p:cNvPr id="19" name="Shape 17"/>
          <p:cNvSpPr/>
          <p:nvPr/>
        </p:nvSpPr>
        <p:spPr>
          <a:xfrm>
            <a:off x="1828800" y="1517904"/>
            <a:ext cx="1664208" cy="256032"/>
          </a:xfrm>
          <a:prstGeom prst="rect">
            <a:avLst/>
          </a:prstGeom>
          <a:solidFill>
            <a:srgbClr val="F0F8FD"/>
          </a:solidFill>
          <a:ln w="6350">
            <a:solidFill>
              <a:srgbClr val="DCEEF8"/>
            </a:solidFill>
            <a:prstDash val="solid"/>
          </a:ln>
        </p:spPr>
        <p:txBody>
          <a:bodyPr/>
          <a:lstStyle/>
          <a:p>
            <a:endParaRPr lang="en-US"/>
          </a:p>
        </p:txBody>
      </p:sp>
      <p:sp>
        <p:nvSpPr>
          <p:cNvPr id="20" name="Text 18"/>
          <p:cNvSpPr/>
          <p:nvPr/>
        </p:nvSpPr>
        <p:spPr>
          <a:xfrm>
            <a:off x="1901952" y="1517904"/>
            <a:ext cx="1517904" cy="256032"/>
          </a:xfrm>
          <a:prstGeom prst="rect">
            <a:avLst/>
          </a:prstGeom>
          <a:noFill/>
          <a:ln/>
        </p:spPr>
        <p:txBody>
          <a:bodyPr wrap="square" lIns="0" tIns="0" rIns="0" bIns="0" rtlCol="0" anchor="ctr"/>
          <a:lstStyle/>
          <a:p>
            <a:pPr marL="0" indent="0">
              <a:buNone/>
            </a:pPr>
            <a:r>
              <a:rPr lang="en-US" sz="850" dirty="0">
                <a:solidFill>
                  <a:srgbClr val="1E2A38"/>
                </a:solidFill>
                <a:latin typeface="Calibri" pitchFamily="34" charset="0"/>
                <a:ea typeface="Calibri" pitchFamily="34" charset="-122"/>
                <a:cs typeface="Calibri" pitchFamily="34" charset="-120"/>
              </a:rPr>
              <a:t>note title</a:t>
            </a:r>
            <a:endParaRPr lang="en-US" sz="850" dirty="0"/>
          </a:p>
        </p:txBody>
      </p:sp>
      <p:sp>
        <p:nvSpPr>
          <p:cNvPr id="21" name="Shape 19"/>
          <p:cNvSpPr/>
          <p:nvPr/>
        </p:nvSpPr>
        <p:spPr>
          <a:xfrm>
            <a:off x="3529584" y="1517904"/>
            <a:ext cx="1664208" cy="256032"/>
          </a:xfrm>
          <a:prstGeom prst="rect">
            <a:avLst/>
          </a:prstGeom>
          <a:solidFill>
            <a:srgbClr val="F0F8FD"/>
          </a:solidFill>
          <a:ln w="6350">
            <a:solidFill>
              <a:srgbClr val="DCEEF8"/>
            </a:solidFill>
            <a:prstDash val="solid"/>
          </a:ln>
        </p:spPr>
        <p:txBody>
          <a:bodyPr/>
          <a:lstStyle/>
          <a:p>
            <a:endParaRPr lang="en-US"/>
          </a:p>
        </p:txBody>
      </p:sp>
      <p:sp>
        <p:nvSpPr>
          <p:cNvPr id="22" name="Text 20"/>
          <p:cNvSpPr/>
          <p:nvPr/>
        </p:nvSpPr>
        <p:spPr>
          <a:xfrm>
            <a:off x="3602736" y="1517904"/>
            <a:ext cx="1517904" cy="256032"/>
          </a:xfrm>
          <a:prstGeom prst="rect">
            <a:avLst/>
          </a:prstGeom>
          <a:noFill/>
          <a:ln/>
        </p:spPr>
        <p:txBody>
          <a:bodyPr wrap="square" lIns="0" tIns="0" rIns="0" bIns="0" rtlCol="0" anchor="ctr"/>
          <a:lstStyle/>
          <a:p>
            <a:pPr marL="0" indent="0">
              <a:buNone/>
            </a:pPr>
            <a:r>
              <a:rPr lang="en-US" sz="850" dirty="0">
                <a:solidFill>
                  <a:srgbClr val="1E2A38"/>
                </a:solidFill>
                <a:latin typeface="Calibri" pitchFamily="34" charset="0"/>
                <a:ea typeface="Calibri" pitchFamily="34" charset="-122"/>
                <a:cs typeface="Calibri" pitchFamily="34" charset="-120"/>
              </a:rPr>
              <a:t>dish name</a:t>
            </a:r>
            <a:endParaRPr lang="en-US" sz="850" dirty="0"/>
          </a:p>
        </p:txBody>
      </p:sp>
      <p:sp>
        <p:nvSpPr>
          <p:cNvPr id="23" name="Shape 21"/>
          <p:cNvSpPr/>
          <p:nvPr/>
        </p:nvSpPr>
        <p:spPr>
          <a:xfrm>
            <a:off x="5230368" y="1517904"/>
            <a:ext cx="1664208" cy="256032"/>
          </a:xfrm>
          <a:prstGeom prst="rect">
            <a:avLst/>
          </a:prstGeom>
          <a:solidFill>
            <a:srgbClr val="F0F8FD"/>
          </a:solidFill>
          <a:ln w="6350">
            <a:solidFill>
              <a:srgbClr val="DCEEF8"/>
            </a:solidFill>
            <a:prstDash val="solid"/>
          </a:ln>
        </p:spPr>
        <p:txBody>
          <a:bodyPr/>
          <a:lstStyle/>
          <a:p>
            <a:endParaRPr lang="en-US"/>
          </a:p>
        </p:txBody>
      </p:sp>
      <p:sp>
        <p:nvSpPr>
          <p:cNvPr id="24" name="Text 22"/>
          <p:cNvSpPr/>
          <p:nvPr/>
        </p:nvSpPr>
        <p:spPr>
          <a:xfrm>
            <a:off x="5303520" y="1517904"/>
            <a:ext cx="1517904" cy="256032"/>
          </a:xfrm>
          <a:prstGeom prst="rect">
            <a:avLst/>
          </a:prstGeom>
          <a:noFill/>
          <a:ln/>
        </p:spPr>
        <p:txBody>
          <a:bodyPr wrap="square" lIns="0" tIns="0" rIns="0" bIns="0" rtlCol="0" anchor="ctr"/>
          <a:lstStyle/>
          <a:p>
            <a:pPr marL="0" indent="0">
              <a:buNone/>
            </a:pPr>
            <a:r>
              <a:rPr lang="en-US" sz="850" dirty="0">
                <a:solidFill>
                  <a:srgbClr val="1E2A38"/>
                </a:solidFill>
                <a:latin typeface="Calibri" pitchFamily="34" charset="0"/>
                <a:ea typeface="Calibri" pitchFamily="34" charset="-122"/>
                <a:cs typeface="Calibri" pitchFamily="34" charset="-120"/>
              </a:rPr>
              <a:t>merchant</a:t>
            </a:r>
            <a:endParaRPr lang="en-US" sz="850" dirty="0"/>
          </a:p>
        </p:txBody>
      </p:sp>
      <p:sp>
        <p:nvSpPr>
          <p:cNvPr id="25" name="Shape 23"/>
          <p:cNvSpPr/>
          <p:nvPr/>
        </p:nvSpPr>
        <p:spPr>
          <a:xfrm>
            <a:off x="6931152" y="1517904"/>
            <a:ext cx="1664208" cy="256032"/>
          </a:xfrm>
          <a:prstGeom prst="rect">
            <a:avLst/>
          </a:prstGeom>
          <a:solidFill>
            <a:srgbClr val="F0F8FD"/>
          </a:solidFill>
          <a:ln w="6350">
            <a:solidFill>
              <a:srgbClr val="DCEEF8"/>
            </a:solidFill>
            <a:prstDash val="solid"/>
          </a:ln>
        </p:spPr>
        <p:txBody>
          <a:bodyPr/>
          <a:lstStyle/>
          <a:p>
            <a:endParaRPr lang="en-US"/>
          </a:p>
        </p:txBody>
      </p:sp>
      <p:sp>
        <p:nvSpPr>
          <p:cNvPr id="26" name="Text 24"/>
          <p:cNvSpPr/>
          <p:nvPr/>
        </p:nvSpPr>
        <p:spPr>
          <a:xfrm>
            <a:off x="7004304" y="1517904"/>
            <a:ext cx="1517904" cy="256032"/>
          </a:xfrm>
          <a:prstGeom prst="rect">
            <a:avLst/>
          </a:prstGeom>
          <a:noFill/>
          <a:ln/>
        </p:spPr>
        <p:txBody>
          <a:bodyPr wrap="square" lIns="0" tIns="0" rIns="0" bIns="0" rtlCol="0" anchor="ctr"/>
          <a:lstStyle/>
          <a:p>
            <a:pPr marL="0" indent="0">
              <a:buNone/>
            </a:pPr>
            <a:r>
              <a:rPr lang="en-US" sz="850" dirty="0">
                <a:solidFill>
                  <a:srgbClr val="1E2A38"/>
                </a:solidFill>
                <a:latin typeface="Calibri" pitchFamily="34" charset="0"/>
                <a:ea typeface="Calibri" pitchFamily="34" charset="-122"/>
                <a:cs typeface="Calibri" pitchFamily="34" charset="-120"/>
              </a:rPr>
              <a:t>company + role</a:t>
            </a:r>
            <a:endParaRPr lang="en-US" sz="850" dirty="0"/>
          </a:p>
        </p:txBody>
      </p:sp>
      <p:sp>
        <p:nvSpPr>
          <p:cNvPr id="27" name="Shape 25"/>
          <p:cNvSpPr/>
          <p:nvPr/>
        </p:nvSpPr>
        <p:spPr>
          <a:xfrm>
            <a:off x="457200" y="1810512"/>
            <a:ext cx="1335024" cy="256032"/>
          </a:xfrm>
          <a:prstGeom prst="rect">
            <a:avLst/>
          </a:prstGeom>
          <a:solidFill>
            <a:srgbClr val="FFFFFF"/>
          </a:solidFill>
          <a:ln w="6350">
            <a:solidFill>
              <a:srgbClr val="DCEEF8"/>
            </a:solidFill>
            <a:prstDash val="solid"/>
          </a:ln>
        </p:spPr>
        <p:txBody>
          <a:bodyPr/>
          <a:lstStyle/>
          <a:p>
            <a:endParaRPr lang="en-US"/>
          </a:p>
        </p:txBody>
      </p:sp>
      <p:sp>
        <p:nvSpPr>
          <p:cNvPr id="28" name="Text 26"/>
          <p:cNvSpPr/>
          <p:nvPr/>
        </p:nvSpPr>
        <p:spPr>
          <a:xfrm>
            <a:off x="530352" y="1810512"/>
            <a:ext cx="1188720" cy="256032"/>
          </a:xfrm>
          <a:prstGeom prst="rect">
            <a:avLst/>
          </a:prstGeom>
          <a:noFill/>
          <a:ln/>
        </p:spPr>
        <p:txBody>
          <a:bodyPr wrap="square" lIns="0" tIns="0" rIns="0" bIns="0" rtlCol="0" anchor="ctr"/>
          <a:lstStyle/>
          <a:p>
            <a:pPr marL="0" indent="0">
              <a:buNone/>
            </a:pPr>
            <a:r>
              <a:rPr lang="en-US" sz="800" b="1" dirty="0">
                <a:solidFill>
                  <a:srgbClr val="00B0F0"/>
                </a:solidFill>
                <a:latin typeface="Courier New" pitchFamily="34" charset="0"/>
                <a:ea typeface="Courier New" pitchFamily="34" charset="-122"/>
                <a:cs typeface="Courier New" pitchFamily="34" charset="-120"/>
              </a:rPr>
              <a:t>body</a:t>
            </a:r>
            <a:endParaRPr lang="en-US" sz="800" dirty="0"/>
          </a:p>
        </p:txBody>
      </p:sp>
      <p:sp>
        <p:nvSpPr>
          <p:cNvPr id="29" name="Shape 27"/>
          <p:cNvSpPr/>
          <p:nvPr/>
        </p:nvSpPr>
        <p:spPr>
          <a:xfrm>
            <a:off x="1828800" y="1810512"/>
            <a:ext cx="1664208" cy="256032"/>
          </a:xfrm>
          <a:prstGeom prst="rect">
            <a:avLst/>
          </a:prstGeom>
          <a:solidFill>
            <a:srgbClr val="FFFFFF"/>
          </a:solidFill>
          <a:ln w="6350">
            <a:solidFill>
              <a:srgbClr val="DCEEF8"/>
            </a:solidFill>
            <a:prstDash val="solid"/>
          </a:ln>
        </p:spPr>
        <p:txBody>
          <a:bodyPr/>
          <a:lstStyle/>
          <a:p>
            <a:endParaRPr lang="en-US"/>
          </a:p>
        </p:txBody>
      </p:sp>
      <p:sp>
        <p:nvSpPr>
          <p:cNvPr id="30" name="Text 28"/>
          <p:cNvSpPr/>
          <p:nvPr/>
        </p:nvSpPr>
        <p:spPr>
          <a:xfrm>
            <a:off x="1901952" y="1810512"/>
            <a:ext cx="1517904" cy="256032"/>
          </a:xfrm>
          <a:prstGeom prst="rect">
            <a:avLst/>
          </a:prstGeom>
          <a:noFill/>
          <a:ln/>
        </p:spPr>
        <p:txBody>
          <a:bodyPr wrap="square" lIns="0" tIns="0" rIns="0" bIns="0" rtlCol="0" anchor="ctr"/>
          <a:lstStyle/>
          <a:p>
            <a:pPr marL="0" indent="0">
              <a:buNone/>
            </a:pPr>
            <a:r>
              <a:rPr lang="en-US" sz="850" dirty="0">
                <a:solidFill>
                  <a:srgbClr val="1E2A38"/>
                </a:solidFill>
                <a:latin typeface="Calibri" pitchFamily="34" charset="0"/>
                <a:ea typeface="Calibri" pitchFamily="34" charset="-122"/>
                <a:cs typeface="Calibri" pitchFamily="34" charset="-120"/>
              </a:rPr>
              <a:t>the note text</a:t>
            </a:r>
            <a:endParaRPr lang="en-US" sz="850" dirty="0"/>
          </a:p>
        </p:txBody>
      </p:sp>
      <p:sp>
        <p:nvSpPr>
          <p:cNvPr id="31" name="Shape 29"/>
          <p:cNvSpPr/>
          <p:nvPr/>
        </p:nvSpPr>
        <p:spPr>
          <a:xfrm>
            <a:off x="3529584" y="1810512"/>
            <a:ext cx="1664208" cy="256032"/>
          </a:xfrm>
          <a:prstGeom prst="rect">
            <a:avLst/>
          </a:prstGeom>
          <a:solidFill>
            <a:srgbClr val="FFFFFF"/>
          </a:solidFill>
          <a:ln w="6350">
            <a:solidFill>
              <a:srgbClr val="DCEEF8"/>
            </a:solidFill>
            <a:prstDash val="solid"/>
          </a:ln>
        </p:spPr>
        <p:txBody>
          <a:bodyPr/>
          <a:lstStyle/>
          <a:p>
            <a:endParaRPr lang="en-US"/>
          </a:p>
        </p:txBody>
      </p:sp>
      <p:sp>
        <p:nvSpPr>
          <p:cNvPr id="32" name="Text 30"/>
          <p:cNvSpPr/>
          <p:nvPr/>
        </p:nvSpPr>
        <p:spPr>
          <a:xfrm>
            <a:off x="3602736" y="1810512"/>
            <a:ext cx="1517904" cy="256032"/>
          </a:xfrm>
          <a:prstGeom prst="rect">
            <a:avLst/>
          </a:prstGeom>
          <a:noFill/>
          <a:ln/>
        </p:spPr>
        <p:txBody>
          <a:bodyPr wrap="square" lIns="0" tIns="0" rIns="0" bIns="0" rtlCol="0" anchor="ctr"/>
          <a:lstStyle/>
          <a:p>
            <a:pPr marL="0" indent="0">
              <a:buNone/>
            </a:pPr>
            <a:r>
              <a:rPr lang="en-US" sz="850" dirty="0">
                <a:solidFill>
                  <a:srgbClr val="1E2A38"/>
                </a:solidFill>
                <a:latin typeface="Calibri" pitchFamily="34" charset="0"/>
                <a:ea typeface="Calibri" pitchFamily="34" charset="-122"/>
                <a:cs typeface="Calibri" pitchFamily="34" charset="-120"/>
              </a:rPr>
              <a:t>method</a:t>
            </a:r>
            <a:endParaRPr lang="en-US" sz="850" dirty="0"/>
          </a:p>
        </p:txBody>
      </p:sp>
      <p:sp>
        <p:nvSpPr>
          <p:cNvPr id="33" name="Shape 31"/>
          <p:cNvSpPr/>
          <p:nvPr/>
        </p:nvSpPr>
        <p:spPr>
          <a:xfrm>
            <a:off x="5230368" y="1810512"/>
            <a:ext cx="1664208" cy="256032"/>
          </a:xfrm>
          <a:prstGeom prst="rect">
            <a:avLst/>
          </a:prstGeom>
          <a:solidFill>
            <a:srgbClr val="FFFFFF"/>
          </a:solidFill>
          <a:ln w="6350">
            <a:solidFill>
              <a:srgbClr val="DCEEF8"/>
            </a:solidFill>
            <a:prstDash val="solid"/>
          </a:ln>
        </p:spPr>
        <p:txBody>
          <a:bodyPr/>
          <a:lstStyle/>
          <a:p>
            <a:endParaRPr lang="en-US"/>
          </a:p>
        </p:txBody>
      </p:sp>
      <p:sp>
        <p:nvSpPr>
          <p:cNvPr id="34" name="Text 32"/>
          <p:cNvSpPr/>
          <p:nvPr/>
        </p:nvSpPr>
        <p:spPr>
          <a:xfrm>
            <a:off x="5303520" y="1810512"/>
            <a:ext cx="1517904" cy="256032"/>
          </a:xfrm>
          <a:prstGeom prst="rect">
            <a:avLst/>
          </a:prstGeom>
          <a:noFill/>
          <a:ln/>
        </p:spPr>
        <p:txBody>
          <a:bodyPr wrap="square" lIns="0" tIns="0" rIns="0" bIns="0" rtlCol="0" anchor="ctr"/>
          <a:lstStyle/>
          <a:p>
            <a:pPr marL="0" indent="0">
              <a:buNone/>
            </a:pPr>
            <a:r>
              <a:rPr lang="en-US" sz="850" dirty="0">
                <a:solidFill>
                  <a:srgbClr val="1E2A38"/>
                </a:solidFill>
                <a:latin typeface="Calibri" pitchFamily="34" charset="0"/>
                <a:ea typeface="Calibri" pitchFamily="34" charset="-122"/>
                <a:cs typeface="Calibri" pitchFamily="34" charset="-120"/>
              </a:rPr>
              <a:t>description</a:t>
            </a:r>
            <a:endParaRPr lang="en-US" sz="850" dirty="0"/>
          </a:p>
        </p:txBody>
      </p:sp>
      <p:sp>
        <p:nvSpPr>
          <p:cNvPr id="35" name="Shape 33"/>
          <p:cNvSpPr/>
          <p:nvPr/>
        </p:nvSpPr>
        <p:spPr>
          <a:xfrm>
            <a:off x="6931152" y="1810512"/>
            <a:ext cx="1664208" cy="256032"/>
          </a:xfrm>
          <a:prstGeom prst="rect">
            <a:avLst/>
          </a:prstGeom>
          <a:solidFill>
            <a:srgbClr val="FFFFFF"/>
          </a:solidFill>
          <a:ln w="6350">
            <a:solidFill>
              <a:srgbClr val="DCEEF8"/>
            </a:solidFill>
            <a:prstDash val="solid"/>
          </a:ln>
        </p:spPr>
        <p:txBody>
          <a:bodyPr/>
          <a:lstStyle/>
          <a:p>
            <a:endParaRPr lang="en-US"/>
          </a:p>
        </p:txBody>
      </p:sp>
      <p:sp>
        <p:nvSpPr>
          <p:cNvPr id="36" name="Text 34"/>
          <p:cNvSpPr/>
          <p:nvPr/>
        </p:nvSpPr>
        <p:spPr>
          <a:xfrm>
            <a:off x="7004304" y="1810512"/>
            <a:ext cx="1517904" cy="256032"/>
          </a:xfrm>
          <a:prstGeom prst="rect">
            <a:avLst/>
          </a:prstGeom>
          <a:noFill/>
          <a:ln/>
        </p:spPr>
        <p:txBody>
          <a:bodyPr wrap="square" lIns="0" tIns="0" rIns="0" bIns="0" rtlCol="0" anchor="ctr"/>
          <a:lstStyle/>
          <a:p>
            <a:pPr marL="0" indent="0">
              <a:buNone/>
            </a:pPr>
            <a:r>
              <a:rPr lang="en-US" sz="850" dirty="0">
                <a:solidFill>
                  <a:srgbClr val="1E2A38"/>
                </a:solidFill>
                <a:latin typeface="Calibri" pitchFamily="34" charset="0"/>
                <a:ea typeface="Calibri" pitchFamily="34" charset="-122"/>
                <a:cs typeface="Calibri" pitchFamily="34" charset="-120"/>
              </a:rPr>
              <a:t>job description</a:t>
            </a:r>
            <a:endParaRPr lang="en-US" sz="850" dirty="0"/>
          </a:p>
        </p:txBody>
      </p:sp>
      <p:sp>
        <p:nvSpPr>
          <p:cNvPr id="37" name="Shape 35"/>
          <p:cNvSpPr/>
          <p:nvPr/>
        </p:nvSpPr>
        <p:spPr>
          <a:xfrm>
            <a:off x="457200" y="2103120"/>
            <a:ext cx="1335024" cy="256032"/>
          </a:xfrm>
          <a:prstGeom prst="rect">
            <a:avLst/>
          </a:prstGeom>
          <a:solidFill>
            <a:srgbClr val="F0F8FD"/>
          </a:solidFill>
          <a:ln w="6350">
            <a:solidFill>
              <a:srgbClr val="DCEEF8"/>
            </a:solidFill>
            <a:prstDash val="solid"/>
          </a:ln>
        </p:spPr>
        <p:txBody>
          <a:bodyPr/>
          <a:lstStyle/>
          <a:p>
            <a:endParaRPr lang="en-US"/>
          </a:p>
        </p:txBody>
      </p:sp>
      <p:sp>
        <p:nvSpPr>
          <p:cNvPr id="38" name="Text 36"/>
          <p:cNvSpPr/>
          <p:nvPr/>
        </p:nvSpPr>
        <p:spPr>
          <a:xfrm>
            <a:off x="530352" y="2103120"/>
            <a:ext cx="1188720" cy="256032"/>
          </a:xfrm>
          <a:prstGeom prst="rect">
            <a:avLst/>
          </a:prstGeom>
          <a:noFill/>
          <a:ln/>
        </p:spPr>
        <p:txBody>
          <a:bodyPr wrap="square" lIns="0" tIns="0" rIns="0" bIns="0" rtlCol="0" anchor="ctr"/>
          <a:lstStyle/>
          <a:p>
            <a:pPr marL="0" indent="0">
              <a:buNone/>
            </a:pPr>
            <a:r>
              <a:rPr lang="en-US" sz="800" b="1" dirty="0">
                <a:solidFill>
                  <a:srgbClr val="00B0F0"/>
                </a:solidFill>
                <a:latin typeface="Courier New" pitchFamily="34" charset="0"/>
                <a:ea typeface="Courier New" pitchFamily="34" charset="-122"/>
                <a:cs typeface="Courier New" pitchFamily="34" charset="-120"/>
              </a:rPr>
              <a:t>tags</a:t>
            </a:r>
            <a:endParaRPr lang="en-US" sz="800" dirty="0"/>
          </a:p>
        </p:txBody>
      </p:sp>
      <p:sp>
        <p:nvSpPr>
          <p:cNvPr id="39" name="Shape 37"/>
          <p:cNvSpPr/>
          <p:nvPr/>
        </p:nvSpPr>
        <p:spPr>
          <a:xfrm>
            <a:off x="1828800" y="2103120"/>
            <a:ext cx="1664208" cy="256032"/>
          </a:xfrm>
          <a:prstGeom prst="rect">
            <a:avLst/>
          </a:prstGeom>
          <a:solidFill>
            <a:srgbClr val="F0F8FD"/>
          </a:solidFill>
          <a:ln w="6350">
            <a:solidFill>
              <a:srgbClr val="DCEEF8"/>
            </a:solidFill>
            <a:prstDash val="solid"/>
          </a:ln>
        </p:spPr>
        <p:txBody>
          <a:bodyPr/>
          <a:lstStyle/>
          <a:p>
            <a:endParaRPr lang="en-US"/>
          </a:p>
        </p:txBody>
      </p:sp>
      <p:sp>
        <p:nvSpPr>
          <p:cNvPr id="40" name="Text 38"/>
          <p:cNvSpPr/>
          <p:nvPr/>
        </p:nvSpPr>
        <p:spPr>
          <a:xfrm>
            <a:off x="1901952" y="2103120"/>
            <a:ext cx="1517904" cy="256032"/>
          </a:xfrm>
          <a:prstGeom prst="rect">
            <a:avLst/>
          </a:prstGeom>
          <a:noFill/>
          <a:ln/>
        </p:spPr>
        <p:txBody>
          <a:bodyPr wrap="square" lIns="0" tIns="0" rIns="0" bIns="0" rtlCol="0" anchor="ctr"/>
          <a:lstStyle/>
          <a:p>
            <a:pPr marL="0" indent="0">
              <a:buNone/>
            </a:pPr>
            <a:r>
              <a:rPr lang="en-US" sz="850" dirty="0">
                <a:solidFill>
                  <a:srgbClr val="1E2A38"/>
                </a:solidFill>
                <a:latin typeface="Calibri" pitchFamily="34" charset="0"/>
                <a:ea typeface="Calibri" pitchFamily="34" charset="-122"/>
                <a:cs typeface="Calibri" pitchFamily="34" charset="-120"/>
              </a:rPr>
              <a:t>topics</a:t>
            </a:r>
            <a:endParaRPr lang="en-US" sz="850" dirty="0"/>
          </a:p>
        </p:txBody>
      </p:sp>
      <p:sp>
        <p:nvSpPr>
          <p:cNvPr id="41" name="Shape 39"/>
          <p:cNvSpPr/>
          <p:nvPr/>
        </p:nvSpPr>
        <p:spPr>
          <a:xfrm>
            <a:off x="3529584" y="2103120"/>
            <a:ext cx="1664208" cy="256032"/>
          </a:xfrm>
          <a:prstGeom prst="rect">
            <a:avLst/>
          </a:prstGeom>
          <a:solidFill>
            <a:srgbClr val="F0F8FD"/>
          </a:solidFill>
          <a:ln w="6350">
            <a:solidFill>
              <a:srgbClr val="DCEEF8"/>
            </a:solidFill>
            <a:prstDash val="solid"/>
          </a:ln>
        </p:spPr>
        <p:txBody>
          <a:bodyPr/>
          <a:lstStyle/>
          <a:p>
            <a:endParaRPr lang="en-US"/>
          </a:p>
        </p:txBody>
      </p:sp>
      <p:sp>
        <p:nvSpPr>
          <p:cNvPr id="42" name="Text 40"/>
          <p:cNvSpPr/>
          <p:nvPr/>
        </p:nvSpPr>
        <p:spPr>
          <a:xfrm>
            <a:off x="3602736" y="2103120"/>
            <a:ext cx="1517904" cy="256032"/>
          </a:xfrm>
          <a:prstGeom prst="rect">
            <a:avLst/>
          </a:prstGeom>
          <a:noFill/>
          <a:ln/>
        </p:spPr>
        <p:txBody>
          <a:bodyPr wrap="square" lIns="0" tIns="0" rIns="0" bIns="0" rtlCol="0" anchor="ctr"/>
          <a:lstStyle/>
          <a:p>
            <a:pPr marL="0" indent="0">
              <a:buNone/>
            </a:pPr>
            <a:r>
              <a:rPr lang="en-US" sz="850" dirty="0">
                <a:solidFill>
                  <a:srgbClr val="1E2A38"/>
                </a:solidFill>
                <a:latin typeface="Calibri" pitchFamily="34" charset="0"/>
                <a:ea typeface="Calibri" pitchFamily="34" charset="-122"/>
                <a:cs typeface="Calibri" pitchFamily="34" charset="-120"/>
              </a:rPr>
              <a:t>cuisine, diet</a:t>
            </a:r>
            <a:endParaRPr lang="en-US" sz="850" dirty="0"/>
          </a:p>
        </p:txBody>
      </p:sp>
      <p:sp>
        <p:nvSpPr>
          <p:cNvPr id="43" name="Shape 41"/>
          <p:cNvSpPr/>
          <p:nvPr/>
        </p:nvSpPr>
        <p:spPr>
          <a:xfrm>
            <a:off x="5230368" y="2103120"/>
            <a:ext cx="1664208" cy="256032"/>
          </a:xfrm>
          <a:prstGeom prst="rect">
            <a:avLst/>
          </a:prstGeom>
          <a:solidFill>
            <a:srgbClr val="F0F8FD"/>
          </a:solidFill>
          <a:ln w="6350">
            <a:solidFill>
              <a:srgbClr val="DCEEF8"/>
            </a:solidFill>
            <a:prstDash val="solid"/>
          </a:ln>
        </p:spPr>
        <p:txBody>
          <a:bodyPr/>
          <a:lstStyle/>
          <a:p>
            <a:endParaRPr lang="en-US"/>
          </a:p>
        </p:txBody>
      </p:sp>
      <p:sp>
        <p:nvSpPr>
          <p:cNvPr id="44" name="Text 42"/>
          <p:cNvSpPr/>
          <p:nvPr/>
        </p:nvSpPr>
        <p:spPr>
          <a:xfrm>
            <a:off x="5303520" y="2103120"/>
            <a:ext cx="1517904" cy="256032"/>
          </a:xfrm>
          <a:prstGeom prst="rect">
            <a:avLst/>
          </a:prstGeom>
          <a:noFill/>
          <a:ln/>
        </p:spPr>
        <p:txBody>
          <a:bodyPr wrap="square" lIns="0" tIns="0" rIns="0" bIns="0" rtlCol="0" anchor="ctr"/>
          <a:lstStyle/>
          <a:p>
            <a:pPr marL="0" indent="0">
              <a:buNone/>
            </a:pPr>
            <a:r>
              <a:rPr lang="en-US" sz="850" dirty="0">
                <a:solidFill>
                  <a:srgbClr val="1E2A38"/>
                </a:solidFill>
                <a:latin typeface="Calibri" pitchFamily="34" charset="0"/>
                <a:ea typeface="Calibri" pitchFamily="34" charset="-122"/>
                <a:cs typeface="Calibri" pitchFamily="34" charset="-120"/>
              </a:rPr>
              <a:t>category</a:t>
            </a:r>
            <a:endParaRPr lang="en-US" sz="850" dirty="0"/>
          </a:p>
        </p:txBody>
      </p:sp>
      <p:sp>
        <p:nvSpPr>
          <p:cNvPr id="45" name="Shape 43"/>
          <p:cNvSpPr/>
          <p:nvPr/>
        </p:nvSpPr>
        <p:spPr>
          <a:xfrm>
            <a:off x="6931152" y="2103120"/>
            <a:ext cx="1664208" cy="256032"/>
          </a:xfrm>
          <a:prstGeom prst="rect">
            <a:avLst/>
          </a:prstGeom>
          <a:solidFill>
            <a:srgbClr val="F0F8FD"/>
          </a:solidFill>
          <a:ln w="6350">
            <a:solidFill>
              <a:srgbClr val="DCEEF8"/>
            </a:solidFill>
            <a:prstDash val="solid"/>
          </a:ln>
        </p:spPr>
        <p:txBody>
          <a:bodyPr/>
          <a:lstStyle/>
          <a:p>
            <a:endParaRPr lang="en-US"/>
          </a:p>
        </p:txBody>
      </p:sp>
      <p:sp>
        <p:nvSpPr>
          <p:cNvPr id="46" name="Text 44"/>
          <p:cNvSpPr/>
          <p:nvPr/>
        </p:nvSpPr>
        <p:spPr>
          <a:xfrm>
            <a:off x="7004304" y="2103120"/>
            <a:ext cx="1517904" cy="256032"/>
          </a:xfrm>
          <a:prstGeom prst="rect">
            <a:avLst/>
          </a:prstGeom>
          <a:noFill/>
          <a:ln/>
        </p:spPr>
        <p:txBody>
          <a:bodyPr wrap="square" lIns="0" tIns="0" rIns="0" bIns="0" rtlCol="0" anchor="ctr"/>
          <a:lstStyle/>
          <a:p>
            <a:pPr marL="0" indent="0">
              <a:buNone/>
            </a:pPr>
            <a:r>
              <a:rPr lang="en-US" sz="850" dirty="0">
                <a:solidFill>
                  <a:srgbClr val="1E2A38"/>
                </a:solidFill>
                <a:latin typeface="Calibri" pitchFamily="34" charset="0"/>
                <a:ea typeface="Calibri" pitchFamily="34" charset="-122"/>
                <a:cs typeface="Calibri" pitchFamily="34" charset="-120"/>
              </a:rPr>
              <a:t>stack, seniority</a:t>
            </a:r>
            <a:endParaRPr lang="en-US" sz="850" dirty="0"/>
          </a:p>
        </p:txBody>
      </p:sp>
      <p:sp>
        <p:nvSpPr>
          <p:cNvPr id="47" name="Shape 45"/>
          <p:cNvSpPr/>
          <p:nvPr/>
        </p:nvSpPr>
        <p:spPr>
          <a:xfrm>
            <a:off x="457200" y="2395728"/>
            <a:ext cx="1335024" cy="256032"/>
          </a:xfrm>
          <a:prstGeom prst="rect">
            <a:avLst/>
          </a:prstGeom>
          <a:solidFill>
            <a:srgbClr val="FFFFFF"/>
          </a:solidFill>
          <a:ln w="6350">
            <a:solidFill>
              <a:srgbClr val="DCEEF8"/>
            </a:solidFill>
            <a:prstDash val="solid"/>
          </a:ln>
        </p:spPr>
        <p:txBody>
          <a:bodyPr/>
          <a:lstStyle/>
          <a:p>
            <a:endParaRPr lang="en-US"/>
          </a:p>
        </p:txBody>
      </p:sp>
      <p:sp>
        <p:nvSpPr>
          <p:cNvPr id="48" name="Text 46"/>
          <p:cNvSpPr/>
          <p:nvPr/>
        </p:nvSpPr>
        <p:spPr>
          <a:xfrm>
            <a:off x="530352" y="2395728"/>
            <a:ext cx="1188720" cy="256032"/>
          </a:xfrm>
          <a:prstGeom prst="rect">
            <a:avLst/>
          </a:prstGeom>
          <a:noFill/>
          <a:ln/>
        </p:spPr>
        <p:txBody>
          <a:bodyPr wrap="square" lIns="0" tIns="0" rIns="0" bIns="0" rtlCol="0" anchor="ctr"/>
          <a:lstStyle/>
          <a:p>
            <a:pPr marL="0" indent="0">
              <a:buNone/>
            </a:pPr>
            <a:r>
              <a:rPr lang="en-US" sz="800" b="1" dirty="0">
                <a:solidFill>
                  <a:srgbClr val="00B0F0"/>
                </a:solidFill>
                <a:latin typeface="Courier New" pitchFamily="34" charset="0"/>
                <a:ea typeface="Courier New" pitchFamily="34" charset="-122"/>
                <a:cs typeface="Courier New" pitchFamily="34" charset="-120"/>
              </a:rPr>
              <a:t>summary</a:t>
            </a:r>
            <a:endParaRPr lang="en-US" sz="800" dirty="0"/>
          </a:p>
        </p:txBody>
      </p:sp>
      <p:sp>
        <p:nvSpPr>
          <p:cNvPr id="49" name="Shape 47"/>
          <p:cNvSpPr/>
          <p:nvPr/>
        </p:nvSpPr>
        <p:spPr>
          <a:xfrm>
            <a:off x="1828800" y="2395728"/>
            <a:ext cx="1664208" cy="256032"/>
          </a:xfrm>
          <a:prstGeom prst="rect">
            <a:avLst/>
          </a:prstGeom>
          <a:solidFill>
            <a:srgbClr val="FFFFFF"/>
          </a:solidFill>
          <a:ln w="6350">
            <a:solidFill>
              <a:srgbClr val="DCEEF8"/>
            </a:solidFill>
            <a:prstDash val="solid"/>
          </a:ln>
        </p:spPr>
        <p:txBody>
          <a:bodyPr/>
          <a:lstStyle/>
          <a:p>
            <a:endParaRPr lang="en-US"/>
          </a:p>
        </p:txBody>
      </p:sp>
      <p:sp>
        <p:nvSpPr>
          <p:cNvPr id="50" name="Text 48"/>
          <p:cNvSpPr/>
          <p:nvPr/>
        </p:nvSpPr>
        <p:spPr>
          <a:xfrm>
            <a:off x="1901952" y="2395728"/>
            <a:ext cx="1517904" cy="256032"/>
          </a:xfrm>
          <a:prstGeom prst="rect">
            <a:avLst/>
          </a:prstGeom>
          <a:noFill/>
          <a:ln/>
        </p:spPr>
        <p:txBody>
          <a:bodyPr wrap="square" lIns="0" tIns="0" rIns="0" bIns="0" rtlCol="0" anchor="ctr"/>
          <a:lstStyle/>
          <a:p>
            <a:pPr marL="0" indent="0">
              <a:buNone/>
            </a:pPr>
            <a:r>
              <a:rPr lang="en-US" sz="850" dirty="0">
                <a:solidFill>
                  <a:srgbClr val="1E2A38"/>
                </a:solidFill>
                <a:latin typeface="Calibri" pitchFamily="34" charset="0"/>
                <a:ea typeface="Calibri" pitchFamily="34" charset="-122"/>
                <a:cs typeface="Calibri" pitchFamily="34" charset="-120"/>
              </a:rPr>
              <a:t>key points</a:t>
            </a:r>
            <a:endParaRPr lang="en-US" sz="850" dirty="0"/>
          </a:p>
        </p:txBody>
      </p:sp>
      <p:sp>
        <p:nvSpPr>
          <p:cNvPr id="51" name="Shape 49"/>
          <p:cNvSpPr/>
          <p:nvPr/>
        </p:nvSpPr>
        <p:spPr>
          <a:xfrm>
            <a:off x="3529584" y="2395728"/>
            <a:ext cx="1664208" cy="256032"/>
          </a:xfrm>
          <a:prstGeom prst="rect">
            <a:avLst/>
          </a:prstGeom>
          <a:solidFill>
            <a:srgbClr val="FFFFFF"/>
          </a:solidFill>
          <a:ln w="6350">
            <a:solidFill>
              <a:srgbClr val="DCEEF8"/>
            </a:solidFill>
            <a:prstDash val="solid"/>
          </a:ln>
        </p:spPr>
        <p:txBody>
          <a:bodyPr/>
          <a:lstStyle/>
          <a:p>
            <a:endParaRPr lang="en-US"/>
          </a:p>
        </p:txBody>
      </p:sp>
      <p:sp>
        <p:nvSpPr>
          <p:cNvPr id="52" name="Text 50"/>
          <p:cNvSpPr/>
          <p:nvPr/>
        </p:nvSpPr>
        <p:spPr>
          <a:xfrm>
            <a:off x="3602736" y="2395728"/>
            <a:ext cx="1517904" cy="256032"/>
          </a:xfrm>
          <a:prstGeom prst="rect">
            <a:avLst/>
          </a:prstGeom>
          <a:noFill/>
          <a:ln/>
        </p:spPr>
        <p:txBody>
          <a:bodyPr wrap="square" lIns="0" tIns="0" rIns="0" bIns="0" rtlCol="0" anchor="ctr"/>
          <a:lstStyle/>
          <a:p>
            <a:pPr marL="0" indent="0">
              <a:buNone/>
            </a:pPr>
            <a:r>
              <a:rPr lang="en-US" sz="850" dirty="0">
                <a:solidFill>
                  <a:srgbClr val="1E2A38"/>
                </a:solidFill>
                <a:latin typeface="Calibri" pitchFamily="34" charset="0"/>
                <a:ea typeface="Calibri" pitchFamily="34" charset="-122"/>
                <a:cs typeface="Calibri" pitchFamily="34" charset="-120"/>
              </a:rPr>
              <a:t>one-line method</a:t>
            </a:r>
            <a:endParaRPr lang="en-US" sz="850" dirty="0"/>
          </a:p>
        </p:txBody>
      </p:sp>
      <p:sp>
        <p:nvSpPr>
          <p:cNvPr id="53" name="Shape 51"/>
          <p:cNvSpPr/>
          <p:nvPr/>
        </p:nvSpPr>
        <p:spPr>
          <a:xfrm>
            <a:off x="5230368" y="2395728"/>
            <a:ext cx="1664208" cy="256032"/>
          </a:xfrm>
          <a:prstGeom prst="rect">
            <a:avLst/>
          </a:prstGeom>
          <a:solidFill>
            <a:srgbClr val="FFFFFF"/>
          </a:solidFill>
          <a:ln w="6350">
            <a:solidFill>
              <a:srgbClr val="DCEEF8"/>
            </a:solidFill>
            <a:prstDash val="solid"/>
          </a:ln>
        </p:spPr>
        <p:txBody>
          <a:bodyPr/>
          <a:lstStyle/>
          <a:p>
            <a:endParaRPr lang="en-US"/>
          </a:p>
        </p:txBody>
      </p:sp>
      <p:sp>
        <p:nvSpPr>
          <p:cNvPr id="54" name="Text 52"/>
          <p:cNvSpPr/>
          <p:nvPr/>
        </p:nvSpPr>
        <p:spPr>
          <a:xfrm>
            <a:off x="5303520" y="2395728"/>
            <a:ext cx="1517904" cy="256032"/>
          </a:xfrm>
          <a:prstGeom prst="rect">
            <a:avLst/>
          </a:prstGeom>
          <a:noFill/>
          <a:ln/>
        </p:spPr>
        <p:txBody>
          <a:bodyPr wrap="square" lIns="0" tIns="0" rIns="0" bIns="0" rtlCol="0" anchor="ctr"/>
          <a:lstStyle/>
          <a:p>
            <a:pPr marL="0" indent="0">
              <a:buNone/>
            </a:pPr>
            <a:r>
              <a:rPr lang="en-US" sz="850" dirty="0">
                <a:solidFill>
                  <a:srgbClr val="1E2A38"/>
                </a:solidFill>
                <a:latin typeface="Calibri" pitchFamily="34" charset="0"/>
                <a:ea typeface="Calibri" pitchFamily="34" charset="-122"/>
                <a:cs typeface="Calibri" pitchFamily="34" charset="-120"/>
              </a:rPr>
              <a:t>what it was for</a:t>
            </a:r>
            <a:endParaRPr lang="en-US" sz="850" dirty="0"/>
          </a:p>
        </p:txBody>
      </p:sp>
      <p:sp>
        <p:nvSpPr>
          <p:cNvPr id="55" name="Shape 53"/>
          <p:cNvSpPr/>
          <p:nvPr/>
        </p:nvSpPr>
        <p:spPr>
          <a:xfrm>
            <a:off x="6931152" y="2395728"/>
            <a:ext cx="1664208" cy="256032"/>
          </a:xfrm>
          <a:prstGeom prst="rect">
            <a:avLst/>
          </a:prstGeom>
          <a:solidFill>
            <a:srgbClr val="FFFFFF"/>
          </a:solidFill>
          <a:ln w="6350">
            <a:solidFill>
              <a:srgbClr val="DCEEF8"/>
            </a:solidFill>
            <a:prstDash val="solid"/>
          </a:ln>
        </p:spPr>
        <p:txBody>
          <a:bodyPr/>
          <a:lstStyle/>
          <a:p>
            <a:endParaRPr lang="en-US"/>
          </a:p>
        </p:txBody>
      </p:sp>
      <p:sp>
        <p:nvSpPr>
          <p:cNvPr id="56" name="Text 54"/>
          <p:cNvSpPr/>
          <p:nvPr/>
        </p:nvSpPr>
        <p:spPr>
          <a:xfrm>
            <a:off x="7004304" y="2395728"/>
            <a:ext cx="1517904" cy="256032"/>
          </a:xfrm>
          <a:prstGeom prst="rect">
            <a:avLst/>
          </a:prstGeom>
          <a:noFill/>
          <a:ln/>
        </p:spPr>
        <p:txBody>
          <a:bodyPr wrap="square" lIns="0" tIns="0" rIns="0" bIns="0" rtlCol="0" anchor="ctr"/>
          <a:lstStyle/>
          <a:p>
            <a:pPr marL="0" indent="0">
              <a:buNone/>
            </a:pPr>
            <a:r>
              <a:rPr lang="en-US" sz="850" dirty="0">
                <a:solidFill>
                  <a:srgbClr val="1E2A38"/>
                </a:solidFill>
                <a:latin typeface="Calibri" pitchFamily="34" charset="0"/>
                <a:ea typeface="Calibri" pitchFamily="34" charset="-122"/>
                <a:cs typeface="Calibri" pitchFamily="34" charset="-120"/>
              </a:rPr>
              <a:t>role in one line</a:t>
            </a:r>
            <a:endParaRPr lang="en-US" sz="850" dirty="0"/>
          </a:p>
        </p:txBody>
      </p:sp>
      <p:sp>
        <p:nvSpPr>
          <p:cNvPr id="57" name="Shape 55"/>
          <p:cNvSpPr/>
          <p:nvPr/>
        </p:nvSpPr>
        <p:spPr>
          <a:xfrm>
            <a:off x="457200" y="2688336"/>
            <a:ext cx="1335024" cy="256032"/>
          </a:xfrm>
          <a:prstGeom prst="rect">
            <a:avLst/>
          </a:prstGeom>
          <a:solidFill>
            <a:srgbClr val="F0F8FD"/>
          </a:solidFill>
          <a:ln w="6350">
            <a:solidFill>
              <a:srgbClr val="DCEEF8"/>
            </a:solidFill>
            <a:prstDash val="solid"/>
          </a:ln>
        </p:spPr>
        <p:txBody>
          <a:bodyPr/>
          <a:lstStyle/>
          <a:p>
            <a:endParaRPr lang="en-US"/>
          </a:p>
        </p:txBody>
      </p:sp>
      <p:sp>
        <p:nvSpPr>
          <p:cNvPr id="58" name="Text 56"/>
          <p:cNvSpPr/>
          <p:nvPr/>
        </p:nvSpPr>
        <p:spPr>
          <a:xfrm>
            <a:off x="530352" y="2688336"/>
            <a:ext cx="1188720" cy="256032"/>
          </a:xfrm>
          <a:prstGeom prst="rect">
            <a:avLst/>
          </a:prstGeom>
          <a:noFill/>
          <a:ln/>
        </p:spPr>
        <p:txBody>
          <a:bodyPr wrap="square" lIns="0" tIns="0" rIns="0" bIns="0" rtlCol="0" anchor="ctr"/>
          <a:lstStyle/>
          <a:p>
            <a:pPr marL="0" indent="0">
              <a:buNone/>
            </a:pPr>
            <a:r>
              <a:rPr lang="en-US" sz="800" b="1" dirty="0">
                <a:solidFill>
                  <a:srgbClr val="00B0F0"/>
                </a:solidFill>
                <a:latin typeface="Courier New" pitchFamily="34" charset="0"/>
                <a:ea typeface="Courier New" pitchFamily="34" charset="-122"/>
                <a:cs typeface="Courier New" pitchFamily="34" charset="-120"/>
              </a:rPr>
              <a:t>due_date</a:t>
            </a:r>
            <a:endParaRPr lang="en-US" sz="800" dirty="0"/>
          </a:p>
        </p:txBody>
      </p:sp>
      <p:sp>
        <p:nvSpPr>
          <p:cNvPr id="59" name="Shape 57"/>
          <p:cNvSpPr/>
          <p:nvPr/>
        </p:nvSpPr>
        <p:spPr>
          <a:xfrm>
            <a:off x="1828800" y="2688336"/>
            <a:ext cx="1664208" cy="256032"/>
          </a:xfrm>
          <a:prstGeom prst="rect">
            <a:avLst/>
          </a:prstGeom>
          <a:solidFill>
            <a:srgbClr val="F0F8FD"/>
          </a:solidFill>
          <a:ln w="6350">
            <a:solidFill>
              <a:srgbClr val="DCEEF8"/>
            </a:solidFill>
            <a:prstDash val="solid"/>
          </a:ln>
        </p:spPr>
        <p:txBody>
          <a:bodyPr/>
          <a:lstStyle/>
          <a:p>
            <a:endParaRPr lang="en-US"/>
          </a:p>
        </p:txBody>
      </p:sp>
      <p:sp>
        <p:nvSpPr>
          <p:cNvPr id="60" name="Text 58"/>
          <p:cNvSpPr/>
          <p:nvPr/>
        </p:nvSpPr>
        <p:spPr>
          <a:xfrm>
            <a:off x="1901952" y="2688336"/>
            <a:ext cx="1517904" cy="256032"/>
          </a:xfrm>
          <a:prstGeom prst="rect">
            <a:avLst/>
          </a:prstGeom>
          <a:noFill/>
          <a:ln/>
        </p:spPr>
        <p:txBody>
          <a:bodyPr wrap="square" lIns="0" tIns="0" rIns="0" bIns="0" rtlCol="0" anchor="ctr"/>
          <a:lstStyle/>
          <a:p>
            <a:pPr marL="0" indent="0">
              <a:buNone/>
            </a:pPr>
            <a:r>
              <a:rPr lang="en-US" sz="850" dirty="0">
                <a:solidFill>
                  <a:srgbClr val="1E2A38"/>
                </a:solidFill>
                <a:latin typeface="Calibri" pitchFamily="34" charset="0"/>
                <a:ea typeface="Calibri" pitchFamily="34" charset="-122"/>
                <a:cs typeface="Calibri" pitchFamily="34" charset="-120"/>
              </a:rPr>
              <a:t>revision date</a:t>
            </a:r>
            <a:endParaRPr lang="en-US" sz="850" dirty="0"/>
          </a:p>
        </p:txBody>
      </p:sp>
      <p:sp>
        <p:nvSpPr>
          <p:cNvPr id="61" name="Shape 59"/>
          <p:cNvSpPr/>
          <p:nvPr/>
        </p:nvSpPr>
        <p:spPr>
          <a:xfrm>
            <a:off x="3529584" y="2688336"/>
            <a:ext cx="1664208" cy="256032"/>
          </a:xfrm>
          <a:prstGeom prst="rect">
            <a:avLst/>
          </a:prstGeom>
          <a:solidFill>
            <a:srgbClr val="F0F8FD"/>
          </a:solidFill>
          <a:ln w="6350">
            <a:solidFill>
              <a:srgbClr val="DCEEF8"/>
            </a:solidFill>
            <a:prstDash val="solid"/>
          </a:ln>
        </p:spPr>
        <p:txBody>
          <a:bodyPr/>
          <a:lstStyle/>
          <a:p>
            <a:endParaRPr lang="en-US"/>
          </a:p>
        </p:txBody>
      </p:sp>
      <p:sp>
        <p:nvSpPr>
          <p:cNvPr id="62" name="Text 60"/>
          <p:cNvSpPr/>
          <p:nvPr/>
        </p:nvSpPr>
        <p:spPr>
          <a:xfrm>
            <a:off x="3602736" y="2688336"/>
            <a:ext cx="1517904" cy="256032"/>
          </a:xfrm>
          <a:prstGeom prst="rect">
            <a:avLst/>
          </a:prstGeom>
          <a:noFill/>
          <a:ln/>
        </p:spPr>
        <p:txBody>
          <a:bodyPr wrap="square" lIns="0" tIns="0" rIns="0" bIns="0" rtlCol="0" anchor="ctr"/>
          <a:lstStyle/>
          <a:p>
            <a:pPr marL="0" indent="0">
              <a:buNone/>
            </a:pPr>
            <a:r>
              <a:rPr lang="en-US" sz="850" dirty="0">
                <a:solidFill>
                  <a:srgbClr val="1E2A38"/>
                </a:solidFill>
                <a:latin typeface="Calibri" pitchFamily="34" charset="0"/>
                <a:ea typeface="Calibri" pitchFamily="34" charset="-122"/>
                <a:cs typeface="Calibri" pitchFamily="34" charset="-120"/>
              </a:rPr>
              <a:t>—</a:t>
            </a:r>
            <a:endParaRPr lang="en-US" sz="850" dirty="0"/>
          </a:p>
        </p:txBody>
      </p:sp>
      <p:sp>
        <p:nvSpPr>
          <p:cNvPr id="63" name="Shape 61"/>
          <p:cNvSpPr/>
          <p:nvPr/>
        </p:nvSpPr>
        <p:spPr>
          <a:xfrm>
            <a:off x="5230368" y="2688336"/>
            <a:ext cx="1664208" cy="256032"/>
          </a:xfrm>
          <a:prstGeom prst="rect">
            <a:avLst/>
          </a:prstGeom>
          <a:solidFill>
            <a:srgbClr val="F0F8FD"/>
          </a:solidFill>
          <a:ln w="6350">
            <a:solidFill>
              <a:srgbClr val="DCEEF8"/>
            </a:solidFill>
            <a:prstDash val="solid"/>
          </a:ln>
        </p:spPr>
        <p:txBody>
          <a:bodyPr/>
          <a:lstStyle/>
          <a:p>
            <a:endParaRPr lang="en-US"/>
          </a:p>
        </p:txBody>
      </p:sp>
      <p:sp>
        <p:nvSpPr>
          <p:cNvPr id="64" name="Text 62"/>
          <p:cNvSpPr/>
          <p:nvPr/>
        </p:nvSpPr>
        <p:spPr>
          <a:xfrm>
            <a:off x="5303520" y="2688336"/>
            <a:ext cx="1517904" cy="256032"/>
          </a:xfrm>
          <a:prstGeom prst="rect">
            <a:avLst/>
          </a:prstGeom>
          <a:noFill/>
          <a:ln/>
        </p:spPr>
        <p:txBody>
          <a:bodyPr wrap="square" lIns="0" tIns="0" rIns="0" bIns="0" rtlCol="0" anchor="ctr"/>
          <a:lstStyle/>
          <a:p>
            <a:pPr marL="0" indent="0">
              <a:buNone/>
            </a:pPr>
            <a:r>
              <a:rPr lang="en-US" sz="850" dirty="0">
                <a:solidFill>
                  <a:srgbClr val="1E2A38"/>
                </a:solidFill>
                <a:latin typeface="Calibri" pitchFamily="34" charset="0"/>
                <a:ea typeface="Calibri" pitchFamily="34" charset="-122"/>
                <a:cs typeface="Calibri" pitchFamily="34" charset="-120"/>
              </a:rPr>
              <a:t>date spent</a:t>
            </a:r>
            <a:endParaRPr lang="en-US" sz="850" dirty="0"/>
          </a:p>
        </p:txBody>
      </p:sp>
      <p:sp>
        <p:nvSpPr>
          <p:cNvPr id="65" name="Shape 63"/>
          <p:cNvSpPr/>
          <p:nvPr/>
        </p:nvSpPr>
        <p:spPr>
          <a:xfrm>
            <a:off x="6931152" y="2688336"/>
            <a:ext cx="1664208" cy="256032"/>
          </a:xfrm>
          <a:prstGeom prst="rect">
            <a:avLst/>
          </a:prstGeom>
          <a:solidFill>
            <a:srgbClr val="F0F8FD"/>
          </a:solidFill>
          <a:ln w="6350">
            <a:solidFill>
              <a:srgbClr val="DCEEF8"/>
            </a:solidFill>
            <a:prstDash val="solid"/>
          </a:ln>
        </p:spPr>
        <p:txBody>
          <a:bodyPr/>
          <a:lstStyle/>
          <a:p>
            <a:endParaRPr lang="en-US"/>
          </a:p>
        </p:txBody>
      </p:sp>
      <p:sp>
        <p:nvSpPr>
          <p:cNvPr id="66" name="Text 64"/>
          <p:cNvSpPr/>
          <p:nvPr/>
        </p:nvSpPr>
        <p:spPr>
          <a:xfrm>
            <a:off x="7004304" y="2688336"/>
            <a:ext cx="1517904" cy="256032"/>
          </a:xfrm>
          <a:prstGeom prst="rect">
            <a:avLst/>
          </a:prstGeom>
          <a:noFill/>
          <a:ln/>
        </p:spPr>
        <p:txBody>
          <a:bodyPr wrap="square" lIns="0" tIns="0" rIns="0" bIns="0" rtlCol="0" anchor="ctr"/>
          <a:lstStyle/>
          <a:p>
            <a:pPr marL="0" indent="0">
              <a:buNone/>
            </a:pPr>
            <a:r>
              <a:rPr lang="en-US" sz="850" dirty="0">
                <a:solidFill>
                  <a:srgbClr val="1E2A38"/>
                </a:solidFill>
                <a:latin typeface="Calibri" pitchFamily="34" charset="0"/>
                <a:ea typeface="Calibri" pitchFamily="34" charset="-122"/>
                <a:cs typeface="Calibri" pitchFamily="34" charset="-120"/>
              </a:rPr>
              <a:t>follow-up date</a:t>
            </a:r>
            <a:endParaRPr lang="en-US" sz="850" dirty="0"/>
          </a:p>
        </p:txBody>
      </p:sp>
      <p:sp>
        <p:nvSpPr>
          <p:cNvPr id="67" name="Shape 65"/>
          <p:cNvSpPr/>
          <p:nvPr/>
        </p:nvSpPr>
        <p:spPr>
          <a:xfrm>
            <a:off x="457200" y="3054096"/>
            <a:ext cx="8229600" cy="274320"/>
          </a:xfrm>
          <a:prstGeom prst="rect">
            <a:avLst/>
          </a:prstGeom>
          <a:solidFill>
            <a:srgbClr val="FDEAEA"/>
          </a:solidFill>
          <a:ln w="12700">
            <a:solidFill>
              <a:srgbClr val="FDEAEA"/>
            </a:solidFill>
            <a:prstDash val="solid"/>
          </a:ln>
        </p:spPr>
        <p:txBody>
          <a:bodyPr/>
          <a:lstStyle/>
          <a:p>
            <a:endParaRPr lang="en-US"/>
          </a:p>
        </p:txBody>
      </p:sp>
      <p:sp>
        <p:nvSpPr>
          <p:cNvPr id="68" name="Text 66"/>
          <p:cNvSpPr/>
          <p:nvPr/>
        </p:nvSpPr>
        <p:spPr>
          <a:xfrm>
            <a:off x="566928" y="3054096"/>
            <a:ext cx="8010144" cy="274320"/>
          </a:xfrm>
          <a:prstGeom prst="rect">
            <a:avLst/>
          </a:prstGeom>
          <a:noFill/>
          <a:ln/>
        </p:spPr>
        <p:txBody>
          <a:bodyPr wrap="square" lIns="0" tIns="0" rIns="0" bIns="0" rtlCol="0" anchor="ctr"/>
          <a:lstStyle/>
          <a:p>
            <a:pPr marL="0" indent="0">
              <a:buNone/>
            </a:pPr>
            <a:r>
              <a:rPr lang="en-US" sz="800" b="1" dirty="0">
                <a:solidFill>
                  <a:srgbClr val="B83232"/>
                </a:solidFill>
                <a:latin typeface="Calibri" pitchFamily="34" charset="0"/>
                <a:ea typeface="Calibri" pitchFamily="34" charset="-122"/>
                <a:cs typeface="Calibri" pitchFamily="34" charset="-120"/>
              </a:rPr>
              <a:t>⚠  THE RULE:  one entity, one shape. Rename the columns to fit your subject. Do NOT add a second table until Friday.</a:t>
            </a:r>
            <a:endParaRPr lang="en-US" sz="800" dirty="0"/>
          </a:p>
        </p:txBody>
      </p:sp>
      <p:sp>
        <p:nvSpPr>
          <p:cNvPr id="69" name="Text 67"/>
          <p:cNvSpPr/>
          <p:nvPr/>
        </p:nvSpPr>
        <p:spPr>
          <a:xfrm>
            <a:off x="457200" y="3493008"/>
            <a:ext cx="4572000" cy="182880"/>
          </a:xfrm>
          <a:prstGeom prst="rect">
            <a:avLst/>
          </a:prstGeom>
          <a:noFill/>
          <a:ln/>
        </p:spPr>
        <p:txBody>
          <a:bodyPr wrap="square" lIns="0" tIns="0" rIns="0" bIns="0" rtlCol="0" anchor="ctr"/>
          <a:lstStyle/>
          <a:p>
            <a:pPr marL="0" indent="0">
              <a:buNone/>
            </a:pPr>
            <a:r>
              <a:rPr lang="en-US" sz="800" b="1" kern="0" spc="120" dirty="0">
                <a:solidFill>
                  <a:srgbClr val="6B7280"/>
                </a:solidFill>
                <a:latin typeface="Calibri" pitchFamily="34" charset="0"/>
                <a:ea typeface="Calibri" pitchFamily="34" charset="-122"/>
                <a:cs typeface="Calibri" pitchFamily="34" charset="-120"/>
              </a:rPr>
              <a:t>IS MY IDEA OK?  TWO TESTS</a:t>
            </a:r>
            <a:endParaRPr lang="en-US" sz="800" dirty="0"/>
          </a:p>
        </p:txBody>
      </p:sp>
      <p:sp>
        <p:nvSpPr>
          <p:cNvPr id="70" name="Text 68"/>
          <p:cNvSpPr/>
          <p:nvPr/>
        </p:nvSpPr>
        <p:spPr>
          <a:xfrm>
            <a:off x="457200" y="3712464"/>
            <a:ext cx="5120640" cy="530352"/>
          </a:xfrm>
          <a:prstGeom prst="rect">
            <a:avLst/>
          </a:prstGeom>
          <a:noFill/>
          <a:ln/>
        </p:spPr>
        <p:txBody>
          <a:bodyPr wrap="square" lIns="0" tIns="0" rIns="0" bIns="0" rtlCol="0" anchor="t"/>
          <a:lstStyle/>
          <a:p>
            <a:pPr marL="0" indent="0">
              <a:lnSpc>
                <a:spcPct val="105000"/>
              </a:lnSpc>
              <a:buNone/>
            </a:pPr>
            <a:r>
              <a:rPr lang="en-US" sz="950" dirty="0">
                <a:solidFill>
                  <a:srgbClr val="1E2A38"/>
                </a:solidFill>
                <a:latin typeface="Calibri" pitchFamily="34" charset="0"/>
                <a:ea typeface="Calibri" pitchFamily="34" charset="-122"/>
                <a:cs typeface="Calibri" pitchFamily="34" charset="-120"/>
              </a:rPr>
              <a:t>1.  It has one kind of record, and that record contains real free text.</a:t>
            </a:r>
            <a:endParaRPr lang="en-US" sz="950" dirty="0"/>
          </a:p>
          <a:p>
            <a:pPr marL="0" indent="0">
              <a:lnSpc>
                <a:spcPct val="105000"/>
              </a:lnSpc>
              <a:buNone/>
            </a:pPr>
            <a:r>
              <a:rPr lang="en-US" sz="950" dirty="0">
                <a:solidFill>
                  <a:srgbClr val="1E2A38"/>
                </a:solidFill>
                <a:latin typeface="Calibri" pitchFamily="34" charset="0"/>
                <a:ea typeface="Calibri" pitchFamily="34" charset="-122"/>
                <a:cs typeface="Calibri" pitchFamily="34" charset="-120"/>
              </a:rPr>
              <a:t>2.  You can type ten sample records from memory, right now, without looking anything up.</a:t>
            </a:r>
            <a:endParaRPr lang="en-US" sz="950" dirty="0"/>
          </a:p>
        </p:txBody>
      </p:sp>
      <p:sp>
        <p:nvSpPr>
          <p:cNvPr id="71" name="Shape 69"/>
          <p:cNvSpPr/>
          <p:nvPr/>
        </p:nvSpPr>
        <p:spPr>
          <a:xfrm>
            <a:off x="5760720" y="3438144"/>
            <a:ext cx="2926080" cy="786384"/>
          </a:xfrm>
          <a:prstGeom prst="rect">
            <a:avLst/>
          </a:prstGeom>
          <a:solidFill>
            <a:srgbClr val="FFFFFF"/>
          </a:solidFill>
          <a:ln w="9525">
            <a:solidFill>
              <a:srgbClr val="DCEEF8"/>
            </a:solidFill>
            <a:prstDash val="solid"/>
          </a:ln>
        </p:spPr>
        <p:txBody>
          <a:bodyPr/>
          <a:lstStyle/>
          <a:p>
            <a:endParaRPr lang="en-US"/>
          </a:p>
        </p:txBody>
      </p:sp>
      <p:sp>
        <p:nvSpPr>
          <p:cNvPr id="72" name="Shape 70"/>
          <p:cNvSpPr/>
          <p:nvPr/>
        </p:nvSpPr>
        <p:spPr>
          <a:xfrm>
            <a:off x="5760720" y="3438144"/>
            <a:ext cx="54864" cy="786384"/>
          </a:xfrm>
          <a:prstGeom prst="rect">
            <a:avLst/>
          </a:prstGeom>
          <a:solidFill>
            <a:srgbClr val="0079AB"/>
          </a:solidFill>
          <a:ln w="12700">
            <a:solidFill>
              <a:srgbClr val="0079AB"/>
            </a:solidFill>
            <a:prstDash val="solid"/>
          </a:ln>
        </p:spPr>
        <p:txBody>
          <a:bodyPr/>
          <a:lstStyle/>
          <a:p>
            <a:endParaRPr lang="en-US"/>
          </a:p>
        </p:txBody>
      </p:sp>
      <p:sp>
        <p:nvSpPr>
          <p:cNvPr id="73" name="Text 71"/>
          <p:cNvSpPr/>
          <p:nvPr/>
        </p:nvSpPr>
        <p:spPr>
          <a:xfrm>
            <a:off x="5907024" y="3511296"/>
            <a:ext cx="2651760" cy="182880"/>
          </a:xfrm>
          <a:prstGeom prst="rect">
            <a:avLst/>
          </a:prstGeom>
          <a:noFill/>
          <a:ln/>
        </p:spPr>
        <p:txBody>
          <a:bodyPr wrap="square" lIns="0" tIns="0" rIns="0" bIns="0" rtlCol="0" anchor="ctr"/>
          <a:lstStyle/>
          <a:p>
            <a:pPr marL="0" indent="0">
              <a:buNone/>
            </a:pPr>
            <a:r>
              <a:rPr lang="en-US" sz="700" b="1" kern="0" spc="120" dirty="0">
                <a:solidFill>
                  <a:srgbClr val="0079AB"/>
                </a:solidFill>
                <a:latin typeface="Calibri" pitchFamily="34" charset="0"/>
                <a:ea typeface="Calibri" pitchFamily="34" charset="-122"/>
                <a:cs typeface="Calibri" pitchFamily="34" charset="-120"/>
              </a:rPr>
              <a:t>CAN'T DECIDE?</a:t>
            </a:r>
            <a:endParaRPr lang="en-US" sz="700" dirty="0"/>
          </a:p>
        </p:txBody>
      </p:sp>
      <p:sp>
        <p:nvSpPr>
          <p:cNvPr id="74" name="Text 72"/>
          <p:cNvSpPr/>
          <p:nvPr/>
        </p:nvSpPr>
        <p:spPr>
          <a:xfrm>
            <a:off x="5907024" y="3712464"/>
            <a:ext cx="2670048" cy="457200"/>
          </a:xfrm>
          <a:prstGeom prst="rect">
            <a:avLst/>
          </a:prstGeom>
          <a:noFill/>
          <a:ln/>
        </p:spPr>
        <p:txBody>
          <a:bodyPr wrap="square" lIns="0" tIns="0" rIns="0" bIns="0" rtlCol="0" anchor="t"/>
          <a:lstStyle/>
          <a:p>
            <a:pPr marL="0" indent="0">
              <a:lnSpc>
                <a:spcPct val="105000"/>
              </a:lnSpc>
              <a:buNone/>
            </a:pPr>
            <a:r>
              <a:rPr lang="en-US" sz="800" dirty="0">
                <a:solidFill>
                  <a:srgbClr val="6B7280"/>
                </a:solidFill>
                <a:latin typeface="Calibri" pitchFamily="34" charset="0"/>
                <a:ea typeface="Calibri" pitchFamily="34" charset="-122"/>
                <a:cs typeface="Calibri" pitchFamily="34" charset="-120"/>
              </a:rPr>
              <a:t>Take Study Notes and move on. This decision is not worth twenty minutes of your day.</a:t>
            </a:r>
            <a:endParaRPr lang="en-US" sz="800" dirty="0"/>
          </a:p>
        </p:txBody>
      </p:sp>
      <p:sp>
        <p:nvSpPr>
          <p:cNvPr id="75" name="Shape 73"/>
          <p:cNvSpPr/>
          <p:nvPr/>
        </p:nvSpPr>
        <p:spPr>
          <a:xfrm>
            <a:off x="457200" y="4334256"/>
            <a:ext cx="8229600" cy="512064"/>
          </a:xfrm>
          <a:prstGeom prst="rect">
            <a:avLst/>
          </a:prstGeom>
          <a:solidFill>
            <a:srgbClr val="F0F8FD"/>
          </a:solidFill>
          <a:ln w="12700">
            <a:solidFill>
              <a:srgbClr val="F0F8FD"/>
            </a:solidFill>
            <a:prstDash val="solid"/>
          </a:ln>
        </p:spPr>
        <p:txBody>
          <a:bodyPr/>
          <a:lstStyle/>
          <a:p>
            <a:endParaRPr lang="en-US"/>
          </a:p>
        </p:txBody>
      </p:sp>
      <p:sp>
        <p:nvSpPr>
          <p:cNvPr id="76" name="Shape 74"/>
          <p:cNvSpPr/>
          <p:nvPr/>
        </p:nvSpPr>
        <p:spPr>
          <a:xfrm>
            <a:off x="457200" y="4334256"/>
            <a:ext cx="54864" cy="512064"/>
          </a:xfrm>
          <a:prstGeom prst="rect">
            <a:avLst/>
          </a:prstGeom>
          <a:solidFill>
            <a:srgbClr val="00B0F0"/>
          </a:solidFill>
          <a:ln w="12700">
            <a:solidFill>
              <a:srgbClr val="00B0F0"/>
            </a:solidFill>
            <a:prstDash val="solid"/>
          </a:ln>
        </p:spPr>
        <p:txBody>
          <a:bodyPr/>
          <a:lstStyle/>
          <a:p>
            <a:endParaRPr lang="en-US"/>
          </a:p>
        </p:txBody>
      </p:sp>
      <p:sp>
        <p:nvSpPr>
          <p:cNvPr id="77" name="Text 75"/>
          <p:cNvSpPr/>
          <p:nvPr/>
        </p:nvSpPr>
        <p:spPr>
          <a:xfrm>
            <a:off x="658368" y="4334256"/>
            <a:ext cx="7863840" cy="512064"/>
          </a:xfrm>
          <a:prstGeom prst="rect">
            <a:avLst/>
          </a:prstGeom>
          <a:noFill/>
          <a:ln/>
        </p:spPr>
        <p:txBody>
          <a:bodyPr wrap="square" lIns="0" tIns="0" rIns="0" bIns="0" rtlCol="0" anchor="ctr"/>
          <a:lstStyle/>
          <a:p>
            <a:pPr marL="0" indent="0">
              <a:buNone/>
            </a:pPr>
            <a:r>
              <a:rPr lang="en-US" sz="1000" b="1" dirty="0">
                <a:solidFill>
                  <a:srgbClr val="1E2A38"/>
                </a:solidFill>
                <a:latin typeface="Calibri" pitchFamily="34" charset="0"/>
                <a:ea typeface="Calibri" pitchFamily="34" charset="-122"/>
                <a:cs typeface="Calibri" pitchFamily="34" charset="-120"/>
              </a:rPr>
              <a:t>Pick something you actually own data about. On Thursday you will ask your app real questions — and a boring domain makes for a boring Thursday.</a:t>
            </a:r>
            <a:endParaRPr lang="en-US" sz="1000" dirty="0"/>
          </a:p>
        </p:txBody>
      </p:sp>
    </p:spTree>
    <p:extLst>
      <p:ext uri="{BB962C8B-B14F-4D97-AF65-F5344CB8AC3E}">
        <p14:creationId xmlns:p14="http://schemas.microsoft.com/office/powerpoint/2010/main" val="353934132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B0F0"/>
          </a:solidFill>
          <a:ln w="12700">
            <a:solidFill>
              <a:srgbClr val="00B0F0"/>
            </a:solidFill>
            <a:prstDash val="solid"/>
          </a:ln>
        </p:spPr>
        <p:txBody>
          <a:bodyPr/>
          <a:lstStyle/>
          <a:p>
            <a:endParaRPr lang="en-US"/>
          </a:p>
        </p:txBody>
      </p:sp>
      <p:sp>
        <p:nvSpPr>
          <p:cNvPr id="3" name="Text 1"/>
          <p:cNvSpPr/>
          <p:nvPr/>
        </p:nvSpPr>
        <p:spPr>
          <a:xfrm>
            <a:off x="457200" y="128016"/>
            <a:ext cx="6400800" cy="182880"/>
          </a:xfrm>
          <a:prstGeom prst="rect">
            <a:avLst/>
          </a:prstGeom>
          <a:noFill/>
          <a:ln/>
        </p:spPr>
        <p:txBody>
          <a:bodyPr wrap="square" lIns="0" tIns="0" rIns="0" bIns="0" rtlCol="0" anchor="ctr"/>
          <a:lstStyle/>
          <a:p>
            <a:pPr marL="0" indent="0">
              <a:buNone/>
            </a:pPr>
            <a:r>
              <a:rPr lang="en-US" sz="800" b="1" kern="0" spc="160" dirty="0">
                <a:solidFill>
                  <a:srgbClr val="6B7280"/>
                </a:solidFill>
                <a:latin typeface="Calibri" pitchFamily="34" charset="0"/>
                <a:ea typeface="Calibri" pitchFamily="34" charset="-122"/>
                <a:cs typeface="Calibri" pitchFamily="34" charset="-120"/>
              </a:rPr>
              <a:t>BLOCK 1</a:t>
            </a:r>
            <a:endParaRPr lang="en-US" sz="800" dirty="0"/>
          </a:p>
        </p:txBody>
      </p:sp>
      <p:sp>
        <p:nvSpPr>
          <p:cNvPr id="4" name="Text 2"/>
          <p:cNvSpPr/>
          <p:nvPr/>
        </p:nvSpPr>
        <p:spPr>
          <a:xfrm>
            <a:off x="457200" y="347472"/>
            <a:ext cx="8229600" cy="420624"/>
          </a:xfrm>
          <a:prstGeom prst="rect">
            <a:avLst/>
          </a:prstGeom>
          <a:noFill/>
          <a:ln/>
        </p:spPr>
        <p:txBody>
          <a:bodyPr wrap="square" lIns="0" tIns="0" rIns="0" bIns="0" rtlCol="0" anchor="ctr"/>
          <a:lstStyle/>
          <a:p>
            <a:pPr marL="0" indent="0">
              <a:buNone/>
            </a:pPr>
            <a:r>
              <a:rPr lang="en-US" sz="2200" b="1" dirty="0">
                <a:solidFill>
                  <a:srgbClr val="1E2A38"/>
                </a:solidFill>
                <a:latin typeface="Calibri" pitchFamily="34" charset="0"/>
                <a:ea typeface="Calibri" pitchFamily="34" charset="-122"/>
                <a:cs typeface="Calibri" pitchFamily="34" charset="-120"/>
              </a:rPr>
              <a:t>The Map: Where Every Piece Arrives</a:t>
            </a:r>
            <a:endParaRPr lang="en-US" sz="2200" dirty="0"/>
          </a:p>
        </p:txBody>
      </p:sp>
      <p:sp>
        <p:nvSpPr>
          <p:cNvPr id="5" name="Shape 3"/>
          <p:cNvSpPr/>
          <p:nvPr/>
        </p:nvSpPr>
        <p:spPr>
          <a:xfrm>
            <a:off x="457200" y="859536"/>
            <a:ext cx="8229600" cy="10973"/>
          </a:xfrm>
          <a:prstGeom prst="rect">
            <a:avLst/>
          </a:prstGeom>
          <a:solidFill>
            <a:srgbClr val="CDE7F5"/>
          </a:solidFill>
          <a:ln w="12700">
            <a:solidFill>
              <a:srgbClr val="CDE7F5"/>
            </a:solidFill>
            <a:prstDash val="solid"/>
          </a:ln>
        </p:spPr>
        <p:txBody>
          <a:bodyPr/>
          <a:lstStyle/>
          <a:p>
            <a:endParaRPr lang="en-US"/>
          </a:p>
        </p:txBody>
      </p:sp>
      <p:sp>
        <p:nvSpPr>
          <p:cNvPr id="6" name="Shape 4"/>
          <p:cNvSpPr/>
          <p:nvPr/>
        </p:nvSpPr>
        <p:spPr>
          <a:xfrm>
            <a:off x="457200" y="1060704"/>
            <a:ext cx="8229600" cy="566928"/>
          </a:xfrm>
          <a:prstGeom prst="rect">
            <a:avLst/>
          </a:prstGeom>
          <a:solidFill>
            <a:srgbClr val="FFFFFF"/>
          </a:solidFill>
          <a:ln w="9525">
            <a:solidFill>
              <a:srgbClr val="DCEEF8"/>
            </a:solidFill>
            <a:prstDash val="solid"/>
          </a:ln>
        </p:spPr>
        <p:txBody>
          <a:bodyPr/>
          <a:lstStyle/>
          <a:p>
            <a:endParaRPr lang="en-US"/>
          </a:p>
        </p:txBody>
      </p:sp>
      <p:sp>
        <p:nvSpPr>
          <p:cNvPr id="7" name="Shape 5"/>
          <p:cNvSpPr/>
          <p:nvPr/>
        </p:nvSpPr>
        <p:spPr>
          <a:xfrm>
            <a:off x="457200" y="1060704"/>
            <a:ext cx="1298448" cy="566928"/>
          </a:xfrm>
          <a:prstGeom prst="rect">
            <a:avLst/>
          </a:prstGeom>
          <a:solidFill>
            <a:srgbClr val="00B0F0"/>
          </a:solidFill>
          <a:ln w="12700">
            <a:solidFill>
              <a:srgbClr val="00B0F0"/>
            </a:solidFill>
            <a:prstDash val="solid"/>
          </a:ln>
        </p:spPr>
        <p:txBody>
          <a:bodyPr/>
          <a:lstStyle/>
          <a:p>
            <a:endParaRPr lang="en-US"/>
          </a:p>
        </p:txBody>
      </p:sp>
      <p:sp>
        <p:nvSpPr>
          <p:cNvPr id="8" name="Text 6"/>
          <p:cNvSpPr/>
          <p:nvPr/>
        </p:nvSpPr>
        <p:spPr>
          <a:xfrm>
            <a:off x="457200" y="1060704"/>
            <a:ext cx="1298448" cy="566928"/>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BROWSER</a:t>
            </a:r>
            <a:endParaRPr lang="en-US" sz="900" dirty="0"/>
          </a:p>
        </p:txBody>
      </p:sp>
      <p:sp>
        <p:nvSpPr>
          <p:cNvPr id="9" name="Text 7"/>
          <p:cNvSpPr/>
          <p:nvPr/>
        </p:nvSpPr>
        <p:spPr>
          <a:xfrm>
            <a:off x="1901952" y="1133856"/>
            <a:ext cx="2743200" cy="219456"/>
          </a:xfrm>
          <a:prstGeom prst="rect">
            <a:avLst/>
          </a:prstGeom>
          <a:noFill/>
          <a:ln/>
        </p:spPr>
        <p:txBody>
          <a:bodyPr wrap="square" lIns="0" tIns="0" rIns="0" bIns="0" rtlCol="0" anchor="ctr"/>
          <a:lstStyle/>
          <a:p>
            <a:pPr marL="0" indent="0">
              <a:buNone/>
            </a:pPr>
            <a:r>
              <a:rPr lang="en-US" sz="1000" b="1" dirty="0">
                <a:solidFill>
                  <a:srgbClr val="1E2A38"/>
                </a:solidFill>
                <a:latin typeface="Calibri" pitchFamily="34" charset="0"/>
                <a:ea typeface="Calibri" pitchFamily="34" charset="-122"/>
                <a:cs typeface="Calibri" pitchFamily="34" charset="-120"/>
              </a:rPr>
              <a:t>HTML  ·  CSS  ·  JavaScript</a:t>
            </a:r>
            <a:endParaRPr lang="en-US" sz="1000" dirty="0"/>
          </a:p>
        </p:txBody>
      </p:sp>
      <p:sp>
        <p:nvSpPr>
          <p:cNvPr id="10" name="Text 8"/>
          <p:cNvSpPr/>
          <p:nvPr/>
        </p:nvSpPr>
        <p:spPr>
          <a:xfrm>
            <a:off x="1901952" y="1353312"/>
            <a:ext cx="4206240" cy="219456"/>
          </a:xfrm>
          <a:prstGeom prst="rect">
            <a:avLst/>
          </a:prstGeom>
          <a:noFill/>
          <a:ln/>
        </p:spPr>
        <p:txBody>
          <a:bodyPr wrap="square" lIns="0" tIns="0" rIns="0" bIns="0" rtlCol="0" anchor="ctr"/>
          <a:lstStyle/>
          <a:p>
            <a:pPr marL="0" indent="0">
              <a:buNone/>
            </a:pPr>
            <a:r>
              <a:rPr lang="en-US" sz="850" dirty="0">
                <a:solidFill>
                  <a:srgbClr val="6B7280"/>
                </a:solidFill>
                <a:latin typeface="Calibri" pitchFamily="34" charset="0"/>
                <a:ea typeface="Calibri" pitchFamily="34" charset="-122"/>
                <a:cs typeface="Calibri" pitchFamily="34" charset="-120"/>
              </a:rPr>
              <a:t>What the user sees and clicks</a:t>
            </a:r>
            <a:endParaRPr lang="en-US" sz="850" dirty="0"/>
          </a:p>
        </p:txBody>
      </p:sp>
      <p:sp>
        <p:nvSpPr>
          <p:cNvPr id="11" name="Text 9"/>
          <p:cNvSpPr/>
          <p:nvPr/>
        </p:nvSpPr>
        <p:spPr>
          <a:xfrm>
            <a:off x="7406640" y="1225296"/>
            <a:ext cx="1188720" cy="237744"/>
          </a:xfrm>
          <a:prstGeom prst="rect">
            <a:avLst/>
          </a:prstGeom>
          <a:noFill/>
          <a:ln/>
        </p:spPr>
        <p:txBody>
          <a:bodyPr wrap="square" lIns="0" tIns="0" rIns="0" bIns="0" rtlCol="0" anchor="ctr"/>
          <a:lstStyle/>
          <a:p>
            <a:pPr marL="0" indent="0" algn="r">
              <a:buNone/>
            </a:pPr>
            <a:r>
              <a:rPr lang="en-US" sz="800" b="1" kern="0" spc="100" dirty="0">
                <a:solidFill>
                  <a:srgbClr val="00B0F0"/>
                </a:solidFill>
                <a:latin typeface="Calibri" pitchFamily="34" charset="0"/>
                <a:ea typeface="Calibri" pitchFamily="34" charset="-122"/>
                <a:cs typeface="Calibri" pitchFamily="34" charset="-120"/>
              </a:rPr>
              <a:t>DAY 1-2</a:t>
            </a:r>
            <a:endParaRPr lang="en-US" sz="800" dirty="0"/>
          </a:p>
        </p:txBody>
      </p:sp>
      <p:sp>
        <p:nvSpPr>
          <p:cNvPr id="12" name="Shape 10"/>
          <p:cNvSpPr/>
          <p:nvPr/>
        </p:nvSpPr>
        <p:spPr>
          <a:xfrm>
            <a:off x="457200" y="1719072"/>
            <a:ext cx="8229600" cy="566928"/>
          </a:xfrm>
          <a:prstGeom prst="rect">
            <a:avLst/>
          </a:prstGeom>
          <a:solidFill>
            <a:srgbClr val="FFFFFF"/>
          </a:solidFill>
          <a:ln w="9525">
            <a:solidFill>
              <a:srgbClr val="DCEEF8"/>
            </a:solidFill>
            <a:prstDash val="solid"/>
          </a:ln>
        </p:spPr>
        <p:txBody>
          <a:bodyPr/>
          <a:lstStyle/>
          <a:p>
            <a:endParaRPr lang="en-US"/>
          </a:p>
        </p:txBody>
      </p:sp>
      <p:sp>
        <p:nvSpPr>
          <p:cNvPr id="13" name="Shape 11"/>
          <p:cNvSpPr/>
          <p:nvPr/>
        </p:nvSpPr>
        <p:spPr>
          <a:xfrm>
            <a:off x="457200" y="1719072"/>
            <a:ext cx="1298448" cy="566928"/>
          </a:xfrm>
          <a:prstGeom prst="rect">
            <a:avLst/>
          </a:prstGeom>
          <a:solidFill>
            <a:srgbClr val="0079AB"/>
          </a:solidFill>
          <a:ln w="12700">
            <a:solidFill>
              <a:srgbClr val="0079AB"/>
            </a:solidFill>
            <a:prstDash val="solid"/>
          </a:ln>
        </p:spPr>
        <p:txBody>
          <a:bodyPr/>
          <a:lstStyle/>
          <a:p>
            <a:endParaRPr lang="en-US"/>
          </a:p>
        </p:txBody>
      </p:sp>
      <p:sp>
        <p:nvSpPr>
          <p:cNvPr id="14" name="Text 12"/>
          <p:cNvSpPr/>
          <p:nvPr/>
        </p:nvSpPr>
        <p:spPr>
          <a:xfrm>
            <a:off x="457200" y="1719072"/>
            <a:ext cx="1298448" cy="566928"/>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SERVER</a:t>
            </a:r>
            <a:endParaRPr lang="en-US" sz="900" dirty="0"/>
          </a:p>
        </p:txBody>
      </p:sp>
      <p:sp>
        <p:nvSpPr>
          <p:cNvPr id="15" name="Text 13"/>
          <p:cNvSpPr/>
          <p:nvPr/>
        </p:nvSpPr>
        <p:spPr>
          <a:xfrm>
            <a:off x="1901952" y="1792224"/>
            <a:ext cx="2743200" cy="219456"/>
          </a:xfrm>
          <a:prstGeom prst="rect">
            <a:avLst/>
          </a:prstGeom>
          <a:noFill/>
          <a:ln/>
        </p:spPr>
        <p:txBody>
          <a:bodyPr wrap="square" lIns="0" tIns="0" rIns="0" bIns="0" rtlCol="0" anchor="ctr"/>
          <a:lstStyle/>
          <a:p>
            <a:pPr marL="0" indent="0">
              <a:buNone/>
            </a:pPr>
            <a:r>
              <a:rPr lang="en-US" sz="1000" b="1" dirty="0">
                <a:solidFill>
                  <a:srgbClr val="1E2A38"/>
                </a:solidFill>
                <a:latin typeface="Calibri" pitchFamily="34" charset="0"/>
                <a:ea typeface="Calibri" pitchFamily="34" charset="-122"/>
                <a:cs typeface="Calibri" pitchFamily="34" charset="-120"/>
              </a:rPr>
              <a:t>Node.js  ·  Express</a:t>
            </a:r>
            <a:endParaRPr lang="en-US" sz="1000" dirty="0"/>
          </a:p>
        </p:txBody>
      </p:sp>
      <p:sp>
        <p:nvSpPr>
          <p:cNvPr id="16" name="Text 14"/>
          <p:cNvSpPr/>
          <p:nvPr/>
        </p:nvSpPr>
        <p:spPr>
          <a:xfrm>
            <a:off x="1901952" y="2011680"/>
            <a:ext cx="4206240" cy="219456"/>
          </a:xfrm>
          <a:prstGeom prst="rect">
            <a:avLst/>
          </a:prstGeom>
          <a:noFill/>
          <a:ln/>
        </p:spPr>
        <p:txBody>
          <a:bodyPr wrap="square" lIns="0" tIns="0" rIns="0" bIns="0" rtlCol="0" anchor="ctr"/>
          <a:lstStyle/>
          <a:p>
            <a:pPr marL="0" indent="0">
              <a:buNone/>
            </a:pPr>
            <a:r>
              <a:rPr lang="en-US" sz="850" dirty="0">
                <a:solidFill>
                  <a:srgbClr val="6B7280"/>
                </a:solidFill>
                <a:latin typeface="Calibri" pitchFamily="34" charset="0"/>
                <a:ea typeface="Calibri" pitchFamily="34" charset="-122"/>
                <a:cs typeface="Calibri" pitchFamily="34" charset="-120"/>
              </a:rPr>
              <a:t>Your rules, your secrets, your logic</a:t>
            </a:r>
            <a:endParaRPr lang="en-US" sz="850" dirty="0"/>
          </a:p>
        </p:txBody>
      </p:sp>
      <p:sp>
        <p:nvSpPr>
          <p:cNvPr id="17" name="Text 15"/>
          <p:cNvSpPr/>
          <p:nvPr/>
        </p:nvSpPr>
        <p:spPr>
          <a:xfrm>
            <a:off x="7406640" y="1883664"/>
            <a:ext cx="1188720" cy="237744"/>
          </a:xfrm>
          <a:prstGeom prst="rect">
            <a:avLst/>
          </a:prstGeom>
          <a:noFill/>
          <a:ln/>
        </p:spPr>
        <p:txBody>
          <a:bodyPr wrap="square" lIns="0" tIns="0" rIns="0" bIns="0" rtlCol="0" anchor="ctr"/>
          <a:lstStyle/>
          <a:p>
            <a:pPr marL="0" indent="0" algn="r">
              <a:buNone/>
            </a:pPr>
            <a:r>
              <a:rPr lang="en-US" sz="800" b="1" kern="0" spc="100" dirty="0">
                <a:solidFill>
                  <a:srgbClr val="0079AB"/>
                </a:solidFill>
                <a:latin typeface="Calibri" pitchFamily="34" charset="0"/>
                <a:ea typeface="Calibri" pitchFamily="34" charset="-122"/>
                <a:cs typeface="Calibri" pitchFamily="34" charset="-120"/>
              </a:rPr>
              <a:t>DAY 3</a:t>
            </a:r>
            <a:endParaRPr lang="en-US" sz="800" dirty="0"/>
          </a:p>
        </p:txBody>
      </p:sp>
      <p:sp>
        <p:nvSpPr>
          <p:cNvPr id="18" name="Shape 16"/>
          <p:cNvSpPr/>
          <p:nvPr/>
        </p:nvSpPr>
        <p:spPr>
          <a:xfrm>
            <a:off x="457200" y="2377440"/>
            <a:ext cx="8229600" cy="566928"/>
          </a:xfrm>
          <a:prstGeom prst="rect">
            <a:avLst/>
          </a:prstGeom>
          <a:solidFill>
            <a:srgbClr val="FFFFFF"/>
          </a:solidFill>
          <a:ln w="9525">
            <a:solidFill>
              <a:srgbClr val="DCEEF8"/>
            </a:solidFill>
            <a:prstDash val="solid"/>
          </a:ln>
        </p:spPr>
        <p:txBody>
          <a:bodyPr/>
          <a:lstStyle/>
          <a:p>
            <a:endParaRPr lang="en-US"/>
          </a:p>
        </p:txBody>
      </p:sp>
      <p:sp>
        <p:nvSpPr>
          <p:cNvPr id="19" name="Shape 17"/>
          <p:cNvSpPr/>
          <p:nvPr/>
        </p:nvSpPr>
        <p:spPr>
          <a:xfrm>
            <a:off x="457200" y="2377440"/>
            <a:ext cx="1298448" cy="566928"/>
          </a:xfrm>
          <a:prstGeom prst="rect">
            <a:avLst/>
          </a:prstGeom>
          <a:solidFill>
            <a:srgbClr val="005E86"/>
          </a:solidFill>
          <a:ln w="12700">
            <a:solidFill>
              <a:srgbClr val="005E86"/>
            </a:solidFill>
            <a:prstDash val="solid"/>
          </a:ln>
        </p:spPr>
        <p:txBody>
          <a:bodyPr/>
          <a:lstStyle/>
          <a:p>
            <a:endParaRPr lang="en-US"/>
          </a:p>
        </p:txBody>
      </p:sp>
      <p:sp>
        <p:nvSpPr>
          <p:cNvPr id="20" name="Text 18"/>
          <p:cNvSpPr/>
          <p:nvPr/>
        </p:nvSpPr>
        <p:spPr>
          <a:xfrm>
            <a:off x="457200" y="2377440"/>
            <a:ext cx="1298448" cy="566928"/>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DATABASE</a:t>
            </a:r>
            <a:endParaRPr lang="en-US" sz="900" dirty="0"/>
          </a:p>
        </p:txBody>
      </p:sp>
      <p:sp>
        <p:nvSpPr>
          <p:cNvPr id="21" name="Text 19"/>
          <p:cNvSpPr/>
          <p:nvPr/>
        </p:nvSpPr>
        <p:spPr>
          <a:xfrm>
            <a:off x="1901952" y="2450592"/>
            <a:ext cx="2743200" cy="219456"/>
          </a:xfrm>
          <a:prstGeom prst="rect">
            <a:avLst/>
          </a:prstGeom>
          <a:noFill/>
          <a:ln/>
        </p:spPr>
        <p:txBody>
          <a:bodyPr wrap="square" lIns="0" tIns="0" rIns="0" bIns="0" rtlCol="0" anchor="ctr"/>
          <a:lstStyle/>
          <a:p>
            <a:pPr marL="0" indent="0">
              <a:buNone/>
            </a:pPr>
            <a:r>
              <a:rPr lang="en-US" sz="1000" b="1" dirty="0">
                <a:solidFill>
                  <a:srgbClr val="1E2A38"/>
                </a:solidFill>
                <a:latin typeface="Calibri" pitchFamily="34" charset="0"/>
                <a:ea typeface="Calibri" pitchFamily="34" charset="-122"/>
                <a:cs typeface="Calibri" pitchFamily="34" charset="-120"/>
              </a:rPr>
              <a:t>SQLite</a:t>
            </a:r>
            <a:endParaRPr lang="en-US" sz="1000" dirty="0"/>
          </a:p>
        </p:txBody>
      </p:sp>
      <p:sp>
        <p:nvSpPr>
          <p:cNvPr id="22" name="Text 20"/>
          <p:cNvSpPr/>
          <p:nvPr/>
        </p:nvSpPr>
        <p:spPr>
          <a:xfrm>
            <a:off x="1901952" y="2670048"/>
            <a:ext cx="4206240" cy="219456"/>
          </a:xfrm>
          <a:prstGeom prst="rect">
            <a:avLst/>
          </a:prstGeom>
          <a:noFill/>
          <a:ln/>
        </p:spPr>
        <p:txBody>
          <a:bodyPr wrap="square" lIns="0" tIns="0" rIns="0" bIns="0" rtlCol="0" anchor="ctr"/>
          <a:lstStyle/>
          <a:p>
            <a:pPr marL="0" indent="0">
              <a:buNone/>
            </a:pPr>
            <a:r>
              <a:rPr lang="en-US" sz="850" dirty="0">
                <a:solidFill>
                  <a:srgbClr val="6B7280"/>
                </a:solidFill>
                <a:latin typeface="Calibri" pitchFamily="34" charset="0"/>
                <a:ea typeface="Calibri" pitchFamily="34" charset="-122"/>
                <a:cs typeface="Calibri" pitchFamily="34" charset="-120"/>
              </a:rPr>
              <a:t>Where the records actually live</a:t>
            </a:r>
            <a:endParaRPr lang="en-US" sz="850" dirty="0"/>
          </a:p>
        </p:txBody>
      </p:sp>
      <p:sp>
        <p:nvSpPr>
          <p:cNvPr id="23" name="Text 21"/>
          <p:cNvSpPr/>
          <p:nvPr/>
        </p:nvSpPr>
        <p:spPr>
          <a:xfrm>
            <a:off x="7406640" y="2542032"/>
            <a:ext cx="1188720" cy="237744"/>
          </a:xfrm>
          <a:prstGeom prst="rect">
            <a:avLst/>
          </a:prstGeom>
          <a:noFill/>
          <a:ln/>
        </p:spPr>
        <p:txBody>
          <a:bodyPr wrap="square" lIns="0" tIns="0" rIns="0" bIns="0" rtlCol="0" anchor="ctr"/>
          <a:lstStyle/>
          <a:p>
            <a:pPr marL="0" indent="0" algn="r">
              <a:buNone/>
            </a:pPr>
            <a:r>
              <a:rPr lang="en-US" sz="800" b="1" kern="0" spc="100" dirty="0">
                <a:solidFill>
                  <a:srgbClr val="005E86"/>
                </a:solidFill>
                <a:latin typeface="Calibri" pitchFamily="34" charset="0"/>
                <a:ea typeface="Calibri" pitchFamily="34" charset="-122"/>
                <a:cs typeface="Calibri" pitchFamily="34" charset="-120"/>
              </a:rPr>
              <a:t>DAY 3-4</a:t>
            </a:r>
            <a:endParaRPr lang="en-US" sz="800" dirty="0"/>
          </a:p>
        </p:txBody>
      </p:sp>
      <p:sp>
        <p:nvSpPr>
          <p:cNvPr id="24" name="Shape 22"/>
          <p:cNvSpPr/>
          <p:nvPr/>
        </p:nvSpPr>
        <p:spPr>
          <a:xfrm>
            <a:off x="457200" y="3035808"/>
            <a:ext cx="8229600" cy="566928"/>
          </a:xfrm>
          <a:prstGeom prst="rect">
            <a:avLst/>
          </a:prstGeom>
          <a:solidFill>
            <a:srgbClr val="FFFFFF"/>
          </a:solidFill>
          <a:ln w="9525">
            <a:solidFill>
              <a:srgbClr val="DCEEF8"/>
            </a:solidFill>
            <a:prstDash val="solid"/>
          </a:ln>
        </p:spPr>
        <p:txBody>
          <a:bodyPr/>
          <a:lstStyle/>
          <a:p>
            <a:endParaRPr lang="en-US"/>
          </a:p>
        </p:txBody>
      </p:sp>
      <p:sp>
        <p:nvSpPr>
          <p:cNvPr id="25" name="Shape 23"/>
          <p:cNvSpPr/>
          <p:nvPr/>
        </p:nvSpPr>
        <p:spPr>
          <a:xfrm>
            <a:off x="457200" y="3035808"/>
            <a:ext cx="1298448" cy="566928"/>
          </a:xfrm>
          <a:prstGeom prst="rect">
            <a:avLst/>
          </a:prstGeom>
          <a:solidFill>
            <a:srgbClr val="0079AB"/>
          </a:solidFill>
          <a:ln w="12700">
            <a:solidFill>
              <a:srgbClr val="0079AB"/>
            </a:solidFill>
            <a:prstDash val="solid"/>
          </a:ln>
        </p:spPr>
        <p:txBody>
          <a:bodyPr/>
          <a:lstStyle/>
          <a:p>
            <a:endParaRPr lang="en-US"/>
          </a:p>
        </p:txBody>
      </p:sp>
      <p:sp>
        <p:nvSpPr>
          <p:cNvPr id="26" name="Text 24"/>
          <p:cNvSpPr/>
          <p:nvPr/>
        </p:nvSpPr>
        <p:spPr>
          <a:xfrm>
            <a:off x="457200" y="3035808"/>
            <a:ext cx="1298448" cy="566928"/>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LLM API</a:t>
            </a:r>
            <a:endParaRPr lang="en-US" sz="900" dirty="0"/>
          </a:p>
        </p:txBody>
      </p:sp>
      <p:sp>
        <p:nvSpPr>
          <p:cNvPr id="27" name="Text 25"/>
          <p:cNvSpPr/>
          <p:nvPr/>
        </p:nvSpPr>
        <p:spPr>
          <a:xfrm>
            <a:off x="1901952" y="3108960"/>
            <a:ext cx="2743200" cy="219456"/>
          </a:xfrm>
          <a:prstGeom prst="rect">
            <a:avLst/>
          </a:prstGeom>
          <a:noFill/>
          <a:ln/>
        </p:spPr>
        <p:txBody>
          <a:bodyPr wrap="square" lIns="0" tIns="0" rIns="0" bIns="0" rtlCol="0" anchor="ctr"/>
          <a:lstStyle/>
          <a:p>
            <a:pPr marL="0" indent="0">
              <a:buNone/>
            </a:pPr>
            <a:r>
              <a:rPr lang="en-US" sz="1000" b="1" dirty="0">
                <a:solidFill>
                  <a:srgbClr val="1E2A38"/>
                </a:solidFill>
                <a:latin typeface="Calibri" pitchFamily="34" charset="0"/>
                <a:ea typeface="Calibri" pitchFamily="34" charset="-122"/>
                <a:cs typeface="Calibri" pitchFamily="34" charset="-120"/>
              </a:rPr>
              <a:t>Chat  ·  Embeddings  ·  Tools</a:t>
            </a:r>
            <a:endParaRPr lang="en-US" sz="1000" dirty="0"/>
          </a:p>
        </p:txBody>
      </p:sp>
      <p:sp>
        <p:nvSpPr>
          <p:cNvPr id="28" name="Text 26"/>
          <p:cNvSpPr/>
          <p:nvPr/>
        </p:nvSpPr>
        <p:spPr>
          <a:xfrm>
            <a:off x="1901952" y="3328416"/>
            <a:ext cx="4206240" cy="219456"/>
          </a:xfrm>
          <a:prstGeom prst="rect">
            <a:avLst/>
          </a:prstGeom>
          <a:noFill/>
          <a:ln/>
        </p:spPr>
        <p:txBody>
          <a:bodyPr wrap="square" lIns="0" tIns="0" rIns="0" bIns="0" rtlCol="0" anchor="ctr"/>
          <a:lstStyle/>
          <a:p>
            <a:pPr marL="0" indent="0">
              <a:buNone/>
            </a:pPr>
            <a:r>
              <a:rPr lang="en-US" sz="850" dirty="0">
                <a:solidFill>
                  <a:srgbClr val="6B7280"/>
                </a:solidFill>
                <a:latin typeface="Calibri" pitchFamily="34" charset="0"/>
                <a:ea typeface="Calibri" pitchFamily="34" charset="-122"/>
                <a:cs typeface="Calibri" pitchFamily="34" charset="-120"/>
              </a:rPr>
              <a:t>The intelligence you rent by the token</a:t>
            </a:r>
            <a:endParaRPr lang="en-US" sz="850" dirty="0"/>
          </a:p>
        </p:txBody>
      </p:sp>
      <p:sp>
        <p:nvSpPr>
          <p:cNvPr id="29" name="Text 27"/>
          <p:cNvSpPr/>
          <p:nvPr/>
        </p:nvSpPr>
        <p:spPr>
          <a:xfrm>
            <a:off x="7406640" y="3200400"/>
            <a:ext cx="1188720" cy="237744"/>
          </a:xfrm>
          <a:prstGeom prst="rect">
            <a:avLst/>
          </a:prstGeom>
          <a:noFill/>
          <a:ln/>
        </p:spPr>
        <p:txBody>
          <a:bodyPr wrap="square" lIns="0" tIns="0" rIns="0" bIns="0" rtlCol="0" anchor="ctr"/>
          <a:lstStyle/>
          <a:p>
            <a:pPr marL="0" indent="0" algn="r">
              <a:buNone/>
            </a:pPr>
            <a:r>
              <a:rPr lang="en-US" sz="800" b="1" kern="0" spc="100" dirty="0">
                <a:solidFill>
                  <a:srgbClr val="0079AB"/>
                </a:solidFill>
                <a:latin typeface="Calibri" pitchFamily="34" charset="0"/>
                <a:ea typeface="Calibri" pitchFamily="34" charset="-122"/>
                <a:cs typeface="Calibri" pitchFamily="34" charset="-120"/>
              </a:rPr>
              <a:t>DAY 2-5</a:t>
            </a:r>
            <a:endParaRPr lang="en-US" sz="800" dirty="0"/>
          </a:p>
        </p:txBody>
      </p:sp>
      <p:sp>
        <p:nvSpPr>
          <p:cNvPr id="30" name="Shape 28"/>
          <p:cNvSpPr/>
          <p:nvPr/>
        </p:nvSpPr>
        <p:spPr>
          <a:xfrm>
            <a:off x="457200" y="3749040"/>
            <a:ext cx="8229600" cy="274320"/>
          </a:xfrm>
          <a:prstGeom prst="rect">
            <a:avLst/>
          </a:prstGeom>
          <a:solidFill>
            <a:srgbClr val="FDEAEA"/>
          </a:solidFill>
          <a:ln w="12700">
            <a:solidFill>
              <a:srgbClr val="FDEAEA"/>
            </a:solidFill>
            <a:prstDash val="solid"/>
          </a:ln>
        </p:spPr>
        <p:txBody>
          <a:bodyPr/>
          <a:lstStyle/>
          <a:p>
            <a:endParaRPr lang="en-US"/>
          </a:p>
        </p:txBody>
      </p:sp>
      <p:sp>
        <p:nvSpPr>
          <p:cNvPr id="31" name="Text 29"/>
          <p:cNvSpPr/>
          <p:nvPr/>
        </p:nvSpPr>
        <p:spPr>
          <a:xfrm>
            <a:off x="566928" y="3749040"/>
            <a:ext cx="8010144" cy="274320"/>
          </a:xfrm>
          <a:prstGeom prst="rect">
            <a:avLst/>
          </a:prstGeom>
          <a:noFill/>
          <a:ln/>
        </p:spPr>
        <p:txBody>
          <a:bodyPr wrap="square" lIns="0" tIns="0" rIns="0" bIns="0" rtlCol="0" anchor="ctr"/>
          <a:lstStyle/>
          <a:p>
            <a:pPr marL="0" indent="0">
              <a:buNone/>
            </a:pPr>
            <a:r>
              <a:rPr lang="en-US" sz="800" b="1" dirty="0">
                <a:solidFill>
                  <a:srgbClr val="B83232"/>
                </a:solidFill>
                <a:latin typeface="Calibri" pitchFamily="34" charset="0"/>
                <a:ea typeface="Calibri" pitchFamily="34" charset="-122"/>
                <a:cs typeface="Calibri" pitchFamily="34" charset="-120"/>
              </a:rPr>
              <a:t>⚠  The LLM sits BEHIND your server, never in front of it. You will find out why tomorrow afternoon, the hard way.</a:t>
            </a:r>
            <a:endParaRPr lang="en-US" sz="800" dirty="0"/>
          </a:p>
        </p:txBody>
      </p:sp>
      <p:sp>
        <p:nvSpPr>
          <p:cNvPr id="32" name="Shape 30"/>
          <p:cNvSpPr/>
          <p:nvPr/>
        </p:nvSpPr>
        <p:spPr>
          <a:xfrm>
            <a:off x="457200" y="4334256"/>
            <a:ext cx="8229600" cy="512064"/>
          </a:xfrm>
          <a:prstGeom prst="rect">
            <a:avLst/>
          </a:prstGeom>
          <a:solidFill>
            <a:srgbClr val="F0F8FD"/>
          </a:solidFill>
          <a:ln w="12700">
            <a:solidFill>
              <a:srgbClr val="F0F8FD"/>
            </a:solidFill>
            <a:prstDash val="solid"/>
          </a:ln>
        </p:spPr>
        <p:txBody>
          <a:bodyPr/>
          <a:lstStyle/>
          <a:p>
            <a:endParaRPr lang="en-US"/>
          </a:p>
        </p:txBody>
      </p:sp>
      <p:sp>
        <p:nvSpPr>
          <p:cNvPr id="33" name="Shape 31"/>
          <p:cNvSpPr/>
          <p:nvPr/>
        </p:nvSpPr>
        <p:spPr>
          <a:xfrm>
            <a:off x="457200" y="4334256"/>
            <a:ext cx="54864" cy="512064"/>
          </a:xfrm>
          <a:prstGeom prst="rect">
            <a:avLst/>
          </a:prstGeom>
          <a:solidFill>
            <a:srgbClr val="00B0F0"/>
          </a:solidFill>
          <a:ln w="12700">
            <a:solidFill>
              <a:srgbClr val="00B0F0"/>
            </a:solidFill>
            <a:prstDash val="solid"/>
          </a:ln>
        </p:spPr>
        <p:txBody>
          <a:bodyPr/>
          <a:lstStyle/>
          <a:p>
            <a:endParaRPr lang="en-US"/>
          </a:p>
        </p:txBody>
      </p:sp>
      <p:sp>
        <p:nvSpPr>
          <p:cNvPr id="34" name="Text 32"/>
          <p:cNvSpPr/>
          <p:nvPr/>
        </p:nvSpPr>
        <p:spPr>
          <a:xfrm>
            <a:off x="658368" y="4334256"/>
            <a:ext cx="7863840" cy="512064"/>
          </a:xfrm>
          <a:prstGeom prst="rect">
            <a:avLst/>
          </a:prstGeom>
          <a:noFill/>
          <a:ln/>
        </p:spPr>
        <p:txBody>
          <a:bodyPr wrap="square" lIns="0" tIns="0" rIns="0" bIns="0" rtlCol="0" anchor="ctr"/>
          <a:lstStyle/>
          <a:p>
            <a:pPr marL="0" indent="0">
              <a:buNone/>
            </a:pPr>
            <a:r>
              <a:rPr lang="en-US" sz="1000" b="1" dirty="0">
                <a:solidFill>
                  <a:srgbClr val="1E2A38"/>
                </a:solidFill>
                <a:latin typeface="Calibri" pitchFamily="34" charset="0"/>
                <a:ea typeface="Calibri" pitchFamily="34" charset="-122"/>
                <a:cs typeface="Calibri" pitchFamily="34" charset="-120"/>
              </a:rPr>
              <a:t>Everything above is one project folder on your laptop by Wednesday. There is no magic layer you haven't been shown.</a:t>
            </a:r>
            <a:endParaRPr lang="en-US" sz="1000" dirty="0"/>
          </a:p>
        </p:txBody>
      </p:sp>
    </p:spTree>
    <p:extLst>
      <p:ext uri="{BB962C8B-B14F-4D97-AF65-F5344CB8AC3E}">
        <p14:creationId xmlns:p14="http://schemas.microsoft.com/office/powerpoint/2010/main" val="348793108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B0F0"/>
          </a:solidFill>
          <a:ln w="12700">
            <a:solidFill>
              <a:srgbClr val="00B0F0"/>
            </a:solidFill>
            <a:prstDash val="solid"/>
          </a:ln>
        </p:spPr>
        <p:txBody>
          <a:bodyPr/>
          <a:lstStyle/>
          <a:p>
            <a:endParaRPr lang="en-US"/>
          </a:p>
        </p:txBody>
      </p:sp>
      <p:sp>
        <p:nvSpPr>
          <p:cNvPr id="3" name="Text 1"/>
          <p:cNvSpPr/>
          <p:nvPr/>
        </p:nvSpPr>
        <p:spPr>
          <a:xfrm>
            <a:off x="457200" y="128016"/>
            <a:ext cx="6400800" cy="182880"/>
          </a:xfrm>
          <a:prstGeom prst="rect">
            <a:avLst/>
          </a:prstGeom>
          <a:noFill/>
          <a:ln/>
        </p:spPr>
        <p:txBody>
          <a:bodyPr wrap="square" lIns="0" tIns="0" rIns="0" bIns="0" rtlCol="0" anchor="ctr"/>
          <a:lstStyle/>
          <a:p>
            <a:pPr marL="0" indent="0">
              <a:buNone/>
            </a:pPr>
            <a:r>
              <a:rPr lang="en-US" sz="800" b="1" kern="0" spc="160" dirty="0">
                <a:solidFill>
                  <a:srgbClr val="6B7280"/>
                </a:solidFill>
                <a:latin typeface="Calibri" pitchFamily="34" charset="0"/>
                <a:ea typeface="Calibri" pitchFamily="34" charset="-122"/>
                <a:cs typeface="Calibri" pitchFamily="34" charset="-120"/>
              </a:rPr>
              <a:t>BLOCK 1</a:t>
            </a:r>
            <a:endParaRPr lang="en-US" sz="800" dirty="0"/>
          </a:p>
        </p:txBody>
      </p:sp>
      <p:sp>
        <p:nvSpPr>
          <p:cNvPr id="4" name="Text 2"/>
          <p:cNvSpPr/>
          <p:nvPr/>
        </p:nvSpPr>
        <p:spPr>
          <a:xfrm>
            <a:off x="457200" y="347472"/>
            <a:ext cx="8229600" cy="420624"/>
          </a:xfrm>
          <a:prstGeom prst="rect">
            <a:avLst/>
          </a:prstGeom>
          <a:noFill/>
          <a:ln/>
        </p:spPr>
        <p:txBody>
          <a:bodyPr wrap="square" lIns="0" tIns="0" rIns="0" bIns="0" rtlCol="0" anchor="ctr"/>
          <a:lstStyle/>
          <a:p>
            <a:pPr marL="0" indent="0">
              <a:buNone/>
            </a:pPr>
            <a:r>
              <a:rPr lang="en-US" sz="2200" b="1" dirty="0">
                <a:solidFill>
                  <a:srgbClr val="1E2A38"/>
                </a:solidFill>
                <a:latin typeface="Calibri" pitchFamily="34" charset="0"/>
                <a:ea typeface="Calibri" pitchFamily="34" charset="-122"/>
                <a:cs typeface="Calibri" pitchFamily="34" charset="-120"/>
              </a:rPr>
              <a:t>Environment Setup — Nobody Moves On Alone</a:t>
            </a:r>
            <a:endParaRPr lang="en-US" sz="2200" dirty="0"/>
          </a:p>
        </p:txBody>
      </p:sp>
      <p:sp>
        <p:nvSpPr>
          <p:cNvPr id="5" name="Shape 3"/>
          <p:cNvSpPr/>
          <p:nvPr/>
        </p:nvSpPr>
        <p:spPr>
          <a:xfrm>
            <a:off x="457200" y="859536"/>
            <a:ext cx="8229600" cy="10973"/>
          </a:xfrm>
          <a:prstGeom prst="rect">
            <a:avLst/>
          </a:prstGeom>
          <a:solidFill>
            <a:srgbClr val="CDE7F5"/>
          </a:solidFill>
          <a:ln w="12700">
            <a:solidFill>
              <a:srgbClr val="CDE7F5"/>
            </a:solidFill>
            <a:prstDash val="solid"/>
          </a:ln>
        </p:spPr>
        <p:txBody>
          <a:bodyPr/>
          <a:lstStyle/>
          <a:p>
            <a:endParaRPr lang="en-US"/>
          </a:p>
        </p:txBody>
      </p:sp>
      <p:sp>
        <p:nvSpPr>
          <p:cNvPr id="6" name="Text 4"/>
          <p:cNvSpPr/>
          <p:nvPr/>
        </p:nvSpPr>
        <p:spPr>
          <a:xfrm>
            <a:off x="457200" y="969264"/>
            <a:ext cx="3657600" cy="182880"/>
          </a:xfrm>
          <a:prstGeom prst="rect">
            <a:avLst/>
          </a:prstGeom>
          <a:noFill/>
          <a:ln/>
        </p:spPr>
        <p:txBody>
          <a:bodyPr wrap="square" lIns="0" tIns="0" rIns="0" bIns="0" rtlCol="0" anchor="ctr"/>
          <a:lstStyle/>
          <a:p>
            <a:pPr marL="0" indent="0">
              <a:buNone/>
            </a:pPr>
            <a:r>
              <a:rPr lang="en-US" sz="800" b="1" kern="0" spc="120" dirty="0">
                <a:solidFill>
                  <a:srgbClr val="6B7280"/>
                </a:solidFill>
                <a:latin typeface="Calibri" pitchFamily="34" charset="0"/>
                <a:ea typeface="Calibri" pitchFamily="34" charset="-122"/>
                <a:cs typeface="Calibri" pitchFamily="34" charset="-120"/>
              </a:rPr>
              <a:t>INSTALL AND VERIFY</a:t>
            </a:r>
            <a:endParaRPr lang="en-US" sz="800" dirty="0"/>
          </a:p>
        </p:txBody>
      </p:sp>
      <p:sp>
        <p:nvSpPr>
          <p:cNvPr id="7" name="Shape 5"/>
          <p:cNvSpPr/>
          <p:nvPr/>
        </p:nvSpPr>
        <p:spPr>
          <a:xfrm>
            <a:off x="457200" y="1207008"/>
            <a:ext cx="4023360" cy="402336"/>
          </a:xfrm>
          <a:prstGeom prst="rect">
            <a:avLst/>
          </a:prstGeom>
          <a:solidFill>
            <a:srgbClr val="FFFFFF"/>
          </a:solidFill>
          <a:ln w="9525">
            <a:solidFill>
              <a:srgbClr val="DCEEF8"/>
            </a:solidFill>
            <a:prstDash val="solid"/>
          </a:ln>
        </p:spPr>
        <p:txBody>
          <a:bodyPr/>
          <a:lstStyle/>
          <a:p>
            <a:endParaRPr lang="en-US"/>
          </a:p>
        </p:txBody>
      </p:sp>
      <p:sp>
        <p:nvSpPr>
          <p:cNvPr id="8" name="Shape 6"/>
          <p:cNvSpPr/>
          <p:nvPr/>
        </p:nvSpPr>
        <p:spPr>
          <a:xfrm>
            <a:off x="457200" y="1207008"/>
            <a:ext cx="54864" cy="402336"/>
          </a:xfrm>
          <a:prstGeom prst="rect">
            <a:avLst/>
          </a:prstGeom>
          <a:solidFill>
            <a:srgbClr val="00B0F0"/>
          </a:solidFill>
          <a:ln w="12700">
            <a:solidFill>
              <a:srgbClr val="00B0F0"/>
            </a:solidFill>
            <a:prstDash val="solid"/>
          </a:ln>
        </p:spPr>
        <p:txBody>
          <a:bodyPr/>
          <a:lstStyle/>
          <a:p>
            <a:endParaRPr lang="en-US"/>
          </a:p>
        </p:txBody>
      </p:sp>
      <p:sp>
        <p:nvSpPr>
          <p:cNvPr id="9" name="Text 7"/>
          <p:cNvSpPr/>
          <p:nvPr/>
        </p:nvSpPr>
        <p:spPr>
          <a:xfrm>
            <a:off x="658368" y="1207008"/>
            <a:ext cx="1234440" cy="402336"/>
          </a:xfrm>
          <a:prstGeom prst="rect">
            <a:avLst/>
          </a:prstGeom>
          <a:noFill/>
          <a:ln/>
        </p:spPr>
        <p:txBody>
          <a:bodyPr wrap="square" lIns="0" tIns="0" rIns="0" bIns="0" rtlCol="0" anchor="ctr"/>
          <a:lstStyle/>
          <a:p>
            <a:pPr marL="0" indent="0">
              <a:buNone/>
            </a:pPr>
            <a:r>
              <a:rPr lang="en-US" sz="1000" b="1" dirty="0">
                <a:solidFill>
                  <a:srgbClr val="1E2A38"/>
                </a:solidFill>
                <a:latin typeface="Calibri" pitchFamily="34" charset="0"/>
                <a:ea typeface="Calibri" pitchFamily="34" charset="-122"/>
                <a:cs typeface="Calibri" pitchFamily="34" charset="-120"/>
              </a:rPr>
              <a:t>Node.js</a:t>
            </a:r>
            <a:endParaRPr lang="en-US" sz="1000" dirty="0"/>
          </a:p>
        </p:txBody>
      </p:sp>
      <p:sp>
        <p:nvSpPr>
          <p:cNvPr id="10" name="Text 8"/>
          <p:cNvSpPr/>
          <p:nvPr/>
        </p:nvSpPr>
        <p:spPr>
          <a:xfrm>
            <a:off x="1901952" y="1207008"/>
            <a:ext cx="2505456" cy="402336"/>
          </a:xfrm>
          <a:prstGeom prst="rect">
            <a:avLst/>
          </a:prstGeom>
          <a:noFill/>
          <a:ln/>
        </p:spPr>
        <p:txBody>
          <a:bodyPr wrap="square" lIns="0" tIns="0" rIns="0" bIns="0" rtlCol="0" anchor="ctr"/>
          <a:lstStyle/>
          <a:p>
            <a:pPr marL="0" indent="0">
              <a:buNone/>
            </a:pPr>
            <a:r>
              <a:rPr lang="en-US" sz="800" dirty="0">
                <a:solidFill>
                  <a:srgbClr val="6B7280"/>
                </a:solidFill>
                <a:latin typeface="Calibri" pitchFamily="34" charset="0"/>
                <a:ea typeface="Calibri" pitchFamily="34" charset="-122"/>
                <a:cs typeface="Calibri" pitchFamily="34" charset="-120"/>
              </a:rPr>
              <a:t>the exact pinned version — not 'latest'</a:t>
            </a:r>
            <a:endParaRPr lang="en-US" sz="800" dirty="0"/>
          </a:p>
        </p:txBody>
      </p:sp>
      <p:sp>
        <p:nvSpPr>
          <p:cNvPr id="11" name="Shape 9"/>
          <p:cNvSpPr/>
          <p:nvPr/>
        </p:nvSpPr>
        <p:spPr>
          <a:xfrm>
            <a:off x="457200" y="1682496"/>
            <a:ext cx="4023360" cy="402336"/>
          </a:xfrm>
          <a:prstGeom prst="rect">
            <a:avLst/>
          </a:prstGeom>
          <a:solidFill>
            <a:srgbClr val="FFFFFF"/>
          </a:solidFill>
          <a:ln w="9525">
            <a:solidFill>
              <a:srgbClr val="DCEEF8"/>
            </a:solidFill>
            <a:prstDash val="solid"/>
          </a:ln>
        </p:spPr>
        <p:txBody>
          <a:bodyPr/>
          <a:lstStyle/>
          <a:p>
            <a:endParaRPr lang="en-US"/>
          </a:p>
        </p:txBody>
      </p:sp>
      <p:sp>
        <p:nvSpPr>
          <p:cNvPr id="12" name="Shape 10"/>
          <p:cNvSpPr/>
          <p:nvPr/>
        </p:nvSpPr>
        <p:spPr>
          <a:xfrm>
            <a:off x="457200" y="1682496"/>
            <a:ext cx="54864" cy="402336"/>
          </a:xfrm>
          <a:prstGeom prst="rect">
            <a:avLst/>
          </a:prstGeom>
          <a:solidFill>
            <a:srgbClr val="00B0F0"/>
          </a:solidFill>
          <a:ln w="12700">
            <a:solidFill>
              <a:srgbClr val="00B0F0"/>
            </a:solidFill>
            <a:prstDash val="solid"/>
          </a:ln>
        </p:spPr>
        <p:txBody>
          <a:bodyPr/>
          <a:lstStyle/>
          <a:p>
            <a:endParaRPr lang="en-US"/>
          </a:p>
        </p:txBody>
      </p:sp>
      <p:sp>
        <p:nvSpPr>
          <p:cNvPr id="13" name="Text 11"/>
          <p:cNvSpPr/>
          <p:nvPr/>
        </p:nvSpPr>
        <p:spPr>
          <a:xfrm>
            <a:off x="658368" y="1682496"/>
            <a:ext cx="1234440" cy="402336"/>
          </a:xfrm>
          <a:prstGeom prst="rect">
            <a:avLst/>
          </a:prstGeom>
          <a:noFill/>
          <a:ln/>
        </p:spPr>
        <p:txBody>
          <a:bodyPr wrap="square" lIns="0" tIns="0" rIns="0" bIns="0" rtlCol="0" anchor="ctr"/>
          <a:lstStyle/>
          <a:p>
            <a:pPr marL="0" indent="0">
              <a:buNone/>
            </a:pPr>
            <a:r>
              <a:rPr lang="en-US" sz="1000" b="1" dirty="0">
                <a:solidFill>
                  <a:srgbClr val="1E2A38"/>
                </a:solidFill>
                <a:latin typeface="Calibri" pitchFamily="34" charset="0"/>
                <a:ea typeface="Calibri" pitchFamily="34" charset="-122"/>
                <a:cs typeface="Calibri" pitchFamily="34" charset="-120"/>
              </a:rPr>
              <a:t>VS Code</a:t>
            </a:r>
            <a:endParaRPr lang="en-US" sz="1000" dirty="0"/>
          </a:p>
        </p:txBody>
      </p:sp>
      <p:sp>
        <p:nvSpPr>
          <p:cNvPr id="14" name="Text 12"/>
          <p:cNvSpPr/>
          <p:nvPr/>
        </p:nvSpPr>
        <p:spPr>
          <a:xfrm>
            <a:off x="1901952" y="1682496"/>
            <a:ext cx="2505456" cy="402336"/>
          </a:xfrm>
          <a:prstGeom prst="rect">
            <a:avLst/>
          </a:prstGeom>
          <a:noFill/>
          <a:ln/>
        </p:spPr>
        <p:txBody>
          <a:bodyPr wrap="square" lIns="0" tIns="0" rIns="0" bIns="0" rtlCol="0" anchor="ctr"/>
          <a:lstStyle/>
          <a:p>
            <a:pPr marL="0" indent="0">
              <a:buNone/>
            </a:pPr>
            <a:r>
              <a:rPr lang="en-US" sz="800" dirty="0">
                <a:solidFill>
                  <a:srgbClr val="6B7280"/>
                </a:solidFill>
                <a:latin typeface="Calibri" pitchFamily="34" charset="0"/>
                <a:ea typeface="Calibri" pitchFamily="34" charset="-122"/>
                <a:cs typeface="Calibri" pitchFamily="34" charset="-120"/>
              </a:rPr>
              <a:t>plus the extension pack from the handbook</a:t>
            </a:r>
            <a:endParaRPr lang="en-US" sz="800" dirty="0"/>
          </a:p>
        </p:txBody>
      </p:sp>
      <p:sp>
        <p:nvSpPr>
          <p:cNvPr id="15" name="Shape 13"/>
          <p:cNvSpPr/>
          <p:nvPr/>
        </p:nvSpPr>
        <p:spPr>
          <a:xfrm>
            <a:off x="457200" y="2157984"/>
            <a:ext cx="4023360" cy="402336"/>
          </a:xfrm>
          <a:prstGeom prst="rect">
            <a:avLst/>
          </a:prstGeom>
          <a:solidFill>
            <a:srgbClr val="FFFFFF"/>
          </a:solidFill>
          <a:ln w="9525">
            <a:solidFill>
              <a:srgbClr val="DCEEF8"/>
            </a:solidFill>
            <a:prstDash val="solid"/>
          </a:ln>
        </p:spPr>
        <p:txBody>
          <a:bodyPr/>
          <a:lstStyle/>
          <a:p>
            <a:endParaRPr lang="en-US"/>
          </a:p>
        </p:txBody>
      </p:sp>
      <p:sp>
        <p:nvSpPr>
          <p:cNvPr id="16" name="Shape 14"/>
          <p:cNvSpPr/>
          <p:nvPr/>
        </p:nvSpPr>
        <p:spPr>
          <a:xfrm>
            <a:off x="457200" y="2157984"/>
            <a:ext cx="54864" cy="402336"/>
          </a:xfrm>
          <a:prstGeom prst="rect">
            <a:avLst/>
          </a:prstGeom>
          <a:solidFill>
            <a:srgbClr val="00B0F0"/>
          </a:solidFill>
          <a:ln w="12700">
            <a:solidFill>
              <a:srgbClr val="00B0F0"/>
            </a:solidFill>
            <a:prstDash val="solid"/>
          </a:ln>
        </p:spPr>
        <p:txBody>
          <a:bodyPr/>
          <a:lstStyle/>
          <a:p>
            <a:endParaRPr lang="en-US"/>
          </a:p>
        </p:txBody>
      </p:sp>
      <p:sp>
        <p:nvSpPr>
          <p:cNvPr id="17" name="Text 15"/>
          <p:cNvSpPr/>
          <p:nvPr/>
        </p:nvSpPr>
        <p:spPr>
          <a:xfrm>
            <a:off x="658368" y="2157984"/>
            <a:ext cx="1234440" cy="402336"/>
          </a:xfrm>
          <a:prstGeom prst="rect">
            <a:avLst/>
          </a:prstGeom>
          <a:noFill/>
          <a:ln/>
        </p:spPr>
        <p:txBody>
          <a:bodyPr wrap="square" lIns="0" tIns="0" rIns="0" bIns="0" rtlCol="0" anchor="ctr"/>
          <a:lstStyle/>
          <a:p>
            <a:pPr marL="0" indent="0">
              <a:buNone/>
            </a:pPr>
            <a:r>
              <a:rPr lang="en-US" sz="1000" b="1" dirty="0">
                <a:solidFill>
                  <a:srgbClr val="1E2A38"/>
                </a:solidFill>
                <a:latin typeface="Calibri" pitchFamily="34" charset="0"/>
                <a:ea typeface="Calibri" pitchFamily="34" charset="-122"/>
                <a:cs typeface="Calibri" pitchFamily="34" charset="-120"/>
              </a:rPr>
              <a:t>Git</a:t>
            </a:r>
            <a:endParaRPr lang="en-US" sz="1000" dirty="0"/>
          </a:p>
        </p:txBody>
      </p:sp>
      <p:sp>
        <p:nvSpPr>
          <p:cNvPr id="18" name="Text 16"/>
          <p:cNvSpPr/>
          <p:nvPr/>
        </p:nvSpPr>
        <p:spPr>
          <a:xfrm>
            <a:off x="1901952" y="2157984"/>
            <a:ext cx="2505456" cy="402336"/>
          </a:xfrm>
          <a:prstGeom prst="rect">
            <a:avLst/>
          </a:prstGeom>
          <a:noFill/>
          <a:ln/>
        </p:spPr>
        <p:txBody>
          <a:bodyPr wrap="square" lIns="0" tIns="0" rIns="0" bIns="0" rtlCol="0" anchor="ctr"/>
          <a:lstStyle/>
          <a:p>
            <a:pPr marL="0" indent="0">
              <a:buNone/>
            </a:pPr>
            <a:r>
              <a:rPr lang="en-US" sz="800" dirty="0">
                <a:solidFill>
                  <a:srgbClr val="6B7280"/>
                </a:solidFill>
                <a:latin typeface="Calibri" pitchFamily="34" charset="0"/>
                <a:ea typeface="Calibri" pitchFamily="34" charset="-122"/>
                <a:cs typeface="Calibri" pitchFamily="34" charset="-120"/>
              </a:rPr>
              <a:t>and a personal access token, not a password</a:t>
            </a:r>
            <a:endParaRPr lang="en-US" sz="800" dirty="0"/>
          </a:p>
        </p:txBody>
      </p:sp>
      <p:sp>
        <p:nvSpPr>
          <p:cNvPr id="19" name="Shape 17"/>
          <p:cNvSpPr/>
          <p:nvPr/>
        </p:nvSpPr>
        <p:spPr>
          <a:xfrm>
            <a:off x="457200" y="2633472"/>
            <a:ext cx="4023360" cy="402336"/>
          </a:xfrm>
          <a:prstGeom prst="rect">
            <a:avLst/>
          </a:prstGeom>
          <a:solidFill>
            <a:srgbClr val="FFFFFF"/>
          </a:solidFill>
          <a:ln w="9525">
            <a:solidFill>
              <a:srgbClr val="DCEEF8"/>
            </a:solidFill>
            <a:prstDash val="solid"/>
          </a:ln>
        </p:spPr>
        <p:txBody>
          <a:bodyPr/>
          <a:lstStyle/>
          <a:p>
            <a:endParaRPr lang="en-US"/>
          </a:p>
        </p:txBody>
      </p:sp>
      <p:sp>
        <p:nvSpPr>
          <p:cNvPr id="20" name="Shape 18"/>
          <p:cNvSpPr/>
          <p:nvPr/>
        </p:nvSpPr>
        <p:spPr>
          <a:xfrm>
            <a:off x="457200" y="2633472"/>
            <a:ext cx="54864" cy="402336"/>
          </a:xfrm>
          <a:prstGeom prst="rect">
            <a:avLst/>
          </a:prstGeom>
          <a:solidFill>
            <a:srgbClr val="00B0F0"/>
          </a:solidFill>
          <a:ln w="12700">
            <a:solidFill>
              <a:srgbClr val="00B0F0"/>
            </a:solidFill>
            <a:prstDash val="solid"/>
          </a:ln>
        </p:spPr>
        <p:txBody>
          <a:bodyPr/>
          <a:lstStyle/>
          <a:p>
            <a:endParaRPr lang="en-US"/>
          </a:p>
        </p:txBody>
      </p:sp>
      <p:sp>
        <p:nvSpPr>
          <p:cNvPr id="21" name="Text 19"/>
          <p:cNvSpPr/>
          <p:nvPr/>
        </p:nvSpPr>
        <p:spPr>
          <a:xfrm>
            <a:off x="658368" y="2633472"/>
            <a:ext cx="1234440" cy="402336"/>
          </a:xfrm>
          <a:prstGeom prst="rect">
            <a:avLst/>
          </a:prstGeom>
          <a:noFill/>
          <a:ln/>
        </p:spPr>
        <p:txBody>
          <a:bodyPr wrap="square" lIns="0" tIns="0" rIns="0" bIns="0" rtlCol="0" anchor="ctr"/>
          <a:lstStyle/>
          <a:p>
            <a:pPr marL="0" indent="0">
              <a:buNone/>
            </a:pPr>
            <a:r>
              <a:rPr lang="en-US" sz="1000" b="1" dirty="0">
                <a:solidFill>
                  <a:srgbClr val="1E2A38"/>
                </a:solidFill>
                <a:latin typeface="Calibri" pitchFamily="34" charset="0"/>
                <a:ea typeface="Calibri" pitchFamily="34" charset="-122"/>
                <a:cs typeface="Calibri" pitchFamily="34" charset="-120"/>
              </a:rPr>
              <a:t>SQLite viewer</a:t>
            </a:r>
            <a:endParaRPr lang="en-US" sz="1000" dirty="0"/>
          </a:p>
        </p:txBody>
      </p:sp>
      <p:sp>
        <p:nvSpPr>
          <p:cNvPr id="22" name="Text 20"/>
          <p:cNvSpPr/>
          <p:nvPr/>
        </p:nvSpPr>
        <p:spPr>
          <a:xfrm>
            <a:off x="1901952" y="2633472"/>
            <a:ext cx="2505456" cy="402336"/>
          </a:xfrm>
          <a:prstGeom prst="rect">
            <a:avLst/>
          </a:prstGeom>
          <a:noFill/>
          <a:ln/>
        </p:spPr>
        <p:txBody>
          <a:bodyPr wrap="square" lIns="0" tIns="0" rIns="0" bIns="0" rtlCol="0" anchor="ctr"/>
          <a:lstStyle/>
          <a:p>
            <a:pPr marL="0" indent="0">
              <a:buNone/>
            </a:pPr>
            <a:r>
              <a:rPr lang="en-US" sz="800" dirty="0">
                <a:solidFill>
                  <a:srgbClr val="6B7280"/>
                </a:solidFill>
                <a:latin typeface="Calibri" pitchFamily="34" charset="0"/>
                <a:ea typeface="Calibri" pitchFamily="34" charset="-122"/>
                <a:cs typeface="Calibri" pitchFamily="34" charset="-120"/>
              </a:rPr>
              <a:t>you'll want to see your data on Wednesday</a:t>
            </a:r>
            <a:endParaRPr lang="en-US" sz="800" dirty="0"/>
          </a:p>
        </p:txBody>
      </p:sp>
      <p:sp>
        <p:nvSpPr>
          <p:cNvPr id="23" name="Text 21"/>
          <p:cNvSpPr/>
          <p:nvPr/>
        </p:nvSpPr>
        <p:spPr>
          <a:xfrm>
            <a:off x="4681728" y="969264"/>
            <a:ext cx="3657600" cy="182880"/>
          </a:xfrm>
          <a:prstGeom prst="rect">
            <a:avLst/>
          </a:prstGeom>
          <a:noFill/>
          <a:ln/>
        </p:spPr>
        <p:txBody>
          <a:bodyPr wrap="square" lIns="0" tIns="0" rIns="0" bIns="0" rtlCol="0" anchor="ctr"/>
          <a:lstStyle/>
          <a:p>
            <a:pPr marL="0" indent="0">
              <a:buNone/>
            </a:pPr>
            <a:r>
              <a:rPr lang="en-US" sz="800" b="1" kern="0" spc="120" dirty="0">
                <a:solidFill>
                  <a:srgbClr val="6B7280"/>
                </a:solidFill>
                <a:latin typeface="Calibri" pitchFamily="34" charset="0"/>
                <a:ea typeface="Calibri" pitchFamily="34" charset="-122"/>
                <a:cs typeface="Calibri" pitchFamily="34" charset="-120"/>
              </a:rPr>
              <a:t>ACCOUNTS AND KEYS</a:t>
            </a:r>
            <a:endParaRPr lang="en-US" sz="800" dirty="0"/>
          </a:p>
        </p:txBody>
      </p:sp>
      <p:sp>
        <p:nvSpPr>
          <p:cNvPr id="24" name="Shape 22"/>
          <p:cNvSpPr/>
          <p:nvPr/>
        </p:nvSpPr>
        <p:spPr>
          <a:xfrm>
            <a:off x="4681728" y="1207008"/>
            <a:ext cx="4005072" cy="402336"/>
          </a:xfrm>
          <a:prstGeom prst="rect">
            <a:avLst/>
          </a:prstGeom>
          <a:solidFill>
            <a:srgbClr val="FFFFFF"/>
          </a:solidFill>
          <a:ln w="9525">
            <a:solidFill>
              <a:srgbClr val="DCEEF8"/>
            </a:solidFill>
            <a:prstDash val="solid"/>
          </a:ln>
        </p:spPr>
        <p:txBody>
          <a:bodyPr/>
          <a:lstStyle/>
          <a:p>
            <a:endParaRPr lang="en-US"/>
          </a:p>
        </p:txBody>
      </p:sp>
      <p:sp>
        <p:nvSpPr>
          <p:cNvPr id="25" name="Shape 23"/>
          <p:cNvSpPr/>
          <p:nvPr/>
        </p:nvSpPr>
        <p:spPr>
          <a:xfrm>
            <a:off x="4681728" y="1207008"/>
            <a:ext cx="54864" cy="402336"/>
          </a:xfrm>
          <a:prstGeom prst="rect">
            <a:avLst/>
          </a:prstGeom>
          <a:solidFill>
            <a:srgbClr val="0098D4"/>
          </a:solidFill>
          <a:ln w="12700">
            <a:solidFill>
              <a:srgbClr val="0098D4"/>
            </a:solidFill>
            <a:prstDash val="solid"/>
          </a:ln>
        </p:spPr>
        <p:txBody>
          <a:bodyPr/>
          <a:lstStyle/>
          <a:p>
            <a:endParaRPr lang="en-US"/>
          </a:p>
        </p:txBody>
      </p:sp>
      <p:sp>
        <p:nvSpPr>
          <p:cNvPr id="26" name="Text 24"/>
          <p:cNvSpPr/>
          <p:nvPr/>
        </p:nvSpPr>
        <p:spPr>
          <a:xfrm>
            <a:off x="4882896" y="1207008"/>
            <a:ext cx="1481328" cy="402336"/>
          </a:xfrm>
          <a:prstGeom prst="rect">
            <a:avLst/>
          </a:prstGeom>
          <a:noFill/>
          <a:ln/>
        </p:spPr>
        <p:txBody>
          <a:bodyPr wrap="square" lIns="0" tIns="0" rIns="0" bIns="0" rtlCol="0" anchor="ctr"/>
          <a:lstStyle/>
          <a:p>
            <a:pPr marL="0" indent="0">
              <a:buNone/>
            </a:pPr>
            <a:r>
              <a:rPr lang="en-US" sz="1000" b="1" dirty="0">
                <a:solidFill>
                  <a:srgbClr val="1E2A38"/>
                </a:solidFill>
                <a:latin typeface="Calibri" pitchFamily="34" charset="0"/>
                <a:ea typeface="Calibri" pitchFamily="34" charset="-122"/>
                <a:cs typeface="Calibri" pitchFamily="34" charset="-120"/>
              </a:rPr>
              <a:t>GitHub</a:t>
            </a:r>
            <a:endParaRPr lang="en-US" sz="1000" dirty="0"/>
          </a:p>
        </p:txBody>
      </p:sp>
      <p:sp>
        <p:nvSpPr>
          <p:cNvPr id="27" name="Text 25"/>
          <p:cNvSpPr/>
          <p:nvPr/>
        </p:nvSpPr>
        <p:spPr>
          <a:xfrm>
            <a:off x="6382512" y="1207008"/>
            <a:ext cx="2212848" cy="402336"/>
          </a:xfrm>
          <a:prstGeom prst="rect">
            <a:avLst/>
          </a:prstGeom>
          <a:noFill/>
          <a:ln/>
        </p:spPr>
        <p:txBody>
          <a:bodyPr wrap="square" lIns="0" tIns="0" rIns="0" bIns="0" rtlCol="0" anchor="ctr"/>
          <a:lstStyle/>
          <a:p>
            <a:pPr marL="0" indent="0">
              <a:buNone/>
            </a:pPr>
            <a:r>
              <a:rPr lang="en-US" sz="800" dirty="0">
                <a:solidFill>
                  <a:srgbClr val="6B7280"/>
                </a:solidFill>
                <a:latin typeface="Calibri" pitchFamily="34" charset="0"/>
                <a:ea typeface="Calibri" pitchFamily="34" charset="-122"/>
                <a:cs typeface="Calibri" pitchFamily="34" charset="-120"/>
              </a:rPr>
              <a:t>your code lives here from tonight</a:t>
            </a:r>
            <a:endParaRPr lang="en-US" sz="800" dirty="0"/>
          </a:p>
        </p:txBody>
      </p:sp>
      <p:sp>
        <p:nvSpPr>
          <p:cNvPr id="28" name="Shape 26"/>
          <p:cNvSpPr/>
          <p:nvPr/>
        </p:nvSpPr>
        <p:spPr>
          <a:xfrm>
            <a:off x="4681728" y="1682496"/>
            <a:ext cx="4005072" cy="402336"/>
          </a:xfrm>
          <a:prstGeom prst="rect">
            <a:avLst/>
          </a:prstGeom>
          <a:solidFill>
            <a:srgbClr val="FFFFFF"/>
          </a:solidFill>
          <a:ln w="9525">
            <a:solidFill>
              <a:srgbClr val="DCEEF8"/>
            </a:solidFill>
            <a:prstDash val="solid"/>
          </a:ln>
        </p:spPr>
        <p:txBody>
          <a:bodyPr/>
          <a:lstStyle/>
          <a:p>
            <a:endParaRPr lang="en-US"/>
          </a:p>
        </p:txBody>
      </p:sp>
      <p:sp>
        <p:nvSpPr>
          <p:cNvPr id="29" name="Shape 27"/>
          <p:cNvSpPr/>
          <p:nvPr/>
        </p:nvSpPr>
        <p:spPr>
          <a:xfrm>
            <a:off x="4681728" y="1682496"/>
            <a:ext cx="54864" cy="402336"/>
          </a:xfrm>
          <a:prstGeom prst="rect">
            <a:avLst/>
          </a:prstGeom>
          <a:solidFill>
            <a:srgbClr val="0098D4"/>
          </a:solidFill>
          <a:ln w="12700">
            <a:solidFill>
              <a:srgbClr val="0098D4"/>
            </a:solidFill>
            <a:prstDash val="solid"/>
          </a:ln>
        </p:spPr>
        <p:txBody>
          <a:bodyPr/>
          <a:lstStyle/>
          <a:p>
            <a:endParaRPr lang="en-US"/>
          </a:p>
        </p:txBody>
      </p:sp>
      <p:sp>
        <p:nvSpPr>
          <p:cNvPr id="30" name="Text 28"/>
          <p:cNvSpPr/>
          <p:nvPr/>
        </p:nvSpPr>
        <p:spPr>
          <a:xfrm>
            <a:off x="4882896" y="1682496"/>
            <a:ext cx="1481328" cy="402336"/>
          </a:xfrm>
          <a:prstGeom prst="rect">
            <a:avLst/>
          </a:prstGeom>
          <a:noFill/>
          <a:ln/>
        </p:spPr>
        <p:txBody>
          <a:bodyPr wrap="square" lIns="0" tIns="0" rIns="0" bIns="0" rtlCol="0" anchor="ctr"/>
          <a:lstStyle/>
          <a:p>
            <a:pPr marL="0" indent="0">
              <a:buNone/>
            </a:pPr>
            <a:r>
              <a:rPr lang="en-US" sz="1000" b="1" dirty="0">
                <a:solidFill>
                  <a:srgbClr val="1E2A38"/>
                </a:solidFill>
                <a:latin typeface="Calibri" pitchFamily="34" charset="0"/>
                <a:ea typeface="Calibri" pitchFamily="34" charset="-122"/>
                <a:cs typeface="Calibri" pitchFamily="34" charset="-120"/>
              </a:rPr>
              <a:t>LLM provider</a:t>
            </a:r>
            <a:endParaRPr lang="en-US" sz="1000" dirty="0"/>
          </a:p>
        </p:txBody>
      </p:sp>
      <p:sp>
        <p:nvSpPr>
          <p:cNvPr id="31" name="Text 29"/>
          <p:cNvSpPr/>
          <p:nvPr/>
        </p:nvSpPr>
        <p:spPr>
          <a:xfrm>
            <a:off x="6382512" y="1682496"/>
            <a:ext cx="2212848" cy="402336"/>
          </a:xfrm>
          <a:prstGeom prst="rect">
            <a:avLst/>
          </a:prstGeom>
          <a:noFill/>
          <a:ln/>
        </p:spPr>
        <p:txBody>
          <a:bodyPr wrap="square" lIns="0" tIns="0" rIns="0" bIns="0" rtlCol="0" anchor="ctr"/>
          <a:lstStyle/>
          <a:p>
            <a:pPr marL="0" indent="0">
              <a:buNone/>
            </a:pPr>
            <a:r>
              <a:rPr lang="en-US" sz="800" dirty="0">
                <a:solidFill>
                  <a:srgbClr val="6B7280"/>
                </a:solidFill>
                <a:latin typeface="Calibri" pitchFamily="34" charset="0"/>
                <a:ea typeface="Calibri" pitchFamily="34" charset="-122"/>
                <a:cs typeface="Calibri" pitchFamily="34" charset="-120"/>
              </a:rPr>
              <a:t>free tier, no card needed</a:t>
            </a:r>
            <a:endParaRPr lang="en-US" sz="800" dirty="0"/>
          </a:p>
        </p:txBody>
      </p:sp>
      <p:sp>
        <p:nvSpPr>
          <p:cNvPr id="32" name="Shape 30"/>
          <p:cNvSpPr/>
          <p:nvPr/>
        </p:nvSpPr>
        <p:spPr>
          <a:xfrm>
            <a:off x="4681728" y="2157984"/>
            <a:ext cx="4005072" cy="402336"/>
          </a:xfrm>
          <a:prstGeom prst="rect">
            <a:avLst/>
          </a:prstGeom>
          <a:solidFill>
            <a:srgbClr val="FFFFFF"/>
          </a:solidFill>
          <a:ln w="9525">
            <a:solidFill>
              <a:srgbClr val="DCEEF8"/>
            </a:solidFill>
            <a:prstDash val="solid"/>
          </a:ln>
        </p:spPr>
        <p:txBody>
          <a:bodyPr/>
          <a:lstStyle/>
          <a:p>
            <a:endParaRPr lang="en-US"/>
          </a:p>
        </p:txBody>
      </p:sp>
      <p:sp>
        <p:nvSpPr>
          <p:cNvPr id="33" name="Shape 31"/>
          <p:cNvSpPr/>
          <p:nvPr/>
        </p:nvSpPr>
        <p:spPr>
          <a:xfrm>
            <a:off x="4681728" y="2157984"/>
            <a:ext cx="54864" cy="402336"/>
          </a:xfrm>
          <a:prstGeom prst="rect">
            <a:avLst/>
          </a:prstGeom>
          <a:solidFill>
            <a:srgbClr val="0098D4"/>
          </a:solidFill>
          <a:ln w="12700">
            <a:solidFill>
              <a:srgbClr val="0098D4"/>
            </a:solidFill>
            <a:prstDash val="solid"/>
          </a:ln>
        </p:spPr>
        <p:txBody>
          <a:bodyPr/>
          <a:lstStyle/>
          <a:p>
            <a:endParaRPr lang="en-US"/>
          </a:p>
        </p:txBody>
      </p:sp>
      <p:sp>
        <p:nvSpPr>
          <p:cNvPr id="34" name="Text 32"/>
          <p:cNvSpPr/>
          <p:nvPr/>
        </p:nvSpPr>
        <p:spPr>
          <a:xfrm>
            <a:off x="4882896" y="2157984"/>
            <a:ext cx="1481328" cy="402336"/>
          </a:xfrm>
          <a:prstGeom prst="rect">
            <a:avLst/>
          </a:prstGeom>
          <a:noFill/>
          <a:ln/>
        </p:spPr>
        <p:txBody>
          <a:bodyPr wrap="square" lIns="0" tIns="0" rIns="0" bIns="0" rtlCol="0" anchor="ctr"/>
          <a:lstStyle/>
          <a:p>
            <a:pPr marL="0" indent="0">
              <a:buNone/>
            </a:pPr>
            <a:r>
              <a:rPr lang="en-US" sz="1000" b="1" dirty="0">
                <a:solidFill>
                  <a:srgbClr val="1E2A38"/>
                </a:solidFill>
                <a:latin typeface="Calibri" pitchFamily="34" charset="0"/>
                <a:ea typeface="Calibri" pitchFamily="34" charset="-122"/>
                <a:cs typeface="Calibri" pitchFamily="34" charset="-120"/>
              </a:rPr>
              <a:t>Embeddings provider</a:t>
            </a:r>
            <a:endParaRPr lang="en-US" sz="1000" dirty="0"/>
          </a:p>
        </p:txBody>
      </p:sp>
      <p:sp>
        <p:nvSpPr>
          <p:cNvPr id="35" name="Text 33"/>
          <p:cNvSpPr/>
          <p:nvPr/>
        </p:nvSpPr>
        <p:spPr>
          <a:xfrm>
            <a:off x="6382512" y="2157984"/>
            <a:ext cx="2212848" cy="402336"/>
          </a:xfrm>
          <a:prstGeom prst="rect">
            <a:avLst/>
          </a:prstGeom>
          <a:noFill/>
          <a:ln/>
        </p:spPr>
        <p:txBody>
          <a:bodyPr wrap="square" lIns="0" tIns="0" rIns="0" bIns="0" rtlCol="0" anchor="ctr"/>
          <a:lstStyle/>
          <a:p>
            <a:pPr marL="0" indent="0">
              <a:buNone/>
            </a:pPr>
            <a:r>
              <a:rPr lang="en-US" sz="800" dirty="0">
                <a:solidFill>
                  <a:srgbClr val="6B7280"/>
                </a:solidFill>
                <a:latin typeface="Calibri" pitchFamily="34" charset="0"/>
                <a:ea typeface="Calibri" pitchFamily="34" charset="-122"/>
                <a:cs typeface="Calibri" pitchFamily="34" charset="-120"/>
              </a:rPr>
              <a:t>you'll need this on Thursday</a:t>
            </a:r>
            <a:endParaRPr lang="en-US" sz="800" dirty="0"/>
          </a:p>
        </p:txBody>
      </p:sp>
      <p:sp>
        <p:nvSpPr>
          <p:cNvPr id="36" name="Shape 34"/>
          <p:cNvSpPr/>
          <p:nvPr/>
        </p:nvSpPr>
        <p:spPr>
          <a:xfrm>
            <a:off x="4681728" y="2633472"/>
            <a:ext cx="4005072" cy="402336"/>
          </a:xfrm>
          <a:prstGeom prst="rect">
            <a:avLst/>
          </a:prstGeom>
          <a:solidFill>
            <a:srgbClr val="FFFFFF"/>
          </a:solidFill>
          <a:ln w="9525">
            <a:solidFill>
              <a:srgbClr val="DCEEF8"/>
            </a:solidFill>
            <a:prstDash val="solid"/>
          </a:ln>
        </p:spPr>
        <p:txBody>
          <a:bodyPr/>
          <a:lstStyle/>
          <a:p>
            <a:endParaRPr lang="en-US"/>
          </a:p>
        </p:txBody>
      </p:sp>
      <p:sp>
        <p:nvSpPr>
          <p:cNvPr id="37" name="Shape 35"/>
          <p:cNvSpPr/>
          <p:nvPr/>
        </p:nvSpPr>
        <p:spPr>
          <a:xfrm>
            <a:off x="4681728" y="2633472"/>
            <a:ext cx="54864" cy="402336"/>
          </a:xfrm>
          <a:prstGeom prst="rect">
            <a:avLst/>
          </a:prstGeom>
          <a:solidFill>
            <a:srgbClr val="0098D4"/>
          </a:solidFill>
          <a:ln w="12700">
            <a:solidFill>
              <a:srgbClr val="0098D4"/>
            </a:solidFill>
            <a:prstDash val="solid"/>
          </a:ln>
        </p:spPr>
        <p:txBody>
          <a:bodyPr/>
          <a:lstStyle/>
          <a:p>
            <a:endParaRPr lang="en-US"/>
          </a:p>
        </p:txBody>
      </p:sp>
      <p:sp>
        <p:nvSpPr>
          <p:cNvPr id="38" name="Text 36"/>
          <p:cNvSpPr/>
          <p:nvPr/>
        </p:nvSpPr>
        <p:spPr>
          <a:xfrm>
            <a:off x="4882896" y="2633472"/>
            <a:ext cx="1481328" cy="402336"/>
          </a:xfrm>
          <a:prstGeom prst="rect">
            <a:avLst/>
          </a:prstGeom>
          <a:noFill/>
          <a:ln/>
        </p:spPr>
        <p:txBody>
          <a:bodyPr wrap="square" lIns="0" tIns="0" rIns="0" bIns="0" rtlCol="0" anchor="ctr"/>
          <a:lstStyle/>
          <a:p>
            <a:pPr marL="0" indent="0">
              <a:buNone/>
            </a:pPr>
            <a:r>
              <a:rPr lang="en-US" sz="1000" b="1" dirty="0">
                <a:solidFill>
                  <a:srgbClr val="1E2A38"/>
                </a:solidFill>
                <a:latin typeface="Calibri" pitchFamily="34" charset="0"/>
                <a:ea typeface="Calibri" pitchFamily="34" charset="-122"/>
                <a:cs typeface="Calibri" pitchFamily="34" charset="-120"/>
              </a:rPr>
              <a:t>Student Developer Pack</a:t>
            </a:r>
            <a:endParaRPr lang="en-US" sz="1000" dirty="0"/>
          </a:p>
        </p:txBody>
      </p:sp>
      <p:sp>
        <p:nvSpPr>
          <p:cNvPr id="39" name="Text 37"/>
          <p:cNvSpPr/>
          <p:nvPr/>
        </p:nvSpPr>
        <p:spPr>
          <a:xfrm>
            <a:off x="6382512" y="2633472"/>
            <a:ext cx="2212848" cy="402336"/>
          </a:xfrm>
          <a:prstGeom prst="rect">
            <a:avLst/>
          </a:prstGeom>
          <a:noFill/>
          <a:ln/>
        </p:spPr>
        <p:txBody>
          <a:bodyPr wrap="square" lIns="0" tIns="0" rIns="0" bIns="0" rtlCol="0" anchor="ctr"/>
          <a:lstStyle/>
          <a:p>
            <a:pPr marL="0" indent="0">
              <a:buNone/>
            </a:pPr>
            <a:r>
              <a:rPr lang="en-US" sz="800" dirty="0">
                <a:solidFill>
                  <a:srgbClr val="6B7280"/>
                </a:solidFill>
                <a:latin typeface="Calibri" pitchFamily="34" charset="0"/>
                <a:ea typeface="Calibri" pitchFamily="34" charset="-122"/>
                <a:cs typeface="Calibri" pitchFamily="34" charset="-120"/>
              </a:rPr>
              <a:t>if approval hasn't landed, use the browser fallback</a:t>
            </a:r>
            <a:endParaRPr lang="en-US" sz="800" dirty="0"/>
          </a:p>
        </p:txBody>
      </p:sp>
      <p:sp>
        <p:nvSpPr>
          <p:cNvPr id="40" name="Shape 38"/>
          <p:cNvSpPr/>
          <p:nvPr/>
        </p:nvSpPr>
        <p:spPr>
          <a:xfrm>
            <a:off x="457200" y="3163824"/>
            <a:ext cx="8229600" cy="566928"/>
          </a:xfrm>
          <a:prstGeom prst="rect">
            <a:avLst/>
          </a:prstGeom>
          <a:solidFill>
            <a:srgbClr val="1E2A38"/>
          </a:solidFill>
          <a:ln w="12700">
            <a:solidFill>
              <a:srgbClr val="1E2A38"/>
            </a:solidFill>
            <a:prstDash val="solid"/>
          </a:ln>
        </p:spPr>
        <p:txBody>
          <a:bodyPr/>
          <a:lstStyle/>
          <a:p>
            <a:endParaRPr lang="en-US"/>
          </a:p>
        </p:txBody>
      </p:sp>
      <p:sp>
        <p:nvSpPr>
          <p:cNvPr id="41" name="Text 39"/>
          <p:cNvSpPr/>
          <p:nvPr/>
        </p:nvSpPr>
        <p:spPr>
          <a:xfrm>
            <a:off x="640080" y="3163824"/>
            <a:ext cx="2743200" cy="566928"/>
          </a:xfrm>
          <a:prstGeom prst="rect">
            <a:avLst/>
          </a:prstGeom>
          <a:noFill/>
          <a:ln/>
        </p:spPr>
        <p:txBody>
          <a:bodyPr wrap="square" lIns="0" tIns="0" rIns="0" bIns="0" rtlCol="0" anchor="ctr"/>
          <a:lstStyle/>
          <a:p>
            <a:pPr marL="0" indent="0">
              <a:buNone/>
            </a:pPr>
            <a:r>
              <a:rPr lang="en-US" sz="1400" b="1" dirty="0">
                <a:solidFill>
                  <a:srgbClr val="00B0F0"/>
                </a:solidFill>
                <a:latin typeface="Courier New" pitchFamily="34" charset="0"/>
                <a:ea typeface="Courier New" pitchFamily="34" charset="-122"/>
                <a:cs typeface="Courier New" pitchFamily="34" charset="-120"/>
              </a:rPr>
              <a:t>npm run verify-setup</a:t>
            </a:r>
            <a:endParaRPr lang="en-US" sz="1400" dirty="0"/>
          </a:p>
        </p:txBody>
      </p:sp>
      <p:sp>
        <p:nvSpPr>
          <p:cNvPr id="42" name="Text 40"/>
          <p:cNvSpPr/>
          <p:nvPr/>
        </p:nvSpPr>
        <p:spPr>
          <a:xfrm>
            <a:off x="3566160" y="3163824"/>
            <a:ext cx="4937760" cy="566928"/>
          </a:xfrm>
          <a:prstGeom prst="rect">
            <a:avLst/>
          </a:prstGeom>
          <a:noFill/>
          <a:ln/>
        </p:spPr>
        <p:txBody>
          <a:bodyPr wrap="square" lIns="0" tIns="0" rIns="0" bIns="0" rtlCol="0" anchor="ctr"/>
          <a:lstStyle/>
          <a:p>
            <a:pPr marL="0" indent="0">
              <a:lnSpc>
                <a:spcPct val="105000"/>
              </a:lnSpc>
              <a:buNone/>
            </a:pPr>
            <a:r>
              <a:rPr lang="en-US" sz="900" dirty="0">
                <a:solidFill>
                  <a:srgbClr val="D6E7F0"/>
                </a:solidFill>
                <a:latin typeface="Calibri" pitchFamily="34" charset="0"/>
                <a:ea typeface="Calibri" pitchFamily="34" charset="-122"/>
                <a:cs typeface="Calibri" pitchFamily="34" charset="-120"/>
              </a:rPr>
              <a:t>Run it. Screenshot the green output. Post it in the batch group.</a:t>
            </a:r>
            <a:endParaRPr lang="en-US" sz="900" dirty="0"/>
          </a:p>
          <a:p>
            <a:pPr marL="0" indent="0">
              <a:lnSpc>
                <a:spcPct val="105000"/>
              </a:lnSpc>
              <a:buNone/>
            </a:pPr>
            <a:r>
              <a:rPr lang="en-US" sz="900" dirty="0">
                <a:solidFill>
                  <a:srgbClr val="D6E7F0"/>
                </a:solidFill>
                <a:latin typeface="Calibri" pitchFamily="34" charset="0"/>
                <a:ea typeface="Calibri" pitchFamily="34" charset="-122"/>
                <a:cs typeface="Calibri" pitchFamily="34" charset="-120"/>
              </a:rPr>
              <a:t>If it is not green, raise your hand — do not quietly move on.</a:t>
            </a:r>
            <a:endParaRPr lang="en-US" sz="900" dirty="0"/>
          </a:p>
        </p:txBody>
      </p:sp>
      <p:sp>
        <p:nvSpPr>
          <p:cNvPr id="43" name="Shape 41"/>
          <p:cNvSpPr/>
          <p:nvPr/>
        </p:nvSpPr>
        <p:spPr>
          <a:xfrm>
            <a:off x="457200" y="3840480"/>
            <a:ext cx="8229600" cy="274320"/>
          </a:xfrm>
          <a:prstGeom prst="rect">
            <a:avLst/>
          </a:prstGeom>
          <a:solidFill>
            <a:srgbClr val="FDEAEA"/>
          </a:solidFill>
          <a:ln w="12700">
            <a:solidFill>
              <a:srgbClr val="FDEAEA"/>
            </a:solidFill>
            <a:prstDash val="solid"/>
          </a:ln>
        </p:spPr>
        <p:txBody>
          <a:bodyPr/>
          <a:lstStyle/>
          <a:p>
            <a:endParaRPr lang="en-US"/>
          </a:p>
        </p:txBody>
      </p:sp>
      <p:sp>
        <p:nvSpPr>
          <p:cNvPr id="44" name="Text 42"/>
          <p:cNvSpPr/>
          <p:nvPr/>
        </p:nvSpPr>
        <p:spPr>
          <a:xfrm>
            <a:off x="566928" y="3840480"/>
            <a:ext cx="8010144" cy="274320"/>
          </a:xfrm>
          <a:prstGeom prst="rect">
            <a:avLst/>
          </a:prstGeom>
          <a:noFill/>
          <a:ln/>
        </p:spPr>
        <p:txBody>
          <a:bodyPr wrap="square" lIns="0" tIns="0" rIns="0" bIns="0" rtlCol="0" anchor="ctr"/>
          <a:lstStyle/>
          <a:p>
            <a:pPr marL="0" indent="0">
              <a:buNone/>
            </a:pPr>
            <a:r>
              <a:rPr lang="en-US" sz="800" b="1" dirty="0">
                <a:solidFill>
                  <a:srgbClr val="B83232"/>
                </a:solidFill>
                <a:latin typeface="Calibri" pitchFamily="34" charset="0"/>
                <a:ea typeface="Calibri" pitchFamily="34" charset="-122"/>
                <a:cs typeface="Calibri" pitchFamily="34" charset="-120"/>
              </a:rPr>
              <a:t>⚠  A red verify-setup today becomes a lost Wednesday. This is the single most expensive thing to postpone all week.</a:t>
            </a:r>
            <a:endParaRPr lang="en-US" sz="800" dirty="0"/>
          </a:p>
        </p:txBody>
      </p:sp>
      <p:sp>
        <p:nvSpPr>
          <p:cNvPr id="45" name="Shape 43"/>
          <p:cNvSpPr/>
          <p:nvPr/>
        </p:nvSpPr>
        <p:spPr>
          <a:xfrm>
            <a:off x="457200" y="4334256"/>
            <a:ext cx="8229600" cy="512064"/>
          </a:xfrm>
          <a:prstGeom prst="rect">
            <a:avLst/>
          </a:prstGeom>
          <a:solidFill>
            <a:srgbClr val="F0F8FD"/>
          </a:solidFill>
          <a:ln w="12700">
            <a:solidFill>
              <a:srgbClr val="F0F8FD"/>
            </a:solidFill>
            <a:prstDash val="solid"/>
          </a:ln>
        </p:spPr>
        <p:txBody>
          <a:bodyPr/>
          <a:lstStyle/>
          <a:p>
            <a:endParaRPr lang="en-US"/>
          </a:p>
        </p:txBody>
      </p:sp>
      <p:sp>
        <p:nvSpPr>
          <p:cNvPr id="46" name="Shape 44"/>
          <p:cNvSpPr/>
          <p:nvPr/>
        </p:nvSpPr>
        <p:spPr>
          <a:xfrm>
            <a:off x="457200" y="4334256"/>
            <a:ext cx="54864" cy="512064"/>
          </a:xfrm>
          <a:prstGeom prst="rect">
            <a:avLst/>
          </a:prstGeom>
          <a:solidFill>
            <a:srgbClr val="00B0F0"/>
          </a:solidFill>
          <a:ln w="12700">
            <a:solidFill>
              <a:srgbClr val="00B0F0"/>
            </a:solidFill>
            <a:prstDash val="solid"/>
          </a:ln>
        </p:spPr>
        <p:txBody>
          <a:bodyPr/>
          <a:lstStyle/>
          <a:p>
            <a:endParaRPr lang="en-US"/>
          </a:p>
        </p:txBody>
      </p:sp>
      <p:sp>
        <p:nvSpPr>
          <p:cNvPr id="47" name="Text 45"/>
          <p:cNvSpPr/>
          <p:nvPr/>
        </p:nvSpPr>
        <p:spPr>
          <a:xfrm>
            <a:off x="658368" y="4334256"/>
            <a:ext cx="7863840" cy="512064"/>
          </a:xfrm>
          <a:prstGeom prst="rect">
            <a:avLst/>
          </a:prstGeom>
          <a:noFill/>
          <a:ln/>
        </p:spPr>
        <p:txBody>
          <a:bodyPr wrap="square" lIns="0" tIns="0" rIns="0" bIns="0" rtlCol="0" anchor="ctr"/>
          <a:lstStyle/>
          <a:p>
            <a:pPr marL="0" indent="0">
              <a:buNone/>
            </a:pPr>
            <a:r>
              <a:rPr lang="en-US" sz="1000" b="1" dirty="0">
                <a:solidFill>
                  <a:srgbClr val="1E2A38"/>
                </a:solidFill>
                <a:latin typeface="Calibri" pitchFamily="34" charset="0"/>
                <a:ea typeface="Calibri" pitchFamily="34" charset="-122"/>
                <a:cs typeface="Calibri" pitchFamily="34" charset="-120"/>
              </a:rPr>
              <a:t>Everyone leaves this block green. That is the only exit condition — the content can wait, the setup cannot.</a:t>
            </a:r>
            <a:endParaRPr lang="en-US" sz="1000" dirty="0"/>
          </a:p>
        </p:txBody>
      </p:sp>
    </p:spTree>
    <p:extLst>
      <p:ext uri="{BB962C8B-B14F-4D97-AF65-F5344CB8AC3E}">
        <p14:creationId xmlns:p14="http://schemas.microsoft.com/office/powerpoint/2010/main" val="341210144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98D4"/>
          </a:solidFill>
          <a:ln w="12700">
            <a:solidFill>
              <a:srgbClr val="0098D4"/>
            </a:solidFill>
            <a:prstDash val="solid"/>
          </a:ln>
        </p:spPr>
        <p:txBody>
          <a:bodyPr/>
          <a:lstStyle/>
          <a:p>
            <a:endParaRPr lang="en-US"/>
          </a:p>
        </p:txBody>
      </p:sp>
      <p:sp>
        <p:nvSpPr>
          <p:cNvPr id="3" name="Text 1"/>
          <p:cNvSpPr/>
          <p:nvPr/>
        </p:nvSpPr>
        <p:spPr>
          <a:xfrm>
            <a:off x="457200" y="128016"/>
            <a:ext cx="6400800" cy="182880"/>
          </a:xfrm>
          <a:prstGeom prst="rect">
            <a:avLst/>
          </a:prstGeom>
          <a:noFill/>
          <a:ln/>
        </p:spPr>
        <p:txBody>
          <a:bodyPr wrap="square" lIns="0" tIns="0" rIns="0" bIns="0" rtlCol="0" anchor="ctr"/>
          <a:lstStyle/>
          <a:p>
            <a:pPr marL="0" indent="0">
              <a:buNone/>
            </a:pPr>
            <a:r>
              <a:rPr lang="en-US" sz="800" b="1" kern="0" spc="160" dirty="0">
                <a:solidFill>
                  <a:srgbClr val="6B7280"/>
                </a:solidFill>
                <a:latin typeface="Calibri" pitchFamily="34" charset="0"/>
                <a:ea typeface="Calibri" pitchFamily="34" charset="-122"/>
                <a:cs typeface="Calibri" pitchFamily="34" charset="-120"/>
              </a:rPr>
              <a:t>BLOCK 2</a:t>
            </a:r>
            <a:endParaRPr lang="en-US" sz="800" dirty="0"/>
          </a:p>
        </p:txBody>
      </p:sp>
      <p:sp>
        <p:nvSpPr>
          <p:cNvPr id="4" name="Text 2"/>
          <p:cNvSpPr/>
          <p:nvPr/>
        </p:nvSpPr>
        <p:spPr>
          <a:xfrm>
            <a:off x="457200" y="347472"/>
            <a:ext cx="8229600" cy="420624"/>
          </a:xfrm>
          <a:prstGeom prst="rect">
            <a:avLst/>
          </a:prstGeom>
          <a:noFill/>
          <a:ln/>
        </p:spPr>
        <p:txBody>
          <a:bodyPr wrap="square" lIns="0" tIns="0" rIns="0" bIns="0" rtlCol="0" anchor="ctr"/>
          <a:lstStyle/>
          <a:p>
            <a:pPr marL="0" indent="0">
              <a:buNone/>
            </a:pPr>
            <a:r>
              <a:rPr lang="en-US" sz="2200" b="1" dirty="0">
                <a:solidFill>
                  <a:srgbClr val="1E2A38"/>
                </a:solidFill>
                <a:latin typeface="Calibri" pitchFamily="34" charset="0"/>
                <a:ea typeface="Calibri" pitchFamily="34" charset="-122"/>
                <a:cs typeface="Calibri" pitchFamily="34" charset="-120"/>
              </a:rPr>
              <a:t>HTML: Structure That Means Something</a:t>
            </a:r>
            <a:endParaRPr lang="en-US" sz="2200" dirty="0"/>
          </a:p>
        </p:txBody>
      </p:sp>
      <p:sp>
        <p:nvSpPr>
          <p:cNvPr id="5" name="Shape 3"/>
          <p:cNvSpPr/>
          <p:nvPr/>
        </p:nvSpPr>
        <p:spPr>
          <a:xfrm>
            <a:off x="457200" y="859536"/>
            <a:ext cx="8229600" cy="10973"/>
          </a:xfrm>
          <a:prstGeom prst="rect">
            <a:avLst/>
          </a:prstGeom>
          <a:solidFill>
            <a:srgbClr val="CDE7F5"/>
          </a:solidFill>
          <a:ln w="12700">
            <a:solidFill>
              <a:srgbClr val="CDE7F5"/>
            </a:solidFill>
            <a:prstDash val="solid"/>
          </a:ln>
        </p:spPr>
        <p:txBody>
          <a:bodyPr/>
          <a:lstStyle/>
          <a:p>
            <a:endParaRPr lang="en-US"/>
          </a:p>
        </p:txBody>
      </p:sp>
      <p:sp>
        <p:nvSpPr>
          <p:cNvPr id="6" name="Text 4"/>
          <p:cNvSpPr/>
          <p:nvPr/>
        </p:nvSpPr>
        <p:spPr>
          <a:xfrm>
            <a:off x="457200" y="969264"/>
            <a:ext cx="7315200" cy="182880"/>
          </a:xfrm>
          <a:prstGeom prst="rect">
            <a:avLst/>
          </a:prstGeom>
          <a:noFill/>
          <a:ln/>
        </p:spPr>
        <p:txBody>
          <a:bodyPr wrap="square" lIns="0" tIns="0" rIns="0" bIns="0" rtlCol="0" anchor="ctr"/>
          <a:lstStyle/>
          <a:p>
            <a:pPr marL="0" indent="0">
              <a:buNone/>
            </a:pPr>
            <a:r>
              <a:rPr lang="en-US" sz="800" b="1" kern="0" spc="120" dirty="0">
                <a:solidFill>
                  <a:srgbClr val="6B7280"/>
                </a:solidFill>
                <a:latin typeface="Calibri" pitchFamily="34" charset="0"/>
                <a:ea typeface="Calibri" pitchFamily="34" charset="-122"/>
                <a:cs typeface="Calibri" pitchFamily="34" charset="-120"/>
              </a:rPr>
              <a:t>YOU KNOW THESE TAGS. HERE IS WHY THE CHOICE MATTERS.</a:t>
            </a:r>
            <a:endParaRPr lang="en-US" sz="800" dirty="0"/>
          </a:p>
        </p:txBody>
      </p:sp>
      <p:sp>
        <p:nvSpPr>
          <p:cNvPr id="7" name="Shape 5"/>
          <p:cNvSpPr/>
          <p:nvPr/>
        </p:nvSpPr>
        <p:spPr>
          <a:xfrm>
            <a:off x="457200" y="1207008"/>
            <a:ext cx="5120640" cy="347472"/>
          </a:xfrm>
          <a:prstGeom prst="rect">
            <a:avLst/>
          </a:prstGeom>
          <a:solidFill>
            <a:srgbClr val="F0F8FD"/>
          </a:solidFill>
          <a:ln w="6350">
            <a:solidFill>
              <a:srgbClr val="DCEEF8"/>
            </a:solidFill>
            <a:prstDash val="solid"/>
          </a:ln>
        </p:spPr>
        <p:txBody>
          <a:bodyPr/>
          <a:lstStyle/>
          <a:p>
            <a:endParaRPr lang="en-US"/>
          </a:p>
        </p:txBody>
      </p:sp>
      <p:sp>
        <p:nvSpPr>
          <p:cNvPr id="8" name="Text 6"/>
          <p:cNvSpPr/>
          <p:nvPr/>
        </p:nvSpPr>
        <p:spPr>
          <a:xfrm>
            <a:off x="566928" y="1207008"/>
            <a:ext cx="1097280" cy="347472"/>
          </a:xfrm>
          <a:prstGeom prst="rect">
            <a:avLst/>
          </a:prstGeom>
          <a:noFill/>
          <a:ln/>
        </p:spPr>
        <p:txBody>
          <a:bodyPr wrap="square" lIns="0" tIns="0" rIns="0" bIns="0" rtlCol="0" anchor="ctr"/>
          <a:lstStyle/>
          <a:p>
            <a:pPr marL="0" indent="0">
              <a:buNone/>
            </a:pPr>
            <a:r>
              <a:rPr lang="en-US" sz="900" b="1" dirty="0">
                <a:solidFill>
                  <a:srgbClr val="0098D4"/>
                </a:solidFill>
                <a:latin typeface="Courier New" pitchFamily="34" charset="0"/>
                <a:ea typeface="Courier New" pitchFamily="34" charset="-122"/>
                <a:cs typeface="Courier New" pitchFamily="34" charset="-120"/>
              </a:rPr>
              <a:t>&lt;header&gt;</a:t>
            </a:r>
            <a:endParaRPr lang="en-US" sz="900" dirty="0"/>
          </a:p>
        </p:txBody>
      </p:sp>
      <p:sp>
        <p:nvSpPr>
          <p:cNvPr id="9" name="Text 7"/>
          <p:cNvSpPr/>
          <p:nvPr/>
        </p:nvSpPr>
        <p:spPr>
          <a:xfrm>
            <a:off x="1700784" y="1207008"/>
            <a:ext cx="2011680" cy="347472"/>
          </a:xfrm>
          <a:prstGeom prst="rect">
            <a:avLst/>
          </a:prstGeom>
          <a:noFill/>
          <a:ln/>
        </p:spPr>
        <p:txBody>
          <a:bodyPr wrap="square" lIns="0" tIns="0" rIns="0" bIns="0" rtlCol="0" anchor="ctr"/>
          <a:lstStyle/>
          <a:p>
            <a:pPr marL="0" indent="0">
              <a:buNone/>
            </a:pPr>
            <a:r>
              <a:rPr lang="en-US" sz="850" dirty="0">
                <a:solidFill>
                  <a:srgbClr val="1E2A38"/>
                </a:solidFill>
                <a:latin typeface="Calibri" pitchFamily="34" charset="0"/>
                <a:ea typeface="Calibri" pitchFamily="34" charset="-122"/>
                <a:cs typeface="Calibri" pitchFamily="34" charset="-120"/>
              </a:rPr>
              <a:t>the app's identity and nav</a:t>
            </a:r>
            <a:endParaRPr lang="en-US" sz="850" dirty="0"/>
          </a:p>
        </p:txBody>
      </p:sp>
      <p:sp>
        <p:nvSpPr>
          <p:cNvPr id="10" name="Text 8"/>
          <p:cNvSpPr/>
          <p:nvPr/>
        </p:nvSpPr>
        <p:spPr>
          <a:xfrm>
            <a:off x="3749040" y="1207008"/>
            <a:ext cx="1773936" cy="347472"/>
          </a:xfrm>
          <a:prstGeom prst="rect">
            <a:avLst/>
          </a:prstGeom>
          <a:noFill/>
          <a:ln/>
        </p:spPr>
        <p:txBody>
          <a:bodyPr wrap="square" lIns="0" tIns="0" rIns="0" bIns="0" rtlCol="0" anchor="ctr"/>
          <a:lstStyle/>
          <a:p>
            <a:pPr marL="0" indent="0">
              <a:buNone/>
            </a:pPr>
            <a:r>
              <a:rPr lang="en-US" sz="750" dirty="0">
                <a:solidFill>
                  <a:srgbClr val="6B7280"/>
                </a:solidFill>
                <a:latin typeface="Calibri" pitchFamily="34" charset="0"/>
                <a:ea typeface="Calibri" pitchFamily="34" charset="-122"/>
                <a:cs typeface="Calibri" pitchFamily="34" charset="-120"/>
              </a:rPr>
              <a:t>not &lt;div class="header"&gt;</a:t>
            </a:r>
            <a:endParaRPr lang="en-US" sz="750" dirty="0"/>
          </a:p>
        </p:txBody>
      </p:sp>
      <p:sp>
        <p:nvSpPr>
          <p:cNvPr id="11" name="Shape 9"/>
          <p:cNvSpPr/>
          <p:nvPr/>
        </p:nvSpPr>
        <p:spPr>
          <a:xfrm>
            <a:off x="457200" y="1609344"/>
            <a:ext cx="5120640" cy="347472"/>
          </a:xfrm>
          <a:prstGeom prst="rect">
            <a:avLst/>
          </a:prstGeom>
          <a:solidFill>
            <a:srgbClr val="FFFFFF"/>
          </a:solidFill>
          <a:ln w="6350">
            <a:solidFill>
              <a:srgbClr val="DCEEF8"/>
            </a:solidFill>
            <a:prstDash val="solid"/>
          </a:ln>
        </p:spPr>
        <p:txBody>
          <a:bodyPr/>
          <a:lstStyle/>
          <a:p>
            <a:endParaRPr lang="en-US"/>
          </a:p>
        </p:txBody>
      </p:sp>
      <p:sp>
        <p:nvSpPr>
          <p:cNvPr id="12" name="Text 10"/>
          <p:cNvSpPr/>
          <p:nvPr/>
        </p:nvSpPr>
        <p:spPr>
          <a:xfrm>
            <a:off x="566928" y="1609344"/>
            <a:ext cx="1097280" cy="347472"/>
          </a:xfrm>
          <a:prstGeom prst="rect">
            <a:avLst/>
          </a:prstGeom>
          <a:noFill/>
          <a:ln/>
        </p:spPr>
        <p:txBody>
          <a:bodyPr wrap="square" lIns="0" tIns="0" rIns="0" bIns="0" rtlCol="0" anchor="ctr"/>
          <a:lstStyle/>
          <a:p>
            <a:pPr marL="0" indent="0">
              <a:buNone/>
            </a:pPr>
            <a:r>
              <a:rPr lang="en-US" sz="900" b="1" dirty="0">
                <a:solidFill>
                  <a:srgbClr val="0098D4"/>
                </a:solidFill>
                <a:latin typeface="Courier New" pitchFamily="34" charset="0"/>
                <a:ea typeface="Courier New" pitchFamily="34" charset="-122"/>
                <a:cs typeface="Courier New" pitchFamily="34" charset="-120"/>
              </a:rPr>
              <a:t>&lt;main&gt;</a:t>
            </a:r>
            <a:endParaRPr lang="en-US" sz="900" dirty="0"/>
          </a:p>
        </p:txBody>
      </p:sp>
      <p:sp>
        <p:nvSpPr>
          <p:cNvPr id="13" name="Text 11"/>
          <p:cNvSpPr/>
          <p:nvPr/>
        </p:nvSpPr>
        <p:spPr>
          <a:xfrm>
            <a:off x="1700784" y="1609344"/>
            <a:ext cx="2011680" cy="347472"/>
          </a:xfrm>
          <a:prstGeom prst="rect">
            <a:avLst/>
          </a:prstGeom>
          <a:noFill/>
          <a:ln/>
        </p:spPr>
        <p:txBody>
          <a:bodyPr wrap="square" lIns="0" tIns="0" rIns="0" bIns="0" rtlCol="0" anchor="ctr"/>
          <a:lstStyle/>
          <a:p>
            <a:pPr marL="0" indent="0">
              <a:buNone/>
            </a:pPr>
            <a:r>
              <a:rPr lang="en-US" sz="850" dirty="0">
                <a:solidFill>
                  <a:srgbClr val="1E2A38"/>
                </a:solidFill>
                <a:latin typeface="Calibri" pitchFamily="34" charset="0"/>
                <a:ea typeface="Calibri" pitchFamily="34" charset="-122"/>
                <a:cs typeface="Calibri" pitchFamily="34" charset="-120"/>
              </a:rPr>
              <a:t>the one primary region</a:t>
            </a:r>
            <a:endParaRPr lang="en-US" sz="850" dirty="0"/>
          </a:p>
        </p:txBody>
      </p:sp>
      <p:sp>
        <p:nvSpPr>
          <p:cNvPr id="14" name="Text 12"/>
          <p:cNvSpPr/>
          <p:nvPr/>
        </p:nvSpPr>
        <p:spPr>
          <a:xfrm>
            <a:off x="3749040" y="1609344"/>
            <a:ext cx="1773936" cy="347472"/>
          </a:xfrm>
          <a:prstGeom prst="rect">
            <a:avLst/>
          </a:prstGeom>
          <a:noFill/>
          <a:ln/>
        </p:spPr>
        <p:txBody>
          <a:bodyPr wrap="square" lIns="0" tIns="0" rIns="0" bIns="0" rtlCol="0" anchor="ctr"/>
          <a:lstStyle/>
          <a:p>
            <a:pPr marL="0" indent="0">
              <a:buNone/>
            </a:pPr>
            <a:r>
              <a:rPr lang="en-US" sz="750" dirty="0">
                <a:solidFill>
                  <a:srgbClr val="6B7280"/>
                </a:solidFill>
                <a:latin typeface="Calibri" pitchFamily="34" charset="0"/>
                <a:ea typeface="Calibri" pitchFamily="34" charset="-122"/>
                <a:cs typeface="Calibri" pitchFamily="34" charset="-120"/>
              </a:rPr>
              <a:t>exactly one per page</a:t>
            </a:r>
            <a:endParaRPr lang="en-US" sz="750" dirty="0"/>
          </a:p>
        </p:txBody>
      </p:sp>
      <p:sp>
        <p:nvSpPr>
          <p:cNvPr id="15" name="Shape 13"/>
          <p:cNvSpPr/>
          <p:nvPr/>
        </p:nvSpPr>
        <p:spPr>
          <a:xfrm>
            <a:off x="457200" y="2011680"/>
            <a:ext cx="5120640" cy="347472"/>
          </a:xfrm>
          <a:prstGeom prst="rect">
            <a:avLst/>
          </a:prstGeom>
          <a:solidFill>
            <a:srgbClr val="F0F8FD"/>
          </a:solidFill>
          <a:ln w="6350">
            <a:solidFill>
              <a:srgbClr val="DCEEF8"/>
            </a:solidFill>
            <a:prstDash val="solid"/>
          </a:ln>
        </p:spPr>
        <p:txBody>
          <a:bodyPr/>
          <a:lstStyle/>
          <a:p>
            <a:endParaRPr lang="en-US"/>
          </a:p>
        </p:txBody>
      </p:sp>
      <p:sp>
        <p:nvSpPr>
          <p:cNvPr id="16" name="Text 14"/>
          <p:cNvSpPr/>
          <p:nvPr/>
        </p:nvSpPr>
        <p:spPr>
          <a:xfrm>
            <a:off x="566928" y="2011680"/>
            <a:ext cx="1097280" cy="347472"/>
          </a:xfrm>
          <a:prstGeom prst="rect">
            <a:avLst/>
          </a:prstGeom>
          <a:noFill/>
          <a:ln/>
        </p:spPr>
        <p:txBody>
          <a:bodyPr wrap="square" lIns="0" tIns="0" rIns="0" bIns="0" rtlCol="0" anchor="ctr"/>
          <a:lstStyle/>
          <a:p>
            <a:pPr marL="0" indent="0">
              <a:buNone/>
            </a:pPr>
            <a:r>
              <a:rPr lang="en-US" sz="900" b="1" dirty="0">
                <a:solidFill>
                  <a:srgbClr val="0098D4"/>
                </a:solidFill>
                <a:latin typeface="Courier New" pitchFamily="34" charset="0"/>
                <a:ea typeface="Courier New" pitchFamily="34" charset="-122"/>
                <a:cs typeface="Courier New" pitchFamily="34" charset="-120"/>
              </a:rPr>
              <a:t>&lt;article&gt;</a:t>
            </a:r>
            <a:endParaRPr lang="en-US" sz="900" dirty="0"/>
          </a:p>
        </p:txBody>
      </p:sp>
      <p:sp>
        <p:nvSpPr>
          <p:cNvPr id="17" name="Text 15"/>
          <p:cNvSpPr/>
          <p:nvPr/>
        </p:nvSpPr>
        <p:spPr>
          <a:xfrm>
            <a:off x="1700784" y="2011680"/>
            <a:ext cx="2011680" cy="347472"/>
          </a:xfrm>
          <a:prstGeom prst="rect">
            <a:avLst/>
          </a:prstGeom>
          <a:noFill/>
          <a:ln/>
        </p:spPr>
        <p:txBody>
          <a:bodyPr wrap="square" lIns="0" tIns="0" rIns="0" bIns="0" rtlCol="0" anchor="ctr"/>
          <a:lstStyle/>
          <a:p>
            <a:pPr marL="0" indent="0">
              <a:buNone/>
            </a:pPr>
            <a:r>
              <a:rPr lang="en-US" sz="850" dirty="0">
                <a:solidFill>
                  <a:srgbClr val="1E2A38"/>
                </a:solidFill>
                <a:latin typeface="Calibri" pitchFamily="34" charset="0"/>
                <a:ea typeface="Calibri" pitchFamily="34" charset="-122"/>
                <a:cs typeface="Calibri" pitchFamily="34" charset="-120"/>
              </a:rPr>
              <a:t>one self-contained record</a:t>
            </a:r>
            <a:endParaRPr lang="en-US" sz="850" dirty="0"/>
          </a:p>
        </p:txBody>
      </p:sp>
      <p:sp>
        <p:nvSpPr>
          <p:cNvPr id="18" name="Text 16"/>
          <p:cNvSpPr/>
          <p:nvPr/>
        </p:nvSpPr>
        <p:spPr>
          <a:xfrm>
            <a:off x="3749040" y="2011680"/>
            <a:ext cx="1773936" cy="347472"/>
          </a:xfrm>
          <a:prstGeom prst="rect">
            <a:avLst/>
          </a:prstGeom>
          <a:noFill/>
          <a:ln/>
        </p:spPr>
        <p:txBody>
          <a:bodyPr wrap="square" lIns="0" tIns="0" rIns="0" bIns="0" rtlCol="0" anchor="ctr"/>
          <a:lstStyle/>
          <a:p>
            <a:pPr marL="0" indent="0">
              <a:buNone/>
            </a:pPr>
            <a:r>
              <a:rPr lang="en-US" sz="750" dirty="0">
                <a:solidFill>
                  <a:srgbClr val="6B7280"/>
                </a:solidFill>
                <a:latin typeface="Calibri" pitchFamily="34" charset="0"/>
                <a:ea typeface="Calibri" pitchFamily="34" charset="-122"/>
                <a:cs typeface="Calibri" pitchFamily="34" charset="-120"/>
              </a:rPr>
              <a:t>this is your note / recipe / expense</a:t>
            </a:r>
            <a:endParaRPr lang="en-US" sz="750" dirty="0"/>
          </a:p>
        </p:txBody>
      </p:sp>
      <p:sp>
        <p:nvSpPr>
          <p:cNvPr id="19" name="Shape 17"/>
          <p:cNvSpPr/>
          <p:nvPr/>
        </p:nvSpPr>
        <p:spPr>
          <a:xfrm>
            <a:off x="457200" y="2414016"/>
            <a:ext cx="5120640" cy="347472"/>
          </a:xfrm>
          <a:prstGeom prst="rect">
            <a:avLst/>
          </a:prstGeom>
          <a:solidFill>
            <a:srgbClr val="FFFFFF"/>
          </a:solidFill>
          <a:ln w="6350">
            <a:solidFill>
              <a:srgbClr val="DCEEF8"/>
            </a:solidFill>
            <a:prstDash val="solid"/>
          </a:ln>
        </p:spPr>
        <p:txBody>
          <a:bodyPr/>
          <a:lstStyle/>
          <a:p>
            <a:endParaRPr lang="en-US"/>
          </a:p>
        </p:txBody>
      </p:sp>
      <p:sp>
        <p:nvSpPr>
          <p:cNvPr id="20" name="Text 18"/>
          <p:cNvSpPr/>
          <p:nvPr/>
        </p:nvSpPr>
        <p:spPr>
          <a:xfrm>
            <a:off x="566928" y="2414016"/>
            <a:ext cx="1097280" cy="347472"/>
          </a:xfrm>
          <a:prstGeom prst="rect">
            <a:avLst/>
          </a:prstGeom>
          <a:noFill/>
          <a:ln/>
        </p:spPr>
        <p:txBody>
          <a:bodyPr wrap="square" lIns="0" tIns="0" rIns="0" bIns="0" rtlCol="0" anchor="ctr"/>
          <a:lstStyle/>
          <a:p>
            <a:pPr marL="0" indent="0">
              <a:buNone/>
            </a:pPr>
            <a:r>
              <a:rPr lang="en-US" sz="900" b="1" dirty="0">
                <a:solidFill>
                  <a:srgbClr val="0098D4"/>
                </a:solidFill>
                <a:latin typeface="Courier New" pitchFamily="34" charset="0"/>
                <a:ea typeface="Courier New" pitchFamily="34" charset="-122"/>
                <a:cs typeface="Courier New" pitchFamily="34" charset="-120"/>
              </a:rPr>
              <a:t>&lt;section&gt;</a:t>
            </a:r>
            <a:endParaRPr lang="en-US" sz="900" dirty="0"/>
          </a:p>
        </p:txBody>
      </p:sp>
      <p:sp>
        <p:nvSpPr>
          <p:cNvPr id="21" name="Text 19"/>
          <p:cNvSpPr/>
          <p:nvPr/>
        </p:nvSpPr>
        <p:spPr>
          <a:xfrm>
            <a:off x="1700784" y="2414016"/>
            <a:ext cx="2011680" cy="347472"/>
          </a:xfrm>
          <a:prstGeom prst="rect">
            <a:avLst/>
          </a:prstGeom>
          <a:noFill/>
          <a:ln/>
        </p:spPr>
        <p:txBody>
          <a:bodyPr wrap="square" lIns="0" tIns="0" rIns="0" bIns="0" rtlCol="0" anchor="ctr"/>
          <a:lstStyle/>
          <a:p>
            <a:pPr marL="0" indent="0">
              <a:buNone/>
            </a:pPr>
            <a:r>
              <a:rPr lang="en-US" sz="850" dirty="0">
                <a:solidFill>
                  <a:srgbClr val="1E2A38"/>
                </a:solidFill>
                <a:latin typeface="Calibri" pitchFamily="34" charset="0"/>
                <a:ea typeface="Calibri" pitchFamily="34" charset="-122"/>
                <a:cs typeface="Calibri" pitchFamily="34" charset="-120"/>
              </a:rPr>
              <a:t>a thematic grouping</a:t>
            </a:r>
            <a:endParaRPr lang="en-US" sz="850" dirty="0"/>
          </a:p>
        </p:txBody>
      </p:sp>
      <p:sp>
        <p:nvSpPr>
          <p:cNvPr id="22" name="Text 20"/>
          <p:cNvSpPr/>
          <p:nvPr/>
        </p:nvSpPr>
        <p:spPr>
          <a:xfrm>
            <a:off x="3749040" y="2414016"/>
            <a:ext cx="1773936" cy="347472"/>
          </a:xfrm>
          <a:prstGeom prst="rect">
            <a:avLst/>
          </a:prstGeom>
          <a:noFill/>
          <a:ln/>
        </p:spPr>
        <p:txBody>
          <a:bodyPr wrap="square" lIns="0" tIns="0" rIns="0" bIns="0" rtlCol="0" anchor="ctr"/>
          <a:lstStyle/>
          <a:p>
            <a:pPr marL="0" indent="0">
              <a:buNone/>
            </a:pPr>
            <a:r>
              <a:rPr lang="en-US" sz="750" dirty="0">
                <a:solidFill>
                  <a:srgbClr val="6B7280"/>
                </a:solidFill>
                <a:latin typeface="Calibri" pitchFamily="34" charset="0"/>
                <a:ea typeface="Calibri" pitchFamily="34" charset="-122"/>
                <a:cs typeface="Calibri" pitchFamily="34" charset="-120"/>
              </a:rPr>
              <a:t>needs a heading to earn its name</a:t>
            </a:r>
            <a:endParaRPr lang="en-US" sz="750" dirty="0"/>
          </a:p>
        </p:txBody>
      </p:sp>
      <p:sp>
        <p:nvSpPr>
          <p:cNvPr id="23" name="Shape 21"/>
          <p:cNvSpPr/>
          <p:nvPr/>
        </p:nvSpPr>
        <p:spPr>
          <a:xfrm>
            <a:off x="457200" y="2816352"/>
            <a:ext cx="5120640" cy="347472"/>
          </a:xfrm>
          <a:prstGeom prst="rect">
            <a:avLst/>
          </a:prstGeom>
          <a:solidFill>
            <a:srgbClr val="F0F8FD"/>
          </a:solidFill>
          <a:ln w="6350">
            <a:solidFill>
              <a:srgbClr val="DCEEF8"/>
            </a:solidFill>
            <a:prstDash val="solid"/>
          </a:ln>
        </p:spPr>
        <p:txBody>
          <a:bodyPr/>
          <a:lstStyle/>
          <a:p>
            <a:endParaRPr lang="en-US"/>
          </a:p>
        </p:txBody>
      </p:sp>
      <p:sp>
        <p:nvSpPr>
          <p:cNvPr id="24" name="Text 22"/>
          <p:cNvSpPr/>
          <p:nvPr/>
        </p:nvSpPr>
        <p:spPr>
          <a:xfrm>
            <a:off x="566928" y="2816352"/>
            <a:ext cx="1097280" cy="347472"/>
          </a:xfrm>
          <a:prstGeom prst="rect">
            <a:avLst/>
          </a:prstGeom>
          <a:noFill/>
          <a:ln/>
        </p:spPr>
        <p:txBody>
          <a:bodyPr wrap="square" lIns="0" tIns="0" rIns="0" bIns="0" rtlCol="0" anchor="ctr"/>
          <a:lstStyle/>
          <a:p>
            <a:pPr marL="0" indent="0">
              <a:buNone/>
            </a:pPr>
            <a:r>
              <a:rPr lang="en-US" sz="900" b="1" dirty="0">
                <a:solidFill>
                  <a:srgbClr val="0098D4"/>
                </a:solidFill>
                <a:latin typeface="Courier New" pitchFamily="34" charset="0"/>
                <a:ea typeface="Courier New" pitchFamily="34" charset="-122"/>
                <a:cs typeface="Courier New" pitchFamily="34" charset="-120"/>
              </a:rPr>
              <a:t>&lt;button&gt;</a:t>
            </a:r>
            <a:endParaRPr lang="en-US" sz="900" dirty="0"/>
          </a:p>
        </p:txBody>
      </p:sp>
      <p:sp>
        <p:nvSpPr>
          <p:cNvPr id="25" name="Text 23"/>
          <p:cNvSpPr/>
          <p:nvPr/>
        </p:nvSpPr>
        <p:spPr>
          <a:xfrm>
            <a:off x="1700784" y="2816352"/>
            <a:ext cx="2011680" cy="347472"/>
          </a:xfrm>
          <a:prstGeom prst="rect">
            <a:avLst/>
          </a:prstGeom>
          <a:noFill/>
          <a:ln/>
        </p:spPr>
        <p:txBody>
          <a:bodyPr wrap="square" lIns="0" tIns="0" rIns="0" bIns="0" rtlCol="0" anchor="ctr"/>
          <a:lstStyle/>
          <a:p>
            <a:pPr marL="0" indent="0">
              <a:buNone/>
            </a:pPr>
            <a:r>
              <a:rPr lang="en-US" sz="850" dirty="0">
                <a:solidFill>
                  <a:srgbClr val="1E2A38"/>
                </a:solidFill>
                <a:latin typeface="Calibri" pitchFamily="34" charset="0"/>
                <a:ea typeface="Calibri" pitchFamily="34" charset="-122"/>
                <a:cs typeface="Calibri" pitchFamily="34" charset="-120"/>
              </a:rPr>
              <a:t>anything that performs an action</a:t>
            </a:r>
            <a:endParaRPr lang="en-US" sz="850" dirty="0"/>
          </a:p>
        </p:txBody>
      </p:sp>
      <p:sp>
        <p:nvSpPr>
          <p:cNvPr id="26" name="Text 24"/>
          <p:cNvSpPr/>
          <p:nvPr/>
        </p:nvSpPr>
        <p:spPr>
          <a:xfrm>
            <a:off x="3749040" y="2816352"/>
            <a:ext cx="1773936" cy="347472"/>
          </a:xfrm>
          <a:prstGeom prst="rect">
            <a:avLst/>
          </a:prstGeom>
          <a:noFill/>
          <a:ln/>
        </p:spPr>
        <p:txBody>
          <a:bodyPr wrap="square" lIns="0" tIns="0" rIns="0" bIns="0" rtlCol="0" anchor="ctr"/>
          <a:lstStyle/>
          <a:p>
            <a:pPr marL="0" indent="0">
              <a:buNone/>
            </a:pPr>
            <a:r>
              <a:rPr lang="en-US" sz="750" dirty="0">
                <a:solidFill>
                  <a:srgbClr val="6B7280"/>
                </a:solidFill>
                <a:latin typeface="Calibri" pitchFamily="34" charset="0"/>
                <a:ea typeface="Calibri" pitchFamily="34" charset="-122"/>
                <a:cs typeface="Calibri" pitchFamily="34" charset="-120"/>
              </a:rPr>
              <a:t>keyboard and screen reader for free</a:t>
            </a:r>
            <a:endParaRPr lang="en-US" sz="750" dirty="0"/>
          </a:p>
        </p:txBody>
      </p:sp>
      <p:sp>
        <p:nvSpPr>
          <p:cNvPr id="27" name="Text 25"/>
          <p:cNvSpPr/>
          <p:nvPr/>
        </p:nvSpPr>
        <p:spPr>
          <a:xfrm>
            <a:off x="5797296" y="969264"/>
            <a:ext cx="2926080" cy="182880"/>
          </a:xfrm>
          <a:prstGeom prst="rect">
            <a:avLst/>
          </a:prstGeom>
          <a:noFill/>
          <a:ln/>
        </p:spPr>
        <p:txBody>
          <a:bodyPr wrap="square" lIns="0" tIns="0" rIns="0" bIns="0" rtlCol="0" anchor="ctr"/>
          <a:lstStyle/>
          <a:p>
            <a:pPr marL="0" indent="0">
              <a:buNone/>
            </a:pPr>
            <a:r>
              <a:rPr lang="en-US" sz="800" b="1" kern="0" spc="120" dirty="0">
                <a:solidFill>
                  <a:srgbClr val="6B7280"/>
                </a:solidFill>
                <a:latin typeface="Calibri" pitchFamily="34" charset="0"/>
                <a:ea typeface="Calibri" pitchFamily="34" charset="-122"/>
                <a:cs typeface="Calibri" pitchFamily="34" charset="-120"/>
              </a:rPr>
              <a:t>BUILD THESE FOUR REGIONS</a:t>
            </a:r>
            <a:endParaRPr lang="en-US" sz="800" dirty="0"/>
          </a:p>
        </p:txBody>
      </p:sp>
      <p:sp>
        <p:nvSpPr>
          <p:cNvPr id="28" name="Shape 26"/>
          <p:cNvSpPr/>
          <p:nvPr/>
        </p:nvSpPr>
        <p:spPr>
          <a:xfrm>
            <a:off x="5797296" y="1207008"/>
            <a:ext cx="2889504" cy="402336"/>
          </a:xfrm>
          <a:prstGeom prst="rect">
            <a:avLst/>
          </a:prstGeom>
          <a:solidFill>
            <a:srgbClr val="FFFFFF"/>
          </a:solidFill>
          <a:ln w="9525">
            <a:solidFill>
              <a:srgbClr val="DCEEF8"/>
            </a:solidFill>
            <a:prstDash val="solid"/>
          </a:ln>
        </p:spPr>
        <p:txBody>
          <a:bodyPr/>
          <a:lstStyle/>
          <a:p>
            <a:endParaRPr lang="en-US"/>
          </a:p>
        </p:txBody>
      </p:sp>
      <p:sp>
        <p:nvSpPr>
          <p:cNvPr id="29" name="Shape 27"/>
          <p:cNvSpPr/>
          <p:nvPr/>
        </p:nvSpPr>
        <p:spPr>
          <a:xfrm>
            <a:off x="5797296" y="1207008"/>
            <a:ext cx="54864" cy="402336"/>
          </a:xfrm>
          <a:prstGeom prst="rect">
            <a:avLst/>
          </a:prstGeom>
          <a:solidFill>
            <a:srgbClr val="0098D4"/>
          </a:solidFill>
          <a:ln w="12700">
            <a:solidFill>
              <a:srgbClr val="0098D4"/>
            </a:solidFill>
            <a:prstDash val="solid"/>
          </a:ln>
        </p:spPr>
        <p:txBody>
          <a:bodyPr/>
          <a:lstStyle/>
          <a:p>
            <a:endParaRPr lang="en-US"/>
          </a:p>
        </p:txBody>
      </p:sp>
      <p:sp>
        <p:nvSpPr>
          <p:cNvPr id="30" name="Text 28"/>
          <p:cNvSpPr/>
          <p:nvPr/>
        </p:nvSpPr>
        <p:spPr>
          <a:xfrm>
            <a:off x="5961888" y="1207008"/>
            <a:ext cx="1005840" cy="402336"/>
          </a:xfrm>
          <a:prstGeom prst="rect">
            <a:avLst/>
          </a:prstGeom>
          <a:noFill/>
          <a:ln/>
        </p:spPr>
        <p:txBody>
          <a:bodyPr wrap="square" lIns="0" tIns="0" rIns="0" bIns="0" rtlCol="0" anchor="ctr"/>
          <a:lstStyle/>
          <a:p>
            <a:pPr marL="0" indent="0">
              <a:buNone/>
            </a:pPr>
            <a:r>
              <a:rPr lang="en-US" sz="800" b="1" kern="0" spc="80" dirty="0">
                <a:solidFill>
                  <a:srgbClr val="1E2A38"/>
                </a:solidFill>
                <a:latin typeface="Calibri" pitchFamily="34" charset="0"/>
                <a:ea typeface="Calibri" pitchFamily="34" charset="-122"/>
                <a:cs typeface="Calibri" pitchFamily="34" charset="-120"/>
              </a:rPr>
              <a:t>HEADER</a:t>
            </a:r>
            <a:endParaRPr lang="en-US" sz="800" dirty="0"/>
          </a:p>
        </p:txBody>
      </p:sp>
      <p:sp>
        <p:nvSpPr>
          <p:cNvPr id="31" name="Text 29"/>
          <p:cNvSpPr/>
          <p:nvPr/>
        </p:nvSpPr>
        <p:spPr>
          <a:xfrm>
            <a:off x="6967728" y="1207008"/>
            <a:ext cx="1645920" cy="402336"/>
          </a:xfrm>
          <a:prstGeom prst="rect">
            <a:avLst/>
          </a:prstGeom>
          <a:noFill/>
          <a:ln/>
        </p:spPr>
        <p:txBody>
          <a:bodyPr wrap="square" lIns="0" tIns="0" rIns="0" bIns="0" rtlCol="0" anchor="ctr"/>
          <a:lstStyle/>
          <a:p>
            <a:pPr marL="0" indent="0">
              <a:buNone/>
            </a:pPr>
            <a:r>
              <a:rPr lang="en-US" sz="750" dirty="0">
                <a:solidFill>
                  <a:srgbClr val="6B7280"/>
                </a:solidFill>
                <a:latin typeface="Calibri" pitchFamily="34" charset="0"/>
                <a:ea typeface="Calibri" pitchFamily="34" charset="-122"/>
                <a:cs typeface="Calibri" pitchFamily="34" charset="-120"/>
              </a:rPr>
              <a:t>app name, add button</a:t>
            </a:r>
            <a:endParaRPr lang="en-US" sz="750" dirty="0"/>
          </a:p>
        </p:txBody>
      </p:sp>
      <p:sp>
        <p:nvSpPr>
          <p:cNvPr id="32" name="Shape 30"/>
          <p:cNvSpPr/>
          <p:nvPr/>
        </p:nvSpPr>
        <p:spPr>
          <a:xfrm>
            <a:off x="5797296" y="1682496"/>
            <a:ext cx="2889504" cy="402336"/>
          </a:xfrm>
          <a:prstGeom prst="rect">
            <a:avLst/>
          </a:prstGeom>
          <a:solidFill>
            <a:srgbClr val="FFFFFF"/>
          </a:solidFill>
          <a:ln w="9525">
            <a:solidFill>
              <a:srgbClr val="DCEEF8"/>
            </a:solidFill>
            <a:prstDash val="solid"/>
          </a:ln>
        </p:spPr>
        <p:txBody>
          <a:bodyPr/>
          <a:lstStyle/>
          <a:p>
            <a:endParaRPr lang="en-US"/>
          </a:p>
        </p:txBody>
      </p:sp>
      <p:sp>
        <p:nvSpPr>
          <p:cNvPr id="33" name="Shape 31"/>
          <p:cNvSpPr/>
          <p:nvPr/>
        </p:nvSpPr>
        <p:spPr>
          <a:xfrm>
            <a:off x="5797296" y="1682496"/>
            <a:ext cx="54864" cy="402336"/>
          </a:xfrm>
          <a:prstGeom prst="rect">
            <a:avLst/>
          </a:prstGeom>
          <a:solidFill>
            <a:srgbClr val="0098D4"/>
          </a:solidFill>
          <a:ln w="12700">
            <a:solidFill>
              <a:srgbClr val="0098D4"/>
            </a:solidFill>
            <a:prstDash val="solid"/>
          </a:ln>
        </p:spPr>
        <p:txBody>
          <a:bodyPr/>
          <a:lstStyle/>
          <a:p>
            <a:endParaRPr lang="en-US"/>
          </a:p>
        </p:txBody>
      </p:sp>
      <p:sp>
        <p:nvSpPr>
          <p:cNvPr id="34" name="Text 32"/>
          <p:cNvSpPr/>
          <p:nvPr/>
        </p:nvSpPr>
        <p:spPr>
          <a:xfrm>
            <a:off x="5961888" y="1682496"/>
            <a:ext cx="1005840" cy="402336"/>
          </a:xfrm>
          <a:prstGeom prst="rect">
            <a:avLst/>
          </a:prstGeom>
          <a:noFill/>
          <a:ln/>
        </p:spPr>
        <p:txBody>
          <a:bodyPr wrap="square" lIns="0" tIns="0" rIns="0" bIns="0" rtlCol="0" anchor="ctr"/>
          <a:lstStyle/>
          <a:p>
            <a:pPr marL="0" indent="0">
              <a:buNone/>
            </a:pPr>
            <a:r>
              <a:rPr lang="en-US" sz="800" b="1" kern="0" spc="80" dirty="0">
                <a:solidFill>
                  <a:srgbClr val="1E2A38"/>
                </a:solidFill>
                <a:latin typeface="Calibri" pitchFamily="34" charset="0"/>
                <a:ea typeface="Calibri" pitchFamily="34" charset="-122"/>
                <a:cs typeface="Calibri" pitchFamily="34" charset="-120"/>
              </a:rPr>
              <a:t>LIST</a:t>
            </a:r>
            <a:endParaRPr lang="en-US" sz="800" dirty="0"/>
          </a:p>
        </p:txBody>
      </p:sp>
      <p:sp>
        <p:nvSpPr>
          <p:cNvPr id="35" name="Text 33"/>
          <p:cNvSpPr/>
          <p:nvPr/>
        </p:nvSpPr>
        <p:spPr>
          <a:xfrm>
            <a:off x="6967728" y="1682496"/>
            <a:ext cx="1645920" cy="402336"/>
          </a:xfrm>
          <a:prstGeom prst="rect">
            <a:avLst/>
          </a:prstGeom>
          <a:noFill/>
          <a:ln/>
        </p:spPr>
        <p:txBody>
          <a:bodyPr wrap="square" lIns="0" tIns="0" rIns="0" bIns="0" rtlCol="0" anchor="ctr"/>
          <a:lstStyle/>
          <a:p>
            <a:pPr marL="0" indent="0">
              <a:buNone/>
            </a:pPr>
            <a:r>
              <a:rPr lang="en-US" sz="750" dirty="0">
                <a:solidFill>
                  <a:srgbClr val="6B7280"/>
                </a:solidFill>
                <a:latin typeface="Calibri" pitchFamily="34" charset="0"/>
                <a:ea typeface="Calibri" pitchFamily="34" charset="-122"/>
                <a:cs typeface="Calibri" pitchFamily="34" charset="-120"/>
              </a:rPr>
              <a:t>every record, newest first</a:t>
            </a:r>
            <a:endParaRPr lang="en-US" sz="750" dirty="0"/>
          </a:p>
        </p:txBody>
      </p:sp>
      <p:sp>
        <p:nvSpPr>
          <p:cNvPr id="36" name="Shape 34"/>
          <p:cNvSpPr/>
          <p:nvPr/>
        </p:nvSpPr>
        <p:spPr>
          <a:xfrm>
            <a:off x="5797296" y="2157984"/>
            <a:ext cx="2889504" cy="402336"/>
          </a:xfrm>
          <a:prstGeom prst="rect">
            <a:avLst/>
          </a:prstGeom>
          <a:solidFill>
            <a:srgbClr val="FFFFFF"/>
          </a:solidFill>
          <a:ln w="9525">
            <a:solidFill>
              <a:srgbClr val="DCEEF8"/>
            </a:solidFill>
            <a:prstDash val="solid"/>
          </a:ln>
        </p:spPr>
        <p:txBody>
          <a:bodyPr/>
          <a:lstStyle/>
          <a:p>
            <a:endParaRPr lang="en-US"/>
          </a:p>
        </p:txBody>
      </p:sp>
      <p:sp>
        <p:nvSpPr>
          <p:cNvPr id="37" name="Shape 35"/>
          <p:cNvSpPr/>
          <p:nvPr/>
        </p:nvSpPr>
        <p:spPr>
          <a:xfrm>
            <a:off x="5797296" y="2157984"/>
            <a:ext cx="54864" cy="402336"/>
          </a:xfrm>
          <a:prstGeom prst="rect">
            <a:avLst/>
          </a:prstGeom>
          <a:solidFill>
            <a:srgbClr val="0098D4"/>
          </a:solidFill>
          <a:ln w="12700">
            <a:solidFill>
              <a:srgbClr val="0098D4"/>
            </a:solidFill>
            <a:prstDash val="solid"/>
          </a:ln>
        </p:spPr>
        <p:txBody>
          <a:bodyPr/>
          <a:lstStyle/>
          <a:p>
            <a:endParaRPr lang="en-US"/>
          </a:p>
        </p:txBody>
      </p:sp>
      <p:sp>
        <p:nvSpPr>
          <p:cNvPr id="38" name="Text 36"/>
          <p:cNvSpPr/>
          <p:nvPr/>
        </p:nvSpPr>
        <p:spPr>
          <a:xfrm>
            <a:off x="5961888" y="2157984"/>
            <a:ext cx="1005840" cy="402336"/>
          </a:xfrm>
          <a:prstGeom prst="rect">
            <a:avLst/>
          </a:prstGeom>
          <a:noFill/>
          <a:ln/>
        </p:spPr>
        <p:txBody>
          <a:bodyPr wrap="square" lIns="0" tIns="0" rIns="0" bIns="0" rtlCol="0" anchor="ctr"/>
          <a:lstStyle/>
          <a:p>
            <a:pPr marL="0" indent="0">
              <a:buNone/>
            </a:pPr>
            <a:r>
              <a:rPr lang="en-US" sz="800" b="1" kern="0" spc="80" dirty="0">
                <a:solidFill>
                  <a:srgbClr val="1E2A38"/>
                </a:solidFill>
                <a:latin typeface="Calibri" pitchFamily="34" charset="0"/>
                <a:ea typeface="Calibri" pitchFamily="34" charset="-122"/>
                <a:cs typeface="Calibri" pitchFamily="34" charset="-120"/>
              </a:rPr>
              <a:t>DETAIL</a:t>
            </a:r>
            <a:endParaRPr lang="en-US" sz="800" dirty="0"/>
          </a:p>
        </p:txBody>
      </p:sp>
      <p:sp>
        <p:nvSpPr>
          <p:cNvPr id="39" name="Text 37"/>
          <p:cNvSpPr/>
          <p:nvPr/>
        </p:nvSpPr>
        <p:spPr>
          <a:xfrm>
            <a:off x="6967728" y="2157984"/>
            <a:ext cx="1645920" cy="402336"/>
          </a:xfrm>
          <a:prstGeom prst="rect">
            <a:avLst/>
          </a:prstGeom>
          <a:noFill/>
          <a:ln/>
        </p:spPr>
        <p:txBody>
          <a:bodyPr wrap="square" lIns="0" tIns="0" rIns="0" bIns="0" rtlCol="0" anchor="ctr"/>
          <a:lstStyle/>
          <a:p>
            <a:pPr marL="0" indent="0">
              <a:buNone/>
            </a:pPr>
            <a:r>
              <a:rPr lang="en-US" sz="750" dirty="0">
                <a:solidFill>
                  <a:srgbClr val="6B7280"/>
                </a:solidFill>
                <a:latin typeface="Calibri" pitchFamily="34" charset="0"/>
                <a:ea typeface="Calibri" pitchFamily="34" charset="-122"/>
                <a:cs typeface="Calibri" pitchFamily="34" charset="-120"/>
              </a:rPr>
              <a:t>one record, expanded</a:t>
            </a:r>
            <a:endParaRPr lang="en-US" sz="750" dirty="0"/>
          </a:p>
        </p:txBody>
      </p:sp>
      <p:sp>
        <p:nvSpPr>
          <p:cNvPr id="40" name="Shape 38"/>
          <p:cNvSpPr/>
          <p:nvPr/>
        </p:nvSpPr>
        <p:spPr>
          <a:xfrm>
            <a:off x="5797296" y="2633472"/>
            <a:ext cx="2889504" cy="402336"/>
          </a:xfrm>
          <a:prstGeom prst="rect">
            <a:avLst/>
          </a:prstGeom>
          <a:solidFill>
            <a:srgbClr val="FFFFFF"/>
          </a:solidFill>
          <a:ln w="9525">
            <a:solidFill>
              <a:srgbClr val="DCEEF8"/>
            </a:solidFill>
            <a:prstDash val="solid"/>
          </a:ln>
        </p:spPr>
        <p:txBody>
          <a:bodyPr/>
          <a:lstStyle/>
          <a:p>
            <a:endParaRPr lang="en-US"/>
          </a:p>
        </p:txBody>
      </p:sp>
      <p:sp>
        <p:nvSpPr>
          <p:cNvPr id="41" name="Shape 39"/>
          <p:cNvSpPr/>
          <p:nvPr/>
        </p:nvSpPr>
        <p:spPr>
          <a:xfrm>
            <a:off x="5797296" y="2633472"/>
            <a:ext cx="54864" cy="402336"/>
          </a:xfrm>
          <a:prstGeom prst="rect">
            <a:avLst/>
          </a:prstGeom>
          <a:solidFill>
            <a:srgbClr val="0098D4"/>
          </a:solidFill>
          <a:ln w="12700">
            <a:solidFill>
              <a:srgbClr val="0098D4"/>
            </a:solidFill>
            <a:prstDash val="solid"/>
          </a:ln>
        </p:spPr>
        <p:txBody>
          <a:bodyPr/>
          <a:lstStyle/>
          <a:p>
            <a:endParaRPr lang="en-US"/>
          </a:p>
        </p:txBody>
      </p:sp>
      <p:sp>
        <p:nvSpPr>
          <p:cNvPr id="42" name="Text 40"/>
          <p:cNvSpPr/>
          <p:nvPr/>
        </p:nvSpPr>
        <p:spPr>
          <a:xfrm>
            <a:off x="5961888" y="2633472"/>
            <a:ext cx="1005840" cy="402336"/>
          </a:xfrm>
          <a:prstGeom prst="rect">
            <a:avLst/>
          </a:prstGeom>
          <a:noFill/>
          <a:ln/>
        </p:spPr>
        <p:txBody>
          <a:bodyPr wrap="square" lIns="0" tIns="0" rIns="0" bIns="0" rtlCol="0" anchor="ctr"/>
          <a:lstStyle/>
          <a:p>
            <a:pPr marL="0" indent="0">
              <a:buNone/>
            </a:pPr>
            <a:r>
              <a:rPr lang="en-US" sz="800" b="1" kern="0" spc="80" dirty="0">
                <a:solidFill>
                  <a:srgbClr val="1E2A38"/>
                </a:solidFill>
                <a:latin typeface="Calibri" pitchFamily="34" charset="0"/>
                <a:ea typeface="Calibri" pitchFamily="34" charset="-122"/>
                <a:cs typeface="Calibri" pitchFamily="34" charset="-120"/>
              </a:rPr>
              <a:t>EMPTY STATE</a:t>
            </a:r>
            <a:endParaRPr lang="en-US" sz="800" dirty="0"/>
          </a:p>
        </p:txBody>
      </p:sp>
      <p:sp>
        <p:nvSpPr>
          <p:cNvPr id="43" name="Text 41"/>
          <p:cNvSpPr/>
          <p:nvPr/>
        </p:nvSpPr>
        <p:spPr>
          <a:xfrm>
            <a:off x="6967728" y="2633472"/>
            <a:ext cx="1645920" cy="402336"/>
          </a:xfrm>
          <a:prstGeom prst="rect">
            <a:avLst/>
          </a:prstGeom>
          <a:noFill/>
          <a:ln/>
        </p:spPr>
        <p:txBody>
          <a:bodyPr wrap="square" lIns="0" tIns="0" rIns="0" bIns="0" rtlCol="0" anchor="ctr"/>
          <a:lstStyle/>
          <a:p>
            <a:pPr marL="0" indent="0">
              <a:buNone/>
            </a:pPr>
            <a:r>
              <a:rPr lang="en-US" sz="750" dirty="0">
                <a:solidFill>
                  <a:srgbClr val="6B7280"/>
                </a:solidFill>
                <a:latin typeface="Calibri" pitchFamily="34" charset="0"/>
                <a:ea typeface="Calibri" pitchFamily="34" charset="-122"/>
                <a:cs typeface="Calibri" pitchFamily="34" charset="-120"/>
              </a:rPr>
              <a:t>what a new user sees first</a:t>
            </a:r>
            <a:endParaRPr lang="en-US" sz="750" dirty="0"/>
          </a:p>
        </p:txBody>
      </p:sp>
      <p:sp>
        <p:nvSpPr>
          <p:cNvPr id="44" name="Text 42"/>
          <p:cNvSpPr/>
          <p:nvPr/>
        </p:nvSpPr>
        <p:spPr>
          <a:xfrm>
            <a:off x="457200" y="3346704"/>
            <a:ext cx="4572000" cy="182880"/>
          </a:xfrm>
          <a:prstGeom prst="rect">
            <a:avLst/>
          </a:prstGeom>
          <a:noFill/>
          <a:ln/>
        </p:spPr>
        <p:txBody>
          <a:bodyPr wrap="square" lIns="0" tIns="0" rIns="0" bIns="0" rtlCol="0" anchor="ctr"/>
          <a:lstStyle/>
          <a:p>
            <a:pPr marL="0" indent="0">
              <a:buNone/>
            </a:pPr>
            <a:r>
              <a:rPr lang="en-US" sz="800" b="1" kern="0" spc="120" dirty="0">
                <a:solidFill>
                  <a:srgbClr val="6B7280"/>
                </a:solidFill>
                <a:latin typeface="Calibri" pitchFamily="34" charset="0"/>
                <a:ea typeface="Calibri" pitchFamily="34" charset="-122"/>
                <a:cs typeface="Calibri" pitchFamily="34" charset="-120"/>
              </a:rPr>
              <a:t>THE ONE MOST PEOPLE SKIP</a:t>
            </a:r>
            <a:endParaRPr lang="en-US" sz="800" dirty="0"/>
          </a:p>
        </p:txBody>
      </p:sp>
      <p:sp>
        <p:nvSpPr>
          <p:cNvPr id="45" name="Text 43"/>
          <p:cNvSpPr/>
          <p:nvPr/>
        </p:nvSpPr>
        <p:spPr>
          <a:xfrm>
            <a:off x="457200" y="3566160"/>
            <a:ext cx="8229600" cy="457200"/>
          </a:xfrm>
          <a:prstGeom prst="rect">
            <a:avLst/>
          </a:prstGeom>
          <a:noFill/>
          <a:ln/>
        </p:spPr>
        <p:txBody>
          <a:bodyPr wrap="square" lIns="0" tIns="0" rIns="0" bIns="0" rtlCol="0" anchor="t"/>
          <a:lstStyle/>
          <a:p>
            <a:pPr marL="0" indent="0">
              <a:lnSpc>
                <a:spcPct val="105000"/>
              </a:lnSpc>
              <a:buNone/>
            </a:pPr>
            <a:r>
              <a:rPr lang="en-US" sz="1000" dirty="0">
                <a:solidFill>
                  <a:srgbClr val="1E2A38"/>
                </a:solidFill>
                <a:latin typeface="Calibri" pitchFamily="34" charset="0"/>
                <a:ea typeface="Calibri" pitchFamily="34" charset="-122"/>
                <a:cs typeface="Calibri" pitchFamily="34" charset="-120"/>
              </a:rPr>
              <a:t>The empty state. It is the very first thing every new user of your app will ever see, and it is the last thing anyone remembers to build. Build it today.</a:t>
            </a:r>
            <a:endParaRPr lang="en-US" sz="1000" dirty="0"/>
          </a:p>
        </p:txBody>
      </p:sp>
      <p:sp>
        <p:nvSpPr>
          <p:cNvPr id="46" name="Shape 44"/>
          <p:cNvSpPr/>
          <p:nvPr/>
        </p:nvSpPr>
        <p:spPr>
          <a:xfrm>
            <a:off x="457200" y="4334256"/>
            <a:ext cx="8229600" cy="512064"/>
          </a:xfrm>
          <a:prstGeom prst="rect">
            <a:avLst/>
          </a:prstGeom>
          <a:solidFill>
            <a:srgbClr val="F0F8FD"/>
          </a:solidFill>
          <a:ln w="12700">
            <a:solidFill>
              <a:srgbClr val="F0F8FD"/>
            </a:solidFill>
            <a:prstDash val="solid"/>
          </a:ln>
        </p:spPr>
        <p:txBody>
          <a:bodyPr/>
          <a:lstStyle/>
          <a:p>
            <a:endParaRPr lang="en-US"/>
          </a:p>
        </p:txBody>
      </p:sp>
      <p:sp>
        <p:nvSpPr>
          <p:cNvPr id="47" name="Shape 45"/>
          <p:cNvSpPr/>
          <p:nvPr/>
        </p:nvSpPr>
        <p:spPr>
          <a:xfrm>
            <a:off x="457200" y="4334256"/>
            <a:ext cx="54864" cy="512064"/>
          </a:xfrm>
          <a:prstGeom prst="rect">
            <a:avLst/>
          </a:prstGeom>
          <a:solidFill>
            <a:srgbClr val="0098D4"/>
          </a:solidFill>
          <a:ln w="12700">
            <a:solidFill>
              <a:srgbClr val="0098D4"/>
            </a:solidFill>
            <a:prstDash val="solid"/>
          </a:ln>
        </p:spPr>
        <p:txBody>
          <a:bodyPr/>
          <a:lstStyle/>
          <a:p>
            <a:endParaRPr lang="en-US"/>
          </a:p>
        </p:txBody>
      </p:sp>
      <p:sp>
        <p:nvSpPr>
          <p:cNvPr id="48" name="Text 46"/>
          <p:cNvSpPr/>
          <p:nvPr/>
        </p:nvSpPr>
        <p:spPr>
          <a:xfrm>
            <a:off x="658368" y="4334256"/>
            <a:ext cx="7863840" cy="512064"/>
          </a:xfrm>
          <a:prstGeom prst="rect">
            <a:avLst/>
          </a:prstGeom>
          <a:noFill/>
          <a:ln/>
        </p:spPr>
        <p:txBody>
          <a:bodyPr wrap="square" lIns="0" tIns="0" rIns="0" bIns="0" rtlCol="0" anchor="ctr"/>
          <a:lstStyle/>
          <a:p>
            <a:pPr marL="0" indent="0">
              <a:buNone/>
            </a:pPr>
            <a:r>
              <a:rPr lang="en-US" sz="1000" b="1" dirty="0">
                <a:solidFill>
                  <a:srgbClr val="1E2A38"/>
                </a:solidFill>
                <a:latin typeface="Calibri" pitchFamily="34" charset="0"/>
                <a:ea typeface="Calibri" pitchFamily="34" charset="-122"/>
                <a:cs typeface="Calibri" pitchFamily="34" charset="-120"/>
              </a:rPr>
              <a:t>Semantic HTML is not a style preference. It is what makes your app readable by a screen reader, a search engine, and the developer who inherits it.</a:t>
            </a:r>
            <a:endParaRPr lang="en-US" sz="1000" dirty="0"/>
          </a:p>
        </p:txBody>
      </p:sp>
    </p:spTree>
    <p:extLst>
      <p:ext uri="{BB962C8B-B14F-4D97-AF65-F5344CB8AC3E}">
        <p14:creationId xmlns:p14="http://schemas.microsoft.com/office/powerpoint/2010/main" val="64736701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98D4"/>
          </a:solidFill>
          <a:ln w="12700">
            <a:solidFill>
              <a:srgbClr val="0098D4"/>
            </a:solidFill>
            <a:prstDash val="solid"/>
          </a:ln>
        </p:spPr>
        <p:txBody>
          <a:bodyPr/>
          <a:lstStyle/>
          <a:p>
            <a:endParaRPr lang="en-US"/>
          </a:p>
        </p:txBody>
      </p:sp>
      <p:sp>
        <p:nvSpPr>
          <p:cNvPr id="3" name="Text 1"/>
          <p:cNvSpPr/>
          <p:nvPr/>
        </p:nvSpPr>
        <p:spPr>
          <a:xfrm>
            <a:off x="457200" y="128016"/>
            <a:ext cx="6400800" cy="182880"/>
          </a:xfrm>
          <a:prstGeom prst="rect">
            <a:avLst/>
          </a:prstGeom>
          <a:noFill/>
          <a:ln/>
        </p:spPr>
        <p:txBody>
          <a:bodyPr wrap="square" lIns="0" tIns="0" rIns="0" bIns="0" rtlCol="0" anchor="ctr"/>
          <a:lstStyle/>
          <a:p>
            <a:pPr marL="0" indent="0">
              <a:buNone/>
            </a:pPr>
            <a:r>
              <a:rPr lang="en-US" sz="800" b="1" kern="0" spc="160" dirty="0">
                <a:solidFill>
                  <a:srgbClr val="6B7280"/>
                </a:solidFill>
                <a:latin typeface="Calibri" pitchFamily="34" charset="0"/>
                <a:ea typeface="Calibri" pitchFamily="34" charset="-122"/>
                <a:cs typeface="Calibri" pitchFamily="34" charset="-120"/>
              </a:rPr>
              <a:t>BLOCK 2</a:t>
            </a:r>
            <a:endParaRPr lang="en-US" sz="800" dirty="0"/>
          </a:p>
        </p:txBody>
      </p:sp>
      <p:sp>
        <p:nvSpPr>
          <p:cNvPr id="4" name="Text 2"/>
          <p:cNvSpPr/>
          <p:nvPr/>
        </p:nvSpPr>
        <p:spPr>
          <a:xfrm>
            <a:off x="457200" y="347472"/>
            <a:ext cx="8229600" cy="420624"/>
          </a:xfrm>
          <a:prstGeom prst="rect">
            <a:avLst/>
          </a:prstGeom>
          <a:noFill/>
          <a:ln/>
        </p:spPr>
        <p:txBody>
          <a:bodyPr wrap="square" lIns="0" tIns="0" rIns="0" bIns="0" rtlCol="0" anchor="ctr"/>
          <a:lstStyle/>
          <a:p>
            <a:pPr marL="0" indent="0">
              <a:buNone/>
            </a:pPr>
            <a:r>
              <a:rPr lang="en-US" sz="2200" b="1" dirty="0">
                <a:solidFill>
                  <a:srgbClr val="1E2A38"/>
                </a:solidFill>
                <a:latin typeface="Calibri" pitchFamily="34" charset="0"/>
                <a:ea typeface="Calibri" pitchFamily="34" charset="-122"/>
                <a:cs typeface="Calibri" pitchFamily="34" charset="-120"/>
              </a:rPr>
              <a:t>CSS: Flexbox and Variables You Control</a:t>
            </a:r>
            <a:endParaRPr lang="en-US" sz="2200" dirty="0"/>
          </a:p>
        </p:txBody>
      </p:sp>
      <p:sp>
        <p:nvSpPr>
          <p:cNvPr id="5" name="Shape 3"/>
          <p:cNvSpPr/>
          <p:nvPr/>
        </p:nvSpPr>
        <p:spPr>
          <a:xfrm>
            <a:off x="457200" y="859536"/>
            <a:ext cx="8229600" cy="10973"/>
          </a:xfrm>
          <a:prstGeom prst="rect">
            <a:avLst/>
          </a:prstGeom>
          <a:solidFill>
            <a:srgbClr val="CDE7F5"/>
          </a:solidFill>
          <a:ln w="12700">
            <a:solidFill>
              <a:srgbClr val="CDE7F5"/>
            </a:solidFill>
            <a:prstDash val="solid"/>
          </a:ln>
        </p:spPr>
        <p:txBody>
          <a:bodyPr/>
          <a:lstStyle/>
          <a:p>
            <a:endParaRPr lang="en-US"/>
          </a:p>
        </p:txBody>
      </p:sp>
      <p:sp>
        <p:nvSpPr>
          <p:cNvPr id="6" name="Text 4"/>
          <p:cNvSpPr/>
          <p:nvPr/>
        </p:nvSpPr>
        <p:spPr>
          <a:xfrm>
            <a:off x="457200" y="969264"/>
            <a:ext cx="4572000" cy="182880"/>
          </a:xfrm>
          <a:prstGeom prst="rect">
            <a:avLst/>
          </a:prstGeom>
          <a:noFill/>
          <a:ln/>
        </p:spPr>
        <p:txBody>
          <a:bodyPr wrap="square" lIns="0" tIns="0" rIns="0" bIns="0" rtlCol="0" anchor="ctr"/>
          <a:lstStyle/>
          <a:p>
            <a:pPr marL="0" indent="0">
              <a:buNone/>
            </a:pPr>
            <a:r>
              <a:rPr lang="en-US" sz="800" b="1" kern="0" spc="120" dirty="0">
                <a:solidFill>
                  <a:srgbClr val="6B7280"/>
                </a:solidFill>
                <a:latin typeface="Calibri" pitchFamily="34" charset="0"/>
                <a:ea typeface="Calibri" pitchFamily="34" charset="-122"/>
                <a:cs typeface="Calibri" pitchFamily="34" charset="-120"/>
              </a:rPr>
              <a:t>THE ENTIRE LAYOUT, IN FOUR PROPERTIES</a:t>
            </a:r>
            <a:endParaRPr lang="en-US" sz="800" dirty="0"/>
          </a:p>
        </p:txBody>
      </p:sp>
      <p:sp>
        <p:nvSpPr>
          <p:cNvPr id="7" name="Shape 5"/>
          <p:cNvSpPr/>
          <p:nvPr/>
        </p:nvSpPr>
        <p:spPr>
          <a:xfrm>
            <a:off x="457200" y="1188720"/>
            <a:ext cx="4023360" cy="1298448"/>
          </a:xfrm>
          <a:prstGeom prst="rect">
            <a:avLst/>
          </a:prstGeom>
          <a:solidFill>
            <a:srgbClr val="1E2A38"/>
          </a:solidFill>
          <a:ln w="12700">
            <a:solidFill>
              <a:srgbClr val="1E2A38"/>
            </a:solidFill>
            <a:prstDash val="solid"/>
          </a:ln>
        </p:spPr>
        <p:txBody>
          <a:bodyPr/>
          <a:lstStyle/>
          <a:p>
            <a:endParaRPr lang="en-US"/>
          </a:p>
        </p:txBody>
      </p:sp>
      <p:sp>
        <p:nvSpPr>
          <p:cNvPr id="8" name="Text 6"/>
          <p:cNvSpPr/>
          <p:nvPr/>
        </p:nvSpPr>
        <p:spPr>
          <a:xfrm>
            <a:off x="640080" y="1280160"/>
            <a:ext cx="3657600" cy="1115568"/>
          </a:xfrm>
          <a:prstGeom prst="rect">
            <a:avLst/>
          </a:prstGeom>
          <a:noFill/>
          <a:ln/>
        </p:spPr>
        <p:txBody>
          <a:bodyPr wrap="square" lIns="0" tIns="0" rIns="0" bIns="0" rtlCol="0" anchor="t"/>
          <a:lstStyle/>
          <a:p>
            <a:pPr marL="0" indent="0">
              <a:lnSpc>
                <a:spcPct val="110000"/>
              </a:lnSpc>
              <a:buNone/>
            </a:pPr>
            <a:r>
              <a:rPr lang="en-US" sz="1000" dirty="0">
                <a:solidFill>
                  <a:srgbClr val="9FE8C8"/>
                </a:solidFill>
                <a:latin typeface="Courier New" pitchFamily="34" charset="0"/>
                <a:ea typeface="Courier New" pitchFamily="34" charset="-122"/>
                <a:cs typeface="Courier New" pitchFamily="34" charset="-120"/>
              </a:rPr>
              <a:t>.layout {</a:t>
            </a:r>
            <a:endParaRPr lang="en-US" sz="1000" dirty="0"/>
          </a:p>
          <a:p>
            <a:pPr marL="0" indent="0">
              <a:lnSpc>
                <a:spcPct val="110000"/>
              </a:lnSpc>
              <a:buNone/>
            </a:pPr>
            <a:r>
              <a:rPr lang="en-US" sz="1000" dirty="0">
                <a:solidFill>
                  <a:srgbClr val="9FE8C8"/>
                </a:solidFill>
                <a:latin typeface="Courier New" pitchFamily="34" charset="0"/>
                <a:ea typeface="Courier New" pitchFamily="34" charset="-122"/>
                <a:cs typeface="Courier New" pitchFamily="34" charset="-120"/>
              </a:rPr>
              <a:t>  display: flex;</a:t>
            </a:r>
            <a:endParaRPr lang="en-US" sz="1000" dirty="0"/>
          </a:p>
          <a:p>
            <a:pPr marL="0" indent="0">
              <a:lnSpc>
                <a:spcPct val="110000"/>
              </a:lnSpc>
              <a:buNone/>
            </a:pPr>
            <a:r>
              <a:rPr lang="en-US" sz="1000" dirty="0">
                <a:solidFill>
                  <a:srgbClr val="9FE8C8"/>
                </a:solidFill>
                <a:latin typeface="Courier New" pitchFamily="34" charset="0"/>
                <a:ea typeface="Courier New" pitchFamily="34" charset="-122"/>
                <a:cs typeface="Courier New" pitchFamily="34" charset="-120"/>
              </a:rPr>
              <a:t>  gap: 1rem;</a:t>
            </a:r>
            <a:endParaRPr lang="en-US" sz="1000" dirty="0"/>
          </a:p>
          <a:p>
            <a:pPr marL="0" indent="0">
              <a:lnSpc>
                <a:spcPct val="110000"/>
              </a:lnSpc>
              <a:buNone/>
            </a:pPr>
            <a:r>
              <a:rPr lang="en-US" sz="1000" dirty="0">
                <a:solidFill>
                  <a:srgbClr val="9FE8C8"/>
                </a:solidFill>
                <a:latin typeface="Courier New" pitchFamily="34" charset="0"/>
                <a:ea typeface="Courier New" pitchFamily="34" charset="-122"/>
                <a:cs typeface="Courier New" pitchFamily="34" charset="-120"/>
              </a:rPr>
              <a:t>  align-items: flex-start;</a:t>
            </a:r>
            <a:endParaRPr lang="en-US" sz="1000" dirty="0"/>
          </a:p>
          <a:p>
            <a:pPr marL="0" indent="0">
              <a:lnSpc>
                <a:spcPct val="110000"/>
              </a:lnSpc>
              <a:buNone/>
            </a:pPr>
            <a:r>
              <a:rPr lang="en-US" sz="1000" dirty="0">
                <a:solidFill>
                  <a:srgbClr val="9FE8C8"/>
                </a:solidFill>
                <a:latin typeface="Courier New" pitchFamily="34" charset="0"/>
                <a:ea typeface="Courier New" pitchFamily="34" charset="-122"/>
                <a:cs typeface="Courier New" pitchFamily="34" charset="-120"/>
              </a:rPr>
              <a:t>  justify-content: space-between;</a:t>
            </a:r>
            <a:endParaRPr lang="en-US" sz="1000" dirty="0"/>
          </a:p>
          <a:p>
            <a:pPr marL="0" indent="0">
              <a:lnSpc>
                <a:spcPct val="110000"/>
              </a:lnSpc>
              <a:buNone/>
            </a:pPr>
            <a:r>
              <a:rPr lang="en-US" sz="1000" dirty="0">
                <a:solidFill>
                  <a:srgbClr val="9FE8C8"/>
                </a:solidFill>
                <a:latin typeface="Courier New" pitchFamily="34" charset="0"/>
                <a:ea typeface="Courier New" pitchFamily="34" charset="-122"/>
                <a:cs typeface="Courier New" pitchFamily="34" charset="-120"/>
              </a:rPr>
              <a:t>}</a:t>
            </a:r>
            <a:endParaRPr lang="en-US" sz="1000" dirty="0"/>
          </a:p>
        </p:txBody>
      </p:sp>
      <p:sp>
        <p:nvSpPr>
          <p:cNvPr id="9" name="Text 7"/>
          <p:cNvSpPr/>
          <p:nvPr/>
        </p:nvSpPr>
        <p:spPr>
          <a:xfrm>
            <a:off x="4681728" y="969264"/>
            <a:ext cx="4023360" cy="182880"/>
          </a:xfrm>
          <a:prstGeom prst="rect">
            <a:avLst/>
          </a:prstGeom>
          <a:noFill/>
          <a:ln/>
        </p:spPr>
        <p:txBody>
          <a:bodyPr wrap="square" lIns="0" tIns="0" rIns="0" bIns="0" rtlCol="0" anchor="ctr"/>
          <a:lstStyle/>
          <a:p>
            <a:pPr marL="0" indent="0">
              <a:buNone/>
            </a:pPr>
            <a:r>
              <a:rPr lang="en-US" sz="800" b="1" kern="0" spc="120" dirty="0">
                <a:solidFill>
                  <a:srgbClr val="6B7280"/>
                </a:solidFill>
                <a:latin typeface="Calibri" pitchFamily="34" charset="0"/>
                <a:ea typeface="Calibri" pitchFamily="34" charset="-122"/>
                <a:cs typeface="Calibri" pitchFamily="34" charset="-120"/>
              </a:rPr>
              <a:t>THEMING WITHOUT FIND-AND-REPLACE</a:t>
            </a:r>
            <a:endParaRPr lang="en-US" sz="800" dirty="0"/>
          </a:p>
        </p:txBody>
      </p:sp>
      <p:sp>
        <p:nvSpPr>
          <p:cNvPr id="10" name="Shape 8"/>
          <p:cNvSpPr/>
          <p:nvPr/>
        </p:nvSpPr>
        <p:spPr>
          <a:xfrm>
            <a:off x="4681728" y="1188720"/>
            <a:ext cx="4005072" cy="1298448"/>
          </a:xfrm>
          <a:prstGeom prst="rect">
            <a:avLst/>
          </a:prstGeom>
          <a:solidFill>
            <a:srgbClr val="1E2A38"/>
          </a:solidFill>
          <a:ln w="12700">
            <a:solidFill>
              <a:srgbClr val="1E2A38"/>
            </a:solidFill>
            <a:prstDash val="solid"/>
          </a:ln>
        </p:spPr>
        <p:txBody>
          <a:bodyPr/>
          <a:lstStyle/>
          <a:p>
            <a:endParaRPr lang="en-US"/>
          </a:p>
        </p:txBody>
      </p:sp>
      <p:sp>
        <p:nvSpPr>
          <p:cNvPr id="11" name="Text 9"/>
          <p:cNvSpPr/>
          <p:nvPr/>
        </p:nvSpPr>
        <p:spPr>
          <a:xfrm>
            <a:off x="4864608" y="1280160"/>
            <a:ext cx="3657600" cy="1115568"/>
          </a:xfrm>
          <a:prstGeom prst="rect">
            <a:avLst/>
          </a:prstGeom>
          <a:noFill/>
          <a:ln/>
        </p:spPr>
        <p:txBody>
          <a:bodyPr wrap="square" lIns="0" tIns="0" rIns="0" bIns="0" rtlCol="0" anchor="t"/>
          <a:lstStyle/>
          <a:p>
            <a:pPr marL="0" indent="0">
              <a:lnSpc>
                <a:spcPct val="110000"/>
              </a:lnSpc>
              <a:buNone/>
            </a:pPr>
            <a:r>
              <a:rPr lang="en-US" sz="1000" dirty="0">
                <a:solidFill>
                  <a:srgbClr val="F0C070"/>
                </a:solidFill>
                <a:latin typeface="Courier New" pitchFamily="34" charset="0"/>
                <a:ea typeface="Courier New" pitchFamily="34" charset="-122"/>
                <a:cs typeface="Courier New" pitchFamily="34" charset="-120"/>
              </a:rPr>
              <a:t>:root {</a:t>
            </a:r>
            <a:endParaRPr lang="en-US" sz="1000" dirty="0"/>
          </a:p>
          <a:p>
            <a:pPr marL="0" indent="0">
              <a:lnSpc>
                <a:spcPct val="110000"/>
              </a:lnSpc>
              <a:buNone/>
            </a:pPr>
            <a:r>
              <a:rPr lang="en-US" sz="1000" dirty="0">
                <a:solidFill>
                  <a:srgbClr val="F0C070"/>
                </a:solidFill>
                <a:latin typeface="Courier New" pitchFamily="34" charset="0"/>
                <a:ea typeface="Courier New" pitchFamily="34" charset="-122"/>
                <a:cs typeface="Courier New" pitchFamily="34" charset="-120"/>
              </a:rPr>
              <a:t>  --ink:    #1E2A38;</a:t>
            </a:r>
            <a:endParaRPr lang="en-US" sz="1000" dirty="0"/>
          </a:p>
          <a:p>
            <a:pPr marL="0" indent="0">
              <a:lnSpc>
                <a:spcPct val="110000"/>
              </a:lnSpc>
              <a:buNone/>
            </a:pPr>
            <a:r>
              <a:rPr lang="en-US" sz="1000" dirty="0">
                <a:solidFill>
                  <a:srgbClr val="F0C070"/>
                </a:solidFill>
                <a:latin typeface="Courier New" pitchFamily="34" charset="0"/>
                <a:ea typeface="Courier New" pitchFamily="34" charset="-122"/>
                <a:cs typeface="Courier New" pitchFamily="34" charset="-120"/>
              </a:rPr>
              <a:t>  --accent: #00B0F0;</a:t>
            </a:r>
            <a:endParaRPr lang="en-US" sz="1000" dirty="0"/>
          </a:p>
          <a:p>
            <a:pPr marL="0" indent="0">
              <a:lnSpc>
                <a:spcPct val="110000"/>
              </a:lnSpc>
              <a:buNone/>
            </a:pPr>
            <a:r>
              <a:rPr lang="en-US" sz="1000" dirty="0">
                <a:solidFill>
                  <a:srgbClr val="F0C070"/>
                </a:solidFill>
                <a:latin typeface="Courier New" pitchFamily="34" charset="0"/>
                <a:ea typeface="Courier New" pitchFamily="34" charset="-122"/>
                <a:cs typeface="Courier New" pitchFamily="34" charset="-120"/>
              </a:rPr>
              <a:t>}</a:t>
            </a:r>
            <a:endParaRPr lang="en-US" sz="1000" dirty="0"/>
          </a:p>
          <a:p>
            <a:pPr marL="0" indent="0">
              <a:lnSpc>
                <a:spcPct val="110000"/>
              </a:lnSpc>
              <a:buNone/>
            </a:pPr>
            <a:r>
              <a:rPr lang="en-US" sz="1000" dirty="0">
                <a:solidFill>
                  <a:srgbClr val="F0C070"/>
                </a:solidFill>
                <a:latin typeface="Courier New" pitchFamily="34" charset="0"/>
                <a:ea typeface="Courier New" pitchFamily="34" charset="-122"/>
                <a:cs typeface="Courier New" pitchFamily="34" charset="-120"/>
              </a:rPr>
              <a:t>.card { color: var(--ink); }</a:t>
            </a:r>
            <a:endParaRPr lang="en-US" sz="1000" dirty="0"/>
          </a:p>
        </p:txBody>
      </p:sp>
      <p:sp>
        <p:nvSpPr>
          <p:cNvPr id="12" name="Shape 10"/>
          <p:cNvSpPr/>
          <p:nvPr/>
        </p:nvSpPr>
        <p:spPr>
          <a:xfrm>
            <a:off x="457200" y="2651760"/>
            <a:ext cx="8229600" cy="10973"/>
          </a:xfrm>
          <a:prstGeom prst="rect">
            <a:avLst/>
          </a:prstGeom>
          <a:solidFill>
            <a:srgbClr val="CDE7F5"/>
          </a:solidFill>
          <a:ln w="12700">
            <a:solidFill>
              <a:srgbClr val="CDE7F5"/>
            </a:solidFill>
            <a:prstDash val="solid"/>
          </a:ln>
        </p:spPr>
        <p:txBody>
          <a:bodyPr/>
          <a:lstStyle/>
          <a:p>
            <a:endParaRPr lang="en-US"/>
          </a:p>
        </p:txBody>
      </p:sp>
      <p:sp>
        <p:nvSpPr>
          <p:cNvPr id="13" name="Text 11"/>
          <p:cNvSpPr/>
          <p:nvPr/>
        </p:nvSpPr>
        <p:spPr>
          <a:xfrm>
            <a:off x="457200" y="2779776"/>
            <a:ext cx="5486400" cy="182880"/>
          </a:xfrm>
          <a:prstGeom prst="rect">
            <a:avLst/>
          </a:prstGeom>
          <a:noFill/>
          <a:ln/>
        </p:spPr>
        <p:txBody>
          <a:bodyPr wrap="square" lIns="0" tIns="0" rIns="0" bIns="0" rtlCol="0" anchor="ctr"/>
          <a:lstStyle/>
          <a:p>
            <a:pPr marL="0" indent="0">
              <a:buNone/>
            </a:pPr>
            <a:r>
              <a:rPr lang="en-US" sz="800" b="1" kern="0" spc="120" dirty="0">
                <a:solidFill>
                  <a:srgbClr val="6B7280"/>
                </a:solidFill>
                <a:latin typeface="Calibri" pitchFamily="34" charset="0"/>
                <a:ea typeface="Calibri" pitchFamily="34" charset="-122"/>
                <a:cs typeface="Calibri" pitchFamily="34" charset="-120"/>
              </a:rPr>
              <a:t>WHY VARIABLES, TODAY OF ALL DAYS</a:t>
            </a:r>
            <a:endParaRPr lang="en-US" sz="800" dirty="0"/>
          </a:p>
        </p:txBody>
      </p:sp>
      <p:sp>
        <p:nvSpPr>
          <p:cNvPr id="14" name="Text 12"/>
          <p:cNvSpPr/>
          <p:nvPr/>
        </p:nvSpPr>
        <p:spPr>
          <a:xfrm>
            <a:off x="457200" y="2999232"/>
            <a:ext cx="8229600" cy="457200"/>
          </a:xfrm>
          <a:prstGeom prst="rect">
            <a:avLst/>
          </a:prstGeom>
          <a:noFill/>
          <a:ln/>
        </p:spPr>
        <p:txBody>
          <a:bodyPr wrap="square" lIns="0" tIns="0" rIns="0" bIns="0" rtlCol="0" anchor="t"/>
          <a:lstStyle/>
          <a:p>
            <a:pPr marL="0" indent="0">
              <a:lnSpc>
                <a:spcPct val="105000"/>
              </a:lnSpc>
              <a:buNone/>
            </a:pPr>
            <a:r>
              <a:rPr lang="en-US" sz="1000" dirty="0">
                <a:solidFill>
                  <a:srgbClr val="1E2A38"/>
                </a:solidFill>
                <a:latin typeface="Calibri" pitchFamily="34" charset="0"/>
                <a:ea typeface="Calibri" pitchFamily="34" charset="-122"/>
                <a:cs typeface="Calibri" pitchFamily="34" charset="-120"/>
              </a:rPr>
              <a:t>Change one line in :root and your whole app changes colour. On Friday, when you make this app genuinely yours, that is the difference between a five-second rebrand and an hour of find-and-replace.</a:t>
            </a:r>
            <a:endParaRPr lang="en-US" sz="1000" dirty="0"/>
          </a:p>
        </p:txBody>
      </p:sp>
      <p:sp>
        <p:nvSpPr>
          <p:cNvPr id="15" name="Shape 13"/>
          <p:cNvSpPr/>
          <p:nvPr/>
        </p:nvSpPr>
        <p:spPr>
          <a:xfrm>
            <a:off x="457200" y="3566160"/>
            <a:ext cx="2633472" cy="603504"/>
          </a:xfrm>
          <a:prstGeom prst="rect">
            <a:avLst/>
          </a:prstGeom>
          <a:solidFill>
            <a:srgbClr val="FFFFFF"/>
          </a:solidFill>
          <a:ln w="9525">
            <a:solidFill>
              <a:srgbClr val="DCEEF8"/>
            </a:solidFill>
            <a:prstDash val="solid"/>
          </a:ln>
        </p:spPr>
        <p:txBody>
          <a:bodyPr/>
          <a:lstStyle/>
          <a:p>
            <a:endParaRPr lang="en-US"/>
          </a:p>
        </p:txBody>
      </p:sp>
      <p:sp>
        <p:nvSpPr>
          <p:cNvPr id="16" name="Shape 14"/>
          <p:cNvSpPr/>
          <p:nvPr/>
        </p:nvSpPr>
        <p:spPr>
          <a:xfrm>
            <a:off x="457200" y="3566160"/>
            <a:ext cx="54864" cy="603504"/>
          </a:xfrm>
          <a:prstGeom prst="rect">
            <a:avLst/>
          </a:prstGeom>
          <a:solidFill>
            <a:srgbClr val="0098D4"/>
          </a:solidFill>
          <a:ln w="12700">
            <a:solidFill>
              <a:srgbClr val="0098D4"/>
            </a:solidFill>
            <a:prstDash val="solid"/>
          </a:ln>
        </p:spPr>
        <p:txBody>
          <a:bodyPr/>
          <a:lstStyle/>
          <a:p>
            <a:endParaRPr lang="en-US"/>
          </a:p>
        </p:txBody>
      </p:sp>
      <p:sp>
        <p:nvSpPr>
          <p:cNvPr id="17" name="Text 15"/>
          <p:cNvSpPr/>
          <p:nvPr/>
        </p:nvSpPr>
        <p:spPr>
          <a:xfrm>
            <a:off x="621792" y="3639312"/>
            <a:ext cx="2377440" cy="182880"/>
          </a:xfrm>
          <a:prstGeom prst="rect">
            <a:avLst/>
          </a:prstGeom>
          <a:noFill/>
          <a:ln/>
        </p:spPr>
        <p:txBody>
          <a:bodyPr wrap="square" lIns="0" tIns="0" rIns="0" bIns="0" rtlCol="0" anchor="ctr"/>
          <a:lstStyle/>
          <a:p>
            <a:pPr marL="0" indent="0">
              <a:buNone/>
            </a:pPr>
            <a:r>
              <a:rPr lang="en-US" sz="750" b="1" kern="0" spc="120" dirty="0">
                <a:solidFill>
                  <a:srgbClr val="0098D4"/>
                </a:solidFill>
                <a:latin typeface="Calibri" pitchFamily="34" charset="0"/>
                <a:ea typeface="Calibri" pitchFamily="34" charset="-122"/>
                <a:cs typeface="Calibri" pitchFamily="34" charset="-120"/>
              </a:rPr>
              <a:t>MOBILE FIRST</a:t>
            </a:r>
            <a:endParaRPr lang="en-US" sz="750" dirty="0"/>
          </a:p>
        </p:txBody>
      </p:sp>
      <p:sp>
        <p:nvSpPr>
          <p:cNvPr id="18" name="Text 16"/>
          <p:cNvSpPr/>
          <p:nvPr/>
        </p:nvSpPr>
        <p:spPr>
          <a:xfrm>
            <a:off x="621792" y="3822192"/>
            <a:ext cx="2359152" cy="292608"/>
          </a:xfrm>
          <a:prstGeom prst="rect">
            <a:avLst/>
          </a:prstGeom>
          <a:noFill/>
          <a:ln/>
        </p:spPr>
        <p:txBody>
          <a:bodyPr wrap="square" lIns="0" tIns="0" rIns="0" bIns="0" rtlCol="0" anchor="t"/>
          <a:lstStyle/>
          <a:p>
            <a:pPr marL="0" indent="0">
              <a:buNone/>
            </a:pPr>
            <a:r>
              <a:rPr lang="en-US" sz="800" dirty="0">
                <a:solidFill>
                  <a:srgbClr val="6B7280"/>
                </a:solidFill>
                <a:latin typeface="Calibri" pitchFamily="34" charset="0"/>
                <a:ea typeface="Calibri" pitchFamily="34" charset="-122"/>
                <a:cs typeface="Calibri" pitchFamily="34" charset="-120"/>
              </a:rPr>
              <a:t>write the narrow layout, then widen</a:t>
            </a:r>
            <a:endParaRPr lang="en-US" sz="800" dirty="0"/>
          </a:p>
        </p:txBody>
      </p:sp>
      <p:sp>
        <p:nvSpPr>
          <p:cNvPr id="19" name="Shape 17"/>
          <p:cNvSpPr/>
          <p:nvPr/>
        </p:nvSpPr>
        <p:spPr>
          <a:xfrm>
            <a:off x="3255264" y="3566160"/>
            <a:ext cx="2633472" cy="603504"/>
          </a:xfrm>
          <a:prstGeom prst="rect">
            <a:avLst/>
          </a:prstGeom>
          <a:solidFill>
            <a:srgbClr val="FFFFFF"/>
          </a:solidFill>
          <a:ln w="9525">
            <a:solidFill>
              <a:srgbClr val="DCEEF8"/>
            </a:solidFill>
            <a:prstDash val="solid"/>
          </a:ln>
        </p:spPr>
        <p:txBody>
          <a:bodyPr/>
          <a:lstStyle/>
          <a:p>
            <a:endParaRPr lang="en-US"/>
          </a:p>
        </p:txBody>
      </p:sp>
      <p:sp>
        <p:nvSpPr>
          <p:cNvPr id="20" name="Shape 18"/>
          <p:cNvSpPr/>
          <p:nvPr/>
        </p:nvSpPr>
        <p:spPr>
          <a:xfrm>
            <a:off x="3255264" y="3566160"/>
            <a:ext cx="54864" cy="603504"/>
          </a:xfrm>
          <a:prstGeom prst="rect">
            <a:avLst/>
          </a:prstGeom>
          <a:solidFill>
            <a:srgbClr val="0098D4"/>
          </a:solidFill>
          <a:ln w="12700">
            <a:solidFill>
              <a:srgbClr val="0098D4"/>
            </a:solidFill>
            <a:prstDash val="solid"/>
          </a:ln>
        </p:spPr>
        <p:txBody>
          <a:bodyPr/>
          <a:lstStyle/>
          <a:p>
            <a:endParaRPr lang="en-US"/>
          </a:p>
        </p:txBody>
      </p:sp>
      <p:sp>
        <p:nvSpPr>
          <p:cNvPr id="21" name="Text 19"/>
          <p:cNvSpPr/>
          <p:nvPr/>
        </p:nvSpPr>
        <p:spPr>
          <a:xfrm>
            <a:off x="3419856" y="3639312"/>
            <a:ext cx="2377440" cy="182880"/>
          </a:xfrm>
          <a:prstGeom prst="rect">
            <a:avLst/>
          </a:prstGeom>
          <a:noFill/>
          <a:ln/>
        </p:spPr>
        <p:txBody>
          <a:bodyPr wrap="square" lIns="0" tIns="0" rIns="0" bIns="0" rtlCol="0" anchor="ctr"/>
          <a:lstStyle/>
          <a:p>
            <a:pPr marL="0" indent="0">
              <a:buNone/>
            </a:pPr>
            <a:r>
              <a:rPr lang="en-US" sz="750" b="1" kern="0" spc="120" dirty="0">
                <a:solidFill>
                  <a:srgbClr val="0098D4"/>
                </a:solidFill>
                <a:latin typeface="Calibri" pitchFamily="34" charset="0"/>
                <a:ea typeface="Calibri" pitchFamily="34" charset="-122"/>
                <a:cs typeface="Calibri" pitchFamily="34" charset="-120"/>
              </a:rPr>
              <a:t>ONE BREAKPOINT</a:t>
            </a:r>
            <a:endParaRPr lang="en-US" sz="750" dirty="0"/>
          </a:p>
        </p:txBody>
      </p:sp>
      <p:sp>
        <p:nvSpPr>
          <p:cNvPr id="22" name="Text 20"/>
          <p:cNvSpPr/>
          <p:nvPr/>
        </p:nvSpPr>
        <p:spPr>
          <a:xfrm>
            <a:off x="3419856" y="3822192"/>
            <a:ext cx="2359152" cy="292608"/>
          </a:xfrm>
          <a:prstGeom prst="rect">
            <a:avLst/>
          </a:prstGeom>
          <a:noFill/>
          <a:ln/>
        </p:spPr>
        <p:txBody>
          <a:bodyPr wrap="square" lIns="0" tIns="0" rIns="0" bIns="0" rtlCol="0" anchor="t"/>
          <a:lstStyle/>
          <a:p>
            <a:pPr marL="0" indent="0">
              <a:buNone/>
            </a:pPr>
            <a:r>
              <a:rPr lang="en-US" sz="800" dirty="0">
                <a:solidFill>
                  <a:srgbClr val="6B7280"/>
                </a:solidFill>
                <a:latin typeface="Calibri" pitchFamily="34" charset="0"/>
                <a:ea typeface="Calibri" pitchFamily="34" charset="-122"/>
                <a:cs typeface="Calibri" pitchFamily="34" charset="-120"/>
              </a:rPr>
              <a:t>that is all this app needs today</a:t>
            </a:r>
            <a:endParaRPr lang="en-US" sz="800" dirty="0"/>
          </a:p>
        </p:txBody>
      </p:sp>
      <p:sp>
        <p:nvSpPr>
          <p:cNvPr id="23" name="Shape 21"/>
          <p:cNvSpPr/>
          <p:nvPr/>
        </p:nvSpPr>
        <p:spPr>
          <a:xfrm>
            <a:off x="6053328" y="3566160"/>
            <a:ext cx="2633472" cy="603504"/>
          </a:xfrm>
          <a:prstGeom prst="rect">
            <a:avLst/>
          </a:prstGeom>
          <a:solidFill>
            <a:srgbClr val="FFFFFF"/>
          </a:solidFill>
          <a:ln w="9525">
            <a:solidFill>
              <a:srgbClr val="DCEEF8"/>
            </a:solidFill>
            <a:prstDash val="solid"/>
          </a:ln>
        </p:spPr>
        <p:txBody>
          <a:bodyPr/>
          <a:lstStyle/>
          <a:p>
            <a:endParaRPr lang="en-US"/>
          </a:p>
        </p:txBody>
      </p:sp>
      <p:sp>
        <p:nvSpPr>
          <p:cNvPr id="24" name="Shape 22"/>
          <p:cNvSpPr/>
          <p:nvPr/>
        </p:nvSpPr>
        <p:spPr>
          <a:xfrm>
            <a:off x="6053328" y="3566160"/>
            <a:ext cx="54864" cy="603504"/>
          </a:xfrm>
          <a:prstGeom prst="rect">
            <a:avLst/>
          </a:prstGeom>
          <a:solidFill>
            <a:srgbClr val="0098D4"/>
          </a:solidFill>
          <a:ln w="12700">
            <a:solidFill>
              <a:srgbClr val="0098D4"/>
            </a:solidFill>
            <a:prstDash val="solid"/>
          </a:ln>
        </p:spPr>
        <p:txBody>
          <a:bodyPr/>
          <a:lstStyle/>
          <a:p>
            <a:endParaRPr lang="en-US"/>
          </a:p>
        </p:txBody>
      </p:sp>
      <p:sp>
        <p:nvSpPr>
          <p:cNvPr id="25" name="Text 23"/>
          <p:cNvSpPr/>
          <p:nvPr/>
        </p:nvSpPr>
        <p:spPr>
          <a:xfrm>
            <a:off x="6217920" y="3639312"/>
            <a:ext cx="2377440" cy="182880"/>
          </a:xfrm>
          <a:prstGeom prst="rect">
            <a:avLst/>
          </a:prstGeom>
          <a:noFill/>
          <a:ln/>
        </p:spPr>
        <p:txBody>
          <a:bodyPr wrap="square" lIns="0" tIns="0" rIns="0" bIns="0" rtlCol="0" anchor="ctr"/>
          <a:lstStyle/>
          <a:p>
            <a:pPr marL="0" indent="0">
              <a:buNone/>
            </a:pPr>
            <a:r>
              <a:rPr lang="en-US" sz="750" b="1" kern="0" spc="120" dirty="0">
                <a:solidFill>
                  <a:srgbClr val="0098D4"/>
                </a:solidFill>
                <a:latin typeface="Calibri" pitchFamily="34" charset="0"/>
                <a:ea typeface="Calibri" pitchFamily="34" charset="-122"/>
                <a:cs typeface="Calibri" pitchFamily="34" charset="-120"/>
              </a:rPr>
              <a:t>NO GRID TODAY</a:t>
            </a:r>
            <a:endParaRPr lang="en-US" sz="750" dirty="0"/>
          </a:p>
        </p:txBody>
      </p:sp>
      <p:sp>
        <p:nvSpPr>
          <p:cNvPr id="26" name="Text 24"/>
          <p:cNvSpPr/>
          <p:nvPr/>
        </p:nvSpPr>
        <p:spPr>
          <a:xfrm>
            <a:off x="6217920" y="3822192"/>
            <a:ext cx="2359152" cy="292608"/>
          </a:xfrm>
          <a:prstGeom prst="rect">
            <a:avLst/>
          </a:prstGeom>
          <a:noFill/>
          <a:ln/>
        </p:spPr>
        <p:txBody>
          <a:bodyPr wrap="square" lIns="0" tIns="0" rIns="0" bIns="0" rtlCol="0" anchor="t"/>
          <a:lstStyle/>
          <a:p>
            <a:pPr marL="0" indent="0">
              <a:buNone/>
            </a:pPr>
            <a:r>
              <a:rPr lang="en-US" sz="800" dirty="0">
                <a:solidFill>
                  <a:srgbClr val="6B7280"/>
                </a:solidFill>
                <a:latin typeface="Calibri" pitchFamily="34" charset="0"/>
                <a:ea typeface="Calibri" pitchFamily="34" charset="-122"/>
                <a:cs typeface="Calibri" pitchFamily="34" charset="-120"/>
              </a:rPr>
              <a:t>Flexbox does this layout; Grid can wait</a:t>
            </a:r>
            <a:endParaRPr lang="en-US" sz="800" dirty="0"/>
          </a:p>
        </p:txBody>
      </p:sp>
      <p:sp>
        <p:nvSpPr>
          <p:cNvPr id="27" name="Shape 25"/>
          <p:cNvSpPr/>
          <p:nvPr/>
        </p:nvSpPr>
        <p:spPr>
          <a:xfrm>
            <a:off x="457200" y="4334256"/>
            <a:ext cx="8229600" cy="512064"/>
          </a:xfrm>
          <a:prstGeom prst="rect">
            <a:avLst/>
          </a:prstGeom>
          <a:solidFill>
            <a:srgbClr val="F0F8FD"/>
          </a:solidFill>
          <a:ln w="12700">
            <a:solidFill>
              <a:srgbClr val="F0F8FD"/>
            </a:solidFill>
            <a:prstDash val="solid"/>
          </a:ln>
        </p:spPr>
        <p:txBody>
          <a:bodyPr/>
          <a:lstStyle/>
          <a:p>
            <a:endParaRPr lang="en-US"/>
          </a:p>
        </p:txBody>
      </p:sp>
      <p:sp>
        <p:nvSpPr>
          <p:cNvPr id="28" name="Shape 26"/>
          <p:cNvSpPr/>
          <p:nvPr/>
        </p:nvSpPr>
        <p:spPr>
          <a:xfrm>
            <a:off x="457200" y="4334256"/>
            <a:ext cx="54864" cy="512064"/>
          </a:xfrm>
          <a:prstGeom prst="rect">
            <a:avLst/>
          </a:prstGeom>
          <a:solidFill>
            <a:srgbClr val="0098D4"/>
          </a:solidFill>
          <a:ln w="12700">
            <a:solidFill>
              <a:srgbClr val="0098D4"/>
            </a:solidFill>
            <a:prstDash val="solid"/>
          </a:ln>
        </p:spPr>
        <p:txBody>
          <a:bodyPr/>
          <a:lstStyle/>
          <a:p>
            <a:endParaRPr lang="en-US"/>
          </a:p>
        </p:txBody>
      </p:sp>
      <p:sp>
        <p:nvSpPr>
          <p:cNvPr id="29" name="Text 27"/>
          <p:cNvSpPr/>
          <p:nvPr/>
        </p:nvSpPr>
        <p:spPr>
          <a:xfrm>
            <a:off x="658368" y="4334256"/>
            <a:ext cx="7863840" cy="512064"/>
          </a:xfrm>
          <a:prstGeom prst="rect">
            <a:avLst/>
          </a:prstGeom>
          <a:noFill/>
          <a:ln/>
        </p:spPr>
        <p:txBody>
          <a:bodyPr wrap="square" lIns="0" tIns="0" rIns="0" bIns="0" rtlCol="0" anchor="ctr"/>
          <a:lstStyle/>
          <a:p>
            <a:pPr marL="0" indent="0">
              <a:buNone/>
            </a:pPr>
            <a:r>
              <a:rPr lang="en-US" sz="1000" b="1" dirty="0">
                <a:solidFill>
                  <a:srgbClr val="1E2A38"/>
                </a:solidFill>
                <a:latin typeface="Calibri" pitchFamily="34" charset="0"/>
                <a:ea typeface="Calibri" pitchFamily="34" charset="-122"/>
                <a:cs typeface="Calibri" pitchFamily="34" charset="-120"/>
              </a:rPr>
              <a:t>You are given the stylesheet. Read it, do not retype it — your thinking time today belongs to Block 3, not to CSS syntax.</a:t>
            </a:r>
            <a:endParaRPr lang="en-US" sz="1000" dirty="0"/>
          </a:p>
        </p:txBody>
      </p:sp>
    </p:spTree>
    <p:extLst>
      <p:ext uri="{BB962C8B-B14F-4D97-AF65-F5344CB8AC3E}">
        <p14:creationId xmlns:p14="http://schemas.microsoft.com/office/powerpoint/2010/main" val="329823147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79AB"/>
          </a:solidFill>
          <a:ln w="12700">
            <a:solidFill>
              <a:srgbClr val="0079AB"/>
            </a:solidFill>
            <a:prstDash val="solid"/>
          </a:ln>
        </p:spPr>
        <p:txBody>
          <a:bodyPr/>
          <a:lstStyle/>
          <a:p>
            <a:endParaRPr lang="en-US"/>
          </a:p>
        </p:txBody>
      </p:sp>
      <p:sp>
        <p:nvSpPr>
          <p:cNvPr id="3" name="Text 1"/>
          <p:cNvSpPr/>
          <p:nvPr/>
        </p:nvSpPr>
        <p:spPr>
          <a:xfrm>
            <a:off x="457200" y="128016"/>
            <a:ext cx="6400800" cy="182880"/>
          </a:xfrm>
          <a:prstGeom prst="rect">
            <a:avLst/>
          </a:prstGeom>
          <a:noFill/>
          <a:ln/>
        </p:spPr>
        <p:txBody>
          <a:bodyPr wrap="square" lIns="0" tIns="0" rIns="0" bIns="0" rtlCol="0" anchor="ctr"/>
          <a:lstStyle/>
          <a:p>
            <a:pPr marL="0" indent="0">
              <a:buNone/>
            </a:pPr>
            <a:r>
              <a:rPr lang="en-US" sz="800" b="1" kern="0" spc="160" dirty="0">
                <a:solidFill>
                  <a:srgbClr val="6B7280"/>
                </a:solidFill>
                <a:latin typeface="Calibri" pitchFamily="34" charset="0"/>
                <a:ea typeface="Calibri" pitchFamily="34" charset="-122"/>
                <a:cs typeface="Calibri" pitchFamily="34" charset="-120"/>
              </a:rPr>
              <a:t>BLOCK 3  ·  THE AI MOMENT</a:t>
            </a:r>
            <a:endParaRPr lang="en-US" sz="800" dirty="0"/>
          </a:p>
        </p:txBody>
      </p:sp>
      <p:sp>
        <p:nvSpPr>
          <p:cNvPr id="4" name="Text 2"/>
          <p:cNvSpPr/>
          <p:nvPr/>
        </p:nvSpPr>
        <p:spPr>
          <a:xfrm>
            <a:off x="457200" y="347472"/>
            <a:ext cx="8229600" cy="420624"/>
          </a:xfrm>
          <a:prstGeom prst="rect">
            <a:avLst/>
          </a:prstGeom>
          <a:noFill/>
          <a:ln/>
        </p:spPr>
        <p:txBody>
          <a:bodyPr wrap="square" lIns="0" tIns="0" rIns="0" bIns="0" rtlCol="0" anchor="ctr"/>
          <a:lstStyle/>
          <a:p>
            <a:pPr marL="0" indent="0">
              <a:buNone/>
            </a:pPr>
            <a:r>
              <a:rPr lang="en-US" sz="2200" b="1" dirty="0">
                <a:solidFill>
                  <a:srgbClr val="1E2A38"/>
                </a:solidFill>
                <a:latin typeface="Calibri" pitchFamily="34" charset="0"/>
                <a:ea typeface="Calibri" pitchFamily="34" charset="-122"/>
                <a:cs typeface="Calibri" pitchFamily="34" charset="-120"/>
              </a:rPr>
              <a:t>What an LLM Actually Is</a:t>
            </a:r>
            <a:endParaRPr lang="en-US" sz="2200" dirty="0"/>
          </a:p>
        </p:txBody>
      </p:sp>
      <p:sp>
        <p:nvSpPr>
          <p:cNvPr id="5" name="Shape 3"/>
          <p:cNvSpPr/>
          <p:nvPr/>
        </p:nvSpPr>
        <p:spPr>
          <a:xfrm>
            <a:off x="457200" y="859536"/>
            <a:ext cx="8229600" cy="10973"/>
          </a:xfrm>
          <a:prstGeom prst="rect">
            <a:avLst/>
          </a:prstGeom>
          <a:solidFill>
            <a:srgbClr val="CDE7F5"/>
          </a:solidFill>
          <a:ln w="12700">
            <a:solidFill>
              <a:srgbClr val="CDE7F5"/>
            </a:solidFill>
            <a:prstDash val="solid"/>
          </a:ln>
        </p:spPr>
        <p:txBody>
          <a:bodyPr/>
          <a:lstStyle/>
          <a:p>
            <a:endParaRPr lang="en-US"/>
          </a:p>
        </p:txBody>
      </p:sp>
      <p:sp>
        <p:nvSpPr>
          <p:cNvPr id="6" name="Shape 4"/>
          <p:cNvSpPr/>
          <p:nvPr/>
        </p:nvSpPr>
        <p:spPr>
          <a:xfrm>
            <a:off x="457200" y="1024128"/>
            <a:ext cx="8229600" cy="713232"/>
          </a:xfrm>
          <a:prstGeom prst="rect">
            <a:avLst/>
          </a:prstGeom>
          <a:solidFill>
            <a:srgbClr val="1E2A38"/>
          </a:solidFill>
          <a:ln w="12700">
            <a:solidFill>
              <a:srgbClr val="1E2A38"/>
            </a:solidFill>
            <a:prstDash val="solid"/>
          </a:ln>
        </p:spPr>
        <p:txBody>
          <a:bodyPr/>
          <a:lstStyle/>
          <a:p>
            <a:endParaRPr lang="en-US"/>
          </a:p>
        </p:txBody>
      </p:sp>
      <p:sp>
        <p:nvSpPr>
          <p:cNvPr id="7" name="Shape 5"/>
          <p:cNvSpPr/>
          <p:nvPr/>
        </p:nvSpPr>
        <p:spPr>
          <a:xfrm>
            <a:off x="658368" y="1152144"/>
            <a:ext cx="1737360" cy="457200"/>
          </a:xfrm>
          <a:prstGeom prst="rect">
            <a:avLst/>
          </a:prstGeom>
          <a:solidFill>
            <a:srgbClr val="0079AB"/>
          </a:solidFill>
          <a:ln w="12700">
            <a:solidFill>
              <a:srgbClr val="0079AB"/>
            </a:solidFill>
            <a:prstDash val="solid"/>
          </a:ln>
        </p:spPr>
        <p:txBody>
          <a:bodyPr/>
          <a:lstStyle/>
          <a:p>
            <a:endParaRPr lang="en-US"/>
          </a:p>
        </p:txBody>
      </p:sp>
      <p:sp>
        <p:nvSpPr>
          <p:cNvPr id="8" name="Text 6"/>
          <p:cNvSpPr/>
          <p:nvPr/>
        </p:nvSpPr>
        <p:spPr>
          <a:xfrm>
            <a:off x="658368" y="1152144"/>
            <a:ext cx="1737360" cy="45720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TEXT IN</a:t>
            </a:r>
            <a:endParaRPr lang="en-US" sz="1000" dirty="0"/>
          </a:p>
        </p:txBody>
      </p:sp>
      <p:sp>
        <p:nvSpPr>
          <p:cNvPr id="9" name="Text 7"/>
          <p:cNvSpPr/>
          <p:nvPr/>
        </p:nvSpPr>
        <p:spPr>
          <a:xfrm>
            <a:off x="2505456" y="1271016"/>
            <a:ext cx="201168" cy="219456"/>
          </a:xfrm>
          <a:prstGeom prst="rect">
            <a:avLst/>
          </a:prstGeom>
          <a:noFill/>
          <a:ln/>
        </p:spPr>
        <p:txBody>
          <a:bodyPr wrap="square" lIns="0" tIns="0" rIns="0" bIns="0" rtlCol="0" anchor="ctr"/>
          <a:lstStyle/>
          <a:p>
            <a:pPr marL="0" indent="0" algn="ctr">
              <a:buNone/>
            </a:pPr>
            <a:r>
              <a:rPr lang="en-US" sz="1600" b="1" dirty="0">
                <a:solidFill>
                  <a:srgbClr val="A9C3D1"/>
                </a:solidFill>
                <a:latin typeface="Calibri" pitchFamily="34" charset="0"/>
                <a:ea typeface="Calibri" pitchFamily="34" charset="-122"/>
                <a:cs typeface="Calibri" pitchFamily="34" charset="-120"/>
              </a:rPr>
              <a:t>›</a:t>
            </a:r>
            <a:endParaRPr lang="en-US" sz="1600" dirty="0"/>
          </a:p>
        </p:txBody>
      </p:sp>
      <p:sp>
        <p:nvSpPr>
          <p:cNvPr id="10" name="Text 8"/>
          <p:cNvSpPr/>
          <p:nvPr/>
        </p:nvSpPr>
        <p:spPr>
          <a:xfrm>
            <a:off x="2852928" y="1152144"/>
            <a:ext cx="3291840" cy="457200"/>
          </a:xfrm>
          <a:prstGeom prst="rect">
            <a:avLst/>
          </a:prstGeom>
          <a:noFill/>
          <a:ln/>
        </p:spPr>
        <p:txBody>
          <a:bodyPr wrap="square" lIns="0" tIns="0" rIns="0" bIns="0" rtlCol="0" anchor="ctr"/>
          <a:lstStyle/>
          <a:p>
            <a:pPr marL="0" indent="0" algn="ctr">
              <a:buNone/>
            </a:pPr>
            <a:r>
              <a:rPr lang="en-US" sz="1000" i="1" dirty="0">
                <a:solidFill>
                  <a:srgbClr val="D6E7F0"/>
                </a:solidFill>
                <a:latin typeface="Calibri" pitchFamily="34" charset="0"/>
                <a:ea typeface="Calibri" pitchFamily="34" charset="-122"/>
                <a:cs typeface="Calibri" pitchFamily="34" charset="-120"/>
              </a:rPr>
              <a:t>a function you cannot read the source of</a:t>
            </a:r>
            <a:endParaRPr lang="en-US" sz="1000" dirty="0"/>
          </a:p>
        </p:txBody>
      </p:sp>
      <p:sp>
        <p:nvSpPr>
          <p:cNvPr id="11" name="Text 9"/>
          <p:cNvSpPr/>
          <p:nvPr/>
        </p:nvSpPr>
        <p:spPr>
          <a:xfrm>
            <a:off x="6254496" y="1271016"/>
            <a:ext cx="201168" cy="219456"/>
          </a:xfrm>
          <a:prstGeom prst="rect">
            <a:avLst/>
          </a:prstGeom>
          <a:noFill/>
          <a:ln/>
        </p:spPr>
        <p:txBody>
          <a:bodyPr wrap="square" lIns="0" tIns="0" rIns="0" bIns="0" rtlCol="0" anchor="ctr"/>
          <a:lstStyle/>
          <a:p>
            <a:pPr marL="0" indent="0" algn="ctr">
              <a:buNone/>
            </a:pPr>
            <a:r>
              <a:rPr lang="en-US" sz="1600" b="1" dirty="0">
                <a:solidFill>
                  <a:srgbClr val="A9C3D1"/>
                </a:solidFill>
                <a:latin typeface="Calibri" pitchFamily="34" charset="0"/>
                <a:ea typeface="Calibri" pitchFamily="34" charset="-122"/>
                <a:cs typeface="Calibri" pitchFamily="34" charset="-120"/>
              </a:rPr>
              <a:t>›</a:t>
            </a:r>
            <a:endParaRPr lang="en-US" sz="1600" dirty="0"/>
          </a:p>
        </p:txBody>
      </p:sp>
      <p:sp>
        <p:nvSpPr>
          <p:cNvPr id="12" name="Shape 10"/>
          <p:cNvSpPr/>
          <p:nvPr/>
        </p:nvSpPr>
        <p:spPr>
          <a:xfrm>
            <a:off x="6656832" y="1152144"/>
            <a:ext cx="1737360" cy="457200"/>
          </a:xfrm>
          <a:prstGeom prst="rect">
            <a:avLst/>
          </a:prstGeom>
          <a:solidFill>
            <a:srgbClr val="0079AB"/>
          </a:solidFill>
          <a:ln w="12700">
            <a:solidFill>
              <a:srgbClr val="0079AB"/>
            </a:solidFill>
            <a:prstDash val="solid"/>
          </a:ln>
        </p:spPr>
        <p:txBody>
          <a:bodyPr/>
          <a:lstStyle/>
          <a:p>
            <a:endParaRPr lang="en-US"/>
          </a:p>
        </p:txBody>
      </p:sp>
      <p:sp>
        <p:nvSpPr>
          <p:cNvPr id="13" name="Text 11"/>
          <p:cNvSpPr/>
          <p:nvPr/>
        </p:nvSpPr>
        <p:spPr>
          <a:xfrm>
            <a:off x="6656832" y="1152144"/>
            <a:ext cx="1737360" cy="45720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TEXT OUT</a:t>
            </a:r>
            <a:endParaRPr lang="en-US" sz="1000" dirty="0"/>
          </a:p>
        </p:txBody>
      </p:sp>
      <p:sp>
        <p:nvSpPr>
          <p:cNvPr id="14" name="Text 12"/>
          <p:cNvSpPr/>
          <p:nvPr/>
        </p:nvSpPr>
        <p:spPr>
          <a:xfrm>
            <a:off x="457200" y="1865376"/>
            <a:ext cx="7772400" cy="182880"/>
          </a:xfrm>
          <a:prstGeom prst="rect">
            <a:avLst/>
          </a:prstGeom>
          <a:noFill/>
          <a:ln/>
        </p:spPr>
        <p:txBody>
          <a:bodyPr wrap="square" lIns="0" tIns="0" rIns="0" bIns="0" rtlCol="0" anchor="ctr"/>
          <a:lstStyle/>
          <a:p>
            <a:pPr marL="0" indent="0">
              <a:buNone/>
            </a:pPr>
            <a:r>
              <a:rPr lang="en-US" sz="800" b="1" kern="0" spc="120" dirty="0">
                <a:solidFill>
                  <a:srgbClr val="6B7280"/>
                </a:solidFill>
                <a:latin typeface="Calibri" pitchFamily="34" charset="0"/>
                <a:ea typeface="Calibri" pitchFamily="34" charset="-122"/>
                <a:cs typeface="Calibri" pitchFamily="34" charset="-120"/>
              </a:rPr>
              <a:t>EVERYTHING ELSE IS ENGINEERING YOU ALREADY KNOW HOW TO DO</a:t>
            </a:r>
            <a:endParaRPr lang="en-US" sz="800" dirty="0"/>
          </a:p>
        </p:txBody>
      </p:sp>
      <p:sp>
        <p:nvSpPr>
          <p:cNvPr id="15" name="Shape 13"/>
          <p:cNvSpPr/>
          <p:nvPr/>
        </p:nvSpPr>
        <p:spPr>
          <a:xfrm>
            <a:off x="457200" y="2139696"/>
            <a:ext cx="4005072" cy="694944"/>
          </a:xfrm>
          <a:prstGeom prst="rect">
            <a:avLst/>
          </a:prstGeom>
          <a:solidFill>
            <a:srgbClr val="FFFFFF"/>
          </a:solidFill>
          <a:ln w="9525">
            <a:solidFill>
              <a:srgbClr val="DCEEF8"/>
            </a:solidFill>
            <a:prstDash val="solid"/>
          </a:ln>
        </p:spPr>
        <p:txBody>
          <a:bodyPr/>
          <a:lstStyle/>
          <a:p>
            <a:endParaRPr lang="en-US"/>
          </a:p>
        </p:txBody>
      </p:sp>
      <p:sp>
        <p:nvSpPr>
          <p:cNvPr id="16" name="Shape 14"/>
          <p:cNvSpPr/>
          <p:nvPr/>
        </p:nvSpPr>
        <p:spPr>
          <a:xfrm>
            <a:off x="457200" y="2139696"/>
            <a:ext cx="54864" cy="694944"/>
          </a:xfrm>
          <a:prstGeom prst="rect">
            <a:avLst/>
          </a:prstGeom>
          <a:solidFill>
            <a:srgbClr val="0079AB"/>
          </a:solidFill>
          <a:ln w="12700">
            <a:solidFill>
              <a:srgbClr val="0079AB"/>
            </a:solidFill>
            <a:prstDash val="solid"/>
          </a:ln>
        </p:spPr>
        <p:txBody>
          <a:bodyPr/>
          <a:lstStyle/>
          <a:p>
            <a:endParaRPr lang="en-US"/>
          </a:p>
        </p:txBody>
      </p:sp>
      <p:sp>
        <p:nvSpPr>
          <p:cNvPr id="17" name="Text 15"/>
          <p:cNvSpPr/>
          <p:nvPr/>
        </p:nvSpPr>
        <p:spPr>
          <a:xfrm>
            <a:off x="640080" y="2212848"/>
            <a:ext cx="3657600" cy="182880"/>
          </a:xfrm>
          <a:prstGeom prst="rect">
            <a:avLst/>
          </a:prstGeom>
          <a:noFill/>
          <a:ln/>
        </p:spPr>
        <p:txBody>
          <a:bodyPr wrap="square" lIns="0" tIns="0" rIns="0" bIns="0" rtlCol="0" anchor="ctr"/>
          <a:lstStyle/>
          <a:p>
            <a:pPr marL="0" indent="0">
              <a:buNone/>
            </a:pPr>
            <a:r>
              <a:rPr lang="en-US" sz="800" b="1" kern="0" spc="120" dirty="0">
                <a:solidFill>
                  <a:srgbClr val="0079AB"/>
                </a:solidFill>
                <a:latin typeface="Calibri" pitchFamily="34" charset="0"/>
                <a:ea typeface="Calibri" pitchFamily="34" charset="-122"/>
                <a:cs typeface="Calibri" pitchFamily="34" charset="-120"/>
              </a:rPr>
              <a:t>IT PREDICTS</a:t>
            </a:r>
            <a:endParaRPr lang="en-US" sz="800" dirty="0"/>
          </a:p>
        </p:txBody>
      </p:sp>
      <p:sp>
        <p:nvSpPr>
          <p:cNvPr id="18" name="Text 16"/>
          <p:cNvSpPr/>
          <p:nvPr/>
        </p:nvSpPr>
        <p:spPr>
          <a:xfrm>
            <a:off x="640080" y="2414016"/>
            <a:ext cx="3675888" cy="365760"/>
          </a:xfrm>
          <a:prstGeom prst="rect">
            <a:avLst/>
          </a:prstGeom>
          <a:noFill/>
          <a:ln/>
        </p:spPr>
        <p:txBody>
          <a:bodyPr wrap="square" lIns="0" tIns="0" rIns="0" bIns="0" rtlCol="0" anchor="t"/>
          <a:lstStyle/>
          <a:p>
            <a:pPr marL="0" indent="0">
              <a:lnSpc>
                <a:spcPct val="105000"/>
              </a:lnSpc>
              <a:buNone/>
            </a:pPr>
            <a:r>
              <a:rPr lang="en-US" sz="850" dirty="0">
                <a:solidFill>
                  <a:srgbClr val="1E2A38"/>
                </a:solidFill>
                <a:latin typeface="Calibri" pitchFamily="34" charset="0"/>
                <a:ea typeface="Calibri" pitchFamily="34" charset="-122"/>
                <a:cs typeface="Calibri" pitchFamily="34" charset="-120"/>
              </a:rPr>
              <a:t>It produces the most plausible next words. Plausible is not the same thing as true.</a:t>
            </a:r>
            <a:endParaRPr lang="en-US" sz="850" dirty="0"/>
          </a:p>
        </p:txBody>
      </p:sp>
      <p:sp>
        <p:nvSpPr>
          <p:cNvPr id="19" name="Shape 17"/>
          <p:cNvSpPr/>
          <p:nvPr/>
        </p:nvSpPr>
        <p:spPr>
          <a:xfrm>
            <a:off x="4681728" y="2139696"/>
            <a:ext cx="4005072" cy="694944"/>
          </a:xfrm>
          <a:prstGeom prst="rect">
            <a:avLst/>
          </a:prstGeom>
          <a:solidFill>
            <a:srgbClr val="FFFFFF"/>
          </a:solidFill>
          <a:ln w="9525">
            <a:solidFill>
              <a:srgbClr val="DCEEF8"/>
            </a:solidFill>
            <a:prstDash val="solid"/>
          </a:ln>
        </p:spPr>
        <p:txBody>
          <a:bodyPr/>
          <a:lstStyle/>
          <a:p>
            <a:endParaRPr lang="en-US"/>
          </a:p>
        </p:txBody>
      </p:sp>
      <p:sp>
        <p:nvSpPr>
          <p:cNvPr id="20" name="Shape 18"/>
          <p:cNvSpPr/>
          <p:nvPr/>
        </p:nvSpPr>
        <p:spPr>
          <a:xfrm>
            <a:off x="4681728" y="2139696"/>
            <a:ext cx="54864" cy="694944"/>
          </a:xfrm>
          <a:prstGeom prst="rect">
            <a:avLst/>
          </a:prstGeom>
          <a:solidFill>
            <a:srgbClr val="0079AB"/>
          </a:solidFill>
          <a:ln w="12700">
            <a:solidFill>
              <a:srgbClr val="0079AB"/>
            </a:solidFill>
            <a:prstDash val="solid"/>
          </a:ln>
        </p:spPr>
        <p:txBody>
          <a:bodyPr/>
          <a:lstStyle/>
          <a:p>
            <a:endParaRPr lang="en-US"/>
          </a:p>
        </p:txBody>
      </p:sp>
      <p:sp>
        <p:nvSpPr>
          <p:cNvPr id="21" name="Text 19"/>
          <p:cNvSpPr/>
          <p:nvPr/>
        </p:nvSpPr>
        <p:spPr>
          <a:xfrm>
            <a:off x="4864608" y="2212848"/>
            <a:ext cx="3657600" cy="182880"/>
          </a:xfrm>
          <a:prstGeom prst="rect">
            <a:avLst/>
          </a:prstGeom>
          <a:noFill/>
          <a:ln/>
        </p:spPr>
        <p:txBody>
          <a:bodyPr wrap="square" lIns="0" tIns="0" rIns="0" bIns="0" rtlCol="0" anchor="ctr"/>
          <a:lstStyle/>
          <a:p>
            <a:pPr marL="0" indent="0">
              <a:buNone/>
            </a:pPr>
            <a:r>
              <a:rPr lang="en-US" sz="800" b="1" kern="0" spc="120" dirty="0">
                <a:solidFill>
                  <a:srgbClr val="0079AB"/>
                </a:solidFill>
                <a:latin typeface="Calibri" pitchFamily="34" charset="0"/>
                <a:ea typeface="Calibri" pitchFamily="34" charset="-122"/>
                <a:cs typeface="Calibri" pitchFamily="34" charset="-120"/>
              </a:rPr>
              <a:t>IT IS PAID BY THE TOKEN</a:t>
            </a:r>
            <a:endParaRPr lang="en-US" sz="800" dirty="0"/>
          </a:p>
        </p:txBody>
      </p:sp>
      <p:sp>
        <p:nvSpPr>
          <p:cNvPr id="22" name="Text 20"/>
          <p:cNvSpPr/>
          <p:nvPr/>
        </p:nvSpPr>
        <p:spPr>
          <a:xfrm>
            <a:off x="4864608" y="2414016"/>
            <a:ext cx="3675888" cy="365760"/>
          </a:xfrm>
          <a:prstGeom prst="rect">
            <a:avLst/>
          </a:prstGeom>
          <a:noFill/>
          <a:ln/>
        </p:spPr>
        <p:txBody>
          <a:bodyPr wrap="square" lIns="0" tIns="0" rIns="0" bIns="0" rtlCol="0" anchor="t"/>
          <a:lstStyle/>
          <a:p>
            <a:pPr marL="0" indent="0">
              <a:lnSpc>
                <a:spcPct val="105000"/>
              </a:lnSpc>
              <a:buNone/>
            </a:pPr>
            <a:r>
              <a:rPr lang="en-US" sz="850" dirty="0">
                <a:solidFill>
                  <a:srgbClr val="1E2A38"/>
                </a:solidFill>
                <a:latin typeface="Calibri" pitchFamily="34" charset="0"/>
                <a:ea typeface="Calibri" pitchFamily="34" charset="-122"/>
                <a:cs typeface="Calibri" pitchFamily="34" charset="-120"/>
              </a:rPr>
              <a:t>Roughly four characters per token. Input and output are both billed.</a:t>
            </a:r>
            <a:endParaRPr lang="en-US" sz="850" dirty="0"/>
          </a:p>
        </p:txBody>
      </p:sp>
      <p:sp>
        <p:nvSpPr>
          <p:cNvPr id="23" name="Shape 21"/>
          <p:cNvSpPr/>
          <p:nvPr/>
        </p:nvSpPr>
        <p:spPr>
          <a:xfrm>
            <a:off x="457200" y="2944368"/>
            <a:ext cx="4005072" cy="694944"/>
          </a:xfrm>
          <a:prstGeom prst="rect">
            <a:avLst/>
          </a:prstGeom>
          <a:solidFill>
            <a:srgbClr val="FFFFFF"/>
          </a:solidFill>
          <a:ln w="9525">
            <a:solidFill>
              <a:srgbClr val="DCEEF8"/>
            </a:solidFill>
            <a:prstDash val="solid"/>
          </a:ln>
        </p:spPr>
        <p:txBody>
          <a:bodyPr/>
          <a:lstStyle/>
          <a:p>
            <a:endParaRPr lang="en-US"/>
          </a:p>
        </p:txBody>
      </p:sp>
      <p:sp>
        <p:nvSpPr>
          <p:cNvPr id="24" name="Shape 22"/>
          <p:cNvSpPr/>
          <p:nvPr/>
        </p:nvSpPr>
        <p:spPr>
          <a:xfrm>
            <a:off x="457200" y="2944368"/>
            <a:ext cx="54864" cy="694944"/>
          </a:xfrm>
          <a:prstGeom prst="rect">
            <a:avLst/>
          </a:prstGeom>
          <a:solidFill>
            <a:srgbClr val="0098D4"/>
          </a:solidFill>
          <a:ln w="12700">
            <a:solidFill>
              <a:srgbClr val="0098D4"/>
            </a:solidFill>
            <a:prstDash val="solid"/>
          </a:ln>
        </p:spPr>
        <p:txBody>
          <a:bodyPr/>
          <a:lstStyle/>
          <a:p>
            <a:endParaRPr lang="en-US"/>
          </a:p>
        </p:txBody>
      </p:sp>
      <p:sp>
        <p:nvSpPr>
          <p:cNvPr id="25" name="Text 23"/>
          <p:cNvSpPr/>
          <p:nvPr/>
        </p:nvSpPr>
        <p:spPr>
          <a:xfrm>
            <a:off x="640080" y="3017520"/>
            <a:ext cx="3657600" cy="182880"/>
          </a:xfrm>
          <a:prstGeom prst="rect">
            <a:avLst/>
          </a:prstGeom>
          <a:noFill/>
          <a:ln/>
        </p:spPr>
        <p:txBody>
          <a:bodyPr wrap="square" lIns="0" tIns="0" rIns="0" bIns="0" rtlCol="0" anchor="ctr"/>
          <a:lstStyle/>
          <a:p>
            <a:pPr marL="0" indent="0">
              <a:buNone/>
            </a:pPr>
            <a:r>
              <a:rPr lang="en-US" sz="800" b="1" kern="0" spc="120" dirty="0">
                <a:solidFill>
                  <a:srgbClr val="0098D4"/>
                </a:solidFill>
                <a:latin typeface="Calibri" pitchFamily="34" charset="0"/>
                <a:ea typeface="Calibri" pitchFamily="34" charset="-122"/>
                <a:cs typeface="Calibri" pitchFamily="34" charset="-120"/>
              </a:rPr>
              <a:t>TEMPERATURE = RANDOMNESS</a:t>
            </a:r>
            <a:endParaRPr lang="en-US" sz="800" dirty="0"/>
          </a:p>
        </p:txBody>
      </p:sp>
      <p:sp>
        <p:nvSpPr>
          <p:cNvPr id="26" name="Text 24"/>
          <p:cNvSpPr/>
          <p:nvPr/>
        </p:nvSpPr>
        <p:spPr>
          <a:xfrm>
            <a:off x="640080" y="3218688"/>
            <a:ext cx="3675888" cy="365760"/>
          </a:xfrm>
          <a:prstGeom prst="rect">
            <a:avLst/>
          </a:prstGeom>
          <a:noFill/>
          <a:ln/>
        </p:spPr>
        <p:txBody>
          <a:bodyPr wrap="square" lIns="0" tIns="0" rIns="0" bIns="0" rtlCol="0" anchor="t"/>
          <a:lstStyle/>
          <a:p>
            <a:pPr marL="0" indent="0">
              <a:lnSpc>
                <a:spcPct val="105000"/>
              </a:lnSpc>
              <a:buNone/>
            </a:pPr>
            <a:r>
              <a:rPr lang="en-US" sz="850" dirty="0">
                <a:solidFill>
                  <a:srgbClr val="1E2A38"/>
                </a:solidFill>
                <a:latin typeface="Calibri" pitchFamily="34" charset="0"/>
                <a:ea typeface="Calibri" pitchFamily="34" charset="-122"/>
                <a:cs typeface="Calibri" pitchFamily="34" charset="-120"/>
              </a:rPr>
              <a:t>Low for extraction and classification. Higher for writing and brainstorming.</a:t>
            </a:r>
            <a:endParaRPr lang="en-US" sz="850" dirty="0"/>
          </a:p>
        </p:txBody>
      </p:sp>
      <p:sp>
        <p:nvSpPr>
          <p:cNvPr id="27" name="Shape 25"/>
          <p:cNvSpPr/>
          <p:nvPr/>
        </p:nvSpPr>
        <p:spPr>
          <a:xfrm>
            <a:off x="4681728" y="2944368"/>
            <a:ext cx="4005072" cy="694944"/>
          </a:xfrm>
          <a:prstGeom prst="rect">
            <a:avLst/>
          </a:prstGeom>
          <a:solidFill>
            <a:srgbClr val="FFFFFF"/>
          </a:solidFill>
          <a:ln w="9525">
            <a:solidFill>
              <a:srgbClr val="DCEEF8"/>
            </a:solidFill>
            <a:prstDash val="solid"/>
          </a:ln>
        </p:spPr>
        <p:txBody>
          <a:bodyPr/>
          <a:lstStyle/>
          <a:p>
            <a:endParaRPr lang="en-US"/>
          </a:p>
        </p:txBody>
      </p:sp>
      <p:sp>
        <p:nvSpPr>
          <p:cNvPr id="28" name="Shape 26"/>
          <p:cNvSpPr/>
          <p:nvPr/>
        </p:nvSpPr>
        <p:spPr>
          <a:xfrm>
            <a:off x="4681728" y="2944368"/>
            <a:ext cx="54864" cy="694944"/>
          </a:xfrm>
          <a:prstGeom prst="rect">
            <a:avLst/>
          </a:prstGeom>
          <a:solidFill>
            <a:srgbClr val="B83232"/>
          </a:solidFill>
          <a:ln w="12700">
            <a:solidFill>
              <a:srgbClr val="B83232"/>
            </a:solidFill>
            <a:prstDash val="solid"/>
          </a:ln>
        </p:spPr>
        <p:txBody>
          <a:bodyPr/>
          <a:lstStyle/>
          <a:p>
            <a:endParaRPr lang="en-US"/>
          </a:p>
        </p:txBody>
      </p:sp>
      <p:sp>
        <p:nvSpPr>
          <p:cNvPr id="29" name="Text 27"/>
          <p:cNvSpPr/>
          <p:nvPr/>
        </p:nvSpPr>
        <p:spPr>
          <a:xfrm>
            <a:off x="4864608" y="3017520"/>
            <a:ext cx="3657600" cy="182880"/>
          </a:xfrm>
          <a:prstGeom prst="rect">
            <a:avLst/>
          </a:prstGeom>
          <a:noFill/>
          <a:ln/>
        </p:spPr>
        <p:txBody>
          <a:bodyPr wrap="square" lIns="0" tIns="0" rIns="0" bIns="0" rtlCol="0" anchor="ctr"/>
          <a:lstStyle/>
          <a:p>
            <a:pPr marL="0" indent="0">
              <a:buNone/>
            </a:pPr>
            <a:r>
              <a:rPr lang="en-US" sz="800" b="1" kern="0" spc="120" dirty="0">
                <a:solidFill>
                  <a:srgbClr val="B83232"/>
                </a:solidFill>
                <a:latin typeface="Calibri" pitchFamily="34" charset="0"/>
                <a:ea typeface="Calibri" pitchFamily="34" charset="-122"/>
                <a:cs typeface="Calibri" pitchFamily="34" charset="-120"/>
              </a:rPr>
              <a:t>IT DOES NOT KNOW YOUR DATA</a:t>
            </a:r>
            <a:endParaRPr lang="en-US" sz="800" dirty="0"/>
          </a:p>
        </p:txBody>
      </p:sp>
      <p:sp>
        <p:nvSpPr>
          <p:cNvPr id="30" name="Text 28"/>
          <p:cNvSpPr/>
          <p:nvPr/>
        </p:nvSpPr>
        <p:spPr>
          <a:xfrm>
            <a:off x="4864608" y="3218688"/>
            <a:ext cx="3675888" cy="365760"/>
          </a:xfrm>
          <a:prstGeom prst="rect">
            <a:avLst/>
          </a:prstGeom>
          <a:noFill/>
          <a:ln/>
        </p:spPr>
        <p:txBody>
          <a:bodyPr wrap="square" lIns="0" tIns="0" rIns="0" bIns="0" rtlCol="0" anchor="t"/>
          <a:lstStyle/>
          <a:p>
            <a:pPr marL="0" indent="0">
              <a:lnSpc>
                <a:spcPct val="105000"/>
              </a:lnSpc>
              <a:buNone/>
            </a:pPr>
            <a:r>
              <a:rPr lang="en-US" sz="850" dirty="0">
                <a:solidFill>
                  <a:srgbClr val="1E2A38"/>
                </a:solidFill>
                <a:latin typeface="Calibri" pitchFamily="34" charset="0"/>
                <a:ea typeface="Calibri" pitchFamily="34" charset="-122"/>
                <a:cs typeface="Calibri" pitchFamily="34" charset="-120"/>
              </a:rPr>
              <a:t>Nothing you have ever written is in there. Fixing that is Thursday's entire job.</a:t>
            </a:r>
            <a:endParaRPr lang="en-US" sz="850" dirty="0"/>
          </a:p>
        </p:txBody>
      </p:sp>
      <p:sp>
        <p:nvSpPr>
          <p:cNvPr id="31" name="Text 29"/>
          <p:cNvSpPr/>
          <p:nvPr/>
        </p:nvSpPr>
        <p:spPr>
          <a:xfrm>
            <a:off x="457200" y="3785616"/>
            <a:ext cx="8229600" cy="457200"/>
          </a:xfrm>
          <a:prstGeom prst="rect">
            <a:avLst/>
          </a:prstGeom>
          <a:noFill/>
          <a:ln/>
        </p:spPr>
        <p:txBody>
          <a:bodyPr wrap="square" lIns="0" tIns="0" rIns="0" bIns="0" rtlCol="0" anchor="t"/>
          <a:lstStyle/>
          <a:p>
            <a:pPr marL="0" indent="0">
              <a:lnSpc>
                <a:spcPct val="105000"/>
              </a:lnSpc>
              <a:buNone/>
            </a:pPr>
            <a:r>
              <a:rPr lang="en-US" sz="950" dirty="0">
                <a:solidFill>
                  <a:srgbClr val="6B7280"/>
                </a:solidFill>
                <a:latin typeface="Calibri" pitchFamily="34" charset="0"/>
                <a:ea typeface="Calibri" pitchFamily="34" charset="-122"/>
                <a:cs typeface="Calibri" pitchFamily="34" charset="-120"/>
              </a:rPr>
              <a:t>Notice what is missing from that list: reasoning, understanding, and knowing. Those are marketing words. Prediction is the mechanism, and prediction is enough to build remarkable things — as long as you design for the fact that it can be confidently wrong.</a:t>
            </a:r>
            <a:endParaRPr lang="en-US" sz="950" dirty="0"/>
          </a:p>
        </p:txBody>
      </p:sp>
      <p:sp>
        <p:nvSpPr>
          <p:cNvPr id="32" name="Shape 30"/>
          <p:cNvSpPr/>
          <p:nvPr/>
        </p:nvSpPr>
        <p:spPr>
          <a:xfrm>
            <a:off x="457200" y="4334256"/>
            <a:ext cx="8229600" cy="512064"/>
          </a:xfrm>
          <a:prstGeom prst="rect">
            <a:avLst/>
          </a:prstGeom>
          <a:solidFill>
            <a:srgbClr val="F0F8FD"/>
          </a:solidFill>
          <a:ln w="12700">
            <a:solidFill>
              <a:srgbClr val="F0F8FD"/>
            </a:solidFill>
            <a:prstDash val="solid"/>
          </a:ln>
        </p:spPr>
        <p:txBody>
          <a:bodyPr/>
          <a:lstStyle/>
          <a:p>
            <a:endParaRPr lang="en-US"/>
          </a:p>
        </p:txBody>
      </p:sp>
      <p:sp>
        <p:nvSpPr>
          <p:cNvPr id="33" name="Shape 31"/>
          <p:cNvSpPr/>
          <p:nvPr/>
        </p:nvSpPr>
        <p:spPr>
          <a:xfrm>
            <a:off x="457200" y="4334256"/>
            <a:ext cx="54864" cy="512064"/>
          </a:xfrm>
          <a:prstGeom prst="rect">
            <a:avLst/>
          </a:prstGeom>
          <a:solidFill>
            <a:srgbClr val="0079AB"/>
          </a:solidFill>
          <a:ln w="12700">
            <a:solidFill>
              <a:srgbClr val="0079AB"/>
            </a:solidFill>
            <a:prstDash val="solid"/>
          </a:ln>
        </p:spPr>
        <p:txBody>
          <a:bodyPr/>
          <a:lstStyle/>
          <a:p>
            <a:endParaRPr lang="en-US"/>
          </a:p>
        </p:txBody>
      </p:sp>
      <p:sp>
        <p:nvSpPr>
          <p:cNvPr id="34" name="Text 32"/>
          <p:cNvSpPr/>
          <p:nvPr/>
        </p:nvSpPr>
        <p:spPr>
          <a:xfrm>
            <a:off x="658368" y="4334256"/>
            <a:ext cx="7863840" cy="512064"/>
          </a:xfrm>
          <a:prstGeom prst="rect">
            <a:avLst/>
          </a:prstGeom>
          <a:noFill/>
          <a:ln/>
        </p:spPr>
        <p:txBody>
          <a:bodyPr wrap="square" lIns="0" tIns="0" rIns="0" bIns="0" rtlCol="0" anchor="ctr"/>
          <a:lstStyle/>
          <a:p>
            <a:pPr marL="0" indent="0">
              <a:buNone/>
            </a:pPr>
            <a:r>
              <a:rPr lang="en-US" sz="1000" b="1" dirty="0">
                <a:solidFill>
                  <a:srgbClr val="1E2A38"/>
                </a:solidFill>
                <a:latin typeface="Calibri" pitchFamily="34" charset="0"/>
                <a:ea typeface="Calibri" pitchFamily="34" charset="-122"/>
                <a:cs typeface="Calibri" pitchFamily="34" charset="-120"/>
              </a:rPr>
              <a:t>Treat it as an unreliable but very fast colleague. You would check that colleague's work — so check this one's too.</a:t>
            </a:r>
            <a:endParaRPr lang="en-US" sz="1000" dirty="0"/>
          </a:p>
        </p:txBody>
      </p:sp>
    </p:spTree>
    <p:extLst>
      <p:ext uri="{BB962C8B-B14F-4D97-AF65-F5344CB8AC3E}">
        <p14:creationId xmlns:p14="http://schemas.microsoft.com/office/powerpoint/2010/main" val="210885724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79AB"/>
          </a:solidFill>
          <a:ln w="12700">
            <a:solidFill>
              <a:srgbClr val="0079AB"/>
            </a:solidFill>
            <a:prstDash val="solid"/>
          </a:ln>
        </p:spPr>
        <p:txBody>
          <a:bodyPr/>
          <a:lstStyle/>
          <a:p>
            <a:endParaRPr lang="en-US"/>
          </a:p>
        </p:txBody>
      </p:sp>
      <p:sp>
        <p:nvSpPr>
          <p:cNvPr id="3" name="Text 1"/>
          <p:cNvSpPr/>
          <p:nvPr/>
        </p:nvSpPr>
        <p:spPr>
          <a:xfrm>
            <a:off x="457200" y="128016"/>
            <a:ext cx="6400800" cy="182880"/>
          </a:xfrm>
          <a:prstGeom prst="rect">
            <a:avLst/>
          </a:prstGeom>
          <a:noFill/>
          <a:ln/>
        </p:spPr>
        <p:txBody>
          <a:bodyPr wrap="square" lIns="0" tIns="0" rIns="0" bIns="0" rtlCol="0" anchor="ctr"/>
          <a:lstStyle/>
          <a:p>
            <a:pPr marL="0" indent="0">
              <a:buNone/>
            </a:pPr>
            <a:r>
              <a:rPr lang="en-US" sz="800" b="1" kern="0" spc="160" dirty="0">
                <a:solidFill>
                  <a:srgbClr val="6B7280"/>
                </a:solidFill>
                <a:latin typeface="Calibri" pitchFamily="34" charset="0"/>
                <a:ea typeface="Calibri" pitchFamily="34" charset="-122"/>
                <a:cs typeface="Calibri" pitchFamily="34" charset="-120"/>
              </a:rPr>
              <a:t>BLOCK 3  ·  THE AI MOMENT</a:t>
            </a:r>
            <a:endParaRPr lang="en-US" sz="800" dirty="0"/>
          </a:p>
        </p:txBody>
      </p:sp>
      <p:sp>
        <p:nvSpPr>
          <p:cNvPr id="4" name="Text 2"/>
          <p:cNvSpPr/>
          <p:nvPr/>
        </p:nvSpPr>
        <p:spPr>
          <a:xfrm>
            <a:off x="457200" y="347472"/>
            <a:ext cx="8229600" cy="420624"/>
          </a:xfrm>
          <a:prstGeom prst="rect">
            <a:avLst/>
          </a:prstGeom>
          <a:noFill/>
          <a:ln/>
        </p:spPr>
        <p:txBody>
          <a:bodyPr wrap="square" lIns="0" tIns="0" rIns="0" bIns="0" rtlCol="0" anchor="ctr"/>
          <a:lstStyle/>
          <a:p>
            <a:pPr marL="0" indent="0">
              <a:buNone/>
            </a:pPr>
            <a:r>
              <a:rPr lang="en-US" sz="2200" b="1" dirty="0">
                <a:solidFill>
                  <a:srgbClr val="1E2A38"/>
                </a:solidFill>
                <a:latin typeface="Calibri" pitchFamily="34" charset="0"/>
                <a:ea typeface="Calibri" pitchFamily="34" charset="-122"/>
                <a:cs typeface="Calibri" pitchFamily="34" charset="-120"/>
              </a:rPr>
              <a:t>The Four-Part Prompt for Code</a:t>
            </a:r>
            <a:endParaRPr lang="en-US" sz="2200" dirty="0"/>
          </a:p>
        </p:txBody>
      </p:sp>
      <p:sp>
        <p:nvSpPr>
          <p:cNvPr id="5" name="Shape 3"/>
          <p:cNvSpPr/>
          <p:nvPr/>
        </p:nvSpPr>
        <p:spPr>
          <a:xfrm>
            <a:off x="457200" y="859536"/>
            <a:ext cx="8229600" cy="10973"/>
          </a:xfrm>
          <a:prstGeom prst="rect">
            <a:avLst/>
          </a:prstGeom>
          <a:solidFill>
            <a:srgbClr val="CDE7F5"/>
          </a:solidFill>
          <a:ln w="12700">
            <a:solidFill>
              <a:srgbClr val="CDE7F5"/>
            </a:solidFill>
            <a:prstDash val="solid"/>
          </a:ln>
        </p:spPr>
        <p:txBody>
          <a:bodyPr/>
          <a:lstStyle/>
          <a:p>
            <a:endParaRPr lang="en-US"/>
          </a:p>
        </p:txBody>
      </p:sp>
      <p:sp>
        <p:nvSpPr>
          <p:cNvPr id="6" name="Shape 4"/>
          <p:cNvSpPr/>
          <p:nvPr/>
        </p:nvSpPr>
        <p:spPr>
          <a:xfrm>
            <a:off x="457200" y="1005840"/>
            <a:ext cx="8229600" cy="530352"/>
          </a:xfrm>
          <a:prstGeom prst="rect">
            <a:avLst/>
          </a:prstGeom>
          <a:solidFill>
            <a:srgbClr val="FFFFFF"/>
          </a:solidFill>
          <a:ln w="9525">
            <a:solidFill>
              <a:srgbClr val="DCEEF8"/>
            </a:solidFill>
            <a:prstDash val="solid"/>
          </a:ln>
        </p:spPr>
        <p:txBody>
          <a:bodyPr/>
          <a:lstStyle/>
          <a:p>
            <a:endParaRPr lang="en-US"/>
          </a:p>
        </p:txBody>
      </p:sp>
      <p:sp>
        <p:nvSpPr>
          <p:cNvPr id="7" name="Shape 5"/>
          <p:cNvSpPr/>
          <p:nvPr/>
        </p:nvSpPr>
        <p:spPr>
          <a:xfrm>
            <a:off x="457200" y="1005840"/>
            <a:ext cx="54864" cy="530352"/>
          </a:xfrm>
          <a:prstGeom prst="rect">
            <a:avLst/>
          </a:prstGeom>
          <a:solidFill>
            <a:srgbClr val="00B0F0"/>
          </a:solidFill>
          <a:ln w="12700">
            <a:solidFill>
              <a:srgbClr val="00B0F0"/>
            </a:solidFill>
            <a:prstDash val="solid"/>
          </a:ln>
        </p:spPr>
        <p:txBody>
          <a:bodyPr/>
          <a:lstStyle/>
          <a:p>
            <a:endParaRPr lang="en-US"/>
          </a:p>
        </p:txBody>
      </p:sp>
      <p:sp>
        <p:nvSpPr>
          <p:cNvPr id="8" name="Shape 6"/>
          <p:cNvSpPr/>
          <p:nvPr/>
        </p:nvSpPr>
        <p:spPr>
          <a:xfrm>
            <a:off x="640080" y="1124712"/>
            <a:ext cx="292608" cy="292608"/>
          </a:xfrm>
          <a:prstGeom prst="rect">
            <a:avLst/>
          </a:prstGeom>
          <a:solidFill>
            <a:srgbClr val="00B0F0"/>
          </a:solidFill>
          <a:ln w="12700">
            <a:solidFill>
              <a:srgbClr val="00B0F0"/>
            </a:solidFill>
            <a:prstDash val="solid"/>
          </a:ln>
        </p:spPr>
        <p:txBody>
          <a:bodyPr/>
          <a:lstStyle/>
          <a:p>
            <a:endParaRPr lang="en-US"/>
          </a:p>
        </p:txBody>
      </p:sp>
      <p:sp>
        <p:nvSpPr>
          <p:cNvPr id="9" name="Text 7"/>
          <p:cNvSpPr/>
          <p:nvPr/>
        </p:nvSpPr>
        <p:spPr>
          <a:xfrm>
            <a:off x="640080" y="1124712"/>
            <a:ext cx="292608" cy="292608"/>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10" name="Text 8"/>
          <p:cNvSpPr/>
          <p:nvPr/>
        </p:nvSpPr>
        <p:spPr>
          <a:xfrm>
            <a:off x="1042416" y="1005840"/>
            <a:ext cx="1225296" cy="530352"/>
          </a:xfrm>
          <a:prstGeom prst="rect">
            <a:avLst/>
          </a:prstGeom>
          <a:noFill/>
          <a:ln/>
        </p:spPr>
        <p:txBody>
          <a:bodyPr wrap="square" lIns="0" tIns="0" rIns="0" bIns="0" rtlCol="0" anchor="ctr"/>
          <a:lstStyle/>
          <a:p>
            <a:pPr marL="0" indent="0">
              <a:buNone/>
            </a:pPr>
            <a:r>
              <a:rPr lang="en-US" sz="900" b="1" kern="0" spc="80" dirty="0">
                <a:solidFill>
                  <a:srgbClr val="00B0F0"/>
                </a:solidFill>
                <a:latin typeface="Calibri" pitchFamily="34" charset="0"/>
                <a:ea typeface="Calibri" pitchFamily="34" charset="-122"/>
                <a:cs typeface="Calibri" pitchFamily="34" charset="-120"/>
              </a:rPr>
              <a:t>CONTEXT</a:t>
            </a:r>
            <a:endParaRPr lang="en-US" sz="900" dirty="0"/>
          </a:p>
        </p:txBody>
      </p:sp>
      <p:sp>
        <p:nvSpPr>
          <p:cNvPr id="11" name="Text 9"/>
          <p:cNvSpPr/>
          <p:nvPr/>
        </p:nvSpPr>
        <p:spPr>
          <a:xfrm>
            <a:off x="2286000" y="1005840"/>
            <a:ext cx="2468880" cy="530352"/>
          </a:xfrm>
          <a:prstGeom prst="rect">
            <a:avLst/>
          </a:prstGeom>
          <a:noFill/>
          <a:ln/>
        </p:spPr>
        <p:txBody>
          <a:bodyPr wrap="square" lIns="0" tIns="0" rIns="0" bIns="0" rtlCol="0" anchor="ctr"/>
          <a:lstStyle/>
          <a:p>
            <a:pPr marL="0" indent="0">
              <a:buNone/>
            </a:pPr>
            <a:r>
              <a:rPr lang="en-US" sz="850" dirty="0">
                <a:solidFill>
                  <a:srgbClr val="1E2A38"/>
                </a:solidFill>
                <a:latin typeface="Calibri" pitchFamily="34" charset="0"/>
                <a:ea typeface="Calibri" pitchFamily="34" charset="-122"/>
                <a:cs typeface="Calibri" pitchFamily="34" charset="-120"/>
              </a:rPr>
              <a:t>What you are building, and what already exists</a:t>
            </a:r>
            <a:endParaRPr lang="en-US" sz="850" dirty="0"/>
          </a:p>
        </p:txBody>
      </p:sp>
      <p:sp>
        <p:nvSpPr>
          <p:cNvPr id="12" name="Text 10"/>
          <p:cNvSpPr/>
          <p:nvPr/>
        </p:nvSpPr>
        <p:spPr>
          <a:xfrm>
            <a:off x="4846320" y="1005840"/>
            <a:ext cx="3712464" cy="530352"/>
          </a:xfrm>
          <a:prstGeom prst="rect">
            <a:avLst/>
          </a:prstGeom>
          <a:noFill/>
          <a:ln/>
        </p:spPr>
        <p:txBody>
          <a:bodyPr wrap="square" lIns="0" tIns="0" rIns="0" bIns="0" rtlCol="0" anchor="ctr"/>
          <a:lstStyle/>
          <a:p>
            <a:pPr marL="0" indent="0">
              <a:buNone/>
            </a:pPr>
            <a:r>
              <a:rPr lang="en-US" sz="800" i="1" dirty="0">
                <a:solidFill>
                  <a:srgbClr val="6B7280"/>
                </a:solidFill>
                <a:latin typeface="Calibri" pitchFamily="34" charset="0"/>
                <a:ea typeface="Calibri" pitchFamily="34" charset="-122"/>
                <a:cs typeface="Calibri" pitchFamily="34" charset="-120"/>
              </a:rPr>
              <a:t>"I have an Express route that returns an array of expense records."</a:t>
            </a:r>
            <a:endParaRPr lang="en-US" sz="800" dirty="0"/>
          </a:p>
        </p:txBody>
      </p:sp>
      <p:sp>
        <p:nvSpPr>
          <p:cNvPr id="13" name="Shape 11"/>
          <p:cNvSpPr/>
          <p:nvPr/>
        </p:nvSpPr>
        <p:spPr>
          <a:xfrm>
            <a:off x="457200" y="1609344"/>
            <a:ext cx="8229600" cy="530352"/>
          </a:xfrm>
          <a:prstGeom prst="rect">
            <a:avLst/>
          </a:prstGeom>
          <a:solidFill>
            <a:srgbClr val="FFFFFF"/>
          </a:solidFill>
          <a:ln w="9525">
            <a:solidFill>
              <a:srgbClr val="DCEEF8"/>
            </a:solidFill>
            <a:prstDash val="solid"/>
          </a:ln>
        </p:spPr>
        <p:txBody>
          <a:bodyPr/>
          <a:lstStyle/>
          <a:p>
            <a:endParaRPr lang="en-US"/>
          </a:p>
        </p:txBody>
      </p:sp>
      <p:sp>
        <p:nvSpPr>
          <p:cNvPr id="14" name="Shape 12"/>
          <p:cNvSpPr/>
          <p:nvPr/>
        </p:nvSpPr>
        <p:spPr>
          <a:xfrm>
            <a:off x="457200" y="1609344"/>
            <a:ext cx="54864" cy="530352"/>
          </a:xfrm>
          <a:prstGeom prst="rect">
            <a:avLst/>
          </a:prstGeom>
          <a:solidFill>
            <a:srgbClr val="0098D4"/>
          </a:solidFill>
          <a:ln w="12700">
            <a:solidFill>
              <a:srgbClr val="0098D4"/>
            </a:solidFill>
            <a:prstDash val="solid"/>
          </a:ln>
        </p:spPr>
        <p:txBody>
          <a:bodyPr/>
          <a:lstStyle/>
          <a:p>
            <a:endParaRPr lang="en-US"/>
          </a:p>
        </p:txBody>
      </p:sp>
      <p:sp>
        <p:nvSpPr>
          <p:cNvPr id="15" name="Shape 13"/>
          <p:cNvSpPr/>
          <p:nvPr/>
        </p:nvSpPr>
        <p:spPr>
          <a:xfrm>
            <a:off x="640080" y="1728216"/>
            <a:ext cx="292608" cy="292608"/>
          </a:xfrm>
          <a:prstGeom prst="rect">
            <a:avLst/>
          </a:prstGeom>
          <a:solidFill>
            <a:srgbClr val="0098D4"/>
          </a:solidFill>
          <a:ln w="12700">
            <a:solidFill>
              <a:srgbClr val="0098D4"/>
            </a:solidFill>
            <a:prstDash val="solid"/>
          </a:ln>
        </p:spPr>
        <p:txBody>
          <a:bodyPr/>
          <a:lstStyle/>
          <a:p>
            <a:endParaRPr lang="en-US"/>
          </a:p>
        </p:txBody>
      </p:sp>
      <p:sp>
        <p:nvSpPr>
          <p:cNvPr id="16" name="Text 14"/>
          <p:cNvSpPr/>
          <p:nvPr/>
        </p:nvSpPr>
        <p:spPr>
          <a:xfrm>
            <a:off x="640080" y="1728216"/>
            <a:ext cx="292608" cy="292608"/>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2</a:t>
            </a:r>
            <a:endParaRPr lang="en-US" sz="900" dirty="0"/>
          </a:p>
        </p:txBody>
      </p:sp>
      <p:sp>
        <p:nvSpPr>
          <p:cNvPr id="17" name="Text 15"/>
          <p:cNvSpPr/>
          <p:nvPr/>
        </p:nvSpPr>
        <p:spPr>
          <a:xfrm>
            <a:off x="1042416" y="1609344"/>
            <a:ext cx="1225296" cy="530352"/>
          </a:xfrm>
          <a:prstGeom prst="rect">
            <a:avLst/>
          </a:prstGeom>
          <a:noFill/>
          <a:ln/>
        </p:spPr>
        <p:txBody>
          <a:bodyPr wrap="square" lIns="0" tIns="0" rIns="0" bIns="0" rtlCol="0" anchor="ctr"/>
          <a:lstStyle/>
          <a:p>
            <a:pPr marL="0" indent="0">
              <a:buNone/>
            </a:pPr>
            <a:r>
              <a:rPr lang="en-US" sz="900" b="1" kern="0" spc="80" dirty="0">
                <a:solidFill>
                  <a:srgbClr val="0098D4"/>
                </a:solidFill>
                <a:latin typeface="Calibri" pitchFamily="34" charset="0"/>
                <a:ea typeface="Calibri" pitchFamily="34" charset="-122"/>
                <a:cs typeface="Calibri" pitchFamily="34" charset="-120"/>
              </a:rPr>
              <a:t>TASK</a:t>
            </a:r>
            <a:endParaRPr lang="en-US" sz="900" dirty="0"/>
          </a:p>
        </p:txBody>
      </p:sp>
      <p:sp>
        <p:nvSpPr>
          <p:cNvPr id="18" name="Text 16"/>
          <p:cNvSpPr/>
          <p:nvPr/>
        </p:nvSpPr>
        <p:spPr>
          <a:xfrm>
            <a:off x="2286000" y="1609344"/>
            <a:ext cx="2468880" cy="530352"/>
          </a:xfrm>
          <a:prstGeom prst="rect">
            <a:avLst/>
          </a:prstGeom>
          <a:noFill/>
          <a:ln/>
        </p:spPr>
        <p:txBody>
          <a:bodyPr wrap="square" lIns="0" tIns="0" rIns="0" bIns="0" rtlCol="0" anchor="ctr"/>
          <a:lstStyle/>
          <a:p>
            <a:pPr marL="0" indent="0">
              <a:buNone/>
            </a:pPr>
            <a:r>
              <a:rPr lang="en-US" sz="850" dirty="0">
                <a:solidFill>
                  <a:srgbClr val="1E2A38"/>
                </a:solidFill>
                <a:latin typeface="Calibri" pitchFamily="34" charset="0"/>
                <a:ea typeface="Calibri" pitchFamily="34" charset="-122"/>
                <a:cs typeface="Calibri" pitchFamily="34" charset="-120"/>
              </a:rPr>
              <a:t>The one thing you want, stated plainly</a:t>
            </a:r>
            <a:endParaRPr lang="en-US" sz="850" dirty="0"/>
          </a:p>
        </p:txBody>
      </p:sp>
      <p:sp>
        <p:nvSpPr>
          <p:cNvPr id="19" name="Text 17"/>
          <p:cNvSpPr/>
          <p:nvPr/>
        </p:nvSpPr>
        <p:spPr>
          <a:xfrm>
            <a:off x="4846320" y="1609344"/>
            <a:ext cx="3712464" cy="530352"/>
          </a:xfrm>
          <a:prstGeom prst="rect">
            <a:avLst/>
          </a:prstGeom>
          <a:noFill/>
          <a:ln/>
        </p:spPr>
        <p:txBody>
          <a:bodyPr wrap="square" lIns="0" tIns="0" rIns="0" bIns="0" rtlCol="0" anchor="ctr"/>
          <a:lstStyle/>
          <a:p>
            <a:pPr marL="0" indent="0">
              <a:buNone/>
            </a:pPr>
            <a:r>
              <a:rPr lang="en-US" sz="800" i="1" dirty="0">
                <a:solidFill>
                  <a:srgbClr val="6B7280"/>
                </a:solidFill>
                <a:latin typeface="Calibri" pitchFamily="34" charset="0"/>
                <a:ea typeface="Calibri" pitchFamily="34" charset="-122"/>
                <a:cs typeface="Calibri" pitchFamily="34" charset="-120"/>
              </a:rPr>
              <a:t>"Write a function that groups them by category and totals each."</a:t>
            </a:r>
            <a:endParaRPr lang="en-US" sz="800" dirty="0"/>
          </a:p>
        </p:txBody>
      </p:sp>
      <p:sp>
        <p:nvSpPr>
          <p:cNvPr id="20" name="Shape 18"/>
          <p:cNvSpPr/>
          <p:nvPr/>
        </p:nvSpPr>
        <p:spPr>
          <a:xfrm>
            <a:off x="457200" y="2212848"/>
            <a:ext cx="8229600" cy="530352"/>
          </a:xfrm>
          <a:prstGeom prst="rect">
            <a:avLst/>
          </a:prstGeom>
          <a:solidFill>
            <a:srgbClr val="FFFFFF"/>
          </a:solidFill>
          <a:ln w="9525">
            <a:solidFill>
              <a:srgbClr val="DCEEF8"/>
            </a:solidFill>
            <a:prstDash val="solid"/>
          </a:ln>
        </p:spPr>
        <p:txBody>
          <a:bodyPr/>
          <a:lstStyle/>
          <a:p>
            <a:endParaRPr lang="en-US"/>
          </a:p>
        </p:txBody>
      </p:sp>
      <p:sp>
        <p:nvSpPr>
          <p:cNvPr id="21" name="Shape 19"/>
          <p:cNvSpPr/>
          <p:nvPr/>
        </p:nvSpPr>
        <p:spPr>
          <a:xfrm>
            <a:off x="457200" y="2212848"/>
            <a:ext cx="54864" cy="530352"/>
          </a:xfrm>
          <a:prstGeom prst="rect">
            <a:avLst/>
          </a:prstGeom>
          <a:solidFill>
            <a:srgbClr val="0079AB"/>
          </a:solidFill>
          <a:ln w="12700">
            <a:solidFill>
              <a:srgbClr val="0079AB"/>
            </a:solidFill>
            <a:prstDash val="solid"/>
          </a:ln>
        </p:spPr>
        <p:txBody>
          <a:bodyPr/>
          <a:lstStyle/>
          <a:p>
            <a:endParaRPr lang="en-US"/>
          </a:p>
        </p:txBody>
      </p:sp>
      <p:sp>
        <p:nvSpPr>
          <p:cNvPr id="22" name="Shape 20"/>
          <p:cNvSpPr/>
          <p:nvPr/>
        </p:nvSpPr>
        <p:spPr>
          <a:xfrm>
            <a:off x="640080" y="2331720"/>
            <a:ext cx="292608" cy="292608"/>
          </a:xfrm>
          <a:prstGeom prst="rect">
            <a:avLst/>
          </a:prstGeom>
          <a:solidFill>
            <a:srgbClr val="0079AB"/>
          </a:solidFill>
          <a:ln w="12700">
            <a:solidFill>
              <a:srgbClr val="0079AB"/>
            </a:solidFill>
            <a:prstDash val="solid"/>
          </a:ln>
        </p:spPr>
        <p:txBody>
          <a:bodyPr/>
          <a:lstStyle/>
          <a:p>
            <a:endParaRPr lang="en-US"/>
          </a:p>
        </p:txBody>
      </p:sp>
      <p:sp>
        <p:nvSpPr>
          <p:cNvPr id="23" name="Text 21"/>
          <p:cNvSpPr/>
          <p:nvPr/>
        </p:nvSpPr>
        <p:spPr>
          <a:xfrm>
            <a:off x="640080" y="2331720"/>
            <a:ext cx="292608" cy="292608"/>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3</a:t>
            </a:r>
            <a:endParaRPr lang="en-US" sz="900" dirty="0"/>
          </a:p>
        </p:txBody>
      </p:sp>
      <p:sp>
        <p:nvSpPr>
          <p:cNvPr id="24" name="Text 22"/>
          <p:cNvSpPr/>
          <p:nvPr/>
        </p:nvSpPr>
        <p:spPr>
          <a:xfrm>
            <a:off x="1042416" y="2212848"/>
            <a:ext cx="1225296" cy="530352"/>
          </a:xfrm>
          <a:prstGeom prst="rect">
            <a:avLst/>
          </a:prstGeom>
          <a:noFill/>
          <a:ln/>
        </p:spPr>
        <p:txBody>
          <a:bodyPr wrap="square" lIns="0" tIns="0" rIns="0" bIns="0" rtlCol="0" anchor="ctr"/>
          <a:lstStyle/>
          <a:p>
            <a:pPr marL="0" indent="0">
              <a:buNone/>
            </a:pPr>
            <a:r>
              <a:rPr lang="en-US" sz="900" b="1" kern="0" spc="80" dirty="0">
                <a:solidFill>
                  <a:srgbClr val="0079AB"/>
                </a:solidFill>
                <a:latin typeface="Calibri" pitchFamily="34" charset="0"/>
                <a:ea typeface="Calibri" pitchFamily="34" charset="-122"/>
                <a:cs typeface="Calibri" pitchFamily="34" charset="-120"/>
              </a:rPr>
              <a:t>CONSTRAINTS</a:t>
            </a:r>
            <a:endParaRPr lang="en-US" sz="900" dirty="0"/>
          </a:p>
        </p:txBody>
      </p:sp>
      <p:sp>
        <p:nvSpPr>
          <p:cNvPr id="25" name="Text 23"/>
          <p:cNvSpPr/>
          <p:nvPr/>
        </p:nvSpPr>
        <p:spPr>
          <a:xfrm>
            <a:off x="2286000" y="2212848"/>
            <a:ext cx="2468880" cy="530352"/>
          </a:xfrm>
          <a:prstGeom prst="rect">
            <a:avLst/>
          </a:prstGeom>
          <a:noFill/>
          <a:ln/>
        </p:spPr>
        <p:txBody>
          <a:bodyPr wrap="square" lIns="0" tIns="0" rIns="0" bIns="0" rtlCol="0" anchor="ctr"/>
          <a:lstStyle/>
          <a:p>
            <a:pPr marL="0" indent="0">
              <a:buNone/>
            </a:pPr>
            <a:r>
              <a:rPr lang="en-US" sz="850" dirty="0">
                <a:solidFill>
                  <a:srgbClr val="1E2A38"/>
                </a:solidFill>
                <a:latin typeface="Calibri" pitchFamily="34" charset="0"/>
                <a:ea typeface="Calibri" pitchFamily="34" charset="-122"/>
                <a:cs typeface="Calibri" pitchFamily="34" charset="-120"/>
              </a:rPr>
              <a:t>Rules the answer must obey</a:t>
            </a:r>
            <a:endParaRPr lang="en-US" sz="850" dirty="0"/>
          </a:p>
        </p:txBody>
      </p:sp>
      <p:sp>
        <p:nvSpPr>
          <p:cNvPr id="26" name="Text 24"/>
          <p:cNvSpPr/>
          <p:nvPr/>
        </p:nvSpPr>
        <p:spPr>
          <a:xfrm>
            <a:off x="4846320" y="2212848"/>
            <a:ext cx="3712464" cy="530352"/>
          </a:xfrm>
          <a:prstGeom prst="rect">
            <a:avLst/>
          </a:prstGeom>
          <a:noFill/>
          <a:ln/>
        </p:spPr>
        <p:txBody>
          <a:bodyPr wrap="square" lIns="0" tIns="0" rIns="0" bIns="0" rtlCol="0" anchor="ctr"/>
          <a:lstStyle/>
          <a:p>
            <a:pPr marL="0" indent="0">
              <a:buNone/>
            </a:pPr>
            <a:r>
              <a:rPr lang="en-US" sz="800" i="1" dirty="0">
                <a:solidFill>
                  <a:srgbClr val="6B7280"/>
                </a:solidFill>
                <a:latin typeface="Calibri" pitchFamily="34" charset="0"/>
                <a:ea typeface="Calibri" pitchFamily="34" charset="-122"/>
                <a:cs typeface="Calibri" pitchFamily="34" charset="-120"/>
              </a:rPr>
              <a:t>"Plain JavaScript, no libraries, handle an empty array."</a:t>
            </a:r>
            <a:endParaRPr lang="en-US" sz="800" dirty="0"/>
          </a:p>
        </p:txBody>
      </p:sp>
      <p:sp>
        <p:nvSpPr>
          <p:cNvPr id="27" name="Shape 25"/>
          <p:cNvSpPr/>
          <p:nvPr/>
        </p:nvSpPr>
        <p:spPr>
          <a:xfrm>
            <a:off x="457200" y="2816352"/>
            <a:ext cx="8229600" cy="530352"/>
          </a:xfrm>
          <a:prstGeom prst="rect">
            <a:avLst/>
          </a:prstGeom>
          <a:solidFill>
            <a:srgbClr val="FFFFFF"/>
          </a:solidFill>
          <a:ln w="9525">
            <a:solidFill>
              <a:srgbClr val="DCEEF8"/>
            </a:solidFill>
            <a:prstDash val="solid"/>
          </a:ln>
        </p:spPr>
        <p:txBody>
          <a:bodyPr/>
          <a:lstStyle/>
          <a:p>
            <a:endParaRPr lang="en-US"/>
          </a:p>
        </p:txBody>
      </p:sp>
      <p:sp>
        <p:nvSpPr>
          <p:cNvPr id="28" name="Shape 26"/>
          <p:cNvSpPr/>
          <p:nvPr/>
        </p:nvSpPr>
        <p:spPr>
          <a:xfrm>
            <a:off x="457200" y="2816352"/>
            <a:ext cx="54864" cy="530352"/>
          </a:xfrm>
          <a:prstGeom prst="rect">
            <a:avLst/>
          </a:prstGeom>
          <a:solidFill>
            <a:srgbClr val="0079AB"/>
          </a:solidFill>
          <a:ln w="12700">
            <a:solidFill>
              <a:srgbClr val="0079AB"/>
            </a:solidFill>
            <a:prstDash val="solid"/>
          </a:ln>
        </p:spPr>
        <p:txBody>
          <a:bodyPr/>
          <a:lstStyle/>
          <a:p>
            <a:endParaRPr lang="en-US"/>
          </a:p>
        </p:txBody>
      </p:sp>
      <p:sp>
        <p:nvSpPr>
          <p:cNvPr id="29" name="Shape 27"/>
          <p:cNvSpPr/>
          <p:nvPr/>
        </p:nvSpPr>
        <p:spPr>
          <a:xfrm>
            <a:off x="640080" y="2935224"/>
            <a:ext cx="292608" cy="292608"/>
          </a:xfrm>
          <a:prstGeom prst="rect">
            <a:avLst/>
          </a:prstGeom>
          <a:solidFill>
            <a:srgbClr val="0079AB"/>
          </a:solidFill>
          <a:ln w="12700">
            <a:solidFill>
              <a:srgbClr val="0079AB"/>
            </a:solidFill>
            <a:prstDash val="solid"/>
          </a:ln>
        </p:spPr>
        <p:txBody>
          <a:bodyPr/>
          <a:lstStyle/>
          <a:p>
            <a:endParaRPr lang="en-US"/>
          </a:p>
        </p:txBody>
      </p:sp>
      <p:sp>
        <p:nvSpPr>
          <p:cNvPr id="30" name="Text 28"/>
          <p:cNvSpPr/>
          <p:nvPr/>
        </p:nvSpPr>
        <p:spPr>
          <a:xfrm>
            <a:off x="640080" y="2935224"/>
            <a:ext cx="292608" cy="292608"/>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4</a:t>
            </a:r>
            <a:endParaRPr lang="en-US" sz="900" dirty="0"/>
          </a:p>
        </p:txBody>
      </p:sp>
      <p:sp>
        <p:nvSpPr>
          <p:cNvPr id="31" name="Text 29"/>
          <p:cNvSpPr/>
          <p:nvPr/>
        </p:nvSpPr>
        <p:spPr>
          <a:xfrm>
            <a:off x="1042416" y="2816352"/>
            <a:ext cx="1225296" cy="530352"/>
          </a:xfrm>
          <a:prstGeom prst="rect">
            <a:avLst/>
          </a:prstGeom>
          <a:noFill/>
          <a:ln/>
        </p:spPr>
        <p:txBody>
          <a:bodyPr wrap="square" lIns="0" tIns="0" rIns="0" bIns="0" rtlCol="0" anchor="ctr"/>
          <a:lstStyle/>
          <a:p>
            <a:pPr marL="0" indent="0">
              <a:buNone/>
            </a:pPr>
            <a:r>
              <a:rPr lang="en-US" sz="900" b="1" kern="0" spc="80" dirty="0">
                <a:solidFill>
                  <a:srgbClr val="0079AB"/>
                </a:solidFill>
                <a:latin typeface="Calibri" pitchFamily="34" charset="0"/>
                <a:ea typeface="Calibri" pitchFamily="34" charset="-122"/>
                <a:cs typeface="Calibri" pitchFamily="34" charset="-120"/>
              </a:rPr>
              <a:t>OUTPUT FORMAT</a:t>
            </a:r>
            <a:endParaRPr lang="en-US" sz="900" dirty="0"/>
          </a:p>
        </p:txBody>
      </p:sp>
      <p:sp>
        <p:nvSpPr>
          <p:cNvPr id="32" name="Text 30"/>
          <p:cNvSpPr/>
          <p:nvPr/>
        </p:nvSpPr>
        <p:spPr>
          <a:xfrm>
            <a:off x="2286000" y="2816352"/>
            <a:ext cx="2468880" cy="530352"/>
          </a:xfrm>
          <a:prstGeom prst="rect">
            <a:avLst/>
          </a:prstGeom>
          <a:noFill/>
          <a:ln/>
        </p:spPr>
        <p:txBody>
          <a:bodyPr wrap="square" lIns="0" tIns="0" rIns="0" bIns="0" rtlCol="0" anchor="ctr"/>
          <a:lstStyle/>
          <a:p>
            <a:pPr marL="0" indent="0">
              <a:buNone/>
            </a:pPr>
            <a:r>
              <a:rPr lang="en-US" sz="850" dirty="0">
                <a:solidFill>
                  <a:srgbClr val="1E2A38"/>
                </a:solidFill>
                <a:latin typeface="Calibri" pitchFamily="34" charset="0"/>
                <a:ea typeface="Calibri" pitchFamily="34" charset="-122"/>
                <a:cs typeface="Calibri" pitchFamily="34" charset="-120"/>
              </a:rPr>
              <a:t>The exact shape you want back</a:t>
            </a:r>
            <a:endParaRPr lang="en-US" sz="850" dirty="0"/>
          </a:p>
        </p:txBody>
      </p:sp>
      <p:sp>
        <p:nvSpPr>
          <p:cNvPr id="33" name="Text 31"/>
          <p:cNvSpPr/>
          <p:nvPr/>
        </p:nvSpPr>
        <p:spPr>
          <a:xfrm>
            <a:off x="4846320" y="2816352"/>
            <a:ext cx="3712464" cy="530352"/>
          </a:xfrm>
          <a:prstGeom prst="rect">
            <a:avLst/>
          </a:prstGeom>
          <a:noFill/>
          <a:ln/>
        </p:spPr>
        <p:txBody>
          <a:bodyPr wrap="square" lIns="0" tIns="0" rIns="0" bIns="0" rtlCol="0" anchor="ctr"/>
          <a:lstStyle/>
          <a:p>
            <a:pPr marL="0" indent="0">
              <a:buNone/>
            </a:pPr>
            <a:r>
              <a:rPr lang="en-US" sz="800" i="1" dirty="0">
                <a:solidFill>
                  <a:srgbClr val="6B7280"/>
                </a:solidFill>
                <a:latin typeface="Calibri" pitchFamily="34" charset="0"/>
                <a:ea typeface="Calibri" pitchFamily="34" charset="-122"/>
                <a:cs typeface="Calibri" pitchFamily="34" charset="-120"/>
              </a:rPr>
              <a:t>"Return one function. No explanation, no example usage."</a:t>
            </a:r>
            <a:endParaRPr lang="en-US" sz="800" dirty="0"/>
          </a:p>
        </p:txBody>
      </p:sp>
      <p:sp>
        <p:nvSpPr>
          <p:cNvPr id="34" name="Shape 32"/>
          <p:cNvSpPr/>
          <p:nvPr/>
        </p:nvSpPr>
        <p:spPr>
          <a:xfrm>
            <a:off x="457200" y="3493008"/>
            <a:ext cx="4023360" cy="694944"/>
          </a:xfrm>
          <a:prstGeom prst="rect">
            <a:avLst/>
          </a:prstGeom>
          <a:solidFill>
            <a:srgbClr val="FDEAEA"/>
          </a:solidFill>
          <a:ln w="12700">
            <a:solidFill>
              <a:srgbClr val="FDEAEA"/>
            </a:solidFill>
            <a:prstDash val="solid"/>
          </a:ln>
        </p:spPr>
        <p:txBody>
          <a:bodyPr/>
          <a:lstStyle/>
          <a:p>
            <a:endParaRPr lang="en-US"/>
          </a:p>
        </p:txBody>
      </p:sp>
      <p:sp>
        <p:nvSpPr>
          <p:cNvPr id="35" name="Text 33"/>
          <p:cNvSpPr/>
          <p:nvPr/>
        </p:nvSpPr>
        <p:spPr>
          <a:xfrm>
            <a:off x="621792" y="3566160"/>
            <a:ext cx="3657600" cy="182880"/>
          </a:xfrm>
          <a:prstGeom prst="rect">
            <a:avLst/>
          </a:prstGeom>
          <a:noFill/>
          <a:ln/>
        </p:spPr>
        <p:txBody>
          <a:bodyPr wrap="square" lIns="0" tIns="0" rIns="0" bIns="0" rtlCol="0" anchor="ctr"/>
          <a:lstStyle/>
          <a:p>
            <a:pPr marL="0" indent="0">
              <a:buNone/>
            </a:pPr>
            <a:r>
              <a:rPr lang="en-US" sz="800" b="1" kern="0" spc="120" dirty="0">
                <a:solidFill>
                  <a:srgbClr val="B83232"/>
                </a:solidFill>
                <a:latin typeface="Calibri" pitchFamily="34" charset="0"/>
                <a:ea typeface="Calibri" pitchFamily="34" charset="-122"/>
                <a:cs typeface="Calibri" pitchFamily="34" charset="-120"/>
              </a:rPr>
              <a:t>✗  VAGUE PROMPT</a:t>
            </a:r>
            <a:endParaRPr lang="en-US" sz="800" dirty="0"/>
          </a:p>
        </p:txBody>
      </p:sp>
      <p:sp>
        <p:nvSpPr>
          <p:cNvPr id="36" name="Text 34"/>
          <p:cNvSpPr/>
          <p:nvPr/>
        </p:nvSpPr>
        <p:spPr>
          <a:xfrm>
            <a:off x="621792" y="3767328"/>
            <a:ext cx="3712464" cy="365760"/>
          </a:xfrm>
          <a:prstGeom prst="rect">
            <a:avLst/>
          </a:prstGeom>
          <a:noFill/>
          <a:ln/>
        </p:spPr>
        <p:txBody>
          <a:bodyPr wrap="square" lIns="0" tIns="0" rIns="0" bIns="0" rtlCol="0" anchor="t"/>
          <a:lstStyle/>
          <a:p>
            <a:pPr marL="0" indent="0">
              <a:buNone/>
            </a:pPr>
            <a:r>
              <a:rPr lang="en-US" sz="900" dirty="0">
                <a:solidFill>
                  <a:srgbClr val="B83232"/>
                </a:solidFill>
                <a:latin typeface="Courier New" pitchFamily="34" charset="0"/>
                <a:ea typeface="Courier New" pitchFamily="34" charset="-122"/>
                <a:cs typeface="Courier New" pitchFamily="34" charset="-120"/>
              </a:rPr>
              <a:t>"write code to group my data"</a:t>
            </a:r>
            <a:endParaRPr lang="en-US" sz="900" dirty="0"/>
          </a:p>
        </p:txBody>
      </p:sp>
      <p:sp>
        <p:nvSpPr>
          <p:cNvPr id="37" name="Shape 35"/>
          <p:cNvSpPr/>
          <p:nvPr/>
        </p:nvSpPr>
        <p:spPr>
          <a:xfrm>
            <a:off x="4681728" y="3493008"/>
            <a:ext cx="4005072" cy="694944"/>
          </a:xfrm>
          <a:prstGeom prst="rect">
            <a:avLst/>
          </a:prstGeom>
          <a:solidFill>
            <a:srgbClr val="E8F4EE"/>
          </a:solidFill>
          <a:ln w="12700">
            <a:solidFill>
              <a:srgbClr val="E8F4EE"/>
            </a:solidFill>
            <a:prstDash val="solid"/>
          </a:ln>
        </p:spPr>
        <p:txBody>
          <a:bodyPr/>
          <a:lstStyle/>
          <a:p>
            <a:endParaRPr lang="en-US"/>
          </a:p>
        </p:txBody>
      </p:sp>
      <p:sp>
        <p:nvSpPr>
          <p:cNvPr id="38" name="Text 36"/>
          <p:cNvSpPr/>
          <p:nvPr/>
        </p:nvSpPr>
        <p:spPr>
          <a:xfrm>
            <a:off x="4846320" y="3566160"/>
            <a:ext cx="3657600" cy="182880"/>
          </a:xfrm>
          <a:prstGeom prst="rect">
            <a:avLst/>
          </a:prstGeom>
          <a:noFill/>
          <a:ln/>
        </p:spPr>
        <p:txBody>
          <a:bodyPr wrap="square" lIns="0" tIns="0" rIns="0" bIns="0" rtlCol="0" anchor="ctr"/>
          <a:lstStyle/>
          <a:p>
            <a:pPr marL="0" indent="0">
              <a:buNone/>
            </a:pPr>
            <a:r>
              <a:rPr lang="en-US" sz="800" b="1" kern="0" spc="120" dirty="0">
                <a:solidFill>
                  <a:srgbClr val="005E86"/>
                </a:solidFill>
                <a:latin typeface="Calibri" pitchFamily="34" charset="0"/>
                <a:ea typeface="Calibri" pitchFamily="34" charset="-122"/>
                <a:cs typeface="Calibri" pitchFamily="34" charset="-120"/>
              </a:rPr>
              <a:t>✓  ALL FOUR PARTS PRESENT</a:t>
            </a:r>
            <a:endParaRPr lang="en-US" sz="800" dirty="0"/>
          </a:p>
        </p:txBody>
      </p:sp>
      <p:sp>
        <p:nvSpPr>
          <p:cNvPr id="39" name="Text 37"/>
          <p:cNvSpPr/>
          <p:nvPr/>
        </p:nvSpPr>
        <p:spPr>
          <a:xfrm>
            <a:off x="4846320" y="3767328"/>
            <a:ext cx="3694176" cy="365760"/>
          </a:xfrm>
          <a:prstGeom prst="rect">
            <a:avLst/>
          </a:prstGeom>
          <a:noFill/>
          <a:ln/>
        </p:spPr>
        <p:txBody>
          <a:bodyPr wrap="square" lIns="0" tIns="0" rIns="0" bIns="0" rtlCol="0" anchor="t"/>
          <a:lstStyle/>
          <a:p>
            <a:pPr marL="0" indent="0">
              <a:buNone/>
            </a:pPr>
            <a:r>
              <a:rPr lang="en-US" sz="850" dirty="0">
                <a:solidFill>
                  <a:srgbClr val="005E86"/>
                </a:solidFill>
                <a:latin typeface="Calibri" pitchFamily="34" charset="0"/>
                <a:ea typeface="Calibri" pitchFamily="34" charset="-122"/>
                <a:cs typeface="Calibri" pitchFamily="34" charset="-120"/>
              </a:rPr>
              <a:t>You get code that compiles, fits your data, and handles the empty case.</a:t>
            </a:r>
            <a:endParaRPr lang="en-US" sz="850" dirty="0"/>
          </a:p>
        </p:txBody>
      </p:sp>
      <p:sp>
        <p:nvSpPr>
          <p:cNvPr id="40" name="Shape 38"/>
          <p:cNvSpPr/>
          <p:nvPr/>
        </p:nvSpPr>
        <p:spPr>
          <a:xfrm>
            <a:off x="457200" y="4334256"/>
            <a:ext cx="8229600" cy="512064"/>
          </a:xfrm>
          <a:prstGeom prst="rect">
            <a:avLst/>
          </a:prstGeom>
          <a:solidFill>
            <a:srgbClr val="F0F8FD"/>
          </a:solidFill>
          <a:ln w="12700">
            <a:solidFill>
              <a:srgbClr val="F0F8FD"/>
            </a:solidFill>
            <a:prstDash val="solid"/>
          </a:ln>
        </p:spPr>
        <p:txBody>
          <a:bodyPr/>
          <a:lstStyle/>
          <a:p>
            <a:endParaRPr lang="en-US"/>
          </a:p>
        </p:txBody>
      </p:sp>
      <p:sp>
        <p:nvSpPr>
          <p:cNvPr id="41" name="Shape 39"/>
          <p:cNvSpPr/>
          <p:nvPr/>
        </p:nvSpPr>
        <p:spPr>
          <a:xfrm>
            <a:off x="457200" y="4334256"/>
            <a:ext cx="54864" cy="512064"/>
          </a:xfrm>
          <a:prstGeom prst="rect">
            <a:avLst/>
          </a:prstGeom>
          <a:solidFill>
            <a:srgbClr val="0079AB"/>
          </a:solidFill>
          <a:ln w="12700">
            <a:solidFill>
              <a:srgbClr val="0079AB"/>
            </a:solidFill>
            <a:prstDash val="solid"/>
          </a:ln>
        </p:spPr>
        <p:txBody>
          <a:bodyPr/>
          <a:lstStyle/>
          <a:p>
            <a:endParaRPr lang="en-US"/>
          </a:p>
        </p:txBody>
      </p:sp>
      <p:sp>
        <p:nvSpPr>
          <p:cNvPr id="42" name="Text 40"/>
          <p:cNvSpPr/>
          <p:nvPr/>
        </p:nvSpPr>
        <p:spPr>
          <a:xfrm>
            <a:off x="658368" y="4334256"/>
            <a:ext cx="7863840" cy="512064"/>
          </a:xfrm>
          <a:prstGeom prst="rect">
            <a:avLst/>
          </a:prstGeom>
          <a:noFill/>
          <a:ln/>
        </p:spPr>
        <p:txBody>
          <a:bodyPr wrap="square" lIns="0" tIns="0" rIns="0" bIns="0" rtlCol="0" anchor="ctr"/>
          <a:lstStyle/>
          <a:p>
            <a:pPr marL="0" indent="0">
              <a:buNone/>
            </a:pPr>
            <a:r>
              <a:rPr lang="en-US" sz="1000" b="1" dirty="0">
                <a:solidFill>
                  <a:srgbClr val="1E2A38"/>
                </a:solidFill>
                <a:latin typeface="Calibri" pitchFamily="34" charset="0"/>
                <a:ea typeface="Calibri" pitchFamily="34" charset="-122"/>
                <a:cs typeface="Calibri" pitchFamily="34" charset="-120"/>
              </a:rPr>
              <a:t>The quality of the answer is capped by the quality of the context. This is the whole game — and it is a skill, not a trick.</a:t>
            </a:r>
            <a:endParaRPr lang="en-US" sz="1000" dirty="0"/>
          </a:p>
        </p:txBody>
      </p:sp>
    </p:spTree>
    <p:extLst>
      <p:ext uri="{BB962C8B-B14F-4D97-AF65-F5344CB8AC3E}">
        <p14:creationId xmlns:p14="http://schemas.microsoft.com/office/powerpoint/2010/main" val="185713144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79AB"/>
          </a:solidFill>
          <a:ln w="12700">
            <a:solidFill>
              <a:srgbClr val="0079AB"/>
            </a:solidFill>
            <a:prstDash val="solid"/>
          </a:ln>
        </p:spPr>
        <p:txBody>
          <a:bodyPr/>
          <a:lstStyle/>
          <a:p>
            <a:endParaRPr lang="en-US"/>
          </a:p>
        </p:txBody>
      </p:sp>
      <p:sp>
        <p:nvSpPr>
          <p:cNvPr id="3" name="Text 1"/>
          <p:cNvSpPr/>
          <p:nvPr/>
        </p:nvSpPr>
        <p:spPr>
          <a:xfrm>
            <a:off x="457200" y="128016"/>
            <a:ext cx="6400800" cy="182880"/>
          </a:xfrm>
          <a:prstGeom prst="rect">
            <a:avLst/>
          </a:prstGeom>
          <a:noFill/>
          <a:ln/>
        </p:spPr>
        <p:txBody>
          <a:bodyPr wrap="square" lIns="0" tIns="0" rIns="0" bIns="0" rtlCol="0" anchor="ctr"/>
          <a:lstStyle/>
          <a:p>
            <a:pPr marL="0" indent="0">
              <a:buNone/>
            </a:pPr>
            <a:r>
              <a:rPr lang="en-US" sz="800" b="1" kern="0" spc="160" dirty="0">
                <a:solidFill>
                  <a:srgbClr val="6B7280"/>
                </a:solidFill>
                <a:latin typeface="Calibri" pitchFamily="34" charset="0"/>
                <a:ea typeface="Calibri" pitchFamily="34" charset="-122"/>
                <a:cs typeface="Calibri" pitchFamily="34" charset="-120"/>
              </a:rPr>
              <a:t>BLOCK 3  ·  THE AI MOMENT</a:t>
            </a:r>
            <a:endParaRPr lang="en-US" sz="800" dirty="0"/>
          </a:p>
        </p:txBody>
      </p:sp>
      <p:sp>
        <p:nvSpPr>
          <p:cNvPr id="4" name="Text 2"/>
          <p:cNvSpPr/>
          <p:nvPr/>
        </p:nvSpPr>
        <p:spPr>
          <a:xfrm>
            <a:off x="457200" y="347472"/>
            <a:ext cx="8229600" cy="420624"/>
          </a:xfrm>
          <a:prstGeom prst="rect">
            <a:avLst/>
          </a:prstGeom>
          <a:noFill/>
          <a:ln/>
        </p:spPr>
        <p:txBody>
          <a:bodyPr wrap="square" lIns="0" tIns="0" rIns="0" bIns="0" rtlCol="0" anchor="ctr"/>
          <a:lstStyle/>
          <a:p>
            <a:pPr marL="0" indent="0">
              <a:buNone/>
            </a:pPr>
            <a:r>
              <a:rPr lang="en-US" sz="2200" b="1" dirty="0">
                <a:solidFill>
                  <a:srgbClr val="1E2A38"/>
                </a:solidFill>
                <a:latin typeface="Calibri" pitchFamily="34" charset="0"/>
                <a:ea typeface="Calibri" pitchFamily="34" charset="-122"/>
                <a:cs typeface="Calibri" pitchFamily="34" charset="-120"/>
              </a:rPr>
              <a:t>The Rule That Governs This Entire Week</a:t>
            </a:r>
            <a:endParaRPr lang="en-US" sz="2200" dirty="0"/>
          </a:p>
        </p:txBody>
      </p:sp>
      <p:sp>
        <p:nvSpPr>
          <p:cNvPr id="5" name="Shape 3"/>
          <p:cNvSpPr/>
          <p:nvPr/>
        </p:nvSpPr>
        <p:spPr>
          <a:xfrm>
            <a:off x="457200" y="859536"/>
            <a:ext cx="8229600" cy="10973"/>
          </a:xfrm>
          <a:prstGeom prst="rect">
            <a:avLst/>
          </a:prstGeom>
          <a:solidFill>
            <a:srgbClr val="CDE7F5"/>
          </a:solidFill>
          <a:ln w="12700">
            <a:solidFill>
              <a:srgbClr val="CDE7F5"/>
            </a:solidFill>
            <a:prstDash val="solid"/>
          </a:ln>
        </p:spPr>
        <p:txBody>
          <a:bodyPr/>
          <a:lstStyle/>
          <a:p>
            <a:endParaRPr lang="en-US"/>
          </a:p>
        </p:txBody>
      </p:sp>
      <p:sp>
        <p:nvSpPr>
          <p:cNvPr id="6" name="Shape 4"/>
          <p:cNvSpPr/>
          <p:nvPr/>
        </p:nvSpPr>
        <p:spPr>
          <a:xfrm>
            <a:off x="457200" y="1005840"/>
            <a:ext cx="8229600" cy="841248"/>
          </a:xfrm>
          <a:prstGeom prst="rect">
            <a:avLst/>
          </a:prstGeom>
          <a:solidFill>
            <a:srgbClr val="1E2A38"/>
          </a:solidFill>
          <a:ln w="12700">
            <a:solidFill>
              <a:srgbClr val="1E2A38"/>
            </a:solidFill>
            <a:prstDash val="solid"/>
          </a:ln>
        </p:spPr>
        <p:txBody>
          <a:bodyPr/>
          <a:lstStyle/>
          <a:p>
            <a:endParaRPr lang="en-US"/>
          </a:p>
        </p:txBody>
      </p:sp>
      <p:sp>
        <p:nvSpPr>
          <p:cNvPr id="7" name="Shape 5"/>
          <p:cNvSpPr/>
          <p:nvPr/>
        </p:nvSpPr>
        <p:spPr>
          <a:xfrm>
            <a:off x="457200" y="1005840"/>
            <a:ext cx="73152" cy="841248"/>
          </a:xfrm>
          <a:prstGeom prst="rect">
            <a:avLst/>
          </a:prstGeom>
          <a:solidFill>
            <a:srgbClr val="00B0F0"/>
          </a:solidFill>
          <a:ln w="12700">
            <a:solidFill>
              <a:srgbClr val="00B0F0"/>
            </a:solidFill>
            <a:prstDash val="solid"/>
          </a:ln>
        </p:spPr>
        <p:txBody>
          <a:bodyPr/>
          <a:lstStyle/>
          <a:p>
            <a:endParaRPr lang="en-US"/>
          </a:p>
        </p:txBody>
      </p:sp>
      <p:sp>
        <p:nvSpPr>
          <p:cNvPr id="8" name="Text 6"/>
          <p:cNvSpPr/>
          <p:nvPr/>
        </p:nvSpPr>
        <p:spPr>
          <a:xfrm>
            <a:off x="731520" y="1005840"/>
            <a:ext cx="7772400" cy="512064"/>
          </a:xfrm>
          <a:prstGeom prst="rect">
            <a:avLst/>
          </a:prstGeom>
          <a:noFill/>
          <a:ln/>
        </p:spPr>
        <p:txBody>
          <a:bodyPr wrap="square" lIns="0" tIns="0" rIns="0" bIns="0" rtlCol="0" anchor="ctr"/>
          <a:lstStyle/>
          <a:p>
            <a:pPr marL="0" indent="0">
              <a:buNone/>
            </a:pPr>
            <a:r>
              <a:rPr lang="en-US" sz="1700" b="1" dirty="0">
                <a:solidFill>
                  <a:srgbClr val="FFFFFF"/>
                </a:solidFill>
                <a:latin typeface="Calibri" pitchFamily="34" charset="0"/>
                <a:ea typeface="Calibri" pitchFamily="34" charset="-122"/>
                <a:cs typeface="Calibri" pitchFamily="34" charset="-120"/>
              </a:rPr>
              <a:t>If you cannot explain a line of your code, it is not your code.</a:t>
            </a:r>
            <a:endParaRPr lang="en-US" sz="1700" dirty="0"/>
          </a:p>
        </p:txBody>
      </p:sp>
      <p:sp>
        <p:nvSpPr>
          <p:cNvPr id="9" name="Text 7"/>
          <p:cNvSpPr/>
          <p:nvPr/>
        </p:nvSpPr>
        <p:spPr>
          <a:xfrm>
            <a:off x="731520" y="1481328"/>
            <a:ext cx="7772400" cy="292608"/>
          </a:xfrm>
          <a:prstGeom prst="rect">
            <a:avLst/>
          </a:prstGeom>
          <a:noFill/>
          <a:ln/>
        </p:spPr>
        <p:txBody>
          <a:bodyPr wrap="square" lIns="0" tIns="0" rIns="0" bIns="0" rtlCol="0" anchor="ctr"/>
          <a:lstStyle/>
          <a:p>
            <a:pPr marL="0" indent="0">
              <a:buNone/>
            </a:pPr>
            <a:r>
              <a:rPr lang="en-US" sz="1000" dirty="0">
                <a:solidFill>
                  <a:srgbClr val="00B0F0"/>
                </a:solidFill>
                <a:latin typeface="Calibri" pitchFamily="34" charset="0"/>
                <a:ea typeface="Calibri" pitchFamily="34" charset="-122"/>
                <a:cs typeface="Calibri" pitchFamily="34" charset="-120"/>
              </a:rPr>
              <a:t>Use AI as much as you like. Ship nothing you cannot defend.</a:t>
            </a:r>
            <a:endParaRPr lang="en-US" sz="1000" dirty="0"/>
          </a:p>
        </p:txBody>
      </p:sp>
      <p:sp>
        <p:nvSpPr>
          <p:cNvPr id="10" name="Text 8"/>
          <p:cNvSpPr/>
          <p:nvPr/>
        </p:nvSpPr>
        <p:spPr>
          <a:xfrm>
            <a:off x="457200" y="1993392"/>
            <a:ext cx="7315200" cy="182880"/>
          </a:xfrm>
          <a:prstGeom prst="rect">
            <a:avLst/>
          </a:prstGeom>
          <a:noFill/>
          <a:ln/>
        </p:spPr>
        <p:txBody>
          <a:bodyPr wrap="square" lIns="0" tIns="0" rIns="0" bIns="0" rtlCol="0" anchor="ctr"/>
          <a:lstStyle/>
          <a:p>
            <a:pPr marL="0" indent="0">
              <a:buNone/>
            </a:pPr>
            <a:r>
              <a:rPr lang="en-US" sz="800" b="1" kern="0" spc="120" dirty="0">
                <a:solidFill>
                  <a:srgbClr val="6B7280"/>
                </a:solidFill>
                <a:latin typeface="Calibri" pitchFamily="34" charset="0"/>
                <a:ea typeface="Calibri" pitchFamily="34" charset="-122"/>
                <a:cs typeface="Calibri" pitchFamily="34" charset="-120"/>
              </a:rPr>
              <a:t>WHAT AI GETS WRONG — WATCH FOR THESE ALL WEEK</a:t>
            </a:r>
            <a:endParaRPr lang="en-US" sz="800" dirty="0"/>
          </a:p>
        </p:txBody>
      </p:sp>
      <p:sp>
        <p:nvSpPr>
          <p:cNvPr id="11" name="Shape 9"/>
          <p:cNvSpPr/>
          <p:nvPr/>
        </p:nvSpPr>
        <p:spPr>
          <a:xfrm>
            <a:off x="457200" y="2231136"/>
            <a:ext cx="4005072" cy="603504"/>
          </a:xfrm>
          <a:prstGeom prst="rect">
            <a:avLst/>
          </a:prstGeom>
          <a:solidFill>
            <a:srgbClr val="FFFFFF"/>
          </a:solidFill>
          <a:ln w="9525">
            <a:solidFill>
              <a:srgbClr val="DCEEF8"/>
            </a:solidFill>
            <a:prstDash val="solid"/>
          </a:ln>
        </p:spPr>
        <p:txBody>
          <a:bodyPr/>
          <a:lstStyle/>
          <a:p>
            <a:endParaRPr lang="en-US"/>
          </a:p>
        </p:txBody>
      </p:sp>
      <p:sp>
        <p:nvSpPr>
          <p:cNvPr id="12" name="Shape 10"/>
          <p:cNvSpPr/>
          <p:nvPr/>
        </p:nvSpPr>
        <p:spPr>
          <a:xfrm>
            <a:off x="457200" y="2231136"/>
            <a:ext cx="54864" cy="603504"/>
          </a:xfrm>
          <a:prstGeom prst="rect">
            <a:avLst/>
          </a:prstGeom>
          <a:solidFill>
            <a:srgbClr val="B83232"/>
          </a:solidFill>
          <a:ln w="12700">
            <a:solidFill>
              <a:srgbClr val="B83232"/>
            </a:solidFill>
            <a:prstDash val="solid"/>
          </a:ln>
        </p:spPr>
        <p:txBody>
          <a:bodyPr/>
          <a:lstStyle/>
          <a:p>
            <a:endParaRPr lang="en-US"/>
          </a:p>
        </p:txBody>
      </p:sp>
      <p:sp>
        <p:nvSpPr>
          <p:cNvPr id="13" name="Text 11"/>
          <p:cNvSpPr/>
          <p:nvPr/>
        </p:nvSpPr>
        <p:spPr>
          <a:xfrm>
            <a:off x="640080" y="2286000"/>
            <a:ext cx="3675888" cy="219456"/>
          </a:xfrm>
          <a:prstGeom prst="rect">
            <a:avLst/>
          </a:prstGeom>
          <a:noFill/>
          <a:ln/>
        </p:spPr>
        <p:txBody>
          <a:bodyPr wrap="square" lIns="0" tIns="0" rIns="0" bIns="0" rtlCol="0" anchor="ctr"/>
          <a:lstStyle/>
          <a:p>
            <a:pPr marL="0" indent="0">
              <a:buNone/>
            </a:pPr>
            <a:r>
              <a:rPr lang="en-US" sz="900" b="1" dirty="0">
                <a:solidFill>
                  <a:srgbClr val="1E2A38"/>
                </a:solidFill>
                <a:latin typeface="Calibri" pitchFamily="34" charset="0"/>
                <a:ea typeface="Calibri" pitchFamily="34" charset="-122"/>
                <a:cs typeface="Calibri" pitchFamily="34" charset="-120"/>
              </a:rPr>
              <a:t>Confident invention</a:t>
            </a:r>
            <a:endParaRPr lang="en-US" sz="900" dirty="0"/>
          </a:p>
        </p:txBody>
      </p:sp>
      <p:sp>
        <p:nvSpPr>
          <p:cNvPr id="14" name="Text 12"/>
          <p:cNvSpPr/>
          <p:nvPr/>
        </p:nvSpPr>
        <p:spPr>
          <a:xfrm>
            <a:off x="640080" y="2505456"/>
            <a:ext cx="3675888" cy="292608"/>
          </a:xfrm>
          <a:prstGeom prst="rect">
            <a:avLst/>
          </a:prstGeom>
          <a:noFill/>
          <a:ln/>
        </p:spPr>
        <p:txBody>
          <a:bodyPr wrap="square" lIns="0" tIns="0" rIns="0" bIns="0" rtlCol="0" anchor="t"/>
          <a:lstStyle/>
          <a:p>
            <a:pPr marL="0" indent="0">
              <a:buNone/>
            </a:pPr>
            <a:r>
              <a:rPr lang="en-US" sz="800" dirty="0">
                <a:solidFill>
                  <a:srgbClr val="6B7280"/>
                </a:solidFill>
                <a:latin typeface="Calibri" pitchFamily="34" charset="0"/>
                <a:ea typeface="Calibri" pitchFamily="34" charset="-122"/>
                <a:cs typeface="Calibri" pitchFamily="34" charset="-120"/>
              </a:rPr>
              <a:t>Calls a function or option that does not exist in that library</a:t>
            </a:r>
            <a:endParaRPr lang="en-US" sz="800" dirty="0"/>
          </a:p>
        </p:txBody>
      </p:sp>
      <p:sp>
        <p:nvSpPr>
          <p:cNvPr id="15" name="Shape 13"/>
          <p:cNvSpPr/>
          <p:nvPr/>
        </p:nvSpPr>
        <p:spPr>
          <a:xfrm>
            <a:off x="4681728" y="2231136"/>
            <a:ext cx="4005072" cy="603504"/>
          </a:xfrm>
          <a:prstGeom prst="rect">
            <a:avLst/>
          </a:prstGeom>
          <a:solidFill>
            <a:srgbClr val="FFFFFF"/>
          </a:solidFill>
          <a:ln w="9525">
            <a:solidFill>
              <a:srgbClr val="DCEEF8"/>
            </a:solidFill>
            <a:prstDash val="solid"/>
          </a:ln>
        </p:spPr>
        <p:txBody>
          <a:bodyPr/>
          <a:lstStyle/>
          <a:p>
            <a:endParaRPr lang="en-US"/>
          </a:p>
        </p:txBody>
      </p:sp>
      <p:sp>
        <p:nvSpPr>
          <p:cNvPr id="16" name="Shape 14"/>
          <p:cNvSpPr/>
          <p:nvPr/>
        </p:nvSpPr>
        <p:spPr>
          <a:xfrm>
            <a:off x="4681728" y="2231136"/>
            <a:ext cx="54864" cy="603504"/>
          </a:xfrm>
          <a:prstGeom prst="rect">
            <a:avLst/>
          </a:prstGeom>
          <a:solidFill>
            <a:srgbClr val="B83232"/>
          </a:solidFill>
          <a:ln w="12700">
            <a:solidFill>
              <a:srgbClr val="B83232"/>
            </a:solidFill>
            <a:prstDash val="solid"/>
          </a:ln>
        </p:spPr>
        <p:txBody>
          <a:bodyPr/>
          <a:lstStyle/>
          <a:p>
            <a:endParaRPr lang="en-US"/>
          </a:p>
        </p:txBody>
      </p:sp>
      <p:sp>
        <p:nvSpPr>
          <p:cNvPr id="17" name="Text 15"/>
          <p:cNvSpPr/>
          <p:nvPr/>
        </p:nvSpPr>
        <p:spPr>
          <a:xfrm>
            <a:off x="4864608" y="2286000"/>
            <a:ext cx="3675888" cy="219456"/>
          </a:xfrm>
          <a:prstGeom prst="rect">
            <a:avLst/>
          </a:prstGeom>
          <a:noFill/>
          <a:ln/>
        </p:spPr>
        <p:txBody>
          <a:bodyPr wrap="square" lIns="0" tIns="0" rIns="0" bIns="0" rtlCol="0" anchor="ctr"/>
          <a:lstStyle/>
          <a:p>
            <a:pPr marL="0" indent="0">
              <a:buNone/>
            </a:pPr>
            <a:r>
              <a:rPr lang="en-US" sz="900" b="1" dirty="0">
                <a:solidFill>
                  <a:srgbClr val="1E2A38"/>
                </a:solidFill>
                <a:latin typeface="Calibri" pitchFamily="34" charset="0"/>
                <a:ea typeface="Calibri" pitchFamily="34" charset="-122"/>
                <a:cs typeface="Calibri" pitchFamily="34" charset="-120"/>
              </a:rPr>
              <a:t>Yesterday's answer</a:t>
            </a:r>
            <a:endParaRPr lang="en-US" sz="900" dirty="0"/>
          </a:p>
        </p:txBody>
      </p:sp>
      <p:sp>
        <p:nvSpPr>
          <p:cNvPr id="18" name="Text 16"/>
          <p:cNvSpPr/>
          <p:nvPr/>
        </p:nvSpPr>
        <p:spPr>
          <a:xfrm>
            <a:off x="4864608" y="2505456"/>
            <a:ext cx="3675888" cy="292608"/>
          </a:xfrm>
          <a:prstGeom prst="rect">
            <a:avLst/>
          </a:prstGeom>
          <a:noFill/>
          <a:ln/>
        </p:spPr>
        <p:txBody>
          <a:bodyPr wrap="square" lIns="0" tIns="0" rIns="0" bIns="0" rtlCol="0" anchor="t"/>
          <a:lstStyle/>
          <a:p>
            <a:pPr marL="0" indent="0">
              <a:buNone/>
            </a:pPr>
            <a:r>
              <a:rPr lang="en-US" sz="800" dirty="0">
                <a:solidFill>
                  <a:srgbClr val="6B7280"/>
                </a:solidFill>
                <a:latin typeface="Calibri" pitchFamily="34" charset="0"/>
                <a:ea typeface="Calibri" pitchFamily="34" charset="-122"/>
                <a:cs typeface="Calibri" pitchFamily="34" charset="-120"/>
              </a:rPr>
              <a:t>Correct for an older version of the framework you are using</a:t>
            </a:r>
            <a:endParaRPr lang="en-US" sz="800" dirty="0"/>
          </a:p>
        </p:txBody>
      </p:sp>
      <p:sp>
        <p:nvSpPr>
          <p:cNvPr id="19" name="Shape 17"/>
          <p:cNvSpPr/>
          <p:nvPr/>
        </p:nvSpPr>
        <p:spPr>
          <a:xfrm>
            <a:off x="457200" y="2926080"/>
            <a:ext cx="4005072" cy="603504"/>
          </a:xfrm>
          <a:prstGeom prst="rect">
            <a:avLst/>
          </a:prstGeom>
          <a:solidFill>
            <a:srgbClr val="FFFFFF"/>
          </a:solidFill>
          <a:ln w="9525">
            <a:solidFill>
              <a:srgbClr val="DCEEF8"/>
            </a:solidFill>
            <a:prstDash val="solid"/>
          </a:ln>
        </p:spPr>
        <p:txBody>
          <a:bodyPr/>
          <a:lstStyle/>
          <a:p>
            <a:endParaRPr lang="en-US"/>
          </a:p>
        </p:txBody>
      </p:sp>
      <p:sp>
        <p:nvSpPr>
          <p:cNvPr id="20" name="Shape 18"/>
          <p:cNvSpPr/>
          <p:nvPr/>
        </p:nvSpPr>
        <p:spPr>
          <a:xfrm>
            <a:off x="457200" y="2926080"/>
            <a:ext cx="54864" cy="603504"/>
          </a:xfrm>
          <a:prstGeom prst="rect">
            <a:avLst/>
          </a:prstGeom>
          <a:solidFill>
            <a:srgbClr val="B83232"/>
          </a:solidFill>
          <a:ln w="12700">
            <a:solidFill>
              <a:srgbClr val="B83232"/>
            </a:solidFill>
            <a:prstDash val="solid"/>
          </a:ln>
        </p:spPr>
        <p:txBody>
          <a:bodyPr/>
          <a:lstStyle/>
          <a:p>
            <a:endParaRPr lang="en-US"/>
          </a:p>
        </p:txBody>
      </p:sp>
      <p:sp>
        <p:nvSpPr>
          <p:cNvPr id="21" name="Text 19"/>
          <p:cNvSpPr/>
          <p:nvPr/>
        </p:nvSpPr>
        <p:spPr>
          <a:xfrm>
            <a:off x="640080" y="2980944"/>
            <a:ext cx="3675888" cy="219456"/>
          </a:xfrm>
          <a:prstGeom prst="rect">
            <a:avLst/>
          </a:prstGeom>
          <a:noFill/>
          <a:ln/>
        </p:spPr>
        <p:txBody>
          <a:bodyPr wrap="square" lIns="0" tIns="0" rIns="0" bIns="0" rtlCol="0" anchor="ctr"/>
          <a:lstStyle/>
          <a:p>
            <a:pPr marL="0" indent="0">
              <a:buNone/>
            </a:pPr>
            <a:r>
              <a:rPr lang="en-US" sz="900" b="1" dirty="0">
                <a:solidFill>
                  <a:srgbClr val="1E2A38"/>
                </a:solidFill>
                <a:latin typeface="Calibri" pitchFamily="34" charset="0"/>
                <a:ea typeface="Calibri" pitchFamily="34" charset="-122"/>
                <a:cs typeface="Calibri" pitchFamily="34" charset="-120"/>
              </a:rPr>
              <a:t>Ignores your context</a:t>
            </a:r>
            <a:endParaRPr lang="en-US" sz="900" dirty="0"/>
          </a:p>
        </p:txBody>
      </p:sp>
      <p:sp>
        <p:nvSpPr>
          <p:cNvPr id="22" name="Text 20"/>
          <p:cNvSpPr/>
          <p:nvPr/>
        </p:nvSpPr>
        <p:spPr>
          <a:xfrm>
            <a:off x="640080" y="3200400"/>
            <a:ext cx="3675888" cy="292608"/>
          </a:xfrm>
          <a:prstGeom prst="rect">
            <a:avLst/>
          </a:prstGeom>
          <a:noFill/>
          <a:ln/>
        </p:spPr>
        <p:txBody>
          <a:bodyPr wrap="square" lIns="0" tIns="0" rIns="0" bIns="0" rtlCol="0" anchor="t"/>
          <a:lstStyle/>
          <a:p>
            <a:pPr marL="0" indent="0">
              <a:buNone/>
            </a:pPr>
            <a:r>
              <a:rPr lang="en-US" sz="800" dirty="0">
                <a:solidFill>
                  <a:srgbClr val="6B7280"/>
                </a:solidFill>
                <a:latin typeface="Calibri" pitchFamily="34" charset="0"/>
                <a:ea typeface="Calibri" pitchFamily="34" charset="-122"/>
                <a:cs typeface="Calibri" pitchFamily="34" charset="-120"/>
              </a:rPr>
              <a:t>Solves the general problem, not the one in front of you</a:t>
            </a:r>
            <a:endParaRPr lang="en-US" sz="800" dirty="0"/>
          </a:p>
        </p:txBody>
      </p:sp>
      <p:sp>
        <p:nvSpPr>
          <p:cNvPr id="23" name="Shape 21"/>
          <p:cNvSpPr/>
          <p:nvPr/>
        </p:nvSpPr>
        <p:spPr>
          <a:xfrm>
            <a:off x="4681728" y="2926080"/>
            <a:ext cx="4005072" cy="603504"/>
          </a:xfrm>
          <a:prstGeom prst="rect">
            <a:avLst/>
          </a:prstGeom>
          <a:solidFill>
            <a:srgbClr val="FFFFFF"/>
          </a:solidFill>
          <a:ln w="9525">
            <a:solidFill>
              <a:srgbClr val="DCEEF8"/>
            </a:solidFill>
            <a:prstDash val="solid"/>
          </a:ln>
        </p:spPr>
        <p:txBody>
          <a:bodyPr/>
          <a:lstStyle/>
          <a:p>
            <a:endParaRPr lang="en-US"/>
          </a:p>
        </p:txBody>
      </p:sp>
      <p:sp>
        <p:nvSpPr>
          <p:cNvPr id="24" name="Shape 22"/>
          <p:cNvSpPr/>
          <p:nvPr/>
        </p:nvSpPr>
        <p:spPr>
          <a:xfrm>
            <a:off x="4681728" y="2926080"/>
            <a:ext cx="54864" cy="603504"/>
          </a:xfrm>
          <a:prstGeom prst="rect">
            <a:avLst/>
          </a:prstGeom>
          <a:solidFill>
            <a:srgbClr val="B83232"/>
          </a:solidFill>
          <a:ln w="12700">
            <a:solidFill>
              <a:srgbClr val="B83232"/>
            </a:solidFill>
            <a:prstDash val="solid"/>
          </a:ln>
        </p:spPr>
        <p:txBody>
          <a:bodyPr/>
          <a:lstStyle/>
          <a:p>
            <a:endParaRPr lang="en-US"/>
          </a:p>
        </p:txBody>
      </p:sp>
      <p:sp>
        <p:nvSpPr>
          <p:cNvPr id="25" name="Text 23"/>
          <p:cNvSpPr/>
          <p:nvPr/>
        </p:nvSpPr>
        <p:spPr>
          <a:xfrm>
            <a:off x="4864608" y="2980944"/>
            <a:ext cx="3675888" cy="219456"/>
          </a:xfrm>
          <a:prstGeom prst="rect">
            <a:avLst/>
          </a:prstGeom>
          <a:noFill/>
          <a:ln/>
        </p:spPr>
        <p:txBody>
          <a:bodyPr wrap="square" lIns="0" tIns="0" rIns="0" bIns="0" rtlCol="0" anchor="ctr"/>
          <a:lstStyle/>
          <a:p>
            <a:pPr marL="0" indent="0">
              <a:buNone/>
            </a:pPr>
            <a:r>
              <a:rPr lang="en-US" sz="900" b="1" dirty="0">
                <a:solidFill>
                  <a:srgbClr val="1E2A38"/>
                </a:solidFill>
                <a:latin typeface="Calibri" pitchFamily="34" charset="0"/>
                <a:ea typeface="Calibri" pitchFamily="34" charset="-122"/>
                <a:cs typeface="Calibri" pitchFamily="34" charset="-120"/>
              </a:rPr>
              <a:t>Silently unsafe</a:t>
            </a:r>
            <a:endParaRPr lang="en-US" sz="900" dirty="0"/>
          </a:p>
        </p:txBody>
      </p:sp>
      <p:sp>
        <p:nvSpPr>
          <p:cNvPr id="26" name="Text 24"/>
          <p:cNvSpPr/>
          <p:nvPr/>
        </p:nvSpPr>
        <p:spPr>
          <a:xfrm>
            <a:off x="4864608" y="3200400"/>
            <a:ext cx="3675888" cy="292608"/>
          </a:xfrm>
          <a:prstGeom prst="rect">
            <a:avLst/>
          </a:prstGeom>
          <a:noFill/>
          <a:ln/>
        </p:spPr>
        <p:txBody>
          <a:bodyPr wrap="square" lIns="0" tIns="0" rIns="0" bIns="0" rtlCol="0" anchor="t"/>
          <a:lstStyle/>
          <a:p>
            <a:pPr marL="0" indent="0">
              <a:buNone/>
            </a:pPr>
            <a:r>
              <a:rPr lang="en-US" sz="800" dirty="0">
                <a:solidFill>
                  <a:srgbClr val="6B7280"/>
                </a:solidFill>
                <a:latin typeface="Calibri" pitchFamily="34" charset="0"/>
                <a:ea typeface="Calibri" pitchFamily="34" charset="-122"/>
                <a:cs typeface="Calibri" pitchFamily="34" charset="-120"/>
              </a:rPr>
              <a:t>Working code that concatenates user input straight into a query</a:t>
            </a:r>
            <a:endParaRPr lang="en-US" sz="800" dirty="0"/>
          </a:p>
        </p:txBody>
      </p:sp>
      <p:sp>
        <p:nvSpPr>
          <p:cNvPr id="27" name="Shape 25"/>
          <p:cNvSpPr/>
          <p:nvPr/>
        </p:nvSpPr>
        <p:spPr>
          <a:xfrm>
            <a:off x="457200" y="3730752"/>
            <a:ext cx="8229600" cy="274320"/>
          </a:xfrm>
          <a:prstGeom prst="rect">
            <a:avLst/>
          </a:prstGeom>
          <a:solidFill>
            <a:srgbClr val="FDEAEA"/>
          </a:solidFill>
          <a:ln w="12700">
            <a:solidFill>
              <a:srgbClr val="FDEAEA"/>
            </a:solidFill>
            <a:prstDash val="solid"/>
          </a:ln>
        </p:spPr>
        <p:txBody>
          <a:bodyPr/>
          <a:lstStyle/>
          <a:p>
            <a:endParaRPr lang="en-US"/>
          </a:p>
        </p:txBody>
      </p:sp>
      <p:sp>
        <p:nvSpPr>
          <p:cNvPr id="28" name="Text 26"/>
          <p:cNvSpPr/>
          <p:nvPr/>
        </p:nvSpPr>
        <p:spPr>
          <a:xfrm>
            <a:off x="566928" y="3730752"/>
            <a:ext cx="8010144" cy="274320"/>
          </a:xfrm>
          <a:prstGeom prst="rect">
            <a:avLst/>
          </a:prstGeom>
          <a:noFill/>
          <a:ln/>
        </p:spPr>
        <p:txBody>
          <a:bodyPr wrap="square" lIns="0" tIns="0" rIns="0" bIns="0" rtlCol="0" anchor="ctr"/>
          <a:lstStyle/>
          <a:p>
            <a:pPr marL="0" indent="0">
              <a:buNone/>
            </a:pPr>
            <a:r>
              <a:rPr lang="en-US" sz="800" b="1" dirty="0">
                <a:solidFill>
                  <a:srgbClr val="B83232"/>
                </a:solidFill>
                <a:latin typeface="Calibri" pitchFamily="34" charset="0"/>
                <a:ea typeface="Calibri" pitchFamily="34" charset="-122"/>
                <a:cs typeface="Calibri" pitchFamily="34" charset="-120"/>
              </a:rPr>
              <a:t>⚠  THIS IS ASSESSED:  the capstone rubric and the Day 5 paper both ask you to explain and repair code you did not write.</a:t>
            </a:r>
            <a:endParaRPr lang="en-US" sz="800" dirty="0"/>
          </a:p>
        </p:txBody>
      </p:sp>
      <p:sp>
        <p:nvSpPr>
          <p:cNvPr id="29" name="Shape 27"/>
          <p:cNvSpPr/>
          <p:nvPr/>
        </p:nvSpPr>
        <p:spPr>
          <a:xfrm>
            <a:off x="457200" y="4334256"/>
            <a:ext cx="8229600" cy="512064"/>
          </a:xfrm>
          <a:prstGeom prst="rect">
            <a:avLst/>
          </a:prstGeom>
          <a:solidFill>
            <a:srgbClr val="F0F8FD"/>
          </a:solidFill>
          <a:ln w="12700">
            <a:solidFill>
              <a:srgbClr val="F0F8FD"/>
            </a:solidFill>
            <a:prstDash val="solid"/>
          </a:ln>
        </p:spPr>
        <p:txBody>
          <a:bodyPr/>
          <a:lstStyle/>
          <a:p>
            <a:endParaRPr lang="en-US"/>
          </a:p>
        </p:txBody>
      </p:sp>
      <p:sp>
        <p:nvSpPr>
          <p:cNvPr id="30" name="Shape 28"/>
          <p:cNvSpPr/>
          <p:nvPr/>
        </p:nvSpPr>
        <p:spPr>
          <a:xfrm>
            <a:off x="457200" y="4334256"/>
            <a:ext cx="54864" cy="512064"/>
          </a:xfrm>
          <a:prstGeom prst="rect">
            <a:avLst/>
          </a:prstGeom>
          <a:solidFill>
            <a:srgbClr val="0079AB"/>
          </a:solidFill>
          <a:ln w="12700">
            <a:solidFill>
              <a:srgbClr val="0079AB"/>
            </a:solidFill>
            <a:prstDash val="solid"/>
          </a:ln>
        </p:spPr>
        <p:txBody>
          <a:bodyPr/>
          <a:lstStyle/>
          <a:p>
            <a:endParaRPr lang="en-US"/>
          </a:p>
        </p:txBody>
      </p:sp>
      <p:sp>
        <p:nvSpPr>
          <p:cNvPr id="31" name="Text 29"/>
          <p:cNvSpPr/>
          <p:nvPr/>
        </p:nvSpPr>
        <p:spPr>
          <a:xfrm>
            <a:off x="658368" y="4334256"/>
            <a:ext cx="7863840" cy="512064"/>
          </a:xfrm>
          <a:prstGeom prst="rect">
            <a:avLst/>
          </a:prstGeom>
          <a:noFill/>
          <a:ln/>
        </p:spPr>
        <p:txBody>
          <a:bodyPr wrap="square" lIns="0" tIns="0" rIns="0" bIns="0" rtlCol="0" anchor="ctr"/>
          <a:lstStyle/>
          <a:p>
            <a:pPr marL="0" indent="0">
              <a:buNone/>
            </a:pPr>
            <a:r>
              <a:rPr lang="en-US" sz="1000" b="1" dirty="0">
                <a:solidFill>
                  <a:srgbClr val="1E2A38"/>
                </a:solidFill>
                <a:latin typeface="Calibri" pitchFamily="34" charset="0"/>
                <a:ea typeface="Calibri" pitchFamily="34" charset="-122"/>
                <a:cs typeface="Calibri" pitchFamily="34" charset="-120"/>
              </a:rPr>
              <a:t>The students who get hired are not the ones who prompt fastest. They are the ones who can tell when the answer is wrong.</a:t>
            </a:r>
            <a:endParaRPr lang="en-US" sz="1000" dirty="0"/>
          </a:p>
        </p:txBody>
      </p:sp>
    </p:spTree>
    <p:extLst>
      <p:ext uri="{BB962C8B-B14F-4D97-AF65-F5344CB8AC3E}">
        <p14:creationId xmlns:p14="http://schemas.microsoft.com/office/powerpoint/2010/main" val="425297313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5E86"/>
          </a:solidFill>
          <a:ln w="12700">
            <a:solidFill>
              <a:srgbClr val="005E86"/>
            </a:solidFill>
            <a:prstDash val="solid"/>
          </a:ln>
        </p:spPr>
        <p:txBody>
          <a:bodyPr/>
          <a:lstStyle/>
          <a:p>
            <a:endParaRPr lang="en-US"/>
          </a:p>
        </p:txBody>
      </p:sp>
      <p:sp>
        <p:nvSpPr>
          <p:cNvPr id="3" name="Text 1"/>
          <p:cNvSpPr/>
          <p:nvPr/>
        </p:nvSpPr>
        <p:spPr>
          <a:xfrm>
            <a:off x="457200" y="128016"/>
            <a:ext cx="6400800" cy="182880"/>
          </a:xfrm>
          <a:prstGeom prst="rect">
            <a:avLst/>
          </a:prstGeom>
          <a:noFill/>
          <a:ln/>
        </p:spPr>
        <p:txBody>
          <a:bodyPr wrap="square" lIns="0" tIns="0" rIns="0" bIns="0" rtlCol="0" anchor="ctr"/>
          <a:lstStyle/>
          <a:p>
            <a:pPr marL="0" indent="0">
              <a:buNone/>
            </a:pPr>
            <a:r>
              <a:rPr lang="en-US" sz="800" b="1" kern="0" spc="160" dirty="0">
                <a:solidFill>
                  <a:srgbClr val="6B7280"/>
                </a:solidFill>
                <a:latin typeface="Calibri" pitchFamily="34" charset="0"/>
                <a:ea typeface="Calibri" pitchFamily="34" charset="-122"/>
                <a:cs typeface="Calibri" pitchFamily="34" charset="-120"/>
              </a:rPr>
              <a:t>BLOCK 4</a:t>
            </a:r>
            <a:endParaRPr lang="en-US" sz="800" dirty="0"/>
          </a:p>
        </p:txBody>
      </p:sp>
      <p:sp>
        <p:nvSpPr>
          <p:cNvPr id="4" name="Text 2"/>
          <p:cNvSpPr/>
          <p:nvPr/>
        </p:nvSpPr>
        <p:spPr>
          <a:xfrm>
            <a:off x="457200" y="347472"/>
            <a:ext cx="8229600" cy="420624"/>
          </a:xfrm>
          <a:prstGeom prst="rect">
            <a:avLst/>
          </a:prstGeom>
          <a:noFill/>
          <a:ln/>
        </p:spPr>
        <p:txBody>
          <a:bodyPr wrap="square" lIns="0" tIns="0" rIns="0" bIns="0" rtlCol="0" anchor="ctr"/>
          <a:lstStyle/>
          <a:p>
            <a:pPr marL="0" indent="0">
              <a:buNone/>
            </a:pPr>
            <a:r>
              <a:rPr lang="en-US" sz="2200" b="1" dirty="0">
                <a:solidFill>
                  <a:srgbClr val="1E2A38"/>
                </a:solidFill>
                <a:latin typeface="Calibri" pitchFamily="34" charset="0"/>
                <a:ea typeface="Calibri" pitchFamily="34" charset="-122"/>
                <a:cs typeface="Calibri" pitchFamily="34" charset="-120"/>
              </a:rPr>
              <a:t>Git Survival Kit — You Need This Tonight</a:t>
            </a:r>
            <a:endParaRPr lang="en-US" sz="2200" dirty="0"/>
          </a:p>
        </p:txBody>
      </p:sp>
      <p:sp>
        <p:nvSpPr>
          <p:cNvPr id="5" name="Shape 3"/>
          <p:cNvSpPr/>
          <p:nvPr/>
        </p:nvSpPr>
        <p:spPr>
          <a:xfrm>
            <a:off x="457200" y="859536"/>
            <a:ext cx="8229600" cy="10973"/>
          </a:xfrm>
          <a:prstGeom prst="rect">
            <a:avLst/>
          </a:prstGeom>
          <a:solidFill>
            <a:srgbClr val="CDE7F5"/>
          </a:solidFill>
          <a:ln w="12700">
            <a:solidFill>
              <a:srgbClr val="CDE7F5"/>
            </a:solidFill>
            <a:prstDash val="solid"/>
          </a:ln>
        </p:spPr>
        <p:txBody>
          <a:bodyPr/>
          <a:lstStyle/>
          <a:p>
            <a:endParaRPr lang="en-US"/>
          </a:p>
        </p:txBody>
      </p:sp>
      <p:sp>
        <p:nvSpPr>
          <p:cNvPr id="6" name="Text 4"/>
          <p:cNvSpPr/>
          <p:nvPr/>
        </p:nvSpPr>
        <p:spPr>
          <a:xfrm>
            <a:off x="457200" y="969264"/>
            <a:ext cx="7315200" cy="182880"/>
          </a:xfrm>
          <a:prstGeom prst="rect">
            <a:avLst/>
          </a:prstGeom>
          <a:noFill/>
          <a:ln/>
        </p:spPr>
        <p:txBody>
          <a:bodyPr wrap="square" lIns="0" tIns="0" rIns="0" bIns="0" rtlCol="0" anchor="ctr"/>
          <a:lstStyle/>
          <a:p>
            <a:pPr marL="0" indent="0">
              <a:buNone/>
            </a:pPr>
            <a:r>
              <a:rPr lang="en-US" sz="800" b="1" kern="0" spc="120" dirty="0">
                <a:solidFill>
                  <a:srgbClr val="6B7280"/>
                </a:solidFill>
                <a:latin typeface="Calibri" pitchFamily="34" charset="0"/>
                <a:ea typeface="Calibri" pitchFamily="34" charset="-122"/>
                <a:cs typeface="Calibri" pitchFamily="34" charset="-120"/>
              </a:rPr>
              <a:t>SIX COMMANDS. THAT IS THE WHOLE KIT FOR THIS WEEK.</a:t>
            </a:r>
            <a:endParaRPr lang="en-US" sz="800" dirty="0"/>
          </a:p>
        </p:txBody>
      </p:sp>
      <p:sp>
        <p:nvSpPr>
          <p:cNvPr id="7" name="Shape 5"/>
          <p:cNvSpPr/>
          <p:nvPr/>
        </p:nvSpPr>
        <p:spPr>
          <a:xfrm>
            <a:off x="457200" y="1207008"/>
            <a:ext cx="5577840" cy="329184"/>
          </a:xfrm>
          <a:prstGeom prst="rect">
            <a:avLst/>
          </a:prstGeom>
          <a:solidFill>
            <a:srgbClr val="F0F8FD"/>
          </a:solidFill>
          <a:ln w="6350">
            <a:solidFill>
              <a:srgbClr val="DCEEF8"/>
            </a:solidFill>
            <a:prstDash val="solid"/>
          </a:ln>
        </p:spPr>
        <p:txBody>
          <a:bodyPr/>
          <a:lstStyle/>
          <a:p>
            <a:endParaRPr lang="en-US"/>
          </a:p>
        </p:txBody>
      </p:sp>
      <p:sp>
        <p:nvSpPr>
          <p:cNvPr id="8" name="Text 6"/>
          <p:cNvSpPr/>
          <p:nvPr/>
        </p:nvSpPr>
        <p:spPr>
          <a:xfrm>
            <a:off x="566928" y="1207008"/>
            <a:ext cx="2212848" cy="329184"/>
          </a:xfrm>
          <a:prstGeom prst="rect">
            <a:avLst/>
          </a:prstGeom>
          <a:noFill/>
          <a:ln/>
        </p:spPr>
        <p:txBody>
          <a:bodyPr wrap="square" lIns="0" tIns="0" rIns="0" bIns="0" rtlCol="0" anchor="ctr"/>
          <a:lstStyle/>
          <a:p>
            <a:pPr marL="0" indent="0">
              <a:buNone/>
            </a:pPr>
            <a:r>
              <a:rPr lang="en-US" sz="850" b="1" dirty="0">
                <a:solidFill>
                  <a:srgbClr val="005E86"/>
                </a:solidFill>
                <a:latin typeface="Courier New" pitchFamily="34" charset="0"/>
                <a:ea typeface="Courier New" pitchFamily="34" charset="-122"/>
                <a:cs typeface="Courier New" pitchFamily="34" charset="-120"/>
              </a:rPr>
              <a:t>git init</a:t>
            </a:r>
            <a:endParaRPr lang="en-US" sz="850" dirty="0"/>
          </a:p>
        </p:txBody>
      </p:sp>
      <p:sp>
        <p:nvSpPr>
          <p:cNvPr id="9" name="Text 7"/>
          <p:cNvSpPr/>
          <p:nvPr/>
        </p:nvSpPr>
        <p:spPr>
          <a:xfrm>
            <a:off x="2834640" y="1207008"/>
            <a:ext cx="3127248" cy="329184"/>
          </a:xfrm>
          <a:prstGeom prst="rect">
            <a:avLst/>
          </a:prstGeom>
          <a:noFill/>
          <a:ln/>
        </p:spPr>
        <p:txBody>
          <a:bodyPr wrap="square" lIns="0" tIns="0" rIns="0" bIns="0" rtlCol="0" anchor="ctr"/>
          <a:lstStyle/>
          <a:p>
            <a:pPr marL="0" indent="0">
              <a:buNone/>
            </a:pPr>
            <a:r>
              <a:rPr lang="en-US" sz="800" dirty="0">
                <a:solidFill>
                  <a:srgbClr val="1E2A38"/>
                </a:solidFill>
                <a:latin typeface="Calibri" pitchFamily="34" charset="0"/>
                <a:ea typeface="Calibri" pitchFamily="34" charset="-122"/>
                <a:cs typeface="Calibri" pitchFamily="34" charset="-120"/>
              </a:rPr>
              <a:t>start tracking this folder</a:t>
            </a:r>
            <a:endParaRPr lang="en-US" sz="800" dirty="0"/>
          </a:p>
        </p:txBody>
      </p:sp>
      <p:sp>
        <p:nvSpPr>
          <p:cNvPr id="10" name="Shape 8"/>
          <p:cNvSpPr/>
          <p:nvPr/>
        </p:nvSpPr>
        <p:spPr>
          <a:xfrm>
            <a:off x="457200" y="1591056"/>
            <a:ext cx="5577840" cy="329184"/>
          </a:xfrm>
          <a:prstGeom prst="rect">
            <a:avLst/>
          </a:prstGeom>
          <a:solidFill>
            <a:srgbClr val="FFFFFF"/>
          </a:solidFill>
          <a:ln w="6350">
            <a:solidFill>
              <a:srgbClr val="DCEEF8"/>
            </a:solidFill>
            <a:prstDash val="solid"/>
          </a:ln>
        </p:spPr>
        <p:txBody>
          <a:bodyPr/>
          <a:lstStyle/>
          <a:p>
            <a:endParaRPr lang="en-US"/>
          </a:p>
        </p:txBody>
      </p:sp>
      <p:sp>
        <p:nvSpPr>
          <p:cNvPr id="11" name="Text 9"/>
          <p:cNvSpPr/>
          <p:nvPr/>
        </p:nvSpPr>
        <p:spPr>
          <a:xfrm>
            <a:off x="566928" y="1591056"/>
            <a:ext cx="2212848" cy="329184"/>
          </a:xfrm>
          <a:prstGeom prst="rect">
            <a:avLst/>
          </a:prstGeom>
          <a:noFill/>
          <a:ln/>
        </p:spPr>
        <p:txBody>
          <a:bodyPr wrap="square" lIns="0" tIns="0" rIns="0" bIns="0" rtlCol="0" anchor="ctr"/>
          <a:lstStyle/>
          <a:p>
            <a:pPr marL="0" indent="0">
              <a:buNone/>
            </a:pPr>
            <a:r>
              <a:rPr lang="en-US" sz="850" b="1" dirty="0">
                <a:solidFill>
                  <a:srgbClr val="005E86"/>
                </a:solidFill>
                <a:latin typeface="Courier New" pitchFamily="34" charset="0"/>
                <a:ea typeface="Courier New" pitchFamily="34" charset="-122"/>
                <a:cs typeface="Courier New" pitchFamily="34" charset="-120"/>
              </a:rPr>
              <a:t>git add .</a:t>
            </a:r>
            <a:endParaRPr lang="en-US" sz="850" dirty="0"/>
          </a:p>
        </p:txBody>
      </p:sp>
      <p:sp>
        <p:nvSpPr>
          <p:cNvPr id="12" name="Text 10"/>
          <p:cNvSpPr/>
          <p:nvPr/>
        </p:nvSpPr>
        <p:spPr>
          <a:xfrm>
            <a:off x="2834640" y="1591056"/>
            <a:ext cx="3127248" cy="329184"/>
          </a:xfrm>
          <a:prstGeom prst="rect">
            <a:avLst/>
          </a:prstGeom>
          <a:noFill/>
          <a:ln/>
        </p:spPr>
        <p:txBody>
          <a:bodyPr wrap="square" lIns="0" tIns="0" rIns="0" bIns="0" rtlCol="0" anchor="ctr"/>
          <a:lstStyle/>
          <a:p>
            <a:pPr marL="0" indent="0">
              <a:buNone/>
            </a:pPr>
            <a:r>
              <a:rPr lang="en-US" sz="800" dirty="0">
                <a:solidFill>
                  <a:srgbClr val="1E2A38"/>
                </a:solidFill>
                <a:latin typeface="Calibri" pitchFamily="34" charset="0"/>
                <a:ea typeface="Calibri" pitchFamily="34" charset="-122"/>
                <a:cs typeface="Calibri" pitchFamily="34" charset="-120"/>
              </a:rPr>
              <a:t>stage everything you changed</a:t>
            </a:r>
            <a:endParaRPr lang="en-US" sz="800" dirty="0"/>
          </a:p>
        </p:txBody>
      </p:sp>
      <p:sp>
        <p:nvSpPr>
          <p:cNvPr id="13" name="Shape 11"/>
          <p:cNvSpPr/>
          <p:nvPr/>
        </p:nvSpPr>
        <p:spPr>
          <a:xfrm>
            <a:off x="457200" y="1975104"/>
            <a:ext cx="5577840" cy="329184"/>
          </a:xfrm>
          <a:prstGeom prst="rect">
            <a:avLst/>
          </a:prstGeom>
          <a:solidFill>
            <a:srgbClr val="F0F8FD"/>
          </a:solidFill>
          <a:ln w="6350">
            <a:solidFill>
              <a:srgbClr val="DCEEF8"/>
            </a:solidFill>
            <a:prstDash val="solid"/>
          </a:ln>
        </p:spPr>
        <p:txBody>
          <a:bodyPr/>
          <a:lstStyle/>
          <a:p>
            <a:endParaRPr lang="en-US"/>
          </a:p>
        </p:txBody>
      </p:sp>
      <p:sp>
        <p:nvSpPr>
          <p:cNvPr id="14" name="Text 12"/>
          <p:cNvSpPr/>
          <p:nvPr/>
        </p:nvSpPr>
        <p:spPr>
          <a:xfrm>
            <a:off x="566928" y="1975104"/>
            <a:ext cx="2212848" cy="329184"/>
          </a:xfrm>
          <a:prstGeom prst="rect">
            <a:avLst/>
          </a:prstGeom>
          <a:noFill/>
          <a:ln/>
        </p:spPr>
        <p:txBody>
          <a:bodyPr wrap="square" lIns="0" tIns="0" rIns="0" bIns="0" rtlCol="0" anchor="ctr"/>
          <a:lstStyle/>
          <a:p>
            <a:pPr marL="0" indent="0">
              <a:buNone/>
            </a:pPr>
            <a:r>
              <a:rPr lang="en-US" sz="850" b="1" dirty="0">
                <a:solidFill>
                  <a:srgbClr val="005E86"/>
                </a:solidFill>
                <a:latin typeface="Courier New" pitchFamily="34" charset="0"/>
                <a:ea typeface="Courier New" pitchFamily="34" charset="-122"/>
                <a:cs typeface="Courier New" pitchFamily="34" charset="-120"/>
              </a:rPr>
              <a:t>git commit -m "..."</a:t>
            </a:r>
            <a:endParaRPr lang="en-US" sz="850" dirty="0"/>
          </a:p>
        </p:txBody>
      </p:sp>
      <p:sp>
        <p:nvSpPr>
          <p:cNvPr id="15" name="Text 13"/>
          <p:cNvSpPr/>
          <p:nvPr/>
        </p:nvSpPr>
        <p:spPr>
          <a:xfrm>
            <a:off x="2834640" y="1975104"/>
            <a:ext cx="3127248" cy="329184"/>
          </a:xfrm>
          <a:prstGeom prst="rect">
            <a:avLst/>
          </a:prstGeom>
          <a:noFill/>
          <a:ln/>
        </p:spPr>
        <p:txBody>
          <a:bodyPr wrap="square" lIns="0" tIns="0" rIns="0" bIns="0" rtlCol="0" anchor="ctr"/>
          <a:lstStyle/>
          <a:p>
            <a:pPr marL="0" indent="0">
              <a:buNone/>
            </a:pPr>
            <a:r>
              <a:rPr lang="en-US" sz="800" dirty="0">
                <a:solidFill>
                  <a:srgbClr val="1E2A38"/>
                </a:solidFill>
                <a:latin typeface="Calibri" pitchFamily="34" charset="0"/>
                <a:ea typeface="Calibri" pitchFamily="34" charset="-122"/>
                <a:cs typeface="Calibri" pitchFamily="34" charset="-120"/>
              </a:rPr>
              <a:t>save a snapshot, with a message that means something</a:t>
            </a:r>
            <a:endParaRPr lang="en-US" sz="800" dirty="0"/>
          </a:p>
        </p:txBody>
      </p:sp>
      <p:sp>
        <p:nvSpPr>
          <p:cNvPr id="16" name="Shape 14"/>
          <p:cNvSpPr/>
          <p:nvPr/>
        </p:nvSpPr>
        <p:spPr>
          <a:xfrm>
            <a:off x="457200" y="2359152"/>
            <a:ext cx="5577840" cy="329184"/>
          </a:xfrm>
          <a:prstGeom prst="rect">
            <a:avLst/>
          </a:prstGeom>
          <a:solidFill>
            <a:srgbClr val="FFFFFF"/>
          </a:solidFill>
          <a:ln w="6350">
            <a:solidFill>
              <a:srgbClr val="DCEEF8"/>
            </a:solidFill>
            <a:prstDash val="solid"/>
          </a:ln>
        </p:spPr>
        <p:txBody>
          <a:bodyPr/>
          <a:lstStyle/>
          <a:p>
            <a:endParaRPr lang="en-US"/>
          </a:p>
        </p:txBody>
      </p:sp>
      <p:sp>
        <p:nvSpPr>
          <p:cNvPr id="17" name="Text 15"/>
          <p:cNvSpPr/>
          <p:nvPr/>
        </p:nvSpPr>
        <p:spPr>
          <a:xfrm>
            <a:off x="566928" y="2359152"/>
            <a:ext cx="2212848" cy="329184"/>
          </a:xfrm>
          <a:prstGeom prst="rect">
            <a:avLst/>
          </a:prstGeom>
          <a:noFill/>
          <a:ln/>
        </p:spPr>
        <p:txBody>
          <a:bodyPr wrap="square" lIns="0" tIns="0" rIns="0" bIns="0" rtlCol="0" anchor="ctr"/>
          <a:lstStyle/>
          <a:p>
            <a:pPr marL="0" indent="0">
              <a:buNone/>
            </a:pPr>
            <a:r>
              <a:rPr lang="en-US" sz="850" b="1" dirty="0">
                <a:solidFill>
                  <a:srgbClr val="005E86"/>
                </a:solidFill>
                <a:latin typeface="Courier New" pitchFamily="34" charset="0"/>
                <a:ea typeface="Courier New" pitchFamily="34" charset="-122"/>
                <a:cs typeface="Courier New" pitchFamily="34" charset="-120"/>
              </a:rPr>
              <a:t>git remote add origin ...</a:t>
            </a:r>
            <a:endParaRPr lang="en-US" sz="850" dirty="0"/>
          </a:p>
        </p:txBody>
      </p:sp>
      <p:sp>
        <p:nvSpPr>
          <p:cNvPr id="18" name="Text 16"/>
          <p:cNvSpPr/>
          <p:nvPr/>
        </p:nvSpPr>
        <p:spPr>
          <a:xfrm>
            <a:off x="2834640" y="2359152"/>
            <a:ext cx="3127248" cy="329184"/>
          </a:xfrm>
          <a:prstGeom prst="rect">
            <a:avLst/>
          </a:prstGeom>
          <a:noFill/>
          <a:ln/>
        </p:spPr>
        <p:txBody>
          <a:bodyPr wrap="square" lIns="0" tIns="0" rIns="0" bIns="0" rtlCol="0" anchor="ctr"/>
          <a:lstStyle/>
          <a:p>
            <a:pPr marL="0" indent="0">
              <a:buNone/>
            </a:pPr>
            <a:r>
              <a:rPr lang="en-US" sz="800" dirty="0">
                <a:solidFill>
                  <a:srgbClr val="1E2A38"/>
                </a:solidFill>
                <a:latin typeface="Calibri" pitchFamily="34" charset="0"/>
                <a:ea typeface="Calibri" pitchFamily="34" charset="-122"/>
                <a:cs typeface="Calibri" pitchFamily="34" charset="-120"/>
              </a:rPr>
              <a:t>point your folder at GitHub, once</a:t>
            </a:r>
            <a:endParaRPr lang="en-US" sz="800" dirty="0"/>
          </a:p>
        </p:txBody>
      </p:sp>
      <p:sp>
        <p:nvSpPr>
          <p:cNvPr id="19" name="Shape 17"/>
          <p:cNvSpPr/>
          <p:nvPr/>
        </p:nvSpPr>
        <p:spPr>
          <a:xfrm>
            <a:off x="457200" y="2743200"/>
            <a:ext cx="5577840" cy="329184"/>
          </a:xfrm>
          <a:prstGeom prst="rect">
            <a:avLst/>
          </a:prstGeom>
          <a:solidFill>
            <a:srgbClr val="F0F8FD"/>
          </a:solidFill>
          <a:ln w="6350">
            <a:solidFill>
              <a:srgbClr val="DCEEF8"/>
            </a:solidFill>
            <a:prstDash val="solid"/>
          </a:ln>
        </p:spPr>
        <p:txBody>
          <a:bodyPr/>
          <a:lstStyle/>
          <a:p>
            <a:endParaRPr lang="en-US"/>
          </a:p>
        </p:txBody>
      </p:sp>
      <p:sp>
        <p:nvSpPr>
          <p:cNvPr id="20" name="Text 18"/>
          <p:cNvSpPr/>
          <p:nvPr/>
        </p:nvSpPr>
        <p:spPr>
          <a:xfrm>
            <a:off x="566928" y="2743200"/>
            <a:ext cx="2212848" cy="329184"/>
          </a:xfrm>
          <a:prstGeom prst="rect">
            <a:avLst/>
          </a:prstGeom>
          <a:noFill/>
          <a:ln/>
        </p:spPr>
        <p:txBody>
          <a:bodyPr wrap="square" lIns="0" tIns="0" rIns="0" bIns="0" rtlCol="0" anchor="ctr"/>
          <a:lstStyle/>
          <a:p>
            <a:pPr marL="0" indent="0">
              <a:buNone/>
            </a:pPr>
            <a:r>
              <a:rPr lang="en-US" sz="850" b="1" dirty="0">
                <a:solidFill>
                  <a:srgbClr val="005E86"/>
                </a:solidFill>
                <a:latin typeface="Courier New" pitchFamily="34" charset="0"/>
                <a:ea typeface="Courier New" pitchFamily="34" charset="-122"/>
                <a:cs typeface="Courier New" pitchFamily="34" charset="-120"/>
              </a:rPr>
              <a:t>git push</a:t>
            </a:r>
            <a:endParaRPr lang="en-US" sz="850" dirty="0"/>
          </a:p>
        </p:txBody>
      </p:sp>
      <p:sp>
        <p:nvSpPr>
          <p:cNvPr id="21" name="Text 19"/>
          <p:cNvSpPr/>
          <p:nvPr/>
        </p:nvSpPr>
        <p:spPr>
          <a:xfrm>
            <a:off x="2834640" y="2743200"/>
            <a:ext cx="3127248" cy="329184"/>
          </a:xfrm>
          <a:prstGeom prst="rect">
            <a:avLst/>
          </a:prstGeom>
          <a:noFill/>
          <a:ln/>
        </p:spPr>
        <p:txBody>
          <a:bodyPr wrap="square" lIns="0" tIns="0" rIns="0" bIns="0" rtlCol="0" anchor="ctr"/>
          <a:lstStyle/>
          <a:p>
            <a:pPr marL="0" indent="0">
              <a:buNone/>
            </a:pPr>
            <a:r>
              <a:rPr lang="en-US" sz="800" dirty="0">
                <a:solidFill>
                  <a:srgbClr val="1E2A38"/>
                </a:solidFill>
                <a:latin typeface="Calibri" pitchFamily="34" charset="0"/>
                <a:ea typeface="Calibri" pitchFamily="34" charset="-122"/>
                <a:cs typeface="Calibri" pitchFamily="34" charset="-120"/>
              </a:rPr>
              <a:t>send it up — do this at the end of every single day</a:t>
            </a:r>
            <a:endParaRPr lang="en-US" sz="800" dirty="0"/>
          </a:p>
        </p:txBody>
      </p:sp>
      <p:sp>
        <p:nvSpPr>
          <p:cNvPr id="22" name="Shape 20"/>
          <p:cNvSpPr/>
          <p:nvPr/>
        </p:nvSpPr>
        <p:spPr>
          <a:xfrm>
            <a:off x="457200" y="3127248"/>
            <a:ext cx="5577840" cy="329184"/>
          </a:xfrm>
          <a:prstGeom prst="rect">
            <a:avLst/>
          </a:prstGeom>
          <a:solidFill>
            <a:srgbClr val="FFFFFF"/>
          </a:solidFill>
          <a:ln w="6350">
            <a:solidFill>
              <a:srgbClr val="DCEEF8"/>
            </a:solidFill>
            <a:prstDash val="solid"/>
          </a:ln>
        </p:spPr>
        <p:txBody>
          <a:bodyPr/>
          <a:lstStyle/>
          <a:p>
            <a:endParaRPr lang="en-US"/>
          </a:p>
        </p:txBody>
      </p:sp>
      <p:sp>
        <p:nvSpPr>
          <p:cNvPr id="23" name="Text 21"/>
          <p:cNvSpPr/>
          <p:nvPr/>
        </p:nvSpPr>
        <p:spPr>
          <a:xfrm>
            <a:off x="566928" y="3127248"/>
            <a:ext cx="2212848" cy="329184"/>
          </a:xfrm>
          <a:prstGeom prst="rect">
            <a:avLst/>
          </a:prstGeom>
          <a:noFill/>
          <a:ln/>
        </p:spPr>
        <p:txBody>
          <a:bodyPr wrap="square" lIns="0" tIns="0" rIns="0" bIns="0" rtlCol="0" anchor="ctr"/>
          <a:lstStyle/>
          <a:p>
            <a:pPr marL="0" indent="0">
              <a:buNone/>
            </a:pPr>
            <a:r>
              <a:rPr lang="en-US" sz="850" b="1" dirty="0">
                <a:solidFill>
                  <a:srgbClr val="005E86"/>
                </a:solidFill>
                <a:latin typeface="Courier New" pitchFamily="34" charset="0"/>
                <a:ea typeface="Courier New" pitchFamily="34" charset="-122"/>
                <a:cs typeface="Courier New" pitchFamily="34" charset="-120"/>
              </a:rPr>
              <a:t>git status</a:t>
            </a:r>
            <a:endParaRPr lang="en-US" sz="850" dirty="0"/>
          </a:p>
        </p:txBody>
      </p:sp>
      <p:sp>
        <p:nvSpPr>
          <p:cNvPr id="24" name="Text 22"/>
          <p:cNvSpPr/>
          <p:nvPr/>
        </p:nvSpPr>
        <p:spPr>
          <a:xfrm>
            <a:off x="2834640" y="3127248"/>
            <a:ext cx="3127248" cy="329184"/>
          </a:xfrm>
          <a:prstGeom prst="rect">
            <a:avLst/>
          </a:prstGeom>
          <a:noFill/>
          <a:ln/>
        </p:spPr>
        <p:txBody>
          <a:bodyPr wrap="square" lIns="0" tIns="0" rIns="0" bIns="0" rtlCol="0" anchor="ctr"/>
          <a:lstStyle/>
          <a:p>
            <a:pPr marL="0" indent="0">
              <a:buNone/>
            </a:pPr>
            <a:r>
              <a:rPr lang="en-US" sz="800" dirty="0">
                <a:solidFill>
                  <a:srgbClr val="1E2A38"/>
                </a:solidFill>
                <a:latin typeface="Calibri" pitchFamily="34" charset="0"/>
                <a:ea typeface="Calibri" pitchFamily="34" charset="-122"/>
                <a:cs typeface="Calibri" pitchFamily="34" charset="-120"/>
              </a:rPr>
              <a:t>when confused, run this before anything else</a:t>
            </a:r>
            <a:endParaRPr lang="en-US" sz="800" dirty="0"/>
          </a:p>
        </p:txBody>
      </p:sp>
      <p:sp>
        <p:nvSpPr>
          <p:cNvPr id="25" name="Shape 23"/>
          <p:cNvSpPr/>
          <p:nvPr/>
        </p:nvSpPr>
        <p:spPr>
          <a:xfrm>
            <a:off x="6272784" y="1207008"/>
            <a:ext cx="2414016" cy="1097280"/>
          </a:xfrm>
          <a:prstGeom prst="rect">
            <a:avLst/>
          </a:prstGeom>
          <a:solidFill>
            <a:srgbClr val="FFFFFF"/>
          </a:solidFill>
          <a:ln w="9525">
            <a:solidFill>
              <a:srgbClr val="DCEEF8"/>
            </a:solidFill>
            <a:prstDash val="solid"/>
          </a:ln>
        </p:spPr>
        <p:txBody>
          <a:bodyPr/>
          <a:lstStyle/>
          <a:p>
            <a:endParaRPr lang="en-US"/>
          </a:p>
        </p:txBody>
      </p:sp>
      <p:sp>
        <p:nvSpPr>
          <p:cNvPr id="26" name="Shape 24"/>
          <p:cNvSpPr/>
          <p:nvPr/>
        </p:nvSpPr>
        <p:spPr>
          <a:xfrm>
            <a:off x="6272784" y="1207008"/>
            <a:ext cx="54864" cy="1097280"/>
          </a:xfrm>
          <a:prstGeom prst="rect">
            <a:avLst/>
          </a:prstGeom>
          <a:solidFill>
            <a:srgbClr val="B83232"/>
          </a:solidFill>
          <a:ln w="12700">
            <a:solidFill>
              <a:srgbClr val="B83232"/>
            </a:solidFill>
            <a:prstDash val="solid"/>
          </a:ln>
        </p:spPr>
        <p:txBody>
          <a:bodyPr/>
          <a:lstStyle/>
          <a:p>
            <a:endParaRPr lang="en-US"/>
          </a:p>
        </p:txBody>
      </p:sp>
      <p:sp>
        <p:nvSpPr>
          <p:cNvPr id="27" name="Text 25"/>
          <p:cNvSpPr/>
          <p:nvPr/>
        </p:nvSpPr>
        <p:spPr>
          <a:xfrm>
            <a:off x="6437376" y="1298448"/>
            <a:ext cx="2194560" cy="182880"/>
          </a:xfrm>
          <a:prstGeom prst="rect">
            <a:avLst/>
          </a:prstGeom>
          <a:noFill/>
          <a:ln/>
        </p:spPr>
        <p:txBody>
          <a:bodyPr wrap="square" lIns="0" tIns="0" rIns="0" bIns="0" rtlCol="0" anchor="ctr"/>
          <a:lstStyle/>
          <a:p>
            <a:pPr marL="0" indent="0">
              <a:buNone/>
            </a:pPr>
            <a:r>
              <a:rPr lang="en-US" sz="750" b="1" kern="0" spc="120" dirty="0">
                <a:solidFill>
                  <a:srgbClr val="B83232"/>
                </a:solidFill>
                <a:latin typeface="Calibri" pitchFamily="34" charset="0"/>
                <a:ea typeface="Calibri" pitchFamily="34" charset="-122"/>
                <a:cs typeface="Calibri" pitchFamily="34" charset="-120"/>
              </a:rPr>
              <a:t>GITHUB WON'T TAKE</a:t>
            </a:r>
            <a:endParaRPr lang="en-US" sz="750" dirty="0"/>
          </a:p>
        </p:txBody>
      </p:sp>
      <p:sp>
        <p:nvSpPr>
          <p:cNvPr id="28" name="Text 26"/>
          <p:cNvSpPr/>
          <p:nvPr/>
        </p:nvSpPr>
        <p:spPr>
          <a:xfrm>
            <a:off x="6437376" y="1463040"/>
            <a:ext cx="2194560" cy="182880"/>
          </a:xfrm>
          <a:prstGeom prst="rect">
            <a:avLst/>
          </a:prstGeom>
          <a:noFill/>
          <a:ln/>
        </p:spPr>
        <p:txBody>
          <a:bodyPr wrap="square" lIns="0" tIns="0" rIns="0" bIns="0" rtlCol="0" anchor="ctr"/>
          <a:lstStyle/>
          <a:p>
            <a:pPr marL="0" indent="0">
              <a:buNone/>
            </a:pPr>
            <a:r>
              <a:rPr lang="en-US" sz="750" b="1" kern="0" spc="120" dirty="0">
                <a:solidFill>
                  <a:srgbClr val="B83232"/>
                </a:solidFill>
                <a:latin typeface="Calibri" pitchFamily="34" charset="0"/>
                <a:ea typeface="Calibri" pitchFamily="34" charset="-122"/>
                <a:cs typeface="Calibri" pitchFamily="34" charset="-120"/>
              </a:rPr>
              <a:t>YOUR PASSWORD</a:t>
            </a:r>
            <a:endParaRPr lang="en-US" sz="750" dirty="0"/>
          </a:p>
        </p:txBody>
      </p:sp>
      <p:sp>
        <p:nvSpPr>
          <p:cNvPr id="29" name="Text 27"/>
          <p:cNvSpPr/>
          <p:nvPr/>
        </p:nvSpPr>
        <p:spPr>
          <a:xfrm>
            <a:off x="6437376" y="1682496"/>
            <a:ext cx="2212848" cy="548640"/>
          </a:xfrm>
          <a:prstGeom prst="rect">
            <a:avLst/>
          </a:prstGeom>
          <a:noFill/>
          <a:ln/>
        </p:spPr>
        <p:txBody>
          <a:bodyPr wrap="square" lIns="0" tIns="0" rIns="0" bIns="0" rtlCol="0" anchor="t"/>
          <a:lstStyle/>
          <a:p>
            <a:pPr marL="0" indent="0">
              <a:lnSpc>
                <a:spcPct val="105000"/>
              </a:lnSpc>
              <a:buNone/>
            </a:pPr>
            <a:r>
              <a:rPr lang="en-US" sz="800" dirty="0">
                <a:solidFill>
                  <a:srgbClr val="6B7280"/>
                </a:solidFill>
                <a:latin typeface="Calibri" pitchFamily="34" charset="0"/>
                <a:ea typeface="Calibri" pitchFamily="34" charset="-122"/>
                <a:cs typeface="Calibri" pitchFamily="34" charset="-120"/>
              </a:rPr>
              <a:t>Generate a personal access token and use that instead. Do it now — every student hits this on their first push.</a:t>
            </a:r>
            <a:endParaRPr lang="en-US" sz="800" dirty="0"/>
          </a:p>
        </p:txBody>
      </p:sp>
      <p:sp>
        <p:nvSpPr>
          <p:cNvPr id="30" name="Shape 28"/>
          <p:cNvSpPr/>
          <p:nvPr/>
        </p:nvSpPr>
        <p:spPr>
          <a:xfrm>
            <a:off x="6272784" y="2414016"/>
            <a:ext cx="2414016" cy="1097280"/>
          </a:xfrm>
          <a:prstGeom prst="rect">
            <a:avLst/>
          </a:prstGeom>
          <a:solidFill>
            <a:srgbClr val="FFFFFF"/>
          </a:solidFill>
          <a:ln w="9525">
            <a:solidFill>
              <a:srgbClr val="DCEEF8"/>
            </a:solidFill>
            <a:prstDash val="solid"/>
          </a:ln>
        </p:spPr>
        <p:txBody>
          <a:bodyPr/>
          <a:lstStyle/>
          <a:p>
            <a:endParaRPr lang="en-US"/>
          </a:p>
        </p:txBody>
      </p:sp>
      <p:sp>
        <p:nvSpPr>
          <p:cNvPr id="31" name="Shape 29"/>
          <p:cNvSpPr/>
          <p:nvPr/>
        </p:nvSpPr>
        <p:spPr>
          <a:xfrm>
            <a:off x="6272784" y="2414016"/>
            <a:ext cx="54864" cy="1097280"/>
          </a:xfrm>
          <a:prstGeom prst="rect">
            <a:avLst/>
          </a:prstGeom>
          <a:solidFill>
            <a:srgbClr val="0079AB"/>
          </a:solidFill>
          <a:ln w="12700">
            <a:solidFill>
              <a:srgbClr val="0079AB"/>
            </a:solidFill>
            <a:prstDash val="solid"/>
          </a:ln>
        </p:spPr>
        <p:txBody>
          <a:bodyPr/>
          <a:lstStyle/>
          <a:p>
            <a:endParaRPr lang="en-US"/>
          </a:p>
        </p:txBody>
      </p:sp>
      <p:sp>
        <p:nvSpPr>
          <p:cNvPr id="32" name="Text 30"/>
          <p:cNvSpPr/>
          <p:nvPr/>
        </p:nvSpPr>
        <p:spPr>
          <a:xfrm>
            <a:off x="6437376" y="2505456"/>
            <a:ext cx="2194560" cy="182880"/>
          </a:xfrm>
          <a:prstGeom prst="rect">
            <a:avLst/>
          </a:prstGeom>
          <a:noFill/>
          <a:ln/>
        </p:spPr>
        <p:txBody>
          <a:bodyPr wrap="square" lIns="0" tIns="0" rIns="0" bIns="0" rtlCol="0" anchor="ctr"/>
          <a:lstStyle/>
          <a:p>
            <a:pPr marL="0" indent="0">
              <a:buNone/>
            </a:pPr>
            <a:r>
              <a:rPr lang="en-US" sz="750" b="1" kern="0" spc="120" dirty="0">
                <a:solidFill>
                  <a:srgbClr val="0079AB"/>
                </a:solidFill>
                <a:latin typeface="Calibri" pitchFamily="34" charset="0"/>
                <a:ea typeface="Calibri" pitchFamily="34" charset="-122"/>
                <a:cs typeface="Calibri" pitchFamily="34" charset="-120"/>
              </a:rPr>
              <a:t>FELL BEHIND?</a:t>
            </a:r>
            <a:endParaRPr lang="en-US" sz="750" dirty="0"/>
          </a:p>
        </p:txBody>
      </p:sp>
      <p:sp>
        <p:nvSpPr>
          <p:cNvPr id="33" name="Text 31"/>
          <p:cNvSpPr/>
          <p:nvPr/>
        </p:nvSpPr>
        <p:spPr>
          <a:xfrm>
            <a:off x="6437376" y="2706624"/>
            <a:ext cx="2212848" cy="694944"/>
          </a:xfrm>
          <a:prstGeom prst="rect">
            <a:avLst/>
          </a:prstGeom>
          <a:noFill/>
          <a:ln/>
        </p:spPr>
        <p:txBody>
          <a:bodyPr wrap="square" lIns="0" tIns="0" rIns="0" bIns="0" rtlCol="0" anchor="t"/>
          <a:lstStyle/>
          <a:p>
            <a:pPr marL="0" indent="0">
              <a:lnSpc>
                <a:spcPct val="105000"/>
              </a:lnSpc>
              <a:buNone/>
            </a:pPr>
            <a:r>
              <a:rPr lang="en-US" sz="800" dirty="0">
                <a:solidFill>
                  <a:srgbClr val="6B7280"/>
                </a:solidFill>
                <a:latin typeface="Calibri" pitchFamily="34" charset="0"/>
                <a:ea typeface="Calibri" pitchFamily="34" charset="-122"/>
                <a:cs typeface="Calibri" pitchFamily="34" charset="-120"/>
              </a:rPr>
              <a:t>Every morning there is a fresh starting folder you can clone. You will never be locked out of the next day's work.</a:t>
            </a:r>
            <a:endParaRPr lang="en-US" sz="800" dirty="0"/>
          </a:p>
        </p:txBody>
      </p:sp>
      <p:sp>
        <p:nvSpPr>
          <p:cNvPr id="34" name="Text 32"/>
          <p:cNvSpPr/>
          <p:nvPr/>
        </p:nvSpPr>
        <p:spPr>
          <a:xfrm>
            <a:off x="457200" y="3602736"/>
            <a:ext cx="5486400" cy="182880"/>
          </a:xfrm>
          <a:prstGeom prst="rect">
            <a:avLst/>
          </a:prstGeom>
          <a:noFill/>
          <a:ln/>
        </p:spPr>
        <p:txBody>
          <a:bodyPr wrap="square" lIns="0" tIns="0" rIns="0" bIns="0" rtlCol="0" anchor="ctr"/>
          <a:lstStyle/>
          <a:p>
            <a:pPr marL="0" indent="0">
              <a:buNone/>
            </a:pPr>
            <a:r>
              <a:rPr lang="en-US" sz="800" b="1" kern="0" spc="120" dirty="0">
                <a:solidFill>
                  <a:srgbClr val="6B7280"/>
                </a:solidFill>
                <a:latin typeface="Calibri" pitchFamily="34" charset="0"/>
                <a:ea typeface="Calibri" pitchFamily="34" charset="-122"/>
                <a:cs typeface="Calibri" pitchFamily="34" charset="-120"/>
              </a:rPr>
              <a:t>BRANCHES AND PULL REQUESTS COME ON FRIDAY</a:t>
            </a:r>
            <a:endParaRPr lang="en-US" sz="800" dirty="0"/>
          </a:p>
        </p:txBody>
      </p:sp>
      <p:sp>
        <p:nvSpPr>
          <p:cNvPr id="35" name="Text 33"/>
          <p:cNvSpPr/>
          <p:nvPr/>
        </p:nvSpPr>
        <p:spPr>
          <a:xfrm>
            <a:off x="457200" y="3822192"/>
            <a:ext cx="8229600" cy="365760"/>
          </a:xfrm>
          <a:prstGeom prst="rect">
            <a:avLst/>
          </a:prstGeom>
          <a:noFill/>
          <a:ln/>
        </p:spPr>
        <p:txBody>
          <a:bodyPr wrap="square" lIns="0" tIns="0" rIns="0" bIns="0" rtlCol="0" anchor="t"/>
          <a:lstStyle/>
          <a:p>
            <a:pPr marL="0" indent="0">
              <a:lnSpc>
                <a:spcPct val="105000"/>
              </a:lnSpc>
              <a:buNone/>
            </a:pPr>
            <a:r>
              <a:rPr lang="en-US" sz="950" dirty="0">
                <a:solidFill>
                  <a:srgbClr val="1E2A38"/>
                </a:solidFill>
                <a:latin typeface="Calibri" pitchFamily="34" charset="0"/>
                <a:ea typeface="Calibri" pitchFamily="34" charset="-122"/>
                <a:cs typeface="Calibri" pitchFamily="34" charset="-120"/>
              </a:rPr>
              <a:t>Today you only need to be able to save your work and get it off your laptop. That is genuinely enough.</a:t>
            </a:r>
            <a:endParaRPr lang="en-US" sz="950" dirty="0"/>
          </a:p>
        </p:txBody>
      </p:sp>
      <p:sp>
        <p:nvSpPr>
          <p:cNvPr id="36" name="Shape 34"/>
          <p:cNvSpPr/>
          <p:nvPr/>
        </p:nvSpPr>
        <p:spPr>
          <a:xfrm>
            <a:off x="457200" y="4334256"/>
            <a:ext cx="8229600" cy="512064"/>
          </a:xfrm>
          <a:prstGeom prst="rect">
            <a:avLst/>
          </a:prstGeom>
          <a:solidFill>
            <a:srgbClr val="F0F8FD"/>
          </a:solidFill>
          <a:ln w="12700">
            <a:solidFill>
              <a:srgbClr val="F0F8FD"/>
            </a:solidFill>
            <a:prstDash val="solid"/>
          </a:ln>
        </p:spPr>
        <p:txBody>
          <a:bodyPr/>
          <a:lstStyle/>
          <a:p>
            <a:endParaRPr lang="en-US"/>
          </a:p>
        </p:txBody>
      </p:sp>
      <p:sp>
        <p:nvSpPr>
          <p:cNvPr id="37" name="Shape 35"/>
          <p:cNvSpPr/>
          <p:nvPr/>
        </p:nvSpPr>
        <p:spPr>
          <a:xfrm>
            <a:off x="457200" y="4334256"/>
            <a:ext cx="54864" cy="512064"/>
          </a:xfrm>
          <a:prstGeom prst="rect">
            <a:avLst/>
          </a:prstGeom>
          <a:solidFill>
            <a:srgbClr val="005E86"/>
          </a:solidFill>
          <a:ln w="12700">
            <a:solidFill>
              <a:srgbClr val="005E86"/>
            </a:solidFill>
            <a:prstDash val="solid"/>
          </a:ln>
        </p:spPr>
        <p:txBody>
          <a:bodyPr/>
          <a:lstStyle/>
          <a:p>
            <a:endParaRPr lang="en-US"/>
          </a:p>
        </p:txBody>
      </p:sp>
      <p:sp>
        <p:nvSpPr>
          <p:cNvPr id="38" name="Text 36"/>
          <p:cNvSpPr/>
          <p:nvPr/>
        </p:nvSpPr>
        <p:spPr>
          <a:xfrm>
            <a:off x="658368" y="4334256"/>
            <a:ext cx="7863840" cy="512064"/>
          </a:xfrm>
          <a:prstGeom prst="rect">
            <a:avLst/>
          </a:prstGeom>
          <a:noFill/>
          <a:ln/>
        </p:spPr>
        <p:txBody>
          <a:bodyPr wrap="square" lIns="0" tIns="0" rIns="0" bIns="0" rtlCol="0" anchor="ctr"/>
          <a:lstStyle/>
          <a:p>
            <a:pPr marL="0" indent="0">
              <a:buNone/>
            </a:pPr>
            <a:r>
              <a:rPr lang="en-US" sz="1000" b="1" dirty="0">
                <a:solidFill>
                  <a:srgbClr val="1E2A38"/>
                </a:solidFill>
                <a:latin typeface="Calibri" pitchFamily="34" charset="0"/>
                <a:ea typeface="Calibri" pitchFamily="34" charset="-122"/>
                <a:cs typeface="Calibri" pitchFamily="34" charset="-120"/>
              </a:rPr>
              <a:t>Push before you leave the room today. A laptop that dies overnight should cost you nothing.</a:t>
            </a:r>
            <a:endParaRPr lang="en-US" sz="1000" dirty="0"/>
          </a:p>
        </p:txBody>
      </p:sp>
    </p:spTree>
    <p:extLst>
      <p:ext uri="{BB962C8B-B14F-4D97-AF65-F5344CB8AC3E}">
        <p14:creationId xmlns:p14="http://schemas.microsoft.com/office/powerpoint/2010/main" val="190719475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5E86"/>
          </a:solidFill>
          <a:ln w="12700">
            <a:solidFill>
              <a:srgbClr val="005E86"/>
            </a:solidFill>
            <a:prstDash val="solid"/>
          </a:ln>
        </p:spPr>
        <p:txBody>
          <a:bodyPr/>
          <a:lstStyle/>
          <a:p>
            <a:endParaRPr lang="en-US"/>
          </a:p>
        </p:txBody>
      </p:sp>
      <p:sp>
        <p:nvSpPr>
          <p:cNvPr id="3" name="Text 1"/>
          <p:cNvSpPr/>
          <p:nvPr/>
        </p:nvSpPr>
        <p:spPr>
          <a:xfrm>
            <a:off x="457200" y="128016"/>
            <a:ext cx="6400800" cy="182880"/>
          </a:xfrm>
          <a:prstGeom prst="rect">
            <a:avLst/>
          </a:prstGeom>
          <a:noFill/>
          <a:ln/>
        </p:spPr>
        <p:txBody>
          <a:bodyPr wrap="square" lIns="0" tIns="0" rIns="0" bIns="0" rtlCol="0" anchor="ctr"/>
          <a:lstStyle/>
          <a:p>
            <a:pPr marL="0" indent="0">
              <a:buNone/>
            </a:pPr>
            <a:r>
              <a:rPr lang="en-US" sz="800" b="1" kern="0" spc="160" dirty="0">
                <a:solidFill>
                  <a:srgbClr val="6B7280"/>
                </a:solidFill>
                <a:latin typeface="Calibri" pitchFamily="34" charset="0"/>
                <a:ea typeface="Calibri" pitchFamily="34" charset="-122"/>
                <a:cs typeface="Calibri" pitchFamily="34" charset="-120"/>
              </a:rPr>
              <a:t>BLOCK 4</a:t>
            </a:r>
            <a:endParaRPr lang="en-US" sz="800" dirty="0"/>
          </a:p>
        </p:txBody>
      </p:sp>
      <p:sp>
        <p:nvSpPr>
          <p:cNvPr id="4" name="Text 2"/>
          <p:cNvSpPr/>
          <p:nvPr/>
        </p:nvSpPr>
        <p:spPr>
          <a:xfrm>
            <a:off x="457200" y="347472"/>
            <a:ext cx="8229600" cy="420624"/>
          </a:xfrm>
          <a:prstGeom prst="rect">
            <a:avLst/>
          </a:prstGeom>
          <a:noFill/>
          <a:ln/>
        </p:spPr>
        <p:txBody>
          <a:bodyPr wrap="square" lIns="0" tIns="0" rIns="0" bIns="0" rtlCol="0" anchor="ctr"/>
          <a:lstStyle/>
          <a:p>
            <a:pPr marL="0" indent="0">
              <a:buNone/>
            </a:pPr>
            <a:r>
              <a:rPr lang="en-US" sz="2200" b="1" dirty="0">
                <a:solidFill>
                  <a:srgbClr val="1E2A38"/>
                </a:solidFill>
                <a:latin typeface="Calibri" pitchFamily="34" charset="0"/>
                <a:ea typeface="Calibri" pitchFamily="34" charset="-122"/>
                <a:cs typeface="Calibri" pitchFamily="34" charset="-120"/>
              </a:rPr>
              <a:t>Today's Lab</a:t>
            </a:r>
            <a:endParaRPr lang="en-US" sz="2200" dirty="0"/>
          </a:p>
        </p:txBody>
      </p:sp>
      <p:sp>
        <p:nvSpPr>
          <p:cNvPr id="5" name="Shape 3"/>
          <p:cNvSpPr/>
          <p:nvPr/>
        </p:nvSpPr>
        <p:spPr>
          <a:xfrm>
            <a:off x="457200" y="859536"/>
            <a:ext cx="8229600" cy="10973"/>
          </a:xfrm>
          <a:prstGeom prst="rect">
            <a:avLst/>
          </a:prstGeom>
          <a:solidFill>
            <a:srgbClr val="CDE7F5"/>
          </a:solidFill>
          <a:ln w="12700">
            <a:solidFill>
              <a:srgbClr val="CDE7F5"/>
            </a:solidFill>
            <a:prstDash val="solid"/>
          </a:ln>
        </p:spPr>
        <p:txBody>
          <a:bodyPr/>
          <a:lstStyle/>
          <a:p>
            <a:endParaRPr lang="en-US"/>
          </a:p>
        </p:txBody>
      </p:sp>
      <p:sp>
        <p:nvSpPr>
          <p:cNvPr id="6" name="Shape 4"/>
          <p:cNvSpPr/>
          <p:nvPr/>
        </p:nvSpPr>
        <p:spPr>
          <a:xfrm>
            <a:off x="457200" y="1005840"/>
            <a:ext cx="4023360" cy="2542032"/>
          </a:xfrm>
          <a:prstGeom prst="rect">
            <a:avLst/>
          </a:prstGeom>
          <a:solidFill>
            <a:srgbClr val="FFFFFF"/>
          </a:solidFill>
          <a:ln w="9525">
            <a:solidFill>
              <a:srgbClr val="DCEEF8"/>
            </a:solidFill>
            <a:prstDash val="solid"/>
          </a:ln>
        </p:spPr>
        <p:txBody>
          <a:bodyPr/>
          <a:lstStyle/>
          <a:p>
            <a:endParaRPr lang="en-US"/>
          </a:p>
        </p:txBody>
      </p:sp>
      <p:sp>
        <p:nvSpPr>
          <p:cNvPr id="7" name="Shape 5"/>
          <p:cNvSpPr/>
          <p:nvPr/>
        </p:nvSpPr>
        <p:spPr>
          <a:xfrm>
            <a:off x="457200" y="1005840"/>
            <a:ext cx="4023360" cy="310896"/>
          </a:xfrm>
          <a:prstGeom prst="rect">
            <a:avLst/>
          </a:prstGeom>
          <a:solidFill>
            <a:srgbClr val="005E86"/>
          </a:solidFill>
          <a:ln w="12700">
            <a:solidFill>
              <a:srgbClr val="005E86"/>
            </a:solidFill>
            <a:prstDash val="solid"/>
          </a:ln>
        </p:spPr>
        <p:txBody>
          <a:bodyPr/>
          <a:lstStyle/>
          <a:p>
            <a:endParaRPr lang="en-US"/>
          </a:p>
        </p:txBody>
      </p:sp>
      <p:sp>
        <p:nvSpPr>
          <p:cNvPr id="8" name="Text 6"/>
          <p:cNvSpPr/>
          <p:nvPr/>
        </p:nvSpPr>
        <p:spPr>
          <a:xfrm>
            <a:off x="457200" y="1005840"/>
            <a:ext cx="4023360" cy="310896"/>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CORE  —  EVERYONE FINISHES THIS</a:t>
            </a:r>
            <a:endParaRPr lang="en-US" sz="900" dirty="0"/>
          </a:p>
        </p:txBody>
      </p:sp>
      <p:sp>
        <p:nvSpPr>
          <p:cNvPr id="9" name="Text 7"/>
          <p:cNvSpPr/>
          <p:nvPr/>
        </p:nvSpPr>
        <p:spPr>
          <a:xfrm>
            <a:off x="621792" y="1463040"/>
            <a:ext cx="219456" cy="274320"/>
          </a:xfrm>
          <a:prstGeom prst="rect">
            <a:avLst/>
          </a:prstGeom>
          <a:noFill/>
          <a:ln/>
        </p:spPr>
        <p:txBody>
          <a:bodyPr wrap="square" lIns="0" tIns="0" rIns="0" bIns="0" rtlCol="0" anchor="ctr"/>
          <a:lstStyle/>
          <a:p>
            <a:pPr marL="0" indent="0">
              <a:buNone/>
            </a:pPr>
            <a:r>
              <a:rPr lang="en-US" sz="1100" dirty="0">
                <a:solidFill>
                  <a:srgbClr val="005E86"/>
                </a:solidFill>
                <a:latin typeface="Calibri" pitchFamily="34" charset="0"/>
                <a:ea typeface="Calibri" pitchFamily="34" charset="-122"/>
                <a:cs typeface="Calibri" pitchFamily="34" charset="-120"/>
              </a:rPr>
              <a:t>▢</a:t>
            </a:r>
            <a:endParaRPr lang="en-US" sz="1100" dirty="0"/>
          </a:p>
        </p:txBody>
      </p:sp>
      <p:sp>
        <p:nvSpPr>
          <p:cNvPr id="10" name="Text 8"/>
          <p:cNvSpPr/>
          <p:nvPr/>
        </p:nvSpPr>
        <p:spPr>
          <a:xfrm>
            <a:off x="877824" y="1463040"/>
            <a:ext cx="3474720" cy="274320"/>
          </a:xfrm>
          <a:prstGeom prst="rect">
            <a:avLst/>
          </a:prstGeom>
          <a:noFill/>
          <a:ln/>
        </p:spPr>
        <p:txBody>
          <a:bodyPr wrap="square" lIns="0" tIns="0" rIns="0" bIns="0" rtlCol="0" anchor="ctr"/>
          <a:lstStyle/>
          <a:p>
            <a:pPr marL="0" indent="0">
              <a:buNone/>
            </a:pPr>
            <a:r>
              <a:rPr lang="en-US" sz="900" dirty="0">
                <a:solidFill>
                  <a:srgbClr val="1E2A38"/>
                </a:solidFill>
                <a:latin typeface="Calibri" pitchFamily="34" charset="0"/>
                <a:ea typeface="Calibri" pitchFamily="34" charset="-122"/>
                <a:cs typeface="Calibri" pitchFamily="34" charset="-120"/>
              </a:rPr>
              <a:t>Your four regions built with semantic HTML</a:t>
            </a:r>
            <a:endParaRPr lang="en-US" sz="900" dirty="0"/>
          </a:p>
        </p:txBody>
      </p:sp>
      <p:sp>
        <p:nvSpPr>
          <p:cNvPr id="11" name="Text 9"/>
          <p:cNvSpPr/>
          <p:nvPr/>
        </p:nvSpPr>
        <p:spPr>
          <a:xfrm>
            <a:off x="621792" y="1792224"/>
            <a:ext cx="219456" cy="274320"/>
          </a:xfrm>
          <a:prstGeom prst="rect">
            <a:avLst/>
          </a:prstGeom>
          <a:noFill/>
          <a:ln/>
        </p:spPr>
        <p:txBody>
          <a:bodyPr wrap="square" lIns="0" tIns="0" rIns="0" bIns="0" rtlCol="0" anchor="ctr"/>
          <a:lstStyle/>
          <a:p>
            <a:pPr marL="0" indent="0">
              <a:buNone/>
            </a:pPr>
            <a:r>
              <a:rPr lang="en-US" sz="1100" dirty="0">
                <a:solidFill>
                  <a:srgbClr val="005E86"/>
                </a:solidFill>
                <a:latin typeface="Calibri" pitchFamily="34" charset="0"/>
                <a:ea typeface="Calibri" pitchFamily="34" charset="-122"/>
                <a:cs typeface="Calibri" pitchFamily="34" charset="-120"/>
              </a:rPr>
              <a:t>▢</a:t>
            </a:r>
            <a:endParaRPr lang="en-US" sz="1100" dirty="0"/>
          </a:p>
        </p:txBody>
      </p:sp>
      <p:sp>
        <p:nvSpPr>
          <p:cNvPr id="12" name="Text 10"/>
          <p:cNvSpPr/>
          <p:nvPr/>
        </p:nvSpPr>
        <p:spPr>
          <a:xfrm>
            <a:off x="877824" y="1792224"/>
            <a:ext cx="3474720" cy="274320"/>
          </a:xfrm>
          <a:prstGeom prst="rect">
            <a:avLst/>
          </a:prstGeom>
          <a:noFill/>
          <a:ln/>
        </p:spPr>
        <p:txBody>
          <a:bodyPr wrap="square" lIns="0" tIns="0" rIns="0" bIns="0" rtlCol="0" anchor="ctr"/>
          <a:lstStyle/>
          <a:p>
            <a:pPr marL="0" indent="0">
              <a:buNone/>
            </a:pPr>
            <a:r>
              <a:rPr lang="en-US" sz="900" dirty="0">
                <a:solidFill>
                  <a:srgbClr val="1E2A38"/>
                </a:solidFill>
                <a:latin typeface="Calibri" pitchFamily="34" charset="0"/>
                <a:ea typeface="Calibri" pitchFamily="34" charset="-122"/>
                <a:cs typeface="Calibri" pitchFamily="34" charset="-120"/>
              </a:rPr>
              <a:t>Flexbox layout that holds together at one breakpoint</a:t>
            </a:r>
            <a:endParaRPr lang="en-US" sz="900" dirty="0"/>
          </a:p>
        </p:txBody>
      </p:sp>
      <p:sp>
        <p:nvSpPr>
          <p:cNvPr id="13" name="Text 11"/>
          <p:cNvSpPr/>
          <p:nvPr/>
        </p:nvSpPr>
        <p:spPr>
          <a:xfrm>
            <a:off x="621792" y="2121408"/>
            <a:ext cx="219456" cy="274320"/>
          </a:xfrm>
          <a:prstGeom prst="rect">
            <a:avLst/>
          </a:prstGeom>
          <a:noFill/>
          <a:ln/>
        </p:spPr>
        <p:txBody>
          <a:bodyPr wrap="square" lIns="0" tIns="0" rIns="0" bIns="0" rtlCol="0" anchor="ctr"/>
          <a:lstStyle/>
          <a:p>
            <a:pPr marL="0" indent="0">
              <a:buNone/>
            </a:pPr>
            <a:r>
              <a:rPr lang="en-US" sz="1100" dirty="0">
                <a:solidFill>
                  <a:srgbClr val="005E86"/>
                </a:solidFill>
                <a:latin typeface="Calibri" pitchFamily="34" charset="0"/>
                <a:ea typeface="Calibri" pitchFamily="34" charset="-122"/>
                <a:cs typeface="Calibri" pitchFamily="34" charset="-120"/>
              </a:rPr>
              <a:t>▢</a:t>
            </a:r>
            <a:endParaRPr lang="en-US" sz="1100" dirty="0"/>
          </a:p>
        </p:txBody>
      </p:sp>
      <p:sp>
        <p:nvSpPr>
          <p:cNvPr id="14" name="Text 12"/>
          <p:cNvSpPr/>
          <p:nvPr/>
        </p:nvSpPr>
        <p:spPr>
          <a:xfrm>
            <a:off x="877824" y="2121408"/>
            <a:ext cx="3474720" cy="274320"/>
          </a:xfrm>
          <a:prstGeom prst="rect">
            <a:avLst/>
          </a:prstGeom>
          <a:noFill/>
          <a:ln/>
        </p:spPr>
        <p:txBody>
          <a:bodyPr wrap="square" lIns="0" tIns="0" rIns="0" bIns="0" rtlCol="0" anchor="ctr"/>
          <a:lstStyle/>
          <a:p>
            <a:pPr marL="0" indent="0">
              <a:buNone/>
            </a:pPr>
            <a:r>
              <a:rPr lang="en-US" sz="900" dirty="0">
                <a:solidFill>
                  <a:srgbClr val="1E2A38"/>
                </a:solidFill>
                <a:latin typeface="Calibri" pitchFamily="34" charset="0"/>
                <a:ea typeface="Calibri" pitchFamily="34" charset="-122"/>
                <a:cs typeface="Calibri" pitchFamily="34" charset="-120"/>
              </a:rPr>
              <a:t>A themed look driven by :root variables</a:t>
            </a:r>
            <a:endParaRPr lang="en-US" sz="900" dirty="0"/>
          </a:p>
        </p:txBody>
      </p:sp>
      <p:sp>
        <p:nvSpPr>
          <p:cNvPr id="15" name="Text 13"/>
          <p:cNvSpPr/>
          <p:nvPr/>
        </p:nvSpPr>
        <p:spPr>
          <a:xfrm>
            <a:off x="621792" y="2450592"/>
            <a:ext cx="219456" cy="274320"/>
          </a:xfrm>
          <a:prstGeom prst="rect">
            <a:avLst/>
          </a:prstGeom>
          <a:noFill/>
          <a:ln/>
        </p:spPr>
        <p:txBody>
          <a:bodyPr wrap="square" lIns="0" tIns="0" rIns="0" bIns="0" rtlCol="0" anchor="ctr"/>
          <a:lstStyle/>
          <a:p>
            <a:pPr marL="0" indent="0">
              <a:buNone/>
            </a:pPr>
            <a:r>
              <a:rPr lang="en-US" sz="1100" dirty="0">
                <a:solidFill>
                  <a:srgbClr val="005E86"/>
                </a:solidFill>
                <a:latin typeface="Calibri" pitchFamily="34" charset="0"/>
                <a:ea typeface="Calibri" pitchFamily="34" charset="-122"/>
                <a:cs typeface="Calibri" pitchFamily="34" charset="-120"/>
              </a:rPr>
              <a:t>▢</a:t>
            </a:r>
            <a:endParaRPr lang="en-US" sz="1100" dirty="0"/>
          </a:p>
        </p:txBody>
      </p:sp>
      <p:sp>
        <p:nvSpPr>
          <p:cNvPr id="16" name="Text 14"/>
          <p:cNvSpPr/>
          <p:nvPr/>
        </p:nvSpPr>
        <p:spPr>
          <a:xfrm>
            <a:off x="877824" y="2450592"/>
            <a:ext cx="3474720" cy="274320"/>
          </a:xfrm>
          <a:prstGeom prst="rect">
            <a:avLst/>
          </a:prstGeom>
          <a:noFill/>
          <a:ln/>
        </p:spPr>
        <p:txBody>
          <a:bodyPr wrap="square" lIns="0" tIns="0" rIns="0" bIns="0" rtlCol="0" anchor="ctr"/>
          <a:lstStyle/>
          <a:p>
            <a:pPr marL="0" indent="0">
              <a:buNone/>
            </a:pPr>
            <a:r>
              <a:rPr lang="en-US" sz="900" dirty="0">
                <a:solidFill>
                  <a:srgbClr val="1E2A38"/>
                </a:solidFill>
                <a:latin typeface="Calibri" pitchFamily="34" charset="0"/>
                <a:ea typeface="Calibri" pitchFamily="34" charset="-122"/>
                <a:cs typeface="Calibri" pitchFamily="34" charset="-120"/>
              </a:rPr>
              <a:t>An empty state a stranger would understand</a:t>
            </a:r>
            <a:endParaRPr lang="en-US" sz="900" dirty="0"/>
          </a:p>
        </p:txBody>
      </p:sp>
      <p:sp>
        <p:nvSpPr>
          <p:cNvPr id="17" name="Text 15"/>
          <p:cNvSpPr/>
          <p:nvPr/>
        </p:nvSpPr>
        <p:spPr>
          <a:xfrm>
            <a:off x="621792" y="2779776"/>
            <a:ext cx="219456" cy="274320"/>
          </a:xfrm>
          <a:prstGeom prst="rect">
            <a:avLst/>
          </a:prstGeom>
          <a:noFill/>
          <a:ln/>
        </p:spPr>
        <p:txBody>
          <a:bodyPr wrap="square" lIns="0" tIns="0" rIns="0" bIns="0" rtlCol="0" anchor="ctr"/>
          <a:lstStyle/>
          <a:p>
            <a:pPr marL="0" indent="0">
              <a:buNone/>
            </a:pPr>
            <a:r>
              <a:rPr lang="en-US" sz="1100" dirty="0">
                <a:solidFill>
                  <a:srgbClr val="005E86"/>
                </a:solidFill>
                <a:latin typeface="Calibri" pitchFamily="34" charset="0"/>
                <a:ea typeface="Calibri" pitchFamily="34" charset="-122"/>
                <a:cs typeface="Calibri" pitchFamily="34" charset="-120"/>
              </a:rPr>
              <a:t>▢</a:t>
            </a:r>
            <a:endParaRPr lang="en-US" sz="1100" dirty="0"/>
          </a:p>
        </p:txBody>
      </p:sp>
      <p:sp>
        <p:nvSpPr>
          <p:cNvPr id="18" name="Text 16"/>
          <p:cNvSpPr/>
          <p:nvPr/>
        </p:nvSpPr>
        <p:spPr>
          <a:xfrm>
            <a:off x="877824" y="2779776"/>
            <a:ext cx="3474720" cy="274320"/>
          </a:xfrm>
          <a:prstGeom prst="rect">
            <a:avLst/>
          </a:prstGeom>
          <a:noFill/>
          <a:ln/>
        </p:spPr>
        <p:txBody>
          <a:bodyPr wrap="square" lIns="0" tIns="0" rIns="0" bIns="0" rtlCol="0" anchor="ctr"/>
          <a:lstStyle/>
          <a:p>
            <a:pPr marL="0" indent="0">
              <a:buNone/>
            </a:pPr>
            <a:r>
              <a:rPr lang="en-US" sz="900" dirty="0">
                <a:solidFill>
                  <a:srgbClr val="1E2A38"/>
                </a:solidFill>
                <a:latin typeface="Calibri" pitchFamily="34" charset="0"/>
                <a:ea typeface="Calibri" pitchFamily="34" charset="-122"/>
                <a:cs typeface="Calibri" pitchFamily="34" charset="-120"/>
              </a:rPr>
              <a:t>Committed and pushed to GitHub</a:t>
            </a:r>
            <a:endParaRPr lang="en-US" sz="900" dirty="0"/>
          </a:p>
        </p:txBody>
      </p:sp>
      <p:sp>
        <p:nvSpPr>
          <p:cNvPr id="19" name="Text 17"/>
          <p:cNvSpPr/>
          <p:nvPr/>
        </p:nvSpPr>
        <p:spPr>
          <a:xfrm>
            <a:off x="621792" y="3108960"/>
            <a:ext cx="219456" cy="274320"/>
          </a:xfrm>
          <a:prstGeom prst="rect">
            <a:avLst/>
          </a:prstGeom>
          <a:noFill/>
          <a:ln/>
        </p:spPr>
        <p:txBody>
          <a:bodyPr wrap="square" lIns="0" tIns="0" rIns="0" bIns="0" rtlCol="0" anchor="ctr"/>
          <a:lstStyle/>
          <a:p>
            <a:pPr marL="0" indent="0">
              <a:buNone/>
            </a:pPr>
            <a:r>
              <a:rPr lang="en-US" sz="1100" dirty="0">
                <a:solidFill>
                  <a:srgbClr val="005E86"/>
                </a:solidFill>
                <a:latin typeface="Calibri" pitchFamily="34" charset="0"/>
                <a:ea typeface="Calibri" pitchFamily="34" charset="-122"/>
                <a:cs typeface="Calibri" pitchFamily="34" charset="-120"/>
              </a:rPr>
              <a:t>▢</a:t>
            </a:r>
            <a:endParaRPr lang="en-US" sz="1100" dirty="0"/>
          </a:p>
        </p:txBody>
      </p:sp>
      <p:sp>
        <p:nvSpPr>
          <p:cNvPr id="20" name="Text 18"/>
          <p:cNvSpPr/>
          <p:nvPr/>
        </p:nvSpPr>
        <p:spPr>
          <a:xfrm>
            <a:off x="877824" y="3108960"/>
            <a:ext cx="3474720" cy="274320"/>
          </a:xfrm>
          <a:prstGeom prst="rect">
            <a:avLst/>
          </a:prstGeom>
          <a:noFill/>
          <a:ln/>
        </p:spPr>
        <p:txBody>
          <a:bodyPr wrap="square" lIns="0" tIns="0" rIns="0" bIns="0" rtlCol="0" anchor="ctr"/>
          <a:lstStyle/>
          <a:p>
            <a:pPr marL="0" indent="0">
              <a:buNone/>
            </a:pPr>
            <a:r>
              <a:rPr lang="en-US" sz="900" dirty="0">
                <a:solidFill>
                  <a:srgbClr val="1E2A38"/>
                </a:solidFill>
                <a:latin typeface="Calibri" pitchFamily="34" charset="0"/>
                <a:ea typeface="Calibri" pitchFamily="34" charset="-122"/>
                <a:cs typeface="Calibri" pitchFamily="34" charset="-120"/>
              </a:rPr>
              <a:t>verify-setup still green</a:t>
            </a:r>
            <a:endParaRPr lang="en-US" sz="900" dirty="0"/>
          </a:p>
        </p:txBody>
      </p:sp>
      <p:sp>
        <p:nvSpPr>
          <p:cNvPr id="21" name="Shape 19"/>
          <p:cNvSpPr/>
          <p:nvPr/>
        </p:nvSpPr>
        <p:spPr>
          <a:xfrm>
            <a:off x="4681728" y="1005840"/>
            <a:ext cx="4005072" cy="2542032"/>
          </a:xfrm>
          <a:prstGeom prst="rect">
            <a:avLst/>
          </a:prstGeom>
          <a:solidFill>
            <a:srgbClr val="FFFFFF"/>
          </a:solidFill>
          <a:ln w="9525">
            <a:solidFill>
              <a:srgbClr val="DCEEF8"/>
            </a:solidFill>
            <a:prstDash val="solid"/>
          </a:ln>
        </p:spPr>
        <p:txBody>
          <a:bodyPr/>
          <a:lstStyle/>
          <a:p>
            <a:endParaRPr lang="en-US"/>
          </a:p>
        </p:txBody>
      </p:sp>
      <p:sp>
        <p:nvSpPr>
          <p:cNvPr id="22" name="Shape 20"/>
          <p:cNvSpPr/>
          <p:nvPr/>
        </p:nvSpPr>
        <p:spPr>
          <a:xfrm>
            <a:off x="4681728" y="1005840"/>
            <a:ext cx="4005072" cy="310896"/>
          </a:xfrm>
          <a:prstGeom prst="rect">
            <a:avLst/>
          </a:prstGeom>
          <a:solidFill>
            <a:srgbClr val="0079AB"/>
          </a:solidFill>
          <a:ln w="12700">
            <a:solidFill>
              <a:srgbClr val="0079AB"/>
            </a:solidFill>
            <a:prstDash val="solid"/>
          </a:ln>
        </p:spPr>
        <p:txBody>
          <a:bodyPr/>
          <a:lstStyle/>
          <a:p>
            <a:endParaRPr lang="en-US"/>
          </a:p>
        </p:txBody>
      </p:sp>
      <p:sp>
        <p:nvSpPr>
          <p:cNvPr id="23" name="Text 21"/>
          <p:cNvSpPr/>
          <p:nvPr/>
        </p:nvSpPr>
        <p:spPr>
          <a:xfrm>
            <a:off x="4681728" y="1005840"/>
            <a:ext cx="4005072" cy="310896"/>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STRETCH  —  IF YOU ARE AHEAD</a:t>
            </a:r>
            <a:endParaRPr lang="en-US" sz="900" dirty="0"/>
          </a:p>
        </p:txBody>
      </p:sp>
      <p:sp>
        <p:nvSpPr>
          <p:cNvPr id="24" name="Text 22"/>
          <p:cNvSpPr/>
          <p:nvPr/>
        </p:nvSpPr>
        <p:spPr>
          <a:xfrm>
            <a:off x="4846320" y="1444752"/>
            <a:ext cx="219456" cy="365760"/>
          </a:xfrm>
          <a:prstGeom prst="rect">
            <a:avLst/>
          </a:prstGeom>
          <a:noFill/>
          <a:ln/>
        </p:spPr>
        <p:txBody>
          <a:bodyPr wrap="square" lIns="0" tIns="0" rIns="0" bIns="0" rtlCol="0" anchor="ctr"/>
          <a:lstStyle/>
          <a:p>
            <a:pPr marL="0" indent="0">
              <a:buNone/>
            </a:pPr>
            <a:r>
              <a:rPr lang="en-US" sz="1200" b="1" dirty="0">
                <a:solidFill>
                  <a:srgbClr val="0079AB"/>
                </a:solidFill>
                <a:latin typeface="Calibri" pitchFamily="34" charset="0"/>
                <a:ea typeface="Calibri" pitchFamily="34" charset="-122"/>
                <a:cs typeface="Calibri" pitchFamily="34" charset="-120"/>
              </a:rPr>
              <a:t>+</a:t>
            </a:r>
            <a:endParaRPr lang="en-US" sz="1200" dirty="0"/>
          </a:p>
        </p:txBody>
      </p:sp>
      <p:sp>
        <p:nvSpPr>
          <p:cNvPr id="25" name="Text 23"/>
          <p:cNvSpPr/>
          <p:nvPr/>
        </p:nvSpPr>
        <p:spPr>
          <a:xfrm>
            <a:off x="5102352" y="1444752"/>
            <a:ext cx="3438144" cy="365760"/>
          </a:xfrm>
          <a:prstGeom prst="rect">
            <a:avLst/>
          </a:prstGeom>
          <a:noFill/>
          <a:ln/>
        </p:spPr>
        <p:txBody>
          <a:bodyPr wrap="square" lIns="0" tIns="0" rIns="0" bIns="0" rtlCol="0" anchor="ctr"/>
          <a:lstStyle/>
          <a:p>
            <a:pPr marL="0" indent="0">
              <a:buNone/>
            </a:pPr>
            <a:r>
              <a:rPr lang="en-US" sz="900" dirty="0">
                <a:solidFill>
                  <a:srgbClr val="1E2A38"/>
                </a:solidFill>
                <a:latin typeface="Calibri" pitchFamily="34" charset="0"/>
                <a:ea typeface="Calibri" pitchFamily="34" charset="-122"/>
                <a:cs typeface="Calibri" pitchFamily="34" charset="-120"/>
              </a:rPr>
              <a:t>A dark mode, switched by changing :root only</a:t>
            </a:r>
            <a:endParaRPr lang="en-US" sz="900" dirty="0"/>
          </a:p>
        </p:txBody>
      </p:sp>
      <p:sp>
        <p:nvSpPr>
          <p:cNvPr id="26" name="Text 24"/>
          <p:cNvSpPr/>
          <p:nvPr/>
        </p:nvSpPr>
        <p:spPr>
          <a:xfrm>
            <a:off x="4846320" y="1865376"/>
            <a:ext cx="219456" cy="365760"/>
          </a:xfrm>
          <a:prstGeom prst="rect">
            <a:avLst/>
          </a:prstGeom>
          <a:noFill/>
          <a:ln/>
        </p:spPr>
        <p:txBody>
          <a:bodyPr wrap="square" lIns="0" tIns="0" rIns="0" bIns="0" rtlCol="0" anchor="ctr"/>
          <a:lstStyle/>
          <a:p>
            <a:pPr marL="0" indent="0">
              <a:buNone/>
            </a:pPr>
            <a:r>
              <a:rPr lang="en-US" sz="1200" b="1" dirty="0">
                <a:solidFill>
                  <a:srgbClr val="0079AB"/>
                </a:solidFill>
                <a:latin typeface="Calibri" pitchFamily="34" charset="0"/>
                <a:ea typeface="Calibri" pitchFamily="34" charset="-122"/>
                <a:cs typeface="Calibri" pitchFamily="34" charset="-120"/>
              </a:rPr>
              <a:t>+</a:t>
            </a:r>
            <a:endParaRPr lang="en-US" sz="1200" dirty="0"/>
          </a:p>
        </p:txBody>
      </p:sp>
      <p:sp>
        <p:nvSpPr>
          <p:cNvPr id="27" name="Text 25"/>
          <p:cNvSpPr/>
          <p:nvPr/>
        </p:nvSpPr>
        <p:spPr>
          <a:xfrm>
            <a:off x="5102352" y="1865376"/>
            <a:ext cx="3438144" cy="365760"/>
          </a:xfrm>
          <a:prstGeom prst="rect">
            <a:avLst/>
          </a:prstGeom>
          <a:noFill/>
          <a:ln/>
        </p:spPr>
        <p:txBody>
          <a:bodyPr wrap="square" lIns="0" tIns="0" rIns="0" bIns="0" rtlCol="0" anchor="ctr"/>
          <a:lstStyle/>
          <a:p>
            <a:pPr marL="0" indent="0">
              <a:buNone/>
            </a:pPr>
            <a:r>
              <a:rPr lang="en-US" sz="900" dirty="0">
                <a:solidFill>
                  <a:srgbClr val="1E2A38"/>
                </a:solidFill>
                <a:latin typeface="Calibri" pitchFamily="34" charset="0"/>
                <a:ea typeface="Calibri" pitchFamily="34" charset="-122"/>
                <a:cs typeface="Calibri" pitchFamily="34" charset="-120"/>
              </a:rPr>
              <a:t>A second view — settings, or an archive</a:t>
            </a:r>
            <a:endParaRPr lang="en-US" sz="900" dirty="0"/>
          </a:p>
        </p:txBody>
      </p:sp>
      <p:sp>
        <p:nvSpPr>
          <p:cNvPr id="28" name="Text 26"/>
          <p:cNvSpPr/>
          <p:nvPr/>
        </p:nvSpPr>
        <p:spPr>
          <a:xfrm>
            <a:off x="4846320" y="2286000"/>
            <a:ext cx="219456" cy="365760"/>
          </a:xfrm>
          <a:prstGeom prst="rect">
            <a:avLst/>
          </a:prstGeom>
          <a:noFill/>
          <a:ln/>
        </p:spPr>
        <p:txBody>
          <a:bodyPr wrap="square" lIns="0" tIns="0" rIns="0" bIns="0" rtlCol="0" anchor="ctr"/>
          <a:lstStyle/>
          <a:p>
            <a:pPr marL="0" indent="0">
              <a:buNone/>
            </a:pPr>
            <a:r>
              <a:rPr lang="en-US" sz="1200" b="1" dirty="0">
                <a:solidFill>
                  <a:srgbClr val="0079AB"/>
                </a:solidFill>
                <a:latin typeface="Calibri" pitchFamily="34" charset="0"/>
                <a:ea typeface="Calibri" pitchFamily="34" charset="-122"/>
                <a:cs typeface="Calibri" pitchFamily="34" charset="-120"/>
              </a:rPr>
              <a:t>+</a:t>
            </a:r>
            <a:endParaRPr lang="en-US" sz="1200" dirty="0"/>
          </a:p>
        </p:txBody>
      </p:sp>
      <p:sp>
        <p:nvSpPr>
          <p:cNvPr id="29" name="Text 27"/>
          <p:cNvSpPr/>
          <p:nvPr/>
        </p:nvSpPr>
        <p:spPr>
          <a:xfrm>
            <a:off x="5102352" y="2286000"/>
            <a:ext cx="3438144" cy="365760"/>
          </a:xfrm>
          <a:prstGeom prst="rect">
            <a:avLst/>
          </a:prstGeom>
          <a:noFill/>
          <a:ln/>
        </p:spPr>
        <p:txBody>
          <a:bodyPr wrap="square" lIns="0" tIns="0" rIns="0" bIns="0" rtlCol="0" anchor="ctr"/>
          <a:lstStyle/>
          <a:p>
            <a:pPr marL="0" indent="0">
              <a:buNone/>
            </a:pPr>
            <a:r>
              <a:rPr lang="en-US" sz="900" dirty="0">
                <a:solidFill>
                  <a:srgbClr val="1E2A38"/>
                </a:solidFill>
                <a:latin typeface="Calibri" pitchFamily="34" charset="0"/>
                <a:ea typeface="Calibri" pitchFamily="34" charset="-122"/>
                <a:cs typeface="Calibri" pitchFamily="34" charset="-120"/>
              </a:rPr>
              <a:t>Ask an AI to review your HTML for accessibility, then argue with its answer</a:t>
            </a:r>
            <a:endParaRPr lang="en-US" sz="900" dirty="0"/>
          </a:p>
        </p:txBody>
      </p:sp>
      <p:sp>
        <p:nvSpPr>
          <p:cNvPr id="30" name="Text 28"/>
          <p:cNvSpPr/>
          <p:nvPr/>
        </p:nvSpPr>
        <p:spPr>
          <a:xfrm>
            <a:off x="4846320" y="2706624"/>
            <a:ext cx="219456" cy="365760"/>
          </a:xfrm>
          <a:prstGeom prst="rect">
            <a:avLst/>
          </a:prstGeom>
          <a:noFill/>
          <a:ln/>
        </p:spPr>
        <p:txBody>
          <a:bodyPr wrap="square" lIns="0" tIns="0" rIns="0" bIns="0" rtlCol="0" anchor="ctr"/>
          <a:lstStyle/>
          <a:p>
            <a:pPr marL="0" indent="0">
              <a:buNone/>
            </a:pPr>
            <a:r>
              <a:rPr lang="en-US" sz="1200" b="1" dirty="0">
                <a:solidFill>
                  <a:srgbClr val="0079AB"/>
                </a:solidFill>
                <a:latin typeface="Calibri" pitchFamily="34" charset="0"/>
                <a:ea typeface="Calibri" pitchFamily="34" charset="-122"/>
                <a:cs typeface="Calibri" pitchFamily="34" charset="-120"/>
              </a:rPr>
              <a:t>+</a:t>
            </a:r>
            <a:endParaRPr lang="en-US" sz="1200" dirty="0"/>
          </a:p>
        </p:txBody>
      </p:sp>
      <p:sp>
        <p:nvSpPr>
          <p:cNvPr id="31" name="Text 29"/>
          <p:cNvSpPr/>
          <p:nvPr/>
        </p:nvSpPr>
        <p:spPr>
          <a:xfrm>
            <a:off x="5102352" y="2706624"/>
            <a:ext cx="3438144" cy="365760"/>
          </a:xfrm>
          <a:prstGeom prst="rect">
            <a:avLst/>
          </a:prstGeom>
          <a:noFill/>
          <a:ln/>
        </p:spPr>
        <p:txBody>
          <a:bodyPr wrap="square" lIns="0" tIns="0" rIns="0" bIns="0" rtlCol="0" anchor="ctr"/>
          <a:lstStyle/>
          <a:p>
            <a:pPr marL="0" indent="0">
              <a:buNone/>
            </a:pPr>
            <a:r>
              <a:rPr lang="en-US" sz="900" dirty="0">
                <a:solidFill>
                  <a:srgbClr val="1E2A38"/>
                </a:solidFill>
                <a:latin typeface="Calibri" pitchFamily="34" charset="0"/>
                <a:ea typeface="Calibri" pitchFamily="34" charset="-122"/>
                <a:cs typeface="Calibri" pitchFamily="34" charset="-120"/>
              </a:rPr>
              <a:t>Write the README a stranger would need</a:t>
            </a:r>
            <a:endParaRPr lang="en-US" sz="900" dirty="0"/>
          </a:p>
        </p:txBody>
      </p:sp>
      <p:sp>
        <p:nvSpPr>
          <p:cNvPr id="32" name="Shape 30"/>
          <p:cNvSpPr/>
          <p:nvPr/>
        </p:nvSpPr>
        <p:spPr>
          <a:xfrm>
            <a:off x="4846320" y="3163824"/>
            <a:ext cx="3675888" cy="10973"/>
          </a:xfrm>
          <a:prstGeom prst="rect">
            <a:avLst/>
          </a:prstGeom>
          <a:solidFill>
            <a:srgbClr val="CDE7F5"/>
          </a:solidFill>
          <a:ln w="12700">
            <a:solidFill>
              <a:srgbClr val="CDE7F5"/>
            </a:solidFill>
            <a:prstDash val="solid"/>
          </a:ln>
        </p:spPr>
        <p:txBody>
          <a:bodyPr/>
          <a:lstStyle/>
          <a:p>
            <a:endParaRPr lang="en-US"/>
          </a:p>
        </p:txBody>
      </p:sp>
      <p:sp>
        <p:nvSpPr>
          <p:cNvPr id="33" name="Text 31"/>
          <p:cNvSpPr/>
          <p:nvPr/>
        </p:nvSpPr>
        <p:spPr>
          <a:xfrm>
            <a:off x="4846320" y="3236976"/>
            <a:ext cx="3675888" cy="292608"/>
          </a:xfrm>
          <a:prstGeom prst="rect">
            <a:avLst/>
          </a:prstGeom>
          <a:noFill/>
          <a:ln/>
        </p:spPr>
        <p:txBody>
          <a:bodyPr wrap="square" lIns="0" tIns="0" rIns="0" bIns="0" rtlCol="0" anchor="t"/>
          <a:lstStyle/>
          <a:p>
            <a:pPr marL="0" indent="0">
              <a:buNone/>
            </a:pPr>
            <a:r>
              <a:rPr lang="en-US" sz="800" i="1" dirty="0">
                <a:solidFill>
                  <a:srgbClr val="6B7280"/>
                </a:solidFill>
                <a:latin typeface="Calibri" pitchFamily="34" charset="0"/>
                <a:ea typeface="Calibri" pitchFamily="34" charset="-122"/>
                <a:cs typeface="Calibri" pitchFamily="34" charset="-120"/>
              </a:rPr>
              <a:t>Stretch is never required and never assessed. It exists so that finishing early is interesting rather than boring.</a:t>
            </a:r>
            <a:endParaRPr lang="en-US" sz="800" dirty="0"/>
          </a:p>
        </p:txBody>
      </p:sp>
      <p:sp>
        <p:nvSpPr>
          <p:cNvPr id="34" name="Shape 32"/>
          <p:cNvSpPr/>
          <p:nvPr/>
        </p:nvSpPr>
        <p:spPr>
          <a:xfrm>
            <a:off x="457200" y="3712464"/>
            <a:ext cx="8229600" cy="274320"/>
          </a:xfrm>
          <a:prstGeom prst="rect">
            <a:avLst/>
          </a:prstGeom>
          <a:solidFill>
            <a:srgbClr val="FDEAEA"/>
          </a:solidFill>
          <a:ln w="12700">
            <a:solidFill>
              <a:srgbClr val="FDEAEA"/>
            </a:solidFill>
            <a:prstDash val="solid"/>
          </a:ln>
        </p:spPr>
        <p:txBody>
          <a:bodyPr/>
          <a:lstStyle/>
          <a:p>
            <a:endParaRPr lang="en-US"/>
          </a:p>
        </p:txBody>
      </p:sp>
      <p:sp>
        <p:nvSpPr>
          <p:cNvPr id="35" name="Text 33"/>
          <p:cNvSpPr/>
          <p:nvPr/>
        </p:nvSpPr>
        <p:spPr>
          <a:xfrm>
            <a:off x="566928" y="3712464"/>
            <a:ext cx="8010144" cy="274320"/>
          </a:xfrm>
          <a:prstGeom prst="rect">
            <a:avLst/>
          </a:prstGeom>
          <a:noFill/>
          <a:ln/>
        </p:spPr>
        <p:txBody>
          <a:bodyPr wrap="square" lIns="0" tIns="0" rIns="0" bIns="0" rtlCol="0" anchor="ctr"/>
          <a:lstStyle/>
          <a:p>
            <a:pPr marL="0" indent="0">
              <a:buNone/>
            </a:pPr>
            <a:r>
              <a:rPr lang="en-US" sz="800" b="1" dirty="0">
                <a:solidFill>
                  <a:srgbClr val="B83232"/>
                </a:solidFill>
                <a:latin typeface="Calibri" pitchFamily="34" charset="0"/>
                <a:ea typeface="Calibri" pitchFamily="34" charset="-122"/>
                <a:cs typeface="Calibri" pitchFamily="34" charset="-120"/>
              </a:rPr>
              <a:t>⚠  Run  npm run checkpoint  before you leave. Screenshot the output and post it — that is your mark for today.</a:t>
            </a:r>
            <a:endParaRPr lang="en-US" sz="800" dirty="0"/>
          </a:p>
        </p:txBody>
      </p:sp>
      <p:sp>
        <p:nvSpPr>
          <p:cNvPr id="36" name="Shape 34"/>
          <p:cNvSpPr/>
          <p:nvPr/>
        </p:nvSpPr>
        <p:spPr>
          <a:xfrm>
            <a:off x="457200" y="4334256"/>
            <a:ext cx="8229600" cy="512064"/>
          </a:xfrm>
          <a:prstGeom prst="rect">
            <a:avLst/>
          </a:prstGeom>
          <a:solidFill>
            <a:srgbClr val="F0F8FD"/>
          </a:solidFill>
          <a:ln w="12700">
            <a:solidFill>
              <a:srgbClr val="F0F8FD"/>
            </a:solidFill>
            <a:prstDash val="solid"/>
          </a:ln>
        </p:spPr>
        <p:txBody>
          <a:bodyPr/>
          <a:lstStyle/>
          <a:p>
            <a:endParaRPr lang="en-US"/>
          </a:p>
        </p:txBody>
      </p:sp>
      <p:sp>
        <p:nvSpPr>
          <p:cNvPr id="37" name="Shape 35"/>
          <p:cNvSpPr/>
          <p:nvPr/>
        </p:nvSpPr>
        <p:spPr>
          <a:xfrm>
            <a:off x="457200" y="4334256"/>
            <a:ext cx="54864" cy="512064"/>
          </a:xfrm>
          <a:prstGeom prst="rect">
            <a:avLst/>
          </a:prstGeom>
          <a:solidFill>
            <a:srgbClr val="005E86"/>
          </a:solidFill>
          <a:ln w="12700">
            <a:solidFill>
              <a:srgbClr val="005E86"/>
            </a:solidFill>
            <a:prstDash val="solid"/>
          </a:ln>
        </p:spPr>
        <p:txBody>
          <a:bodyPr/>
          <a:lstStyle/>
          <a:p>
            <a:endParaRPr lang="en-US"/>
          </a:p>
        </p:txBody>
      </p:sp>
      <p:sp>
        <p:nvSpPr>
          <p:cNvPr id="38" name="Text 36"/>
          <p:cNvSpPr/>
          <p:nvPr/>
        </p:nvSpPr>
        <p:spPr>
          <a:xfrm>
            <a:off x="658368" y="4334256"/>
            <a:ext cx="7863840" cy="512064"/>
          </a:xfrm>
          <a:prstGeom prst="rect">
            <a:avLst/>
          </a:prstGeom>
          <a:noFill/>
          <a:ln/>
        </p:spPr>
        <p:txBody>
          <a:bodyPr wrap="square" lIns="0" tIns="0" rIns="0" bIns="0" rtlCol="0" anchor="ctr"/>
          <a:lstStyle/>
          <a:p>
            <a:pPr marL="0" indent="0">
              <a:buNone/>
            </a:pPr>
            <a:r>
              <a:rPr lang="en-US" sz="1000" b="1" dirty="0">
                <a:solidFill>
                  <a:srgbClr val="1E2A38"/>
                </a:solidFill>
                <a:latin typeface="Calibri" pitchFamily="34" charset="0"/>
                <a:ea typeface="Calibri" pitchFamily="34" charset="-122"/>
                <a:cs typeface="Calibri" pitchFamily="34" charset="-120"/>
              </a:rPr>
              <a:t>Three or four of you will demo at the end. Different subjects, the same shell — that is the point, and it is worth seeing.</a:t>
            </a:r>
            <a:endParaRPr lang="en-US" sz="1000" dirty="0"/>
          </a:p>
        </p:txBody>
      </p:sp>
    </p:spTree>
    <p:extLst>
      <p:ext uri="{BB962C8B-B14F-4D97-AF65-F5344CB8AC3E}">
        <p14:creationId xmlns:p14="http://schemas.microsoft.com/office/powerpoint/2010/main" val="217792042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5E86"/>
          </a:solidFill>
          <a:ln w="12700">
            <a:solidFill>
              <a:srgbClr val="005E86"/>
            </a:solidFill>
            <a:prstDash val="solid"/>
          </a:ln>
        </p:spPr>
        <p:txBody>
          <a:bodyPr/>
          <a:lstStyle/>
          <a:p>
            <a:endParaRPr lang="en-US"/>
          </a:p>
        </p:txBody>
      </p:sp>
      <p:sp>
        <p:nvSpPr>
          <p:cNvPr id="3" name="Text 1"/>
          <p:cNvSpPr/>
          <p:nvPr/>
        </p:nvSpPr>
        <p:spPr>
          <a:xfrm>
            <a:off x="457200" y="128016"/>
            <a:ext cx="6400800" cy="182880"/>
          </a:xfrm>
          <a:prstGeom prst="rect">
            <a:avLst/>
          </a:prstGeom>
          <a:noFill/>
          <a:ln/>
        </p:spPr>
        <p:txBody>
          <a:bodyPr wrap="square" lIns="0" tIns="0" rIns="0" bIns="0" rtlCol="0" anchor="ctr"/>
          <a:lstStyle/>
          <a:p>
            <a:pPr marL="0" indent="0">
              <a:buNone/>
            </a:pPr>
            <a:r>
              <a:rPr lang="en-US" sz="800" b="1" kern="0" spc="160" dirty="0">
                <a:solidFill>
                  <a:srgbClr val="6B7280"/>
                </a:solidFill>
                <a:latin typeface="Calibri" pitchFamily="34" charset="0"/>
                <a:ea typeface="Calibri" pitchFamily="34" charset="-122"/>
                <a:cs typeface="Calibri" pitchFamily="34" charset="-120"/>
              </a:rPr>
              <a:t>DEBRIEF</a:t>
            </a:r>
            <a:endParaRPr lang="en-US" sz="800" dirty="0"/>
          </a:p>
        </p:txBody>
      </p:sp>
      <p:sp>
        <p:nvSpPr>
          <p:cNvPr id="4" name="Text 2"/>
          <p:cNvSpPr/>
          <p:nvPr/>
        </p:nvSpPr>
        <p:spPr>
          <a:xfrm>
            <a:off x="457200" y="347472"/>
            <a:ext cx="8229600" cy="420624"/>
          </a:xfrm>
          <a:prstGeom prst="rect">
            <a:avLst/>
          </a:prstGeom>
          <a:noFill/>
          <a:ln/>
        </p:spPr>
        <p:txBody>
          <a:bodyPr wrap="square" lIns="0" tIns="0" rIns="0" bIns="0" rtlCol="0" anchor="ctr"/>
          <a:lstStyle/>
          <a:p>
            <a:pPr marL="0" indent="0">
              <a:buNone/>
            </a:pPr>
            <a:r>
              <a:rPr lang="en-US" sz="2200" b="1" dirty="0">
                <a:solidFill>
                  <a:srgbClr val="1E2A38"/>
                </a:solidFill>
                <a:latin typeface="Calibri" pitchFamily="34" charset="0"/>
                <a:ea typeface="Calibri" pitchFamily="34" charset="-122"/>
                <a:cs typeface="Calibri" pitchFamily="34" charset="-120"/>
              </a:rPr>
              <a:t>One Question Before You Go</a:t>
            </a:r>
            <a:endParaRPr lang="en-US" sz="2200" dirty="0"/>
          </a:p>
        </p:txBody>
      </p:sp>
      <p:sp>
        <p:nvSpPr>
          <p:cNvPr id="5" name="Shape 3"/>
          <p:cNvSpPr/>
          <p:nvPr/>
        </p:nvSpPr>
        <p:spPr>
          <a:xfrm>
            <a:off x="457200" y="859536"/>
            <a:ext cx="8229600" cy="10973"/>
          </a:xfrm>
          <a:prstGeom prst="rect">
            <a:avLst/>
          </a:prstGeom>
          <a:solidFill>
            <a:srgbClr val="CDE7F5"/>
          </a:solidFill>
          <a:ln w="12700">
            <a:solidFill>
              <a:srgbClr val="CDE7F5"/>
            </a:solidFill>
            <a:prstDash val="solid"/>
          </a:ln>
        </p:spPr>
        <p:txBody>
          <a:bodyPr/>
          <a:lstStyle/>
          <a:p>
            <a:endParaRPr lang="en-US"/>
          </a:p>
        </p:txBody>
      </p:sp>
      <p:sp>
        <p:nvSpPr>
          <p:cNvPr id="6" name="Shape 4"/>
          <p:cNvSpPr/>
          <p:nvPr/>
        </p:nvSpPr>
        <p:spPr>
          <a:xfrm>
            <a:off x="457200" y="1188720"/>
            <a:ext cx="8229600" cy="1170432"/>
          </a:xfrm>
          <a:prstGeom prst="rect">
            <a:avLst/>
          </a:prstGeom>
          <a:solidFill>
            <a:srgbClr val="1E2A38"/>
          </a:solidFill>
          <a:ln w="12700">
            <a:solidFill>
              <a:srgbClr val="1E2A38"/>
            </a:solidFill>
            <a:prstDash val="solid"/>
          </a:ln>
        </p:spPr>
        <p:txBody>
          <a:bodyPr/>
          <a:lstStyle/>
          <a:p>
            <a:endParaRPr lang="en-US"/>
          </a:p>
        </p:txBody>
      </p:sp>
      <p:sp>
        <p:nvSpPr>
          <p:cNvPr id="7" name="Text 5"/>
          <p:cNvSpPr/>
          <p:nvPr/>
        </p:nvSpPr>
        <p:spPr>
          <a:xfrm>
            <a:off x="731520" y="1188720"/>
            <a:ext cx="7680960" cy="1170432"/>
          </a:xfrm>
          <a:prstGeom prst="rect">
            <a:avLst/>
          </a:prstGeom>
          <a:noFill/>
          <a:ln/>
        </p:spPr>
        <p:txBody>
          <a:bodyPr wrap="square" lIns="0" tIns="0" rIns="0" bIns="0" rtlCol="0" anchor="ctr"/>
          <a:lstStyle/>
          <a:p>
            <a:pPr marL="0" indent="0" algn="ctr">
              <a:lnSpc>
                <a:spcPct val="110000"/>
              </a:lnSpc>
              <a:buNone/>
            </a:pPr>
            <a:r>
              <a:rPr lang="en-US" sz="2200" b="1" dirty="0">
                <a:solidFill>
                  <a:srgbClr val="FFFFFF"/>
                </a:solidFill>
                <a:latin typeface="Calibri" pitchFamily="34" charset="0"/>
                <a:ea typeface="Calibri" pitchFamily="34" charset="-122"/>
                <a:cs typeface="Calibri" pitchFamily="34" charset="-120"/>
              </a:rPr>
              <a:t>“What did AI get wrong today,</a:t>
            </a:r>
            <a:endParaRPr lang="en-US" sz="2200" dirty="0"/>
          </a:p>
          <a:p>
            <a:pPr marL="0" indent="0" algn="ctr">
              <a:lnSpc>
                <a:spcPct val="110000"/>
              </a:lnSpc>
              <a:buNone/>
            </a:pPr>
            <a:r>
              <a:rPr lang="en-US" sz="2200" b="1" dirty="0">
                <a:solidFill>
                  <a:srgbClr val="FFFFFF"/>
                </a:solidFill>
                <a:latin typeface="Calibri" pitchFamily="34" charset="0"/>
                <a:ea typeface="Calibri" pitchFamily="34" charset="-122"/>
                <a:cs typeface="Calibri" pitchFamily="34" charset="-120"/>
              </a:rPr>
              <a:t>and how did you know?”</a:t>
            </a:r>
            <a:endParaRPr lang="en-US" sz="2200" dirty="0"/>
          </a:p>
        </p:txBody>
      </p:sp>
      <p:sp>
        <p:nvSpPr>
          <p:cNvPr id="8" name="Text 6"/>
          <p:cNvSpPr/>
          <p:nvPr/>
        </p:nvSpPr>
        <p:spPr>
          <a:xfrm>
            <a:off x="457200" y="2487168"/>
            <a:ext cx="8229600" cy="274320"/>
          </a:xfrm>
          <a:prstGeom prst="rect">
            <a:avLst/>
          </a:prstGeom>
          <a:noFill/>
          <a:ln/>
        </p:spPr>
        <p:txBody>
          <a:bodyPr wrap="square" lIns="0" tIns="0" rIns="0" bIns="0" rtlCol="0" anchor="ctr"/>
          <a:lstStyle/>
          <a:p>
            <a:pPr marL="0" indent="0" algn="ctr">
              <a:buNone/>
            </a:pPr>
            <a:r>
              <a:rPr lang="en-US" sz="1100" i="1" dirty="0">
                <a:solidFill>
                  <a:srgbClr val="6B7280"/>
                </a:solidFill>
                <a:latin typeface="Calibri" pitchFamily="34" charset="0"/>
                <a:ea typeface="Calibri" pitchFamily="34" charset="-122"/>
                <a:cs typeface="Calibri" pitchFamily="34" charset="-120"/>
              </a:rPr>
              <a:t>The second half of that question is the one that matters.</a:t>
            </a:r>
            <a:endParaRPr lang="en-US" sz="1100" dirty="0"/>
          </a:p>
        </p:txBody>
      </p:sp>
      <p:sp>
        <p:nvSpPr>
          <p:cNvPr id="9" name="Shape 7"/>
          <p:cNvSpPr/>
          <p:nvPr/>
        </p:nvSpPr>
        <p:spPr>
          <a:xfrm>
            <a:off x="457200" y="2962656"/>
            <a:ext cx="2633472" cy="932688"/>
          </a:xfrm>
          <a:prstGeom prst="rect">
            <a:avLst/>
          </a:prstGeom>
          <a:solidFill>
            <a:srgbClr val="FFFFFF"/>
          </a:solidFill>
          <a:ln w="9525">
            <a:solidFill>
              <a:srgbClr val="DCEEF8"/>
            </a:solidFill>
            <a:prstDash val="solid"/>
          </a:ln>
        </p:spPr>
        <p:txBody>
          <a:bodyPr/>
          <a:lstStyle/>
          <a:p>
            <a:endParaRPr lang="en-US"/>
          </a:p>
        </p:txBody>
      </p:sp>
      <p:sp>
        <p:nvSpPr>
          <p:cNvPr id="10" name="Shape 8"/>
          <p:cNvSpPr/>
          <p:nvPr/>
        </p:nvSpPr>
        <p:spPr>
          <a:xfrm>
            <a:off x="457200" y="2962656"/>
            <a:ext cx="54864" cy="932688"/>
          </a:xfrm>
          <a:prstGeom prst="rect">
            <a:avLst/>
          </a:prstGeom>
          <a:solidFill>
            <a:srgbClr val="0098D4"/>
          </a:solidFill>
          <a:ln w="12700">
            <a:solidFill>
              <a:srgbClr val="0098D4"/>
            </a:solidFill>
            <a:prstDash val="solid"/>
          </a:ln>
        </p:spPr>
        <p:txBody>
          <a:bodyPr/>
          <a:lstStyle/>
          <a:p>
            <a:endParaRPr lang="en-US"/>
          </a:p>
        </p:txBody>
      </p:sp>
      <p:sp>
        <p:nvSpPr>
          <p:cNvPr id="11" name="Text 9"/>
          <p:cNvSpPr/>
          <p:nvPr/>
        </p:nvSpPr>
        <p:spPr>
          <a:xfrm>
            <a:off x="640080" y="3054096"/>
            <a:ext cx="2286000" cy="182880"/>
          </a:xfrm>
          <a:prstGeom prst="rect">
            <a:avLst/>
          </a:prstGeom>
          <a:noFill/>
          <a:ln/>
        </p:spPr>
        <p:txBody>
          <a:bodyPr wrap="square" lIns="0" tIns="0" rIns="0" bIns="0" rtlCol="0" anchor="ctr"/>
          <a:lstStyle/>
          <a:p>
            <a:pPr marL="0" indent="0">
              <a:buNone/>
            </a:pPr>
            <a:r>
              <a:rPr lang="en-US" sz="800" b="1" kern="0" spc="120" dirty="0">
                <a:solidFill>
                  <a:srgbClr val="0098D4"/>
                </a:solidFill>
                <a:latin typeface="Calibri" pitchFamily="34" charset="0"/>
                <a:ea typeface="Calibri" pitchFamily="34" charset="-122"/>
                <a:cs typeface="Calibri" pitchFamily="34" charset="-120"/>
              </a:rPr>
              <a:t>TOMORROW</a:t>
            </a:r>
            <a:endParaRPr lang="en-US" sz="800" dirty="0"/>
          </a:p>
        </p:txBody>
      </p:sp>
      <p:sp>
        <p:nvSpPr>
          <p:cNvPr id="12" name="Text 10"/>
          <p:cNvSpPr/>
          <p:nvPr/>
        </p:nvSpPr>
        <p:spPr>
          <a:xfrm>
            <a:off x="640080" y="3273552"/>
            <a:ext cx="2322576" cy="658368"/>
          </a:xfrm>
          <a:prstGeom prst="rect">
            <a:avLst/>
          </a:prstGeom>
          <a:noFill/>
          <a:ln/>
        </p:spPr>
        <p:txBody>
          <a:bodyPr wrap="square" lIns="0" tIns="0" rIns="0" bIns="0" rtlCol="0" anchor="t"/>
          <a:lstStyle/>
          <a:p>
            <a:pPr marL="0" indent="0">
              <a:lnSpc>
                <a:spcPct val="105000"/>
              </a:lnSpc>
              <a:buNone/>
            </a:pPr>
            <a:r>
              <a:rPr lang="en-US" sz="900" dirty="0">
                <a:solidFill>
                  <a:srgbClr val="1E2A38"/>
                </a:solidFill>
                <a:latin typeface="Calibri" pitchFamily="34" charset="0"/>
                <a:ea typeface="Calibri" pitchFamily="34" charset="-122"/>
                <a:cs typeface="Calibri" pitchFamily="34" charset="-120"/>
              </a:rPr>
              <a:t>Your page starts doing things — and you make your first call to a language model</a:t>
            </a:r>
            <a:endParaRPr lang="en-US" sz="900" dirty="0"/>
          </a:p>
        </p:txBody>
      </p:sp>
      <p:sp>
        <p:nvSpPr>
          <p:cNvPr id="13" name="Shape 11"/>
          <p:cNvSpPr/>
          <p:nvPr/>
        </p:nvSpPr>
        <p:spPr>
          <a:xfrm>
            <a:off x="3255264" y="2962656"/>
            <a:ext cx="2633472" cy="932688"/>
          </a:xfrm>
          <a:prstGeom prst="rect">
            <a:avLst/>
          </a:prstGeom>
          <a:solidFill>
            <a:srgbClr val="FFFFFF"/>
          </a:solidFill>
          <a:ln w="9525">
            <a:solidFill>
              <a:srgbClr val="DCEEF8"/>
            </a:solidFill>
            <a:prstDash val="solid"/>
          </a:ln>
        </p:spPr>
        <p:txBody>
          <a:bodyPr/>
          <a:lstStyle/>
          <a:p>
            <a:endParaRPr lang="en-US"/>
          </a:p>
        </p:txBody>
      </p:sp>
      <p:sp>
        <p:nvSpPr>
          <p:cNvPr id="14" name="Shape 12"/>
          <p:cNvSpPr/>
          <p:nvPr/>
        </p:nvSpPr>
        <p:spPr>
          <a:xfrm>
            <a:off x="3255264" y="2962656"/>
            <a:ext cx="54864" cy="932688"/>
          </a:xfrm>
          <a:prstGeom prst="rect">
            <a:avLst/>
          </a:prstGeom>
          <a:solidFill>
            <a:srgbClr val="0079AB"/>
          </a:solidFill>
          <a:ln w="12700">
            <a:solidFill>
              <a:srgbClr val="0079AB"/>
            </a:solidFill>
            <a:prstDash val="solid"/>
          </a:ln>
        </p:spPr>
        <p:txBody>
          <a:bodyPr/>
          <a:lstStyle/>
          <a:p>
            <a:endParaRPr lang="en-US"/>
          </a:p>
        </p:txBody>
      </p:sp>
      <p:sp>
        <p:nvSpPr>
          <p:cNvPr id="15" name="Text 13"/>
          <p:cNvSpPr/>
          <p:nvPr/>
        </p:nvSpPr>
        <p:spPr>
          <a:xfrm>
            <a:off x="3438144" y="3054096"/>
            <a:ext cx="2286000" cy="182880"/>
          </a:xfrm>
          <a:prstGeom prst="rect">
            <a:avLst/>
          </a:prstGeom>
          <a:noFill/>
          <a:ln/>
        </p:spPr>
        <p:txBody>
          <a:bodyPr wrap="square" lIns="0" tIns="0" rIns="0" bIns="0" rtlCol="0" anchor="ctr"/>
          <a:lstStyle/>
          <a:p>
            <a:pPr marL="0" indent="0">
              <a:buNone/>
            </a:pPr>
            <a:r>
              <a:rPr lang="en-US" sz="800" b="1" kern="0" spc="120" dirty="0">
                <a:solidFill>
                  <a:srgbClr val="0079AB"/>
                </a:solidFill>
                <a:latin typeface="Calibri" pitchFamily="34" charset="0"/>
                <a:ea typeface="Calibri" pitchFamily="34" charset="-122"/>
                <a:cs typeface="Calibri" pitchFamily="34" charset="-120"/>
              </a:rPr>
              <a:t>TONIGHT</a:t>
            </a:r>
            <a:endParaRPr lang="en-US" sz="800" dirty="0"/>
          </a:p>
        </p:txBody>
      </p:sp>
      <p:sp>
        <p:nvSpPr>
          <p:cNvPr id="16" name="Text 14"/>
          <p:cNvSpPr/>
          <p:nvPr/>
        </p:nvSpPr>
        <p:spPr>
          <a:xfrm>
            <a:off x="3438144" y="3273552"/>
            <a:ext cx="2322576" cy="658368"/>
          </a:xfrm>
          <a:prstGeom prst="rect">
            <a:avLst/>
          </a:prstGeom>
          <a:noFill/>
          <a:ln/>
        </p:spPr>
        <p:txBody>
          <a:bodyPr wrap="square" lIns="0" tIns="0" rIns="0" bIns="0" rtlCol="0" anchor="t"/>
          <a:lstStyle/>
          <a:p>
            <a:pPr marL="0" indent="0">
              <a:lnSpc>
                <a:spcPct val="105000"/>
              </a:lnSpc>
              <a:buNone/>
            </a:pPr>
            <a:r>
              <a:rPr lang="en-US" sz="900" dirty="0">
                <a:solidFill>
                  <a:srgbClr val="1E2A38"/>
                </a:solidFill>
                <a:latin typeface="Calibri" pitchFamily="34" charset="0"/>
                <a:ea typeface="Calibri" pitchFamily="34" charset="-122"/>
                <a:cs typeface="Calibri" pitchFamily="34" charset="-120"/>
              </a:rPr>
              <a:t>Push your work. Nothing else is required of you.</a:t>
            </a:r>
            <a:endParaRPr lang="en-US" sz="900" dirty="0"/>
          </a:p>
        </p:txBody>
      </p:sp>
      <p:sp>
        <p:nvSpPr>
          <p:cNvPr id="17" name="Shape 15"/>
          <p:cNvSpPr/>
          <p:nvPr/>
        </p:nvSpPr>
        <p:spPr>
          <a:xfrm>
            <a:off x="6053328" y="2962656"/>
            <a:ext cx="2633472" cy="932688"/>
          </a:xfrm>
          <a:prstGeom prst="rect">
            <a:avLst/>
          </a:prstGeom>
          <a:solidFill>
            <a:srgbClr val="FFFFFF"/>
          </a:solidFill>
          <a:ln w="9525">
            <a:solidFill>
              <a:srgbClr val="DCEEF8"/>
            </a:solidFill>
            <a:prstDash val="solid"/>
          </a:ln>
        </p:spPr>
        <p:txBody>
          <a:bodyPr/>
          <a:lstStyle/>
          <a:p>
            <a:endParaRPr lang="en-US"/>
          </a:p>
        </p:txBody>
      </p:sp>
      <p:sp>
        <p:nvSpPr>
          <p:cNvPr id="18" name="Shape 16"/>
          <p:cNvSpPr/>
          <p:nvPr/>
        </p:nvSpPr>
        <p:spPr>
          <a:xfrm>
            <a:off x="6053328" y="2962656"/>
            <a:ext cx="54864" cy="932688"/>
          </a:xfrm>
          <a:prstGeom prst="rect">
            <a:avLst/>
          </a:prstGeom>
          <a:solidFill>
            <a:srgbClr val="00B0F0"/>
          </a:solidFill>
          <a:ln w="12700">
            <a:solidFill>
              <a:srgbClr val="00B0F0"/>
            </a:solidFill>
            <a:prstDash val="solid"/>
          </a:ln>
        </p:spPr>
        <p:txBody>
          <a:bodyPr/>
          <a:lstStyle/>
          <a:p>
            <a:endParaRPr lang="en-US"/>
          </a:p>
        </p:txBody>
      </p:sp>
      <p:sp>
        <p:nvSpPr>
          <p:cNvPr id="19" name="Text 17"/>
          <p:cNvSpPr/>
          <p:nvPr/>
        </p:nvSpPr>
        <p:spPr>
          <a:xfrm>
            <a:off x="6236208" y="3054096"/>
            <a:ext cx="2286000" cy="182880"/>
          </a:xfrm>
          <a:prstGeom prst="rect">
            <a:avLst/>
          </a:prstGeom>
          <a:noFill/>
          <a:ln/>
        </p:spPr>
        <p:txBody>
          <a:bodyPr wrap="square" lIns="0" tIns="0" rIns="0" bIns="0" rtlCol="0" anchor="ctr"/>
          <a:lstStyle/>
          <a:p>
            <a:pPr marL="0" indent="0">
              <a:buNone/>
            </a:pPr>
            <a:r>
              <a:rPr lang="en-US" sz="800" b="1" kern="0" spc="120" dirty="0">
                <a:solidFill>
                  <a:srgbClr val="00B0F0"/>
                </a:solidFill>
                <a:latin typeface="Calibri" pitchFamily="34" charset="0"/>
                <a:ea typeface="Calibri" pitchFamily="34" charset="-122"/>
                <a:cs typeface="Calibri" pitchFamily="34" charset="-120"/>
              </a:rPr>
              <a:t>BRING</a:t>
            </a:r>
            <a:endParaRPr lang="en-US" sz="800" dirty="0"/>
          </a:p>
        </p:txBody>
      </p:sp>
      <p:sp>
        <p:nvSpPr>
          <p:cNvPr id="20" name="Text 18"/>
          <p:cNvSpPr/>
          <p:nvPr/>
        </p:nvSpPr>
        <p:spPr>
          <a:xfrm>
            <a:off x="6236208" y="3273552"/>
            <a:ext cx="2322576" cy="658368"/>
          </a:xfrm>
          <a:prstGeom prst="rect">
            <a:avLst/>
          </a:prstGeom>
          <a:noFill/>
          <a:ln/>
        </p:spPr>
        <p:txBody>
          <a:bodyPr wrap="square" lIns="0" tIns="0" rIns="0" bIns="0" rtlCol="0" anchor="t"/>
          <a:lstStyle/>
          <a:p>
            <a:pPr marL="0" indent="0">
              <a:lnSpc>
                <a:spcPct val="105000"/>
              </a:lnSpc>
              <a:buNone/>
            </a:pPr>
            <a:r>
              <a:rPr lang="en-US" sz="900" dirty="0">
                <a:solidFill>
                  <a:srgbClr val="1E2A38"/>
                </a:solidFill>
                <a:latin typeface="Calibri" pitchFamily="34" charset="0"/>
                <a:ea typeface="Calibri" pitchFamily="34" charset="-122"/>
                <a:cs typeface="Calibri" pitchFamily="34" charset="-120"/>
              </a:rPr>
              <a:t>A charged laptop and your charger. Six hours drains a battery.</a:t>
            </a:r>
            <a:endParaRPr lang="en-US" sz="900" dirty="0"/>
          </a:p>
        </p:txBody>
      </p:sp>
      <p:sp>
        <p:nvSpPr>
          <p:cNvPr id="21" name="Shape 19"/>
          <p:cNvSpPr/>
          <p:nvPr/>
        </p:nvSpPr>
        <p:spPr>
          <a:xfrm>
            <a:off x="457200" y="4334256"/>
            <a:ext cx="8229600" cy="512064"/>
          </a:xfrm>
          <a:prstGeom prst="rect">
            <a:avLst/>
          </a:prstGeom>
          <a:solidFill>
            <a:srgbClr val="F0F8FD"/>
          </a:solidFill>
          <a:ln w="12700">
            <a:solidFill>
              <a:srgbClr val="F0F8FD"/>
            </a:solidFill>
            <a:prstDash val="solid"/>
          </a:ln>
        </p:spPr>
        <p:txBody>
          <a:bodyPr/>
          <a:lstStyle/>
          <a:p>
            <a:endParaRPr lang="en-US"/>
          </a:p>
        </p:txBody>
      </p:sp>
      <p:sp>
        <p:nvSpPr>
          <p:cNvPr id="22" name="Shape 20"/>
          <p:cNvSpPr/>
          <p:nvPr/>
        </p:nvSpPr>
        <p:spPr>
          <a:xfrm>
            <a:off x="457200" y="4334256"/>
            <a:ext cx="54864" cy="512064"/>
          </a:xfrm>
          <a:prstGeom prst="rect">
            <a:avLst/>
          </a:prstGeom>
          <a:solidFill>
            <a:srgbClr val="005E86"/>
          </a:solidFill>
          <a:ln w="12700">
            <a:solidFill>
              <a:srgbClr val="005E86"/>
            </a:solidFill>
            <a:prstDash val="solid"/>
          </a:ln>
        </p:spPr>
        <p:txBody>
          <a:bodyPr/>
          <a:lstStyle/>
          <a:p>
            <a:endParaRPr lang="en-US"/>
          </a:p>
        </p:txBody>
      </p:sp>
      <p:sp>
        <p:nvSpPr>
          <p:cNvPr id="23" name="Text 21"/>
          <p:cNvSpPr/>
          <p:nvPr/>
        </p:nvSpPr>
        <p:spPr>
          <a:xfrm>
            <a:off x="658368" y="4334256"/>
            <a:ext cx="7863840" cy="512064"/>
          </a:xfrm>
          <a:prstGeom prst="rect">
            <a:avLst/>
          </a:prstGeom>
          <a:noFill/>
          <a:ln/>
        </p:spPr>
        <p:txBody>
          <a:bodyPr wrap="square" lIns="0" tIns="0" rIns="0" bIns="0" rtlCol="0" anchor="ctr"/>
          <a:lstStyle/>
          <a:p>
            <a:pPr marL="0" indent="0">
              <a:buNone/>
            </a:pPr>
            <a:r>
              <a:rPr lang="en-US" sz="1000" b="1" dirty="0">
                <a:solidFill>
                  <a:srgbClr val="1E2A38"/>
                </a:solidFill>
                <a:latin typeface="Calibri" pitchFamily="34" charset="0"/>
                <a:ea typeface="Calibri" pitchFamily="34" charset="-122"/>
                <a:cs typeface="Calibri" pitchFamily="34" charset="-120"/>
              </a:rPr>
              <a:t>You chose a subject, built its face, and pushed it to the internet. Tomorrow it starts thinking.</a:t>
            </a:r>
            <a:endParaRPr lang="en-US" sz="1000" dirty="0"/>
          </a:p>
        </p:txBody>
      </p:sp>
    </p:spTree>
    <p:extLst>
      <p:ext uri="{BB962C8B-B14F-4D97-AF65-F5344CB8AC3E}">
        <p14:creationId xmlns:p14="http://schemas.microsoft.com/office/powerpoint/2010/main" val="298548426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E2A38"/>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B0F0"/>
          </a:solidFill>
          <a:ln w="12700">
            <a:solidFill>
              <a:srgbClr val="00B0F0"/>
            </a:solidFill>
            <a:prstDash val="solid"/>
          </a:ln>
        </p:spPr>
        <p:txBody>
          <a:bodyPr/>
          <a:lstStyle/>
          <a:p>
            <a:endParaRPr lang="en-US"/>
          </a:p>
        </p:txBody>
      </p:sp>
      <p:sp>
        <p:nvSpPr>
          <p:cNvPr id="3" name="Text 1"/>
          <p:cNvSpPr/>
          <p:nvPr/>
        </p:nvSpPr>
        <p:spPr>
          <a:xfrm>
            <a:off x="457200" y="932688"/>
            <a:ext cx="7772400" cy="713232"/>
          </a:xfrm>
          <a:prstGeom prst="rect">
            <a:avLst/>
          </a:prstGeom>
          <a:noFill/>
          <a:ln/>
        </p:spPr>
        <p:txBody>
          <a:bodyPr wrap="square" lIns="0" tIns="0" rIns="0" bIns="0" rtlCol="0" anchor="ctr"/>
          <a:lstStyle/>
          <a:p>
            <a:pPr marL="0" indent="0">
              <a:buNone/>
            </a:pPr>
            <a:r>
              <a:rPr lang="en-US" sz="3800" b="1" dirty="0">
                <a:solidFill>
                  <a:srgbClr val="FFFFFF"/>
                </a:solidFill>
                <a:latin typeface="Arial Black" pitchFamily="34" charset="0"/>
                <a:ea typeface="Arial Black" pitchFamily="34" charset="-122"/>
                <a:cs typeface="Arial Black" pitchFamily="34" charset="-120"/>
              </a:rPr>
              <a:t>CHOOSE.</a:t>
            </a:r>
            <a:endParaRPr lang="en-US" sz="3800" dirty="0"/>
          </a:p>
        </p:txBody>
      </p:sp>
      <p:sp>
        <p:nvSpPr>
          <p:cNvPr id="4" name="Text 2"/>
          <p:cNvSpPr/>
          <p:nvPr/>
        </p:nvSpPr>
        <p:spPr>
          <a:xfrm>
            <a:off x="457200" y="1645920"/>
            <a:ext cx="7772400" cy="713232"/>
          </a:xfrm>
          <a:prstGeom prst="rect">
            <a:avLst/>
          </a:prstGeom>
          <a:noFill/>
          <a:ln/>
        </p:spPr>
        <p:txBody>
          <a:bodyPr wrap="square" lIns="0" tIns="0" rIns="0" bIns="0" rtlCol="0" anchor="ctr"/>
          <a:lstStyle/>
          <a:p>
            <a:pPr marL="0" indent="0">
              <a:buNone/>
            </a:pPr>
            <a:r>
              <a:rPr lang="en-US" sz="3800" b="1" dirty="0">
                <a:solidFill>
                  <a:srgbClr val="00B0F0"/>
                </a:solidFill>
                <a:latin typeface="Arial Black" pitchFamily="34" charset="0"/>
                <a:ea typeface="Arial Black" pitchFamily="34" charset="-122"/>
                <a:cs typeface="Arial Black" pitchFamily="34" charset="-120"/>
              </a:rPr>
              <a:t>BUILD.</a:t>
            </a:r>
            <a:endParaRPr lang="en-US" sz="3800" dirty="0"/>
          </a:p>
        </p:txBody>
      </p:sp>
      <p:sp>
        <p:nvSpPr>
          <p:cNvPr id="5" name="Text 3"/>
          <p:cNvSpPr/>
          <p:nvPr/>
        </p:nvSpPr>
        <p:spPr>
          <a:xfrm>
            <a:off x="457200" y="2359152"/>
            <a:ext cx="7772400" cy="713232"/>
          </a:xfrm>
          <a:prstGeom prst="rect">
            <a:avLst/>
          </a:prstGeom>
          <a:noFill/>
          <a:ln/>
        </p:spPr>
        <p:txBody>
          <a:bodyPr wrap="square" lIns="0" tIns="0" rIns="0" bIns="0" rtlCol="0" anchor="ctr"/>
          <a:lstStyle/>
          <a:p>
            <a:pPr marL="0" indent="0">
              <a:buNone/>
            </a:pPr>
            <a:r>
              <a:rPr lang="en-US" sz="3800" b="1" dirty="0">
                <a:solidFill>
                  <a:srgbClr val="FFFFFF"/>
                </a:solidFill>
                <a:latin typeface="Arial Black" pitchFamily="34" charset="0"/>
                <a:ea typeface="Arial Black" pitchFamily="34" charset="-122"/>
                <a:cs typeface="Arial Black" pitchFamily="34" charset="-120"/>
              </a:rPr>
              <a:t>EXPLAIN.</a:t>
            </a:r>
            <a:endParaRPr lang="en-US" sz="3800" dirty="0"/>
          </a:p>
        </p:txBody>
      </p:sp>
      <p:sp>
        <p:nvSpPr>
          <p:cNvPr id="6" name="Shape 4"/>
          <p:cNvSpPr/>
          <p:nvPr/>
        </p:nvSpPr>
        <p:spPr>
          <a:xfrm>
            <a:off x="457200" y="3310128"/>
            <a:ext cx="2194560" cy="10973"/>
          </a:xfrm>
          <a:prstGeom prst="rect">
            <a:avLst/>
          </a:prstGeom>
          <a:solidFill>
            <a:srgbClr val="1B3040"/>
          </a:solidFill>
          <a:ln w="12700">
            <a:solidFill>
              <a:srgbClr val="1B3040"/>
            </a:solidFill>
            <a:prstDash val="solid"/>
          </a:ln>
        </p:spPr>
        <p:txBody>
          <a:bodyPr/>
          <a:lstStyle/>
          <a:p>
            <a:endParaRPr lang="en-US"/>
          </a:p>
        </p:txBody>
      </p:sp>
      <p:sp>
        <p:nvSpPr>
          <p:cNvPr id="7" name="Text 5"/>
          <p:cNvSpPr/>
          <p:nvPr/>
        </p:nvSpPr>
        <p:spPr>
          <a:xfrm>
            <a:off x="457200" y="3456432"/>
            <a:ext cx="7772400" cy="256032"/>
          </a:xfrm>
          <a:prstGeom prst="rect">
            <a:avLst/>
          </a:prstGeom>
          <a:noFill/>
          <a:ln/>
        </p:spPr>
        <p:txBody>
          <a:bodyPr wrap="square" lIns="0" tIns="0" rIns="0" bIns="0" rtlCol="0" anchor="ctr"/>
          <a:lstStyle/>
          <a:p>
            <a:pPr marL="0" indent="0">
              <a:buNone/>
            </a:pPr>
            <a:r>
              <a:rPr lang="en-US" sz="1100" dirty="0">
                <a:solidFill>
                  <a:srgbClr val="D6E7F0"/>
                </a:solidFill>
                <a:latin typeface="Calibri" pitchFamily="34" charset="0"/>
                <a:ea typeface="Calibri" pitchFamily="34" charset="-122"/>
                <a:cs typeface="Calibri" pitchFamily="34" charset="-120"/>
              </a:rPr>
              <a:t>Day 1 complete  ·  Full Stack Development with Gen-AI</a:t>
            </a:r>
            <a:endParaRPr lang="en-US" sz="1100" dirty="0"/>
          </a:p>
        </p:txBody>
      </p:sp>
      <p:sp>
        <p:nvSpPr>
          <p:cNvPr id="8" name="Text 6"/>
          <p:cNvSpPr/>
          <p:nvPr/>
        </p:nvSpPr>
        <p:spPr>
          <a:xfrm>
            <a:off x="457200" y="3730752"/>
            <a:ext cx="7772400" cy="256032"/>
          </a:xfrm>
          <a:prstGeom prst="rect">
            <a:avLst/>
          </a:prstGeom>
          <a:noFill/>
          <a:ln/>
        </p:spPr>
        <p:txBody>
          <a:bodyPr wrap="square" lIns="0" tIns="0" rIns="0" bIns="0" rtlCol="0" anchor="ctr"/>
          <a:lstStyle/>
          <a:p>
            <a:pPr marL="0" indent="0">
              <a:buNone/>
            </a:pPr>
            <a:r>
              <a:rPr lang="en-US" sz="900" kern="0" spc="100" dirty="0">
                <a:solidFill>
                  <a:srgbClr val="8FA3B0"/>
                </a:solidFill>
                <a:latin typeface="Calibri" pitchFamily="34" charset="0"/>
                <a:ea typeface="Calibri" pitchFamily="34" charset="-122"/>
                <a:cs typeface="Calibri" pitchFamily="34" charset="-120"/>
              </a:rPr>
              <a:t>Four more days. See you tomorrow.</a:t>
            </a:r>
            <a:endParaRPr lang="en-US" sz="900" dirty="0"/>
          </a:p>
        </p:txBody>
      </p:sp>
    </p:spTree>
    <p:extLst>
      <p:ext uri="{BB962C8B-B14F-4D97-AF65-F5344CB8AC3E}">
        <p14:creationId xmlns:p14="http://schemas.microsoft.com/office/powerpoint/2010/main" val="195014517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EBE3463A-54AC-C347-A430-6746EF08F62B}">
  <we:reference id="wa200010001" version="1.0.0.1" store="en-US" storeType="OMEX"/>
  <we:alternateReferences>
    <we:reference id="wa200010001" version="1.0.0.1" store="en-US" storeType="OMEX"/>
  </we:alternateReferences>
  <we:properties>
    <we:property name="claude.fileId" value="&quot;1e90f7c3-4228-4740-986b-ebdf56f4e278&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976</TotalTime>
  <Words>2907</Words>
  <Application>Microsoft Macintosh PowerPoint</Application>
  <PresentationFormat>On-screen Show (16:9)</PresentationFormat>
  <Paragraphs>379</Paragraphs>
  <Slides>16</Slides>
  <Notes>16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16</vt:i4>
      </vt:variant>
    </vt:vector>
  </HeadingPairs>
  <TitlesOfParts>
    <vt:vector size="21" baseType="lpstr">
      <vt:lpstr>Arial</vt:lpstr>
      <vt:lpstr>Arial Black</vt:lpstr>
      <vt:lpstr>Calibri</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Venkatasubramanian V</cp:lastModifiedBy>
  <cp:revision>5</cp:revision>
  <dcterms:created xsi:type="dcterms:W3CDTF">2026-08-17T01:58:21Z</dcterms:created>
  <dcterms:modified xsi:type="dcterms:W3CDTF">2026-08-20T04:19:55Z</dcterms:modified>
</cp:coreProperties>
</file>